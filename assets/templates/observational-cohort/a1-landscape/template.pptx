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41284abed8430a" /><Relationship Type="http://schemas.openxmlformats.org/officeDocument/2006/relationships/extended-properties" Target="/docProps/app.xml" Id="R74568704fc2340da" /><Relationship Type="http://schemas.openxmlformats.org/officeDocument/2006/relationships/officeDocument" Target="/ppt/presentation.xml" Id="R0497478a68d541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a803bc3f35414f"/>
  </p:sldMasterIdLst>
  <p:notesMasterIdLst>
    <p:notesMasterId xmlns:r="http://schemas.openxmlformats.org/officeDocument/2006/relationships" r:id="Re1889e1e149a4aba"/>
  </p:notesMasterIdLst>
  <p:sldIdLst>
    <p:sldId xmlns:r="http://schemas.openxmlformats.org/officeDocument/2006/relationships" id="256" r:id="R89417fdfffc94044"/>
  </p:sldIdLst>
  <p:sldSz cx="30279975" cy="213836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4eb3e05984443a" /><Relationship Type="http://schemas.openxmlformats.org/officeDocument/2006/relationships/slideMaster" Target="/ppt/slideMasters/slideMaster1.xml" Id="Ra1a803bc3f35414f" /><Relationship Type="http://schemas.openxmlformats.org/officeDocument/2006/relationships/notesMaster" Target="/ppt/notesMasters/notesMaster1.xml" Id="Re1889e1e149a4aba" /><Relationship Type="http://schemas.openxmlformats.org/officeDocument/2006/relationships/presProps" Target="/ppt/presProps.xml" Id="R139e7fc23f7645af" /><Relationship Type="http://schemas.openxmlformats.org/officeDocument/2006/relationships/tableStyles" Target="/ppt/tableStyles.xml" Id="Rc499365ef0954694" /><Relationship Type="http://schemas.openxmlformats.org/officeDocument/2006/relationships/slide" Target="/ppt/slides/slide1.xml" Id="R89417fdfffc940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86575991944f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90ea71a7104ce1" /><Relationship Type="http://schemas.openxmlformats.org/officeDocument/2006/relationships/notesMaster" Target="/ppt/notesMasters/notesMaster1.xml" Id="R03af2520a22848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PostEx official template asset; CC BY 4.0</a:t>
            </a:r>
          </a:p>
          <a:p xmlns:a="http://schemas.openxmlformats.org/drawingml/2006/main">
            <a:r>
              <a:t>- No third-party logo or scientific figure is embedded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5ea0d7f84147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c533df3a884300" /><Relationship Type="http://schemas.openxmlformats.org/officeDocument/2006/relationships/slideLayout" Target="/ppt/slideLayouts/slideLayout1.xml" Id="R25221f3ac94342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221f3ac94342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ee92336604256" /><Relationship Type="http://schemas.openxmlformats.org/officeDocument/2006/relationships/notesSlide" Target="/ppt/notesSlides/notesSlide1.xml" Id="R69d07cdf53fa4a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82399D6-5644-430D-812C-EB722029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279975" cy="3497793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A7AC195D-EC6B-4C75-B08B-7F46EC7A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279975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FB0A57D9-7016-4CCD-913C-E8656D87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417045"/>
            <a:ext cx="21022146" cy="1547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91" b="1">
                <a:solidFill>
                  <a:srgbClr val="FFFFFF"/>
                </a:solidFill>
              </a:defRPr>
            </a:pPr>
            <a:r>
              <a:rPr sz="5191" b="1">
                <a:solidFill>
                  <a:srgbClr val="FFFFFF"/>
                </a:solidFill>
              </a:rPr>
              <a:t>Transparent observational cohort poster title</a:t>
            </a:r>
          </a:p>
        </p:txBody>
      </p:sp>
      <p:sp>
        <p:nvSpPr>
          <p:cNvPr id="4" name="authors">
            <a:extLst xmlns:a="http://schemas.openxmlformats.org/drawingml/2006/main">
              <a:ext uri="{FF2B5EF4-FFF2-40B4-BE49-F238E27FC236}">
                <a16:creationId xmlns:a16="http://schemas.microsoft.com/office/drawing/2014/main" id="{D270D0A9-BEE0-443B-A09A-57BE995B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91" y="2058317"/>
            <a:ext cx="20820010" cy="443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60" b="1">
                <a:solidFill>
                  <a:srgbClr val="FFFFFF"/>
                </a:solidFill>
              </a:defRPr>
            </a:pPr>
            <a:r>
              <a:rPr sz="1960" b="1">
                <a:solidFill>
                  <a:srgbClr val="FFFFFF"/>
                </a:solidFill>
              </a:rPr>
              <a:t>Author names</a:t>
            </a:r>
          </a:p>
        </p:txBody>
      </p:sp>
      <p:sp>
        <p:nvSpPr>
          <p:cNvPr id="5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3F45E0CA-C0BA-4306-8532-98469798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91" y="2569533"/>
            <a:ext cx="20820010" cy="349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36">
                <a:solidFill>
                  <a:srgbClr val="F6F8FA"/>
                </a:solidFill>
              </a:defRPr>
            </a:pPr>
            <a:r>
              <a:rPr sz="1536">
                <a:solidFill>
                  <a:srgbClr val="F6F8FA"/>
                </a:solidFill>
              </a:rPr>
              <a:t>Institutions and collaborating centers</a:t>
            </a:r>
          </a:p>
        </p:txBody>
      </p:sp>
      <p:sp>
        <p:nvSpPr>
          <p:cNvPr id="6" name="citation">
            <a:extLst xmlns:a="http://schemas.openxmlformats.org/drawingml/2006/main">
              <a:ext uri="{FF2B5EF4-FFF2-40B4-BE49-F238E27FC236}">
                <a16:creationId xmlns:a16="http://schemas.microsoft.com/office/drawing/2014/main" id="{460907D9-EF4C-4DF6-A1BF-4D44E1F8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91" y="2993304"/>
            <a:ext cx="17181561" cy="28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77" b="1">
                <a:solidFill>
                  <a:srgbClr val="E8B44C"/>
                </a:solidFill>
              </a:defRPr>
            </a:pPr>
            <a:r>
              <a:rPr sz="1377" b="1">
                <a:solidFill>
                  <a:srgbClr val="E8B44C"/>
                </a:solidFill>
              </a:rPr>
              <a:t>Journal or conference · DOI</a:t>
            </a:r>
          </a:p>
        </p:txBody>
      </p:sp>
      <p:sp>
        <p:nvSpPr>
          <p:cNvPr id="7" name="logo-slot-institution-logo">
            <a:extLst xmlns:a="http://schemas.openxmlformats.org/drawingml/2006/main">
              <a:ext uri="{FF2B5EF4-FFF2-40B4-BE49-F238E27FC236}">
                <a16:creationId xmlns:a16="http://schemas.microsoft.com/office/drawing/2014/main" id="{CD014981-439D-4666-B2FF-8DD57BDC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6612" y="390138"/>
            <a:ext cx="6603110" cy="874448"/>
          </a:xfrm>
          <a:prstGeom xmlns:a="http://schemas.openxmlformats.org/drawingml/2006/main" prst="roundRect">
            <a:avLst>
              <a:gd name="adj" fmla="val 8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453">
            <a:solidFill>
              <a:srgbClr val="D9E2EC"/>
            </a:solidFill>
            <a:prstDash val="solid"/>
          </a:ln>
        </p:spPr>
      </p:sp>
      <p:sp>
        <p:nvSpPr>
          <p:cNvPr id="8" name="logo-placeholder-institution-logo">
            <a:extLst xmlns:a="http://schemas.openxmlformats.org/drawingml/2006/main">
              <a:ext uri="{FF2B5EF4-FFF2-40B4-BE49-F238E27FC236}">
                <a16:creationId xmlns:a16="http://schemas.microsoft.com/office/drawing/2014/main" id="{E85F129A-3234-40EA-8E79-335EEE97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87467" y="645746"/>
            <a:ext cx="6441401" cy="349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30" b="1">
                <a:solidFill>
                  <a:srgbClr val="0F5F73"/>
                </a:solidFill>
              </a:defRPr>
            </a:pPr>
            <a:r>
              <a:rPr sz="1430" b="1">
                <a:solidFill>
                  <a:srgbClr val="0F5F73"/>
                </a:solidFill>
              </a:rPr>
              <a:t>Institution logo</a:t>
            </a:r>
          </a:p>
        </p:txBody>
      </p:sp>
      <p:sp>
        <p:nvSpPr>
          <p:cNvPr id="9" name="header-summary">
            <a:extLst xmlns:a="http://schemas.openxmlformats.org/drawingml/2006/main">
              <a:ext uri="{FF2B5EF4-FFF2-40B4-BE49-F238E27FC236}">
                <a16:creationId xmlns:a16="http://schemas.microsoft.com/office/drawing/2014/main" id="{AB2A355C-7898-464D-AA20-C4C56B51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6612" y="1412570"/>
            <a:ext cx="6603110" cy="1614366"/>
          </a:xfrm>
          <a:prstGeom xmlns:a="http://schemas.openxmlformats.org/drawingml/2006/main" prst="roundRect">
            <a:avLst>
              <a:gd name="adj" fmla="val 94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er-metric-1-value">
            <a:extLst xmlns:a="http://schemas.openxmlformats.org/drawingml/2006/main">
              <a:ext uri="{FF2B5EF4-FFF2-40B4-BE49-F238E27FC236}">
                <a16:creationId xmlns:a16="http://schemas.microsoft.com/office/drawing/2014/main" id="{60CD6C7F-C821-466A-A64D-3EC1DDF7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8263" y="1614366"/>
            <a:ext cx="1751845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0F5F73"/>
                </a:solidFill>
              </a:defRPr>
            </a:pPr>
            <a:r>
              <a:rPr sz="3602" b="1">
                <a:solidFill>
                  <a:srgbClr val="0F5F73"/>
                </a:solidFill>
              </a:rPr>
              <a:t>N</a:t>
            </a:r>
          </a:p>
        </p:txBody>
      </p:sp>
      <p:sp>
        <p:nvSpPr>
          <p:cNvPr id="11" name="header-metric-1-label">
            <a:extLst xmlns:a="http://schemas.openxmlformats.org/drawingml/2006/main">
              <a:ext uri="{FF2B5EF4-FFF2-40B4-BE49-F238E27FC236}">
                <a16:creationId xmlns:a16="http://schemas.microsoft.com/office/drawing/2014/main" id="{5857F00D-E429-430D-BFC8-39A61F96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8263" y="2139035"/>
            <a:ext cx="1751845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eligible participants</a:t>
            </a:r>
          </a:p>
        </p:txBody>
      </p:sp>
      <p:sp>
        <p:nvSpPr>
          <p:cNvPr id="12" name="header-metric-2-value">
            <a:extLst xmlns:a="http://schemas.openxmlformats.org/drawingml/2006/main">
              <a:ext uri="{FF2B5EF4-FFF2-40B4-BE49-F238E27FC236}">
                <a16:creationId xmlns:a16="http://schemas.microsoft.com/office/drawing/2014/main" id="{ECD673AE-85BB-4566-89B6-7900D9A0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99623" y="1614366"/>
            <a:ext cx="1751845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2C8C99"/>
                </a:solidFill>
              </a:defRPr>
            </a:pPr>
            <a:r>
              <a:rPr sz="3602" b="1">
                <a:solidFill>
                  <a:srgbClr val="2C8C99"/>
                </a:solidFill>
              </a:rPr>
              <a:t>N</a:t>
            </a:r>
          </a:p>
        </p:txBody>
      </p:sp>
      <p:sp>
        <p:nvSpPr>
          <p:cNvPr id="13" name="header-metric-2-label">
            <a:extLst xmlns:a="http://schemas.openxmlformats.org/drawingml/2006/main">
              <a:ext uri="{FF2B5EF4-FFF2-40B4-BE49-F238E27FC236}">
                <a16:creationId xmlns:a16="http://schemas.microsoft.com/office/drawing/2014/main" id="{004F0E25-4558-4646-BDB6-D68102A2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99623" y="2139035"/>
            <a:ext cx="1751845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outcome events</a:t>
            </a:r>
          </a:p>
        </p:txBody>
      </p:sp>
      <p:sp>
        <p:nvSpPr>
          <p:cNvPr id="14" name="header-metric-3-value">
            <a:extLst xmlns:a="http://schemas.openxmlformats.org/drawingml/2006/main">
              <a:ext uri="{FF2B5EF4-FFF2-40B4-BE49-F238E27FC236}">
                <a16:creationId xmlns:a16="http://schemas.microsoft.com/office/drawing/2014/main" id="{FD6EA3B3-C339-4539-AF95-87C93197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0983" y="1614366"/>
            <a:ext cx="1751845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E8B44C"/>
                </a:solidFill>
              </a:defRPr>
            </a:pPr>
            <a:r>
              <a:rPr sz="3602" b="1">
                <a:solidFill>
                  <a:srgbClr val="E8B44C"/>
                </a:solidFill>
              </a:rPr>
              <a:t>N</a:t>
            </a:r>
          </a:p>
        </p:txBody>
      </p:sp>
      <p:sp>
        <p:nvSpPr>
          <p:cNvPr id="15" name="header-metric-3-label">
            <a:extLst xmlns:a="http://schemas.openxmlformats.org/drawingml/2006/main">
              <a:ext uri="{FF2B5EF4-FFF2-40B4-BE49-F238E27FC236}">
                <a16:creationId xmlns:a16="http://schemas.microsoft.com/office/drawing/2014/main" id="{D2705BBF-30EE-4121-A134-0F2C6DF4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0983" y="2139035"/>
            <a:ext cx="1751845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sensitivity models</a:t>
            </a:r>
          </a:p>
        </p:txBody>
      </p:sp>
      <p:sp>
        <p:nvSpPr>
          <p:cNvPr id="16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E042188-80FE-4B57-B375-38C8B30F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3968650"/>
            <a:ext cx="8220198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Clinical question</a:t>
            </a:r>
          </a:p>
        </p:txBody>
      </p:sp>
      <p:sp>
        <p:nvSpPr>
          <p:cNvPr id="17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0725F382-986C-41D6-8687-2BD5B4CE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441932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DF486587-A346-45BA-9A07-E2957151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4587490"/>
            <a:ext cx="8220198" cy="1479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State the scientific question in two concise sentences.</a:t>
            </a:r>
          </a:p>
        </p:txBody>
      </p:sp>
      <p:sp>
        <p:nvSpPr>
          <p:cNvPr id="19" name="question-evidence">
            <a:extLst xmlns:a="http://schemas.openxmlformats.org/drawingml/2006/main">
              <a:ext uri="{FF2B5EF4-FFF2-40B4-BE49-F238E27FC236}">
                <a16:creationId xmlns:a16="http://schemas.microsoft.com/office/drawing/2014/main" id="{1285ADD6-D33F-4C5A-9EC8-98402002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6134591"/>
            <a:ext cx="8220198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source page or section</a:t>
            </a:r>
          </a:p>
        </p:txBody>
      </p:sp>
      <p:sp>
        <p:nvSpPr>
          <p:cNvPr id="20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06C8612A-FD81-45F9-BA35-AF7E20F5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6524730"/>
            <a:ext cx="8220198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Cohort construction</a:t>
            </a:r>
          </a:p>
        </p:txBody>
      </p:sp>
      <p:sp>
        <p:nvSpPr>
          <p:cNvPr id="21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D058FA69-1A9F-4AB6-B48F-19E30AB0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697540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peline-1-number-bg">
            <a:extLst xmlns:a="http://schemas.openxmlformats.org/drawingml/2006/main">
              <a:ext uri="{FF2B5EF4-FFF2-40B4-BE49-F238E27FC236}">
                <a16:creationId xmlns:a16="http://schemas.microsoft.com/office/drawing/2014/main" id="{E52358C3-029B-4D74-8127-B1121678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7157023"/>
            <a:ext cx="417748" cy="417045"/>
          </a:xfrm>
          <a:prstGeom xmlns:a="http://schemas.openxmlformats.org/drawingml/2006/main" prst="roundRect">
            <a:avLst>
              <a:gd name="adj" fmla="val 1827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1-number">
            <a:extLst xmlns:a="http://schemas.openxmlformats.org/drawingml/2006/main">
              <a:ext uri="{FF2B5EF4-FFF2-40B4-BE49-F238E27FC236}">
                <a16:creationId xmlns:a16="http://schemas.microsoft.com/office/drawing/2014/main" id="{437A45B0-E9CC-42CB-8795-7FA817B2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7204109"/>
            <a:ext cx="417748" cy="309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24" name="pipeline-1-text">
            <a:extLst xmlns:a="http://schemas.openxmlformats.org/drawingml/2006/main">
              <a:ext uri="{FF2B5EF4-FFF2-40B4-BE49-F238E27FC236}">
                <a16:creationId xmlns:a16="http://schemas.microsoft.com/office/drawing/2014/main" id="{0A61DC54-3D2C-47B8-B1A1-EC2344F5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07" y="7183929"/>
            <a:ext cx="7667693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Define source population</a:t>
            </a:r>
          </a:p>
        </p:txBody>
      </p:sp>
      <p:sp>
        <p:nvSpPr>
          <p:cNvPr id="25" name="pipeline-2-number-bg">
            <a:extLst xmlns:a="http://schemas.openxmlformats.org/drawingml/2006/main">
              <a:ext uri="{FF2B5EF4-FFF2-40B4-BE49-F238E27FC236}">
                <a16:creationId xmlns:a16="http://schemas.microsoft.com/office/drawing/2014/main" id="{CA7741EE-BF8B-478D-88AD-2F2B08A6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7695145"/>
            <a:ext cx="417748" cy="417045"/>
          </a:xfrm>
          <a:prstGeom xmlns:a="http://schemas.openxmlformats.org/drawingml/2006/main" prst="roundRect">
            <a:avLst>
              <a:gd name="adj" fmla="val 1827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ipeline-2-number">
            <a:extLst xmlns:a="http://schemas.openxmlformats.org/drawingml/2006/main">
              <a:ext uri="{FF2B5EF4-FFF2-40B4-BE49-F238E27FC236}">
                <a16:creationId xmlns:a16="http://schemas.microsoft.com/office/drawing/2014/main" id="{7F7183CC-293B-484D-9FCF-9A9B2A38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7742231"/>
            <a:ext cx="417748" cy="309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27" name="pipeline-2-text">
            <a:extLst xmlns:a="http://schemas.openxmlformats.org/drawingml/2006/main">
              <a:ext uri="{FF2B5EF4-FFF2-40B4-BE49-F238E27FC236}">
                <a16:creationId xmlns:a16="http://schemas.microsoft.com/office/drawing/2014/main" id="{56B7A3EA-6E37-4880-B536-D03B218E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07" y="7722051"/>
            <a:ext cx="7667693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Apply eligibility criteria</a:t>
            </a:r>
          </a:p>
        </p:txBody>
      </p:sp>
      <p:sp>
        <p:nvSpPr>
          <p:cNvPr id="28" name="pipeline-3-number-bg">
            <a:extLst xmlns:a="http://schemas.openxmlformats.org/drawingml/2006/main">
              <a:ext uri="{FF2B5EF4-FFF2-40B4-BE49-F238E27FC236}">
                <a16:creationId xmlns:a16="http://schemas.microsoft.com/office/drawing/2014/main" id="{186C8A85-799D-4E18-A4C0-2F02B04D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8233267"/>
            <a:ext cx="417748" cy="417045"/>
          </a:xfrm>
          <a:prstGeom xmlns:a="http://schemas.openxmlformats.org/drawingml/2006/main" prst="roundRect">
            <a:avLst>
              <a:gd name="adj" fmla="val 1827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ipeline-3-number">
            <a:extLst xmlns:a="http://schemas.openxmlformats.org/drawingml/2006/main">
              <a:ext uri="{FF2B5EF4-FFF2-40B4-BE49-F238E27FC236}">
                <a16:creationId xmlns:a16="http://schemas.microsoft.com/office/drawing/2014/main" id="{80A00B6B-35CD-4F42-88F3-D6CC2815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8280353"/>
            <a:ext cx="417748" cy="309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30" name="pipeline-3-text">
            <a:extLst xmlns:a="http://schemas.openxmlformats.org/drawingml/2006/main">
              <a:ext uri="{FF2B5EF4-FFF2-40B4-BE49-F238E27FC236}">
                <a16:creationId xmlns:a16="http://schemas.microsoft.com/office/drawing/2014/main" id="{CD0D0DA3-F7CC-4F39-98E9-8541A478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07" y="8260173"/>
            <a:ext cx="7667693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Specify exposure and outcome</a:t>
            </a:r>
          </a:p>
        </p:txBody>
      </p:sp>
      <p:sp>
        <p:nvSpPr>
          <p:cNvPr id="31" name="pipeline-4-number-bg">
            <a:extLst xmlns:a="http://schemas.openxmlformats.org/drawingml/2006/main">
              <a:ext uri="{FF2B5EF4-FFF2-40B4-BE49-F238E27FC236}">
                <a16:creationId xmlns:a16="http://schemas.microsoft.com/office/drawing/2014/main" id="{F6A848F3-9728-441F-AF09-D26B58A3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8771389"/>
            <a:ext cx="417748" cy="417045"/>
          </a:xfrm>
          <a:prstGeom xmlns:a="http://schemas.openxmlformats.org/drawingml/2006/main" prst="roundRect">
            <a:avLst>
              <a:gd name="adj" fmla="val 1827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ipeline-4-number">
            <a:extLst xmlns:a="http://schemas.openxmlformats.org/drawingml/2006/main">
              <a:ext uri="{FF2B5EF4-FFF2-40B4-BE49-F238E27FC236}">
                <a16:creationId xmlns:a16="http://schemas.microsoft.com/office/drawing/2014/main" id="{7288CE90-3297-4B9B-918C-0AE3EF32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8818475"/>
            <a:ext cx="417748" cy="309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4</a:t>
            </a:r>
          </a:p>
        </p:txBody>
      </p:sp>
      <p:sp>
        <p:nvSpPr>
          <p:cNvPr id="33" name="pipeline-4-text">
            <a:extLst xmlns:a="http://schemas.openxmlformats.org/drawingml/2006/main">
              <a:ext uri="{FF2B5EF4-FFF2-40B4-BE49-F238E27FC236}">
                <a16:creationId xmlns:a16="http://schemas.microsoft.com/office/drawing/2014/main" id="{C0A244D7-5E05-49A4-AA5D-6185FBB3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07" y="8798296"/>
            <a:ext cx="7667693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Fit adjusted models</a:t>
            </a:r>
          </a:p>
        </p:txBody>
      </p:sp>
      <p:sp>
        <p:nvSpPr>
          <p:cNvPr id="34" name="dataset-panel">
            <a:extLst xmlns:a="http://schemas.openxmlformats.org/drawingml/2006/main">
              <a:ext uri="{FF2B5EF4-FFF2-40B4-BE49-F238E27FC236}">
                <a16:creationId xmlns:a16="http://schemas.microsoft.com/office/drawing/2014/main" id="{2EFD52C1-43DF-4122-9A9C-25F6E50C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9484401"/>
            <a:ext cx="8220198" cy="2421549"/>
          </a:xfrm>
          <a:prstGeom xmlns:a="http://schemas.openxmlformats.org/drawingml/2006/main" prst="roundRect">
            <a:avLst>
              <a:gd name="adj" fmla="val 47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sp>
        <p:nvSpPr>
          <p:cNvPr id="35" name="dataset-kicker">
            <a:extLst xmlns:a="http://schemas.openxmlformats.org/drawingml/2006/main">
              <a:ext uri="{FF2B5EF4-FFF2-40B4-BE49-F238E27FC236}">
                <a16:creationId xmlns:a16="http://schemas.microsoft.com/office/drawing/2014/main" id="{8754C574-198A-44B6-8C9C-2254E7A3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62" y="9686197"/>
            <a:ext cx="3099419" cy="269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36" b="1">
                <a:solidFill>
                  <a:srgbClr val="0F5F73"/>
                </a:solidFill>
              </a:defRPr>
            </a:pPr>
            <a:r>
              <a:rPr sz="1536" b="1">
                <a:solidFill>
                  <a:srgbClr val="0F5F73"/>
                </a:solidFill>
              </a:rPr>
              <a:t>COHORT ACCOUNTING</a:t>
            </a:r>
          </a:p>
        </p:txBody>
      </p:sp>
      <p:sp>
        <p:nvSpPr>
          <p:cNvPr id="36" name="datasets">
            <a:extLst xmlns:a="http://schemas.openxmlformats.org/drawingml/2006/main">
              <a:ext uri="{FF2B5EF4-FFF2-40B4-BE49-F238E27FC236}">
                <a16:creationId xmlns:a16="http://schemas.microsoft.com/office/drawing/2014/main" id="{6E619955-A692-40A1-A0A8-42143656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62" y="10056156"/>
            <a:ext cx="7842877" cy="145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Discovery set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Primary analysis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Validation set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Sensitivity analysis</a:t>
            </a:r>
          </a:p>
        </p:txBody>
      </p:sp>
      <p:sp>
        <p:nvSpPr>
          <p:cNvPr id="37" name="dataset-evidence">
            <a:extLst xmlns:a="http://schemas.openxmlformats.org/drawingml/2006/main">
              <a:ext uri="{FF2B5EF4-FFF2-40B4-BE49-F238E27FC236}">
                <a16:creationId xmlns:a16="http://schemas.microsoft.com/office/drawing/2014/main" id="{EAA9AA0F-4932-47B6-94C8-87333318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62" y="11589804"/>
            <a:ext cx="7842877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methods and dataset table</a:t>
            </a:r>
          </a:p>
        </p:txBody>
      </p:sp>
      <p:sp>
        <p:nvSpPr>
          <p:cNvPr id="38" name="figure-one-heading-title">
            <a:extLst xmlns:a="http://schemas.openxmlformats.org/drawingml/2006/main">
              <a:ext uri="{FF2B5EF4-FFF2-40B4-BE49-F238E27FC236}">
                <a16:creationId xmlns:a16="http://schemas.microsoft.com/office/drawing/2014/main" id="{7A7E8330-4D01-40C4-956E-74138586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12275909"/>
            <a:ext cx="8220198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Eligibility and follow-up</a:t>
            </a:r>
          </a:p>
        </p:txBody>
      </p:sp>
      <p:sp>
        <p:nvSpPr>
          <p:cNvPr id="39" name="figure-one-heading-rule">
            <a:extLst xmlns:a="http://schemas.openxmlformats.org/drawingml/2006/main">
              <a:ext uri="{FF2B5EF4-FFF2-40B4-BE49-F238E27FC236}">
                <a16:creationId xmlns:a16="http://schemas.microsoft.com/office/drawing/2014/main" id="{5B1FCD11-6DF3-4627-9F54-EA918C6C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1272658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igure-one-frame">
            <a:extLst xmlns:a="http://schemas.openxmlformats.org/drawingml/2006/main">
              <a:ext uri="{FF2B5EF4-FFF2-40B4-BE49-F238E27FC236}">
                <a16:creationId xmlns:a16="http://schemas.microsoft.com/office/drawing/2014/main" id="{C4109D7D-D486-4016-9896-8FB48A3E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12881297"/>
            <a:ext cx="8220198" cy="6995587"/>
          </a:xfrm>
          <a:prstGeom xmlns:a="http://schemas.openxmlformats.org/drawingml/2006/main" prst="roundRect">
            <a:avLst>
              <a:gd name="adj" fmla="val 1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sp>
        <p:nvSpPr>
          <p:cNvPr id="41" name="figure-one-placeholder">
            <a:extLst xmlns:a="http://schemas.openxmlformats.org/drawingml/2006/main">
              <a:ext uri="{FF2B5EF4-FFF2-40B4-BE49-F238E27FC236}">
                <a16:creationId xmlns:a16="http://schemas.microsoft.com/office/drawing/2014/main" id="{3FD64D0E-E584-400E-B7B0-88EF55D6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059" y="13015827"/>
            <a:ext cx="7950683" cy="6336387"/>
          </a:xfrm>
          <a:prstGeom xmlns:a="http://schemas.openxmlformats.org/drawingml/2006/main" prst="roundRect">
            <a:avLst>
              <a:gd name="adj" fmla="val 1203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3453">
            <a:solidFill>
              <a:srgbClr val="D9E2EC"/>
            </a:solidFill>
            <a:prstDash val="solid"/>
          </a:ln>
        </p:spPr>
      </p:sp>
      <p:sp>
        <p:nvSpPr>
          <p:cNvPr id="42" name="figure-one-placeholder-label">
            <a:extLst xmlns:a="http://schemas.openxmlformats.org/drawingml/2006/main">
              <a:ext uri="{FF2B5EF4-FFF2-40B4-BE49-F238E27FC236}">
                <a16:creationId xmlns:a16="http://schemas.microsoft.com/office/drawing/2014/main" id="{D2B36F7F-1860-421B-8F7B-2263A891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573" y="15975498"/>
            <a:ext cx="7411654" cy="605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07" b="1">
                <a:solidFill>
                  <a:srgbClr val="2C8C99"/>
                </a:solidFill>
              </a:defRPr>
            </a:pPr>
            <a:r>
              <a:rPr sz="1907" b="1">
                <a:solidFill>
                  <a:srgbClr val="2C8C99"/>
                </a:solidFill>
              </a:rPr>
              <a:t>cohort flow diagram</a:t>
            </a:r>
          </a:p>
        </p:txBody>
      </p:sp>
      <p:sp>
        <p:nvSpPr>
          <p:cNvPr id="43" name="figure-one-caption">
            <a:extLst xmlns:a="http://schemas.openxmlformats.org/drawingml/2006/main">
              <a:ext uri="{FF2B5EF4-FFF2-40B4-BE49-F238E27FC236}">
                <a16:creationId xmlns:a16="http://schemas.microsoft.com/office/drawing/2014/main" id="{1F7750C1-9484-4AC9-AB72-E8DB1099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10" y="19392573"/>
            <a:ext cx="7896780" cy="22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89" b="1">
                <a:solidFill>
                  <a:srgbClr val="102A43"/>
                </a:solidFill>
              </a:defRPr>
            </a:pPr>
            <a:r>
              <a:rPr sz="1589" b="1">
                <a:solidFill>
                  <a:srgbClr val="102A43"/>
                </a:solidFill>
              </a:rPr>
              <a:t>Cohort Flow Diagram caption</a:t>
            </a:r>
          </a:p>
        </p:txBody>
      </p:sp>
      <p:sp>
        <p:nvSpPr>
          <p:cNvPr id="44" name="figure-one-source">
            <a:extLst xmlns:a="http://schemas.openxmlformats.org/drawingml/2006/main">
              <a:ext uri="{FF2B5EF4-FFF2-40B4-BE49-F238E27FC236}">
                <a16:creationId xmlns:a16="http://schemas.microsoft.com/office/drawing/2014/main" id="{A7BC473E-E29F-4DB4-A409-001EFED4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10" y="19621275"/>
            <a:ext cx="7896780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45" name="central-takeaway">
            <a:extLst xmlns:a="http://schemas.openxmlformats.org/drawingml/2006/main">
              <a:ext uri="{FF2B5EF4-FFF2-40B4-BE49-F238E27FC236}">
                <a16:creationId xmlns:a16="http://schemas.microsoft.com/office/drawing/2014/main" id="{6B58C3F8-BDF4-430E-B88A-E110B581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3968650"/>
            <a:ext cx="9668839" cy="1782529"/>
          </a:xfrm>
          <a:prstGeom xmlns:a="http://schemas.openxmlformats.org/drawingml/2006/main" prst="roundRect">
            <a:avLst>
              <a:gd name="adj" fmla="val 855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entral-takeaway-title">
            <a:extLst xmlns:a="http://schemas.openxmlformats.org/drawingml/2006/main">
              <a:ext uri="{FF2B5EF4-FFF2-40B4-BE49-F238E27FC236}">
                <a16:creationId xmlns:a16="http://schemas.microsoft.com/office/drawing/2014/main" id="{E49B18EE-DF43-467E-B1AD-54A9ED63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4238" y="4204079"/>
            <a:ext cx="9075907" cy="672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913" b="1">
                <a:solidFill>
                  <a:srgbClr val="102A43"/>
                </a:solidFill>
              </a:defRPr>
            </a:pPr>
            <a:r>
              <a:rPr sz="2913" b="1">
                <a:solidFill>
                  <a:srgbClr val="102A43"/>
                </a:solidFill>
              </a:rPr>
              <a:t>Place the single most important result here</a:t>
            </a:r>
          </a:p>
        </p:txBody>
      </p:sp>
      <p:sp>
        <p:nvSpPr>
          <p:cNvPr id="47" name="central-takeaway-subtitle">
            <a:extLst xmlns:a="http://schemas.openxmlformats.org/drawingml/2006/main">
              <a:ext uri="{FF2B5EF4-FFF2-40B4-BE49-F238E27FC236}">
                <a16:creationId xmlns:a16="http://schemas.microsoft.com/office/drawing/2014/main" id="{0CD6FD22-B3A5-4A61-A0F4-EF89D57A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422" y="5071800"/>
            <a:ext cx="8725538" cy="322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95" b="1">
                <a:solidFill>
                  <a:srgbClr val="102A43"/>
                </a:solidFill>
              </a:defRPr>
            </a:pPr>
            <a:r>
              <a:rPr sz="1695" b="1">
                <a:solidFill>
                  <a:srgbClr val="102A43"/>
                </a:solidFill>
              </a:rPr>
              <a:t>Explain what the result means for the audience</a:t>
            </a:r>
          </a:p>
        </p:txBody>
      </p:sp>
      <p:sp>
        <p:nvSpPr>
          <p:cNvPr id="48" name="takeaway-evidence">
            <a:extLst xmlns:a="http://schemas.openxmlformats.org/drawingml/2006/main">
              <a:ext uri="{FF2B5EF4-FFF2-40B4-BE49-F238E27FC236}">
                <a16:creationId xmlns:a16="http://schemas.microsoft.com/office/drawing/2014/main" id="{8778CC61-2F07-4207-A027-DD95C3B8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713" y="5448486"/>
            <a:ext cx="9048956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result section and figure</a:t>
            </a:r>
          </a:p>
        </p:txBody>
      </p:sp>
      <p:sp>
        <p:nvSpPr>
          <p:cNvPr id="49" name="figure-two-heading-title">
            <a:extLst xmlns:a="http://schemas.openxmlformats.org/drawingml/2006/main">
              <a:ext uri="{FF2B5EF4-FFF2-40B4-BE49-F238E27FC236}">
                <a16:creationId xmlns:a16="http://schemas.microsoft.com/office/drawing/2014/main" id="{CF1783DE-81C7-42DE-8136-B3BD7F41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6087506"/>
            <a:ext cx="9668839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Adjusted primary outcome</a:t>
            </a:r>
          </a:p>
        </p:txBody>
      </p:sp>
      <p:sp>
        <p:nvSpPr>
          <p:cNvPr id="50" name="figure-two-heading-rule">
            <a:extLst xmlns:a="http://schemas.openxmlformats.org/drawingml/2006/main">
              <a:ext uri="{FF2B5EF4-FFF2-40B4-BE49-F238E27FC236}">
                <a16:creationId xmlns:a16="http://schemas.microsoft.com/office/drawing/2014/main" id="{CB714B40-10F0-4E9C-A07A-0FC7BF18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6538183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igure-two-frame">
            <a:extLst xmlns:a="http://schemas.openxmlformats.org/drawingml/2006/main">
              <a:ext uri="{FF2B5EF4-FFF2-40B4-BE49-F238E27FC236}">
                <a16:creationId xmlns:a16="http://schemas.microsoft.com/office/drawing/2014/main" id="{5B8599CF-2D86-411C-82FA-861A1B5E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6692893"/>
            <a:ext cx="9668839" cy="8979912"/>
          </a:xfrm>
          <a:prstGeom xmlns:a="http://schemas.openxmlformats.org/drawingml/2006/main" prst="roundRect">
            <a:avLst>
              <a:gd name="adj" fmla="val 1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sp>
        <p:nvSpPr>
          <p:cNvPr id="52" name="figure-two-placeholder">
            <a:extLst xmlns:a="http://schemas.openxmlformats.org/drawingml/2006/main">
              <a:ext uri="{FF2B5EF4-FFF2-40B4-BE49-F238E27FC236}">
                <a16:creationId xmlns:a16="http://schemas.microsoft.com/office/drawing/2014/main" id="{B4905E43-A89A-40CC-9E07-161868BD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2529" y="6827424"/>
            <a:ext cx="9399325" cy="8320712"/>
          </a:xfrm>
          <a:prstGeom xmlns:a="http://schemas.openxmlformats.org/drawingml/2006/main" prst="roundRect">
            <a:avLst>
              <a:gd name="adj" fmla="val 91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3453">
            <a:solidFill>
              <a:srgbClr val="D9E2EC"/>
            </a:solidFill>
            <a:prstDash val="solid"/>
          </a:ln>
        </p:spPr>
      </p:sp>
      <p:sp>
        <p:nvSpPr>
          <p:cNvPr id="53" name="figure-two-placeholder-label">
            <a:extLst xmlns:a="http://schemas.openxmlformats.org/drawingml/2006/main">
              <a:ext uri="{FF2B5EF4-FFF2-40B4-BE49-F238E27FC236}">
                <a16:creationId xmlns:a16="http://schemas.microsoft.com/office/drawing/2014/main" id="{BBB64E7A-5997-4A04-850D-FB2328B8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043" y="10779257"/>
            <a:ext cx="8860295" cy="605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07" b="1">
                <a:solidFill>
                  <a:srgbClr val="2C8C99"/>
                </a:solidFill>
              </a:defRPr>
            </a:pPr>
            <a:r>
              <a:rPr sz="1907" b="1">
                <a:solidFill>
                  <a:srgbClr val="2C8C99"/>
                </a:solidFill>
              </a:rPr>
              <a:t>adjusted outcome plot</a:t>
            </a:r>
          </a:p>
        </p:txBody>
      </p:sp>
      <p:sp>
        <p:nvSpPr>
          <p:cNvPr id="54" name="figure-two-caption">
            <a:extLst xmlns:a="http://schemas.openxmlformats.org/drawingml/2006/main">
              <a:ext uri="{FF2B5EF4-FFF2-40B4-BE49-F238E27FC236}">
                <a16:creationId xmlns:a16="http://schemas.microsoft.com/office/drawing/2014/main" id="{43D0AEDD-1B1B-40A0-9B67-CACBCFAA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480" y="15188495"/>
            <a:ext cx="9345422" cy="22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89" b="1">
                <a:solidFill>
                  <a:srgbClr val="102A43"/>
                </a:solidFill>
              </a:defRPr>
            </a:pPr>
            <a:r>
              <a:rPr sz="1589" b="1">
                <a:solidFill>
                  <a:srgbClr val="102A43"/>
                </a:solidFill>
              </a:rPr>
              <a:t>Adjusted Outcome Plot caption</a:t>
            </a:r>
          </a:p>
        </p:txBody>
      </p:sp>
      <p:sp>
        <p:nvSpPr>
          <p:cNvPr id="55" name="figure-two-source">
            <a:extLst xmlns:a="http://schemas.openxmlformats.org/drawingml/2006/main">
              <a:ext uri="{FF2B5EF4-FFF2-40B4-BE49-F238E27FC236}">
                <a16:creationId xmlns:a16="http://schemas.microsoft.com/office/drawing/2014/main" id="{A9747046-500E-4529-A111-3155A67F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480" y="15417197"/>
            <a:ext cx="9345422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56" name="validation-heading-title">
            <a:extLst xmlns:a="http://schemas.openxmlformats.org/drawingml/2006/main">
              <a:ext uri="{FF2B5EF4-FFF2-40B4-BE49-F238E27FC236}">
                <a16:creationId xmlns:a16="http://schemas.microsoft.com/office/drawing/2014/main" id="{5DCBF928-E275-466A-B24B-2B49A894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16009131"/>
            <a:ext cx="9668839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Bias and sensitivity checks</a:t>
            </a:r>
          </a:p>
        </p:txBody>
      </p:sp>
      <p:sp>
        <p:nvSpPr>
          <p:cNvPr id="57" name="validation-heading-rule">
            <a:extLst xmlns:a="http://schemas.openxmlformats.org/drawingml/2006/main">
              <a:ext uri="{FF2B5EF4-FFF2-40B4-BE49-F238E27FC236}">
                <a16:creationId xmlns:a16="http://schemas.microsoft.com/office/drawing/2014/main" id="{F69A5559-E416-4AF1-8C24-A85546CF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16459808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2F5F64E4-F335-4C80-BCF2-565A4EBB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16614518"/>
            <a:ext cx="9668839" cy="2858773"/>
          </a:xfrm>
          <a:prstGeom xmlns:a="http://schemas.openxmlformats.org/drawingml/2006/main" prst="roundRect">
            <a:avLst>
              <a:gd name="adj" fmla="val 3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sp>
        <p:nvSpPr>
          <p:cNvPr id="59" name="validation">
            <a:extLst xmlns:a="http://schemas.openxmlformats.org/drawingml/2006/main">
              <a:ext uri="{FF2B5EF4-FFF2-40B4-BE49-F238E27FC236}">
                <a16:creationId xmlns:a16="http://schemas.microsoft.com/office/drawing/2014/main" id="{3CF9EC95-565A-4E49-9C16-7CD29917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335" y="16836494"/>
            <a:ext cx="9183713" cy="2085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Primary adjusted result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External validation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Negative findings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Interpretation boundary</a:t>
            </a:r>
          </a:p>
        </p:txBody>
      </p:sp>
      <p:sp>
        <p:nvSpPr>
          <p:cNvPr id="60" name="validation-evidence">
            <a:extLst xmlns:a="http://schemas.openxmlformats.org/drawingml/2006/main">
              <a:ext uri="{FF2B5EF4-FFF2-40B4-BE49-F238E27FC236}">
                <a16:creationId xmlns:a16="http://schemas.microsoft.com/office/drawing/2014/main" id="{C102D70A-6501-417A-A9DA-18342DB1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335" y="19150418"/>
            <a:ext cx="9183713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result pages</a:t>
            </a:r>
          </a:p>
        </p:txBody>
      </p:sp>
      <p:sp>
        <p:nvSpPr>
          <p:cNvPr id="61" name="performance-strip">
            <a:extLst xmlns:a="http://schemas.openxmlformats.org/drawingml/2006/main">
              <a:ext uri="{FF2B5EF4-FFF2-40B4-BE49-F238E27FC236}">
                <a16:creationId xmlns:a16="http://schemas.microsoft.com/office/drawing/2014/main" id="{FFA2F2E7-14F6-4B1B-B11B-634FC50C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19708720"/>
            <a:ext cx="9668839" cy="773550"/>
          </a:xfrm>
          <a:prstGeom xmlns:a="http://schemas.openxmlformats.org/drawingml/2006/main" prst="roundRect">
            <a:avLst>
              <a:gd name="adj" fmla="val 14776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erformance-strip-text">
            <a:extLst xmlns:a="http://schemas.openxmlformats.org/drawingml/2006/main">
              <a:ext uri="{FF2B5EF4-FFF2-40B4-BE49-F238E27FC236}">
                <a16:creationId xmlns:a16="http://schemas.microsoft.com/office/drawing/2014/main" id="{5BA26823-FA05-4048-9535-30673105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859" y="19910516"/>
            <a:ext cx="9210664" cy="349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1" b="1">
                <a:solidFill>
                  <a:srgbClr val="FFFFFF"/>
                </a:solidFill>
              </a:defRPr>
            </a:pPr>
            <a:r>
              <a:rPr sz="1801" b="1">
                <a:solidFill>
                  <a:srgbClr val="FFFFFF"/>
                </a:solidFill>
              </a:rPr>
              <a:t>Primary estimate · uncertainty · validation</a:t>
            </a:r>
          </a:p>
        </p:txBody>
      </p:sp>
      <p:sp>
        <p:nvSpPr>
          <p:cNvPr id="63" name="biology-heading-title">
            <a:extLst xmlns:a="http://schemas.openxmlformats.org/drawingml/2006/main">
              <a:ext uri="{FF2B5EF4-FFF2-40B4-BE49-F238E27FC236}">
                <a16:creationId xmlns:a16="http://schemas.microsoft.com/office/drawing/2014/main" id="{9F2D8C81-D174-41C5-8DDE-D893C2D5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3968650"/>
            <a:ext cx="9695791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Effect estimates</a:t>
            </a:r>
          </a:p>
        </p:txBody>
      </p:sp>
      <p:sp>
        <p:nvSpPr>
          <p:cNvPr id="64" name="biology-heading-rule">
            <a:extLst xmlns:a="http://schemas.openxmlformats.org/drawingml/2006/main">
              <a:ext uri="{FF2B5EF4-FFF2-40B4-BE49-F238E27FC236}">
                <a16:creationId xmlns:a16="http://schemas.microsoft.com/office/drawing/2014/main" id="{2C1093FD-9E48-46DF-96E4-F048A6EB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441932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iology-1-value">
            <a:extLst xmlns:a="http://schemas.openxmlformats.org/drawingml/2006/main">
              <a:ext uri="{FF2B5EF4-FFF2-40B4-BE49-F238E27FC236}">
                <a16:creationId xmlns:a16="http://schemas.microsoft.com/office/drawing/2014/main" id="{A546F021-F25F-49F8-8F4E-A23A97C6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4641303"/>
            <a:ext cx="2829904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0F5F73"/>
                </a:solidFill>
              </a:defRPr>
            </a:pPr>
            <a:r>
              <a:rPr sz="3602" b="1">
                <a:solidFill>
                  <a:srgbClr val="0F5F73"/>
                </a:solidFill>
              </a:rPr>
              <a:t>Effect</a:t>
            </a:r>
          </a:p>
        </p:txBody>
      </p:sp>
      <p:sp>
        <p:nvSpPr>
          <p:cNvPr id="66" name="biology-1-label">
            <a:extLst xmlns:a="http://schemas.openxmlformats.org/drawingml/2006/main">
              <a:ext uri="{FF2B5EF4-FFF2-40B4-BE49-F238E27FC236}">
                <a16:creationId xmlns:a16="http://schemas.microsoft.com/office/drawing/2014/main" id="{DF559E03-1C3A-4110-9752-2B33F605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5165972"/>
            <a:ext cx="2829904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primary estimate</a:t>
            </a:r>
          </a:p>
        </p:txBody>
      </p:sp>
      <p:sp>
        <p:nvSpPr>
          <p:cNvPr id="67" name="biology-2-value">
            <a:extLst xmlns:a="http://schemas.openxmlformats.org/drawingml/2006/main">
              <a:ext uri="{FF2B5EF4-FFF2-40B4-BE49-F238E27FC236}">
                <a16:creationId xmlns:a16="http://schemas.microsoft.com/office/drawing/2014/main" id="{95EFA93F-44CF-4C73-967F-76BE8A89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1370" y="4641303"/>
            <a:ext cx="2829904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2C8C99"/>
                </a:solidFill>
              </a:defRPr>
            </a:pPr>
            <a:r>
              <a:rPr sz="3602" b="1">
                <a:solidFill>
                  <a:srgbClr val="2C8C99"/>
                </a:solidFill>
              </a:rPr>
              <a:t>95% CI</a:t>
            </a:r>
          </a:p>
        </p:txBody>
      </p:sp>
      <p:sp>
        <p:nvSpPr>
          <p:cNvPr id="68" name="biology-2-label">
            <a:extLst xmlns:a="http://schemas.openxmlformats.org/drawingml/2006/main">
              <a:ext uri="{FF2B5EF4-FFF2-40B4-BE49-F238E27FC236}">
                <a16:creationId xmlns:a16="http://schemas.microsoft.com/office/drawing/2014/main" id="{18B401BE-E2AD-4989-B9D8-E1F0A37C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1370" y="5165972"/>
            <a:ext cx="2829904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uncertainty</a:t>
            </a:r>
          </a:p>
        </p:txBody>
      </p:sp>
      <p:sp>
        <p:nvSpPr>
          <p:cNvPr id="69" name="biology-3-value">
            <a:extLst xmlns:a="http://schemas.openxmlformats.org/drawingml/2006/main">
              <a:ext uri="{FF2B5EF4-FFF2-40B4-BE49-F238E27FC236}">
                <a16:creationId xmlns:a16="http://schemas.microsoft.com/office/drawing/2014/main" id="{74CC8BA9-BF1B-44EB-9578-BE63472C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1857" y="4641303"/>
            <a:ext cx="2829904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E8B44C"/>
                </a:solidFill>
              </a:defRPr>
            </a:pPr>
            <a:r>
              <a:rPr sz="3602" b="1">
                <a:solidFill>
                  <a:srgbClr val="E8B44C"/>
                </a:solidFill>
              </a:rPr>
              <a:t>P</a:t>
            </a:r>
          </a:p>
        </p:txBody>
      </p:sp>
      <p:sp>
        <p:nvSpPr>
          <p:cNvPr id="70" name="biology-3-label">
            <a:extLst xmlns:a="http://schemas.openxmlformats.org/drawingml/2006/main">
              <a:ext uri="{FF2B5EF4-FFF2-40B4-BE49-F238E27FC236}">
                <a16:creationId xmlns:a16="http://schemas.microsoft.com/office/drawing/2014/main" id="{872882F9-E038-4B71-ADBD-F74847E7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1857" y="5165972"/>
            <a:ext cx="2829904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robustness</a:t>
            </a:r>
          </a:p>
        </p:txBody>
      </p:sp>
      <p:sp>
        <p:nvSpPr>
          <p:cNvPr id="71" name="biology-evidence">
            <a:extLst xmlns:a="http://schemas.openxmlformats.org/drawingml/2006/main">
              <a:ext uri="{FF2B5EF4-FFF2-40B4-BE49-F238E27FC236}">
                <a16:creationId xmlns:a16="http://schemas.microsoft.com/office/drawing/2014/main" id="{6C42D761-F861-40F5-8278-5FC80F1E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5986608"/>
            <a:ext cx="9695791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supporting analysis</a:t>
            </a:r>
          </a:p>
        </p:txBody>
      </p:sp>
      <p:sp>
        <p:nvSpPr>
          <p:cNvPr id="72" name="figure-three-frame">
            <a:extLst xmlns:a="http://schemas.openxmlformats.org/drawingml/2006/main">
              <a:ext uri="{FF2B5EF4-FFF2-40B4-BE49-F238E27FC236}">
                <a16:creationId xmlns:a16="http://schemas.microsoft.com/office/drawing/2014/main" id="{FC7E97C0-2DB7-4D24-87F3-34BE6393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6491097"/>
            <a:ext cx="9695791" cy="4843098"/>
          </a:xfrm>
          <a:prstGeom xmlns:a="http://schemas.openxmlformats.org/drawingml/2006/main" prst="roundRect">
            <a:avLst>
              <a:gd name="adj" fmla="val 23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sp>
        <p:nvSpPr>
          <p:cNvPr id="73" name="figure-three-placeholder">
            <a:extLst xmlns:a="http://schemas.openxmlformats.org/drawingml/2006/main">
              <a:ext uri="{FF2B5EF4-FFF2-40B4-BE49-F238E27FC236}">
                <a16:creationId xmlns:a16="http://schemas.microsoft.com/office/drawing/2014/main" id="{CBF72E1A-BF3D-4DA6-868D-A08863F5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5640" y="6625628"/>
            <a:ext cx="9426276" cy="4183899"/>
          </a:xfrm>
          <a:prstGeom xmlns:a="http://schemas.openxmlformats.org/drawingml/2006/main" prst="roundRect">
            <a:avLst>
              <a:gd name="adj" fmla="val 1821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3453">
            <a:solidFill>
              <a:srgbClr val="D9E2EC"/>
            </a:solidFill>
            <a:prstDash val="solid"/>
          </a:ln>
        </p:spPr>
      </p:sp>
      <p:sp>
        <p:nvSpPr>
          <p:cNvPr id="74" name="figure-three-placeholder-label">
            <a:extLst xmlns:a="http://schemas.openxmlformats.org/drawingml/2006/main">
              <a:ext uri="{FF2B5EF4-FFF2-40B4-BE49-F238E27FC236}">
                <a16:creationId xmlns:a16="http://schemas.microsoft.com/office/drawing/2014/main" id="{8C9E2F01-97D8-41AE-8AFF-EAF280A3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5155" y="8509055"/>
            <a:ext cx="8887247" cy="605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07" b="1">
                <a:solidFill>
                  <a:srgbClr val="2C8C99"/>
                </a:solidFill>
              </a:defRPr>
            </a:pPr>
            <a:r>
              <a:rPr sz="1907" b="1">
                <a:solidFill>
                  <a:srgbClr val="2C8C99"/>
                </a:solidFill>
              </a:rPr>
              <a:t>baseline characteristics visual</a:t>
            </a:r>
          </a:p>
        </p:txBody>
      </p:sp>
      <p:sp>
        <p:nvSpPr>
          <p:cNvPr id="75" name="figure-three-caption">
            <a:extLst xmlns:a="http://schemas.openxmlformats.org/drawingml/2006/main">
              <a:ext uri="{FF2B5EF4-FFF2-40B4-BE49-F238E27FC236}">
                <a16:creationId xmlns:a16="http://schemas.microsoft.com/office/drawing/2014/main" id="{045447DF-ECB4-4876-B1B4-26454B68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2592" y="10849886"/>
            <a:ext cx="9372373" cy="22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89" b="1">
                <a:solidFill>
                  <a:srgbClr val="102A43"/>
                </a:solidFill>
              </a:defRPr>
            </a:pPr>
            <a:r>
              <a:rPr sz="1589" b="1">
                <a:solidFill>
                  <a:srgbClr val="102A43"/>
                </a:solidFill>
              </a:rPr>
              <a:t>Baseline Characteristics Visual caption</a:t>
            </a:r>
          </a:p>
        </p:txBody>
      </p:sp>
      <p:sp>
        <p:nvSpPr>
          <p:cNvPr id="76" name="figure-three-source">
            <a:extLst xmlns:a="http://schemas.openxmlformats.org/drawingml/2006/main">
              <a:ext uri="{FF2B5EF4-FFF2-40B4-BE49-F238E27FC236}">
                <a16:creationId xmlns:a16="http://schemas.microsoft.com/office/drawing/2014/main" id="{CC215A0C-0971-4015-8C53-9CBF88D6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2592" y="11078588"/>
            <a:ext cx="9372373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77" name="validation-visual-heading-title">
            <a:extLst xmlns:a="http://schemas.openxmlformats.org/drawingml/2006/main">
              <a:ext uri="{FF2B5EF4-FFF2-40B4-BE49-F238E27FC236}">
                <a16:creationId xmlns:a16="http://schemas.microsoft.com/office/drawing/2014/main" id="{C5A97A8E-7EA2-4E2B-998B-6AB2E990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1670522"/>
            <a:ext cx="9695791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Subgroups and robustness</a:t>
            </a:r>
          </a:p>
        </p:txBody>
      </p:sp>
      <p:sp>
        <p:nvSpPr>
          <p:cNvPr id="78" name="validation-visual-heading-rule">
            <a:extLst xmlns:a="http://schemas.openxmlformats.org/drawingml/2006/main">
              <a:ext uri="{FF2B5EF4-FFF2-40B4-BE49-F238E27FC236}">
                <a16:creationId xmlns:a16="http://schemas.microsoft.com/office/drawing/2014/main" id="{28B477B1-B924-4CD4-B1D6-1B84DAC6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2121199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figure-four-frame">
            <a:extLst xmlns:a="http://schemas.openxmlformats.org/drawingml/2006/main">
              <a:ext uri="{FF2B5EF4-FFF2-40B4-BE49-F238E27FC236}">
                <a16:creationId xmlns:a16="http://schemas.microsoft.com/office/drawing/2014/main" id="{25A5D74E-2039-4272-8919-6DA48EA7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2275909"/>
            <a:ext cx="9695791" cy="5044894"/>
          </a:xfrm>
          <a:prstGeom xmlns:a="http://schemas.openxmlformats.org/drawingml/2006/main" prst="roundRect">
            <a:avLst>
              <a:gd name="adj" fmla="val 22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sp>
        <p:nvSpPr>
          <p:cNvPr id="80" name="figure-four-placeholder">
            <a:extLst xmlns:a="http://schemas.openxmlformats.org/drawingml/2006/main">
              <a:ext uri="{FF2B5EF4-FFF2-40B4-BE49-F238E27FC236}">
                <a16:creationId xmlns:a16="http://schemas.microsoft.com/office/drawing/2014/main" id="{8AFBD6C0-3E1A-491D-AC11-5017C9A9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5640" y="12410440"/>
            <a:ext cx="9426276" cy="4385695"/>
          </a:xfrm>
          <a:prstGeom xmlns:a="http://schemas.openxmlformats.org/drawingml/2006/main" prst="roundRect">
            <a:avLst>
              <a:gd name="adj" fmla="val 173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3453">
            <a:solidFill>
              <a:srgbClr val="D9E2EC"/>
            </a:solidFill>
            <a:prstDash val="solid"/>
          </a:ln>
        </p:spPr>
      </p:sp>
      <p:sp>
        <p:nvSpPr>
          <p:cNvPr id="81" name="figure-four-placeholder-label">
            <a:extLst xmlns:a="http://schemas.openxmlformats.org/drawingml/2006/main">
              <a:ext uri="{FF2B5EF4-FFF2-40B4-BE49-F238E27FC236}">
                <a16:creationId xmlns:a16="http://schemas.microsoft.com/office/drawing/2014/main" id="{6F16CBD4-E458-48E1-86A1-B48AB8B5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5155" y="14394765"/>
            <a:ext cx="8887247" cy="605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07" b="1">
                <a:solidFill>
                  <a:srgbClr val="2C8C99"/>
                </a:solidFill>
              </a:defRPr>
            </a:pPr>
            <a:r>
              <a:rPr sz="1907" b="1">
                <a:solidFill>
                  <a:srgbClr val="2C8C99"/>
                </a:solidFill>
              </a:rPr>
              <a:t>sensitivity analysis plot</a:t>
            </a:r>
          </a:p>
        </p:txBody>
      </p:sp>
      <p:sp>
        <p:nvSpPr>
          <p:cNvPr id="82" name="figure-four-caption">
            <a:extLst xmlns:a="http://schemas.openxmlformats.org/drawingml/2006/main">
              <a:ext uri="{FF2B5EF4-FFF2-40B4-BE49-F238E27FC236}">
                <a16:creationId xmlns:a16="http://schemas.microsoft.com/office/drawing/2014/main" id="{5BC9599F-DC73-4F19-A6F3-8F6C6E96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2592" y="16836494"/>
            <a:ext cx="9372373" cy="22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89" b="1">
                <a:solidFill>
                  <a:srgbClr val="102A43"/>
                </a:solidFill>
              </a:defRPr>
            </a:pPr>
            <a:r>
              <a:rPr sz="1589" b="1">
                <a:solidFill>
                  <a:srgbClr val="102A43"/>
                </a:solidFill>
              </a:rPr>
              <a:t>Sensitivity Analysis Plot caption</a:t>
            </a:r>
          </a:p>
        </p:txBody>
      </p:sp>
      <p:sp>
        <p:nvSpPr>
          <p:cNvPr id="83" name="figure-four-source">
            <a:extLst xmlns:a="http://schemas.openxmlformats.org/drawingml/2006/main">
              <a:ext uri="{FF2B5EF4-FFF2-40B4-BE49-F238E27FC236}">
                <a16:creationId xmlns:a16="http://schemas.microsoft.com/office/drawing/2014/main" id="{F53B5AA8-39E4-451B-9C39-8358192F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2592" y="17065196"/>
            <a:ext cx="9372373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84" name="conclusion-heading-title">
            <a:extLst xmlns:a="http://schemas.openxmlformats.org/drawingml/2006/main">
              <a:ext uri="{FF2B5EF4-FFF2-40B4-BE49-F238E27FC236}">
                <a16:creationId xmlns:a16="http://schemas.microsoft.com/office/drawing/2014/main" id="{AA0D2FC3-2EA2-486C-8A54-808C85BB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7657130"/>
            <a:ext cx="9695791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Interpretation and limitations</a:t>
            </a:r>
          </a:p>
        </p:txBody>
      </p:sp>
      <p:sp>
        <p:nvSpPr>
          <p:cNvPr id="85" name="conclusion-heading-rule">
            <a:extLst xmlns:a="http://schemas.openxmlformats.org/drawingml/2006/main">
              <a:ext uri="{FF2B5EF4-FFF2-40B4-BE49-F238E27FC236}">
                <a16:creationId xmlns:a16="http://schemas.microsoft.com/office/drawing/2014/main" id="{9ACFAB31-CCBA-4EAE-965A-32D15745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810780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9C7E0B7B-AF28-44E0-8AED-72AF2E27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8262517"/>
            <a:ext cx="9695791" cy="2219753"/>
          </a:xfrm>
          <a:prstGeom xmlns:a="http://schemas.openxmlformats.org/drawingml/2006/main" prst="roundRect">
            <a:avLst>
              <a:gd name="adj" fmla="val 5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sp>
        <p:nvSpPr>
          <p:cNvPr id="87" name="conclusion">
            <a:extLst xmlns:a="http://schemas.openxmlformats.org/drawingml/2006/main">
              <a:ext uri="{FF2B5EF4-FFF2-40B4-BE49-F238E27FC236}">
                <a16:creationId xmlns:a16="http://schemas.microsoft.com/office/drawing/2014/main" id="{D7D0BBCE-E269-43F4-9A8F-5BFFE78B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9970" y="18484492"/>
            <a:ext cx="9237616" cy="1547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State the supported conclusion and retain the most important limitation.</a:t>
            </a:r>
          </a:p>
        </p:txBody>
      </p:sp>
      <p:sp>
        <p:nvSpPr>
          <p:cNvPr id="88" name="conclusion-evidence">
            <a:extLst xmlns:a="http://schemas.openxmlformats.org/drawingml/2006/main">
              <a:ext uri="{FF2B5EF4-FFF2-40B4-BE49-F238E27FC236}">
                <a16:creationId xmlns:a16="http://schemas.microsoft.com/office/drawing/2014/main" id="{F8CEC7E6-4A6B-4B8B-ADB5-B0678ABA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9970" y="20125765"/>
            <a:ext cx="9237616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discussion and conclusion</a:t>
            </a:r>
          </a:p>
        </p:txBody>
      </p:sp>
      <p:sp>
        <p:nvSpPr>
          <p:cNvPr id="89" name="footer-band">
            <a:extLst xmlns:a="http://schemas.openxmlformats.org/drawingml/2006/main">
              <a:ext uri="{FF2B5EF4-FFF2-40B4-BE49-F238E27FC236}">
                <a16:creationId xmlns:a16="http://schemas.microsoft.com/office/drawing/2014/main" id="{6394E2D9-209A-462F-8015-38CB948E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717699"/>
            <a:ext cx="30279975" cy="66592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10896444-B109-4B3A-85ED-FD279B04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20899315"/>
            <a:ext cx="13543113" cy="28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77">
                <a:solidFill>
                  <a:srgbClr val="FFFFFF"/>
                </a:solidFill>
              </a:defRPr>
            </a:pPr>
            <a:r>
              <a:rPr sz="1377">
                <a:solidFill>
                  <a:srgbClr val="FFFFFF"/>
                </a:solidFill>
              </a:rPr>
              <a:t>Source citation · content mode · asset license</a:t>
            </a:r>
          </a:p>
        </p:txBody>
      </p:sp>
      <p:sp>
        <p:nvSpPr>
          <p:cNvPr id="91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BA5377A5-81E6-4674-84BF-BEEA831D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8550" y="20899315"/>
            <a:ext cx="6131459" cy="28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1" b="1">
                <a:solidFill>
                  <a:srgbClr val="E8B44C"/>
                </a:solidFill>
              </a:defRPr>
            </a:pPr>
            <a:r>
              <a:rPr sz="1271" b="1">
                <a:solidFill>
                  <a:srgbClr val="E8B44C"/>
                </a:solidFill>
              </a:rPr>
              <a:t>Approvals current · scientific colors locked</a:t>
            </a:r>
          </a:p>
        </p:txBody>
      </p:sp>
      <p:sp>
        <p:nvSpPr>
          <p:cNvPr id="92" name="POSTEX_PROVENANCE_MARK">
            <a:extLst xmlns:a="http://schemas.openxmlformats.org/drawingml/2006/main">
              <a:ext uri="{FF2B5EF4-FFF2-40B4-BE49-F238E27FC236}">
                <a16:creationId xmlns:a16="http://schemas.microsoft.com/office/drawing/2014/main" id="{8888DBC2-820E-4EF3-8271-1CCB81FE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26418" y="20899315"/>
            <a:ext cx="7883305" cy="28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1" b="1">
                <a:solidFill>
                  <a:srgbClr val="FFFFFF">
                    <a:alpha val="38000"/>
                  </a:srgbClr>
                </a:solidFill>
              </a:defRPr>
            </a:pPr>
            <a:r>
              <a:rPr sz="1271" b="1">
                <a:solidFill>
                  <a:srgbClr val="FFFFFF">
                    <a:alpha val="38000"/>
                  </a:srgbClr>
                </a:solidFill>
              </a:rPr>
              <a:t>Made with PostEx™ · PX-00000000</a:t>
            </a:r>
          </a:p>
        </p:txBody>
      </p:sp>
    </p:spTree>
    <p:extLst>
      <p:ext uri="{BB962C8B-B14F-4D97-AF65-F5344CB8AC3E}">
        <p14:creationId xmlns:p14="http://schemas.microsoft.com/office/powerpoint/2010/main" val="10975081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2026-08-10T04:10:08.9270000Z</dcterms:created>
  <dcterms:modified xsi:type="dcterms:W3CDTF">2026-08-10T04:10:08.9270000Z</dcterms:modified>
</coreProperties>
</file>