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b3516ae7524b85" /><Relationship Type="http://schemas.openxmlformats.org/officeDocument/2006/relationships/extended-properties" Target="/docProps/app.xml" Id="Ra1b31e2f4a1049b6" /><Relationship Type="http://schemas.openxmlformats.org/officeDocument/2006/relationships/officeDocument" Target="/ppt/presentation.xml" Id="R2b9b6a01b24c4f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9261b816a446b3"/>
  </p:sldMasterIdLst>
  <p:notesMasterIdLst>
    <p:notesMasterId xmlns:r="http://schemas.openxmlformats.org/officeDocument/2006/relationships" r:id="R9a2702189a0b4226"/>
  </p:notesMasterIdLst>
  <p:sldIdLst>
    <p:sldId xmlns:r="http://schemas.openxmlformats.org/officeDocument/2006/relationships" id="256" r:id="Rb2b87829ed2941f8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6edfd131ca4ab8" /><Relationship Type="http://schemas.openxmlformats.org/officeDocument/2006/relationships/slideMaster" Target="/ppt/slideMasters/slideMaster1.xml" Id="R569261b816a446b3" /><Relationship Type="http://schemas.openxmlformats.org/officeDocument/2006/relationships/notesMaster" Target="/ppt/notesMasters/notesMaster1.xml" Id="R9a2702189a0b4226" /><Relationship Type="http://schemas.openxmlformats.org/officeDocument/2006/relationships/presProps" Target="/ppt/presProps.xml" Id="R84c1d8282fd84fe8" /><Relationship Type="http://schemas.openxmlformats.org/officeDocument/2006/relationships/tableStyles" Target="/ppt/tableStyles.xml" Id="R67314993213f4939" /><Relationship Type="http://schemas.openxmlformats.org/officeDocument/2006/relationships/slide" Target="/ppt/slides/slide1.xml" Id="Rb2b87829ed2941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046b353953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f6d9eb201b4f41" /><Relationship Type="http://schemas.openxmlformats.org/officeDocument/2006/relationships/notesMaster" Target="/ppt/notesMasters/notesMaster1.xml" Id="Ra92612a8950a4c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PostEx official template asset; CC BY 4.0</a:t>
            </a:r>
          </a:p>
          <a:p xmlns:a="http://schemas.openxmlformats.org/drawingml/2006/main">
            <a:r>
              <a:t>- No third-party logo or scientific figure is embedded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d795a972a47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c74a3cdafb4dcc" /><Relationship Type="http://schemas.openxmlformats.org/officeDocument/2006/relationships/slideLayout" Target="/ppt/slideLayouts/slideLayout1.xml" Id="R31bbfa1bf4824f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bbfa1bf4824f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7f6e14bbd4b13" /><Relationship Type="http://schemas.openxmlformats.org/officeDocument/2006/relationships/notesSlide" Target="/ppt/notesSlides/notesSlide1.xml" Id="R4c6b675754e748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A117182-4485-4847-AA48-3AE3D848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38457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3338AD09-4AE3-405C-AA6D-E8551D0F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107AA3F8-62F4-4124-B78B-217FEA2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42007"/>
            <a:ext cx="30471861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Transparent observational cohort poster title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9D061355-210F-4299-8016-9B3668AA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168616"/>
            <a:ext cx="30178862" cy="68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45" b="1">
                <a:solidFill>
                  <a:srgbClr val="FFFFFF"/>
                </a:solidFill>
              </a:defRPr>
            </a:pPr>
            <a:r>
              <a:rPr sz="2845" b="1">
                <a:solidFill>
                  <a:srgbClr val="FFFFFF"/>
                </a:solidFill>
              </a:rPr>
              <a:t>Author names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2F979C44-7E40-4350-8A39-312493A2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955593"/>
            <a:ext cx="3017886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>
                <a:solidFill>
                  <a:srgbClr val="F6F8FA"/>
                </a:solidFill>
              </a:defRPr>
            </a:pPr>
            <a:r>
              <a:rPr sz="2230">
                <a:solidFill>
                  <a:srgbClr val="F6F8FA"/>
                </a:solidFill>
              </a:rPr>
              <a:t>Institutions and collaborating centers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C29E934C-7696-4324-9A1C-DA8D5D37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4607955"/>
            <a:ext cx="24904887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 b="1">
                <a:solidFill>
                  <a:srgbClr val="E8B44C"/>
                </a:solidFill>
              </a:defRPr>
            </a:pPr>
            <a:r>
              <a:rPr sz="1999" b="1">
                <a:solidFill>
                  <a:srgbClr val="E8B44C"/>
                </a:solidFill>
              </a:rPr>
              <a:t>Journal or conference · DOI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999ECE69-EA10-45DF-8626-E8455FC2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600587"/>
            <a:ext cx="9571290" cy="1346144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F35A2956-9DBF-4C3D-9548-8DEBEFF5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0716" y="994076"/>
            <a:ext cx="9336891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76" b="1">
                <a:solidFill>
                  <a:srgbClr val="0F5F73"/>
                </a:solidFill>
              </a:defRPr>
            </a:pPr>
            <a:r>
              <a:rPr sz="2076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7ED848CE-5073-4ADC-8C09-5D44E70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2174540"/>
            <a:ext cx="9571290" cy="2485189"/>
          </a:xfrm>
          <a:prstGeom xmlns:a="http://schemas.openxmlformats.org/drawingml/2006/main" prst="roundRect">
            <a:avLst>
              <a:gd name="adj" fmla="val 6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C68AAE00-E71C-46FE-AD2A-9977F277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N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594462CF-3EFF-4629-9440-6D17A987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eligible participants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698CCC41-B609-4AE9-94E1-A744A360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N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1031F063-5CD4-4BF8-B9AA-4246B16D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outcome events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782CAB1C-105B-4302-A850-147C5E22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E8B44C"/>
                </a:solidFill>
              </a:defRPr>
            </a:pPr>
            <a:r>
              <a:rPr sz="5229" b="1">
                <a:solidFill>
                  <a:srgbClr val="E8B44C"/>
                </a:solidFill>
              </a:rPr>
              <a:t>N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63797355-8AEC-4FE6-AFB1-2C16A720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sensitivity models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DBBB9EB-24B4-4306-88B6-515D0BE9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109423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Clinical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C7BAE33E-463F-4963-92BC-9E7F5338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AC067410-3999-4BC3-AF4F-50425B3C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7062079"/>
            <a:ext cx="11915279" cy="2278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State the scientific question in two concise sentences.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07B89527-1416-4982-A0E8-985EAD16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9443718"/>
            <a:ext cx="1191527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source page or section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A7A34F6C-A45F-4850-9111-8640EC6A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044306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Cohort construction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C007C2B9-8E2F-487E-A4D5-F696BEF5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73808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7A2A6F88-917F-4E16-AC62-4001CFE5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1767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7F86194D-A58D-49BA-A9C2-767B4403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90156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EFA339E9-664D-487B-8CCD-E9B9AB40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059091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Define source population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6ADA023A-7532-4D57-9873-3053506B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846068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C98A73E4-95BD-4057-9EEF-8A54362C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918553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73DE19D5-AA45-487A-B8A8-3519F511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887488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Apply eligibility criteria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2316070F-D3DB-41B3-A7E3-143D61C1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674464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7DBAB3C4-1033-4FBE-8993-2B42D42F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746949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5B0B2B29-B0D0-4ED7-9ED8-FFC75B63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2715884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Specify exposure and outcome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11703967-5D1D-473A-A618-9DF367A7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0286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575D4F29-088E-434A-927C-39B2F913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75345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AE2858C8-4BEB-419F-9CED-A49AFE33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3544280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Fit adjusted models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B42D8BEF-B17A-4E1E-B150-CBB52B4D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4600486"/>
            <a:ext cx="11915279" cy="3727784"/>
          </a:xfrm>
          <a:prstGeom xmlns:a="http://schemas.openxmlformats.org/drawingml/2006/main" prst="roundRect">
            <a:avLst>
              <a:gd name="adj" fmla="val 30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2F4E5F2A-ABAF-42B4-91FD-C51D783E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4911134"/>
            <a:ext cx="4492646" cy="41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 b="1">
                <a:solidFill>
                  <a:srgbClr val="0F5F73"/>
                </a:solidFill>
              </a:defRPr>
            </a:pPr>
            <a:r>
              <a:rPr sz="2230" b="1">
                <a:solidFill>
                  <a:srgbClr val="0F5F73"/>
                </a:solidFill>
              </a:rPr>
              <a:t>COHORT ACCOUNTING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5A3DE1C8-7410-44F3-BEDA-E55ABDA5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5480657"/>
            <a:ext cx="11368348" cy="223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Discovery set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Primary analysis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Validation set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Sensitivity analysis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9BA8AE9F-BB59-420E-A714-FAEB62DE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7841586"/>
            <a:ext cx="11368348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methods and dataset table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589EFFCA-08AA-4453-BB48-A6FF3CB0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8897792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Eligibility and follow-up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86C73F7E-7BC5-4AE8-9A2B-870409DB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591574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2B51F726-1A97-40BB-9033-D4637392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829738"/>
            <a:ext cx="11915279" cy="10769153"/>
          </a:xfrm>
          <a:prstGeom xmlns:a="http://schemas.openxmlformats.org/drawingml/2006/main" prst="roundRect">
            <a:avLst>
              <a:gd name="adj" fmla="val 1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E0DDFA41-2262-45BD-A844-B6E9C07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60" y="20036837"/>
            <a:ext cx="11524614" cy="9754367"/>
          </a:xfrm>
          <a:prstGeom xmlns:a="http://schemas.openxmlformats.org/drawingml/2006/main" prst="roundRect">
            <a:avLst>
              <a:gd name="adj" fmla="val 78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8823C972-00F7-4260-A7F2-3AAA450A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324" y="24593017"/>
            <a:ext cx="10743284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cohort flow diagram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10C204F0-B089-4262-ACD2-14CDFB3A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29853334"/>
            <a:ext cx="1144648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Cohort Flow Diagram caption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B70FB1AD-0B01-4EE6-8859-BDEAFA15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30205402"/>
            <a:ext cx="1144648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C544C3F6-5B67-46F7-BD99-1EF5224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6109423"/>
            <a:ext cx="14015103" cy="2744063"/>
          </a:xfrm>
          <a:prstGeom xmlns:a="http://schemas.openxmlformats.org/drawingml/2006/main" prst="roundRect">
            <a:avLst>
              <a:gd name="adj" fmla="val 555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C03374F9-FC80-4452-AC3E-3A3393B3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335" y="6471846"/>
            <a:ext cx="13155640" cy="1035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30" b="1">
                <a:solidFill>
                  <a:srgbClr val="102A43"/>
                </a:solidFill>
              </a:defRPr>
            </a:pPr>
            <a:r>
              <a:rPr sz="4230" b="1">
                <a:solidFill>
                  <a:srgbClr val="102A43"/>
                </a:solidFill>
              </a:rPr>
              <a:t>Place the single most important result here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126E1978-4529-45BE-8F43-E271A933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2267" y="7807636"/>
            <a:ext cx="12647776" cy="497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61" b="1">
                <a:solidFill>
                  <a:srgbClr val="102A43"/>
                </a:solidFill>
              </a:defRPr>
            </a:pPr>
            <a:r>
              <a:rPr sz="2461" b="1">
                <a:solidFill>
                  <a:srgbClr val="102A43"/>
                </a:solidFill>
              </a:rPr>
              <a:t>Explain what the result means for the audience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A8801A21-A0F3-4386-B482-272CC6B5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868" y="8387513"/>
            <a:ext cx="13116574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result section and figure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12BC8281-5978-4A01-B852-A03BCF14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9371234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Adjusted primary outcome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71670BE9-F560-4691-8556-45AF7102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065016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32BE62F1-2C3C-4483-8A9D-50F9980D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303180"/>
            <a:ext cx="14015103" cy="13823864"/>
          </a:xfrm>
          <a:prstGeom xmlns:a="http://schemas.openxmlformats.org/drawingml/2006/main" prst="roundRect">
            <a:avLst>
              <a:gd name="adj" fmla="val 8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37957E69-FA46-4BA5-9F54-4205995E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936" y="10510279"/>
            <a:ext cx="13624438" cy="12809079"/>
          </a:xfrm>
          <a:prstGeom xmlns:a="http://schemas.openxmlformats.org/drawingml/2006/main" prst="roundRect">
            <a:avLst>
              <a:gd name="adj" fmla="val 59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39B4379F-C363-4770-B539-69F8EEE6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601" y="16593814"/>
            <a:ext cx="12843108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adjusted outcome plot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56F377BE-286E-42D9-8287-BF80EAF3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381487"/>
            <a:ext cx="13546305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Adjusted Outcome Plot caption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B30F17C2-7501-4558-B1BE-C96FDBCC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733555"/>
            <a:ext cx="13546305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3B26ED42-53A0-42B8-9183-8E82096A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4644791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Bias and sensitivity checks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21018165-3BC2-4F27-9D3E-0F947A0D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338573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768D901C-37E6-4234-9938-487B7AB4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576737"/>
            <a:ext cx="14015103" cy="4400856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B8428229-3F13-47F1-A915-BAFE38E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5918451"/>
            <a:ext cx="13311906" cy="321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Primary adjusted result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validation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Negative findings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Interpretation boundary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64E38957-651C-4447-9E58-F7B0489B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9480555"/>
            <a:ext cx="13311906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result pages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855081AA-D405-47BC-8EF4-82EF45A4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30340016"/>
            <a:ext cx="14015103" cy="1190820"/>
          </a:xfrm>
          <a:prstGeom xmlns:a="http://schemas.openxmlformats.org/drawingml/2006/main" prst="roundRect">
            <a:avLst>
              <a:gd name="adj" fmla="val 9598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EC6B69B5-8277-4FBC-8690-3A55FC31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669" y="30650665"/>
            <a:ext cx="1335097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15" b="1">
                <a:solidFill>
                  <a:srgbClr val="FFFFFF"/>
                </a:solidFill>
              </a:defRPr>
            </a:pPr>
            <a:r>
              <a:rPr sz="2615" b="1">
                <a:solidFill>
                  <a:srgbClr val="FFFFFF"/>
                </a:solidFill>
              </a:rPr>
              <a:t>Primary estimate · uncertainty · validation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CAC52AEE-99D0-4993-AF12-32B557A9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109423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Effect estimates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793E257A-3FD2-498A-8EF7-C709C0D9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3819C609-BC1A-455D-AD80-D30F288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Effect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A00A3868-929C-4542-9C4A-A1EF9500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primary estimate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06860519-306F-48F8-B191-B401B92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95% CI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62F60C30-DAB8-46F2-A410-F294C3C1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uncertainty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4B68252C-C616-4087-B416-98721CEE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E8B44C"/>
                </a:solidFill>
              </a:defRPr>
            </a:pPr>
            <a:r>
              <a:rPr sz="5229" b="1">
                <a:solidFill>
                  <a:srgbClr val="E8B44C"/>
                </a:solidFill>
              </a:rPr>
              <a:t>P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11C0C0DA-68B1-456F-A954-877820E9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robustness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CE477D82-B004-4A82-9263-8261605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215909"/>
            <a:ext cx="1405416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supporting analysis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4AB777CB-73AC-4B97-9D8B-69DC1EAC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992531"/>
            <a:ext cx="14054169" cy="7455567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CA6D9020-AAA2-4D35-90A8-A0948729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5036" y="10199630"/>
            <a:ext cx="13663504" cy="6440782"/>
          </a:xfrm>
          <a:prstGeom xmlns:a="http://schemas.openxmlformats.org/drawingml/2006/main" prst="roundRect">
            <a:avLst>
              <a:gd name="adj" fmla="val 118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A969C3F9-6998-401B-83BE-74962690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5701" y="13099017"/>
            <a:ext cx="12882175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baseline characteristics visual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D9719DE6-A70D-4262-8132-45DDDB74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6702541"/>
            <a:ext cx="1358537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Baseline Characteristics Visual caption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6FF1EEEA-AEDC-418F-BD7E-38E3E65B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7054610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10A731C9-996E-4793-8AF3-25984D51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7965846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Subgroups and robustness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73CE8393-0184-467D-B703-783A1CDD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65962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07470BCD-C683-428A-BFC6-CC147488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897792"/>
            <a:ext cx="14054169" cy="7766216"/>
          </a:xfrm>
          <a:prstGeom xmlns:a="http://schemas.openxmlformats.org/drawingml/2006/main" prst="roundRect">
            <a:avLst>
              <a:gd name="adj" fmla="val 1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5B099E5B-3386-47F0-80C2-CE38B0B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5036" y="19104891"/>
            <a:ext cx="13663504" cy="6751430"/>
          </a:xfrm>
          <a:prstGeom xmlns:a="http://schemas.openxmlformats.org/drawingml/2006/main" prst="roundRect">
            <a:avLst>
              <a:gd name="adj" fmla="val 112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82FD2413-6BCF-4064-A8DF-8D0461BA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5701" y="22159602"/>
            <a:ext cx="12882175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sensitivity analysis plot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AE0354F7-E75B-4DEC-9BD7-35AB6543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5918451"/>
            <a:ext cx="1358537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Sensitivity Analysis Plot caption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F8747CFE-24DD-4231-BF76-A4243B6B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6270519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489A846B-A05A-4A2F-A9AC-0CFCA097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181755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Interpretation and limitations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36500A9A-B78D-443B-BE26-12166C7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875537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12DCBFFE-DB77-49B4-8F41-7FCAB514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8113701"/>
            <a:ext cx="14054169" cy="3417135"/>
          </a:xfrm>
          <a:prstGeom xmlns:a="http://schemas.openxmlformats.org/drawingml/2006/main" prst="roundRect">
            <a:avLst>
              <a:gd name="adj" fmla="val 3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48704C23-5546-4C97-9457-4E639020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28455415"/>
            <a:ext cx="13390039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State the supported conclusion and retain the most important limitation.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778F73BD-2AE8-44DF-81C7-8CE9D57D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30982024"/>
            <a:ext cx="1339003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discussion and conclusion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0646D91-1F5B-488A-AF49-0777E8A3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893260"/>
            <a:ext cx="43891200" cy="102514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4BC1C74-30E8-4A86-BC24-C4D271A9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32172843"/>
            <a:ext cx="1963091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>
                <a:solidFill>
                  <a:srgbClr val="FFFFFF"/>
                </a:solidFill>
              </a:defRPr>
            </a:pPr>
            <a:r>
              <a:rPr sz="1999">
                <a:solidFill>
                  <a:srgbClr val="FFFFFF"/>
                </a:solidFill>
              </a:rPr>
              <a:t>Source citation · content mode · asset license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96AB66D-0E9F-4223-9B41-1D733750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1236" y="32172843"/>
            <a:ext cx="8887626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46" b="1">
                <a:solidFill>
                  <a:srgbClr val="E8B44C"/>
                </a:solidFill>
              </a:defRPr>
            </a:pPr>
            <a:r>
              <a:rPr sz="1846" b="1">
                <a:solidFill>
                  <a:srgbClr val="E8B44C"/>
                </a:solidFill>
              </a:rPr>
              <a:t>Approvals current · scientific colors locked</a:t>
            </a:r>
          </a:p>
        </p:txBody>
      </p:sp>
      <p:sp>
        <p:nvSpPr>
          <p:cNvPr id="92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8433B6AE-009A-4951-8A13-90CE6433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858" y="32172843"/>
            <a:ext cx="11426948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46" b="1">
                <a:solidFill>
                  <a:srgbClr val="FFFFFF">
                    <a:alpha val="38000"/>
                  </a:srgbClr>
                </a:solidFill>
              </a:defRPr>
            </a:pPr>
            <a:r>
              <a:rPr sz="1846" b="1">
                <a:solidFill>
                  <a:srgbClr val="FFFFFF">
                    <a:alpha val="38000"/>
                  </a:srgbClr>
                </a:solidFill>
              </a:rPr>
              <a:t>Made with PostEx™ · PX-00000000</a:t>
            </a:r>
          </a:p>
        </p:txBody>
      </p:sp>
    </p:spTree>
    <p:extLst>
      <p:ext uri="{BB962C8B-B14F-4D97-AF65-F5344CB8AC3E}">
        <p14:creationId xmlns:p14="http://schemas.microsoft.com/office/powerpoint/2010/main" val="1243799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2026-08-10T04:10:22.1790000Z</dcterms:created>
  <dcterms:modified xsi:type="dcterms:W3CDTF">2026-08-10T04:10:22.1790000Z</dcterms:modified>
</coreProperties>
</file>