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3aec73b12e4474" /><Relationship Type="http://schemas.openxmlformats.org/officeDocument/2006/relationships/extended-properties" Target="/docProps/app.xml" Id="R14e925a9f3994c75" /><Relationship Type="http://schemas.openxmlformats.org/officeDocument/2006/relationships/officeDocument" Target="/ppt/presentation.xml" Id="R1aa4085208cb45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dee2cfd1df4d71"/>
  </p:sldMasterIdLst>
  <p:notesMasterIdLst>
    <p:notesMasterId xmlns:r="http://schemas.openxmlformats.org/officeDocument/2006/relationships" r:id="Rdee7fb586c6c438c"/>
  </p:notesMasterIdLst>
  <p:sldIdLst>
    <p:sldId xmlns:r="http://schemas.openxmlformats.org/officeDocument/2006/relationships" id="256" r:id="R4cc1f8839835437c"/>
  </p:sldIdLst>
  <p:sldSz cx="30279975" cy="21383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481656125a4830" /><Relationship Type="http://schemas.openxmlformats.org/officeDocument/2006/relationships/slideMaster" Target="/ppt/slideMasters/slideMaster1.xml" Id="R75dee2cfd1df4d71" /><Relationship Type="http://schemas.openxmlformats.org/officeDocument/2006/relationships/notesMaster" Target="/ppt/notesMasters/notesMaster1.xml" Id="Rdee7fb586c6c438c" /><Relationship Type="http://schemas.openxmlformats.org/officeDocument/2006/relationships/presProps" Target="/ppt/presProps.xml" Id="Ra4b19a6937e741b2" /><Relationship Type="http://schemas.openxmlformats.org/officeDocument/2006/relationships/tableStyles" Target="/ppt/tableStyles.xml" Id="R643b3f1939ca4c0b" /><Relationship Type="http://schemas.openxmlformats.org/officeDocument/2006/relationships/slide" Target="/ppt/slides/slide1.xml" Id="R4cc1f883983543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72c0af0a7c41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2a26b85bb644db" /><Relationship Type="http://schemas.openxmlformats.org/officeDocument/2006/relationships/notesMaster" Target="/ppt/notesMasters/notesMaster1.xml" Id="R3341c330ed1c49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PostEx official template asset; CC BY 4.0</a:t>
            </a:r>
          </a:p>
          <a:p xmlns:a="http://schemas.openxmlformats.org/drawingml/2006/main">
            <a:r>
              <a:t>- No third-party logo or scientific figure is embedded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468f010de74f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5e60afcc024821" /><Relationship Type="http://schemas.openxmlformats.org/officeDocument/2006/relationships/slideLayout" Target="/ppt/slideLayouts/slideLayout1.xml" Id="R8ed30f117a3448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d30f117a3448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c3289f3e148da" /><Relationship Type="http://schemas.openxmlformats.org/officeDocument/2006/relationships/notesSlide" Target="/ppt/notesSlides/notesSlide1.xml" Id="R60d992d8822040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78D1B545-A0E0-43E2-96E5-6AD93CDE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3497793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577B5A41-7F54-439D-86FF-B448F7C2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AAC1FAEF-1C70-41D8-AEDB-2730F2CA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17045"/>
            <a:ext cx="21022146" cy="1547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91" b="1">
                <a:solidFill>
                  <a:srgbClr val="FFFFFF"/>
                </a:solidFill>
              </a:defRPr>
            </a:pPr>
            <a:r>
              <a:rPr sz="5191" b="1">
                <a:solidFill>
                  <a:srgbClr val="FFFFFF"/>
                </a:solidFill>
              </a:rPr>
              <a:t>Result-first visual research poster title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FC424D4C-B151-4B57-BAEF-5628C06C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058317"/>
            <a:ext cx="20820010" cy="443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60" b="1">
                <a:solidFill>
                  <a:srgbClr val="FFFFFF"/>
                </a:solidFill>
              </a:defRPr>
            </a:pPr>
            <a:r>
              <a:rPr sz="1960" b="1">
                <a:solidFill>
                  <a:srgbClr val="FFFFFF"/>
                </a:solidFill>
              </a:rPr>
              <a:t>Author names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693353F4-B8F5-48DA-A5C2-618C2AF0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569533"/>
            <a:ext cx="20820010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6">
                <a:solidFill>
                  <a:srgbClr val="F6F8FA"/>
                </a:solidFill>
              </a:defRPr>
            </a:pPr>
            <a:r>
              <a:rPr sz="1536">
                <a:solidFill>
                  <a:srgbClr val="F6F8FA"/>
                </a:solidFill>
              </a:rPr>
              <a:t>Institutions and collaborating centers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6404B9B5-74D3-4AB3-BDD8-25BDAFCF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993304"/>
            <a:ext cx="17181561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77" b="1">
                <a:solidFill>
                  <a:srgbClr val="E8B44C"/>
                </a:solidFill>
              </a:defRPr>
            </a:pPr>
            <a:r>
              <a:rPr sz="1377" b="1">
                <a:solidFill>
                  <a:srgbClr val="E8B44C"/>
                </a:solidFill>
              </a:rPr>
              <a:t>Journal or conference · DOI</a:t>
            </a:r>
          </a:p>
        </p:txBody>
      </p:sp>
      <p:sp>
        <p:nvSpPr>
          <p:cNvPr id="7" name="logo-slot-institution-logo">
            <a:extLst xmlns:a="http://schemas.openxmlformats.org/drawingml/2006/main">
              <a:ext uri="{FF2B5EF4-FFF2-40B4-BE49-F238E27FC236}">
                <a16:creationId xmlns:a16="http://schemas.microsoft.com/office/drawing/2014/main" id="{1F7EEDAC-8B9A-4D7E-A3C3-2748EBCF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6612" y="390138"/>
            <a:ext cx="6603110" cy="874448"/>
          </a:xfrm>
          <a:prstGeom xmlns:a="http://schemas.openxmlformats.org/drawingml/2006/main" prst="roundRect">
            <a:avLst>
              <a:gd name="adj" fmla="val 8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453">
            <a:solidFill>
              <a:srgbClr val="D9E2EC"/>
            </a:solidFill>
            <a:prstDash val="solid"/>
          </a:ln>
        </p:spPr>
      </p:sp>
      <p:sp>
        <p:nvSpPr>
          <p:cNvPr id="8" name="logo-placeholder-institution-logo">
            <a:extLst xmlns:a="http://schemas.openxmlformats.org/drawingml/2006/main">
              <a:ext uri="{FF2B5EF4-FFF2-40B4-BE49-F238E27FC236}">
                <a16:creationId xmlns:a16="http://schemas.microsoft.com/office/drawing/2014/main" id="{3931A2FA-80A6-442A-8A37-091E03A1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7467" y="645746"/>
            <a:ext cx="6441401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30" b="1">
                <a:solidFill>
                  <a:srgbClr val="0F5F73"/>
                </a:solidFill>
              </a:defRPr>
            </a:pPr>
            <a:r>
              <a:rPr sz="1430" b="1">
                <a:solidFill>
                  <a:srgbClr val="0F5F73"/>
                </a:solidFill>
              </a:rPr>
              <a:t>Institution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9468E6A1-3767-4709-A4D6-9E2A1D97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6612" y="1412570"/>
            <a:ext cx="6603110" cy="1614366"/>
          </a:xfrm>
          <a:prstGeom xmlns:a="http://schemas.openxmlformats.org/drawingml/2006/main" prst="roundRect">
            <a:avLst>
              <a:gd name="adj" fmla="val 94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E78E2746-4CCC-47B1-AE51-B89AF71A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826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0F5F73"/>
                </a:solidFill>
              </a:defRPr>
            </a:pPr>
            <a:r>
              <a:rPr sz="3602" b="1">
                <a:solidFill>
                  <a:srgbClr val="0F5F73"/>
                </a:solidFill>
              </a:rPr>
              <a:t>N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9275E2B4-4F8C-4EB5-A843-4C1B88D2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826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primary observations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C60A445B-BAB8-429D-A438-DE7899EF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962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2C8C99"/>
                </a:solidFill>
              </a:defRPr>
            </a:pPr>
            <a:r>
              <a:rPr sz="3602" b="1">
                <a:solidFill>
                  <a:srgbClr val="2C8C99"/>
                </a:solidFill>
              </a:rPr>
              <a:t>N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15FB4904-690A-4F1F-A1E2-9D716520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962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analysis samples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4338AE06-43BB-43A1-931E-D9F0CAC1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098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E8B44C"/>
                </a:solidFill>
              </a:defRPr>
            </a:pPr>
            <a:r>
              <a:rPr sz="3602" b="1">
                <a:solidFill>
                  <a:srgbClr val="E8B44C"/>
                </a:solidFill>
              </a:rPr>
              <a:t>N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94BED3E0-0062-45EA-8C33-C252A82C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098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validation units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C1E7A7A-928E-4CA1-A338-12D2B9F4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3968650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One-sentence question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A3304B5B-C84A-4EE1-ACDE-16D6148B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41932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25A50E7B-0971-4FBC-BC3F-6FA1DC1E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587490"/>
            <a:ext cx="8220198" cy="1479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State the scientific question in two concise sentences.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11CEC2BA-5394-4B1C-9A04-467FD2F6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134591"/>
            <a:ext cx="8220198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source page or section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44F636C9-6C10-4CA6-AA15-62316233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524730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Methods at a glance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F466DBC2-0CAE-4A76-9FDF-4F5F9895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97540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A60D1F3D-7D0B-471C-917B-75DF0A0F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157023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170C93CE-76AE-4DE2-9C59-0D480E75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204109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4AF7101B-41F3-4800-812C-1ECB97EC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7183929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Study design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75BEDCC8-263C-4AA7-BE1D-46AE1B69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695145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7CA985AF-2695-4690-BB70-A1063BEA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742231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92FD281A-5168-468E-A3E7-D3758CA7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7722051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Primary measurement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C9504210-C3E0-4AF5-BEE0-26E62F3C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233267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BD7D7754-2588-4065-8E48-919397E5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280353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9CDD235D-76AD-43BA-9D5F-812C7C4C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8260173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Analysis strategy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E78BE1C5-D74C-410C-BF18-C89EE023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771389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A991A196-3603-4551-B919-CED5EDF4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818475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D75CA12D-E580-4FE0-AD80-8FFF6053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8798296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Validation boundary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D277E861-FCE9-481C-A850-14E03655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9484401"/>
            <a:ext cx="8220198" cy="2421549"/>
          </a:xfrm>
          <a:prstGeom xmlns:a="http://schemas.openxmlformats.org/drawingml/2006/main" prst="roundRect">
            <a:avLst>
              <a:gd name="adj" fmla="val 47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912057BA-3EAD-47FE-A8F7-A002CAF4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9686197"/>
            <a:ext cx="3099419" cy="269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6" b="1">
                <a:solidFill>
                  <a:srgbClr val="0F5F73"/>
                </a:solidFill>
              </a:defRPr>
            </a:pPr>
            <a:r>
              <a:rPr sz="1536" b="1">
                <a:solidFill>
                  <a:srgbClr val="0F5F73"/>
                </a:solidFill>
              </a:rPr>
              <a:t>ESSENTIAL CONTEXT</a:t>
            </a:r>
          </a:p>
        </p:txBody>
      </p:sp>
      <p:sp>
        <p:nvSpPr>
          <p:cNvPr id="36" name="datasets">
            <a:extLst xmlns:a="http://schemas.openxmlformats.org/drawingml/2006/main">
              <a:ext uri="{FF2B5EF4-FFF2-40B4-BE49-F238E27FC236}">
                <a16:creationId xmlns:a16="http://schemas.microsoft.com/office/drawing/2014/main" id="{AEBB87AE-7EE8-4435-82E2-CD6528D6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10056156"/>
            <a:ext cx="7842877" cy="145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Discovery set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Primary analysis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Validation set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Sensitivity analysis</a:t>
            </a:r>
          </a:p>
        </p:txBody>
      </p:sp>
      <p:sp>
        <p:nvSpPr>
          <p:cNvPr id="37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38FC29EF-8CF5-4164-B16B-298705F5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11589804"/>
            <a:ext cx="7842877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methods and dataset table</a:t>
            </a:r>
          </a:p>
        </p:txBody>
      </p:sp>
      <p:sp>
        <p:nvSpPr>
          <p:cNvPr id="38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E892A807-C9EF-42DF-BFB6-08D7D09D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275909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How the result was produced</a:t>
            </a:r>
          </a:p>
        </p:txBody>
      </p:sp>
      <p:sp>
        <p:nvSpPr>
          <p:cNvPr id="39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CF20E5BB-130D-4A8C-BAD2-AE9CD257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72658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FF8561A3-4238-42C5-A335-B3DA3BAA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881297"/>
            <a:ext cx="8220198" cy="6995587"/>
          </a:xfrm>
          <a:prstGeom xmlns:a="http://schemas.openxmlformats.org/drawingml/2006/main" prst="roundRect">
            <a:avLst>
              <a:gd name="adj" fmla="val 1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41" name="figure-one-placeholder">
            <a:extLst xmlns:a="http://schemas.openxmlformats.org/drawingml/2006/main">
              <a:ext uri="{FF2B5EF4-FFF2-40B4-BE49-F238E27FC236}">
                <a16:creationId xmlns:a16="http://schemas.microsoft.com/office/drawing/2014/main" id="{CA9769C3-353F-4C4D-B6B6-61055748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59" y="13015827"/>
            <a:ext cx="7950683" cy="6336387"/>
          </a:xfrm>
          <a:prstGeom xmlns:a="http://schemas.openxmlformats.org/drawingml/2006/main" prst="roundRect">
            <a:avLst>
              <a:gd name="adj" fmla="val 120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453">
            <a:solidFill>
              <a:srgbClr val="D9E2EC"/>
            </a:solidFill>
            <a:prstDash val="solid"/>
          </a:ln>
        </p:spPr>
      </p:sp>
      <p:sp>
        <p:nvSpPr>
          <p:cNvPr id="42" name="figure-one-placeholder-label">
            <a:extLst xmlns:a="http://schemas.openxmlformats.org/drawingml/2006/main">
              <a:ext uri="{FF2B5EF4-FFF2-40B4-BE49-F238E27FC236}">
                <a16:creationId xmlns:a16="http://schemas.microsoft.com/office/drawing/2014/main" id="{B7E3FF1C-55F5-463D-AF69-915EAB89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573" y="15975498"/>
            <a:ext cx="7411654" cy="605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07" b="1">
                <a:solidFill>
                  <a:srgbClr val="2C8C99"/>
                </a:solidFill>
              </a:defRPr>
            </a:pPr>
            <a:r>
              <a:rPr sz="1907" b="1">
                <a:solidFill>
                  <a:srgbClr val="2C8C99"/>
                </a:solidFill>
              </a:rPr>
              <a:t>methods summary</a:t>
            </a:r>
          </a:p>
        </p:txBody>
      </p:sp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467BA244-2EE2-450E-8209-10674708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10" y="19392573"/>
            <a:ext cx="7896780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Methods Summary caption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9FDAC0F1-A3AC-43C1-BD15-8CB69A0E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10" y="19621275"/>
            <a:ext cx="7896780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8D674496-E18C-48E2-9432-AA37175A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3968650"/>
            <a:ext cx="9668839" cy="1782529"/>
          </a:xfrm>
          <a:prstGeom xmlns:a="http://schemas.openxmlformats.org/drawingml/2006/main" prst="roundRect">
            <a:avLst>
              <a:gd name="adj" fmla="val 855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FBA33FD1-9E09-45FC-855B-0C935A0A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238" y="4204079"/>
            <a:ext cx="9075907" cy="6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913" b="1">
                <a:solidFill>
                  <a:srgbClr val="102A43"/>
                </a:solidFill>
              </a:defRPr>
            </a:pPr>
            <a:r>
              <a:rPr sz="2913" b="1">
                <a:solidFill>
                  <a:srgbClr val="102A43"/>
                </a:solidFill>
              </a:rPr>
              <a:t>Lead with the decisive visual result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1A9B3BBD-76F2-4EE9-8A2F-B1095E84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422" y="5071800"/>
            <a:ext cx="8725538" cy="322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95" b="1">
                <a:solidFill>
                  <a:srgbClr val="102A43"/>
                </a:solidFill>
              </a:defRPr>
            </a:pPr>
            <a:r>
              <a:rPr sz="1695" b="1">
                <a:solidFill>
                  <a:srgbClr val="102A43"/>
                </a:solidFill>
              </a:rPr>
              <a:t>Keep the interpretation adjacent to its evidence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4306354A-14F8-4CD0-88FD-7727C696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713" y="5448486"/>
            <a:ext cx="9048956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result section and figure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1EC7EC10-722B-4705-AE22-C03D8DCB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087506"/>
            <a:ext cx="9668839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Hero result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AFDC69F4-4CEB-4BDC-852B-4EF393DD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538183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E3D00C79-A546-4065-B83C-F0F34772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692893"/>
            <a:ext cx="9668839" cy="8979912"/>
          </a:xfrm>
          <a:prstGeom xmlns:a="http://schemas.openxmlformats.org/drawingml/2006/main" prst="roundRect">
            <a:avLst>
              <a:gd name="adj" fmla="val 1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52" name="figure-two-placeholder">
            <a:extLst xmlns:a="http://schemas.openxmlformats.org/drawingml/2006/main">
              <a:ext uri="{FF2B5EF4-FFF2-40B4-BE49-F238E27FC236}">
                <a16:creationId xmlns:a16="http://schemas.microsoft.com/office/drawing/2014/main" id="{AC87B682-EFB1-4292-A028-C5E67BF1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529" y="6827424"/>
            <a:ext cx="9399325" cy="8320712"/>
          </a:xfrm>
          <a:prstGeom xmlns:a="http://schemas.openxmlformats.org/drawingml/2006/main" prst="roundRect">
            <a:avLst>
              <a:gd name="adj" fmla="val 91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453">
            <a:solidFill>
              <a:srgbClr val="D9E2EC"/>
            </a:solidFill>
            <a:prstDash val="solid"/>
          </a:ln>
        </p:spPr>
      </p:sp>
      <p:sp>
        <p:nvSpPr>
          <p:cNvPr id="53" name="figure-two-placeholder-label">
            <a:extLst xmlns:a="http://schemas.openxmlformats.org/drawingml/2006/main">
              <a:ext uri="{FF2B5EF4-FFF2-40B4-BE49-F238E27FC236}">
                <a16:creationId xmlns:a16="http://schemas.microsoft.com/office/drawing/2014/main" id="{FBADE179-03DD-487A-BF58-4F69F805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3" y="10779257"/>
            <a:ext cx="8860295" cy="605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07" b="1">
                <a:solidFill>
                  <a:srgbClr val="2C8C99"/>
                </a:solidFill>
              </a:defRPr>
            </a:pPr>
            <a:r>
              <a:rPr sz="1907" b="1">
                <a:solidFill>
                  <a:srgbClr val="2C8C99"/>
                </a:solidFill>
              </a:rPr>
              <a:t>hero result</a:t>
            </a:r>
          </a:p>
        </p:txBody>
      </p:sp>
      <p:sp>
        <p:nvSpPr>
          <p:cNvPr id="54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83A66767-0895-4A66-80FF-0A21164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480" y="15188495"/>
            <a:ext cx="9345422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Hero Result caption</a:t>
            </a:r>
          </a:p>
        </p:txBody>
      </p:sp>
      <p:sp>
        <p:nvSpPr>
          <p:cNvPr id="55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0FA684A4-6A1A-4BDC-B348-30902980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480" y="15417197"/>
            <a:ext cx="9345422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56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C1B48085-6CE7-4E6A-8396-CE2F39E8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009131"/>
            <a:ext cx="9668839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What changes the conclusion</a:t>
            </a:r>
          </a:p>
        </p:txBody>
      </p:sp>
      <p:sp>
        <p:nvSpPr>
          <p:cNvPr id="57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9790B5CD-82A1-4FCE-AACD-E2425257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459808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D9A11DF9-9D61-44C7-AD37-E82251C0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614518"/>
            <a:ext cx="9668839" cy="2858773"/>
          </a:xfrm>
          <a:prstGeom xmlns:a="http://schemas.openxmlformats.org/drawingml/2006/main" prst="roundRect">
            <a:avLst>
              <a:gd name="adj" fmla="val 3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59" name="validation">
            <a:extLst xmlns:a="http://schemas.openxmlformats.org/drawingml/2006/main">
              <a:ext uri="{FF2B5EF4-FFF2-40B4-BE49-F238E27FC236}">
                <a16:creationId xmlns:a16="http://schemas.microsoft.com/office/drawing/2014/main" id="{13DCCBE1-382F-4C63-8E8B-91339B1A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335" y="16836494"/>
            <a:ext cx="9183713" cy="2085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Primary adjusted result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External validation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Negative findings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Interpretation boundary</a:t>
            </a:r>
          </a:p>
        </p:txBody>
      </p:sp>
      <p:sp>
        <p:nvSpPr>
          <p:cNvPr id="60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92C17DDD-FDBE-4604-A70F-45CC19E2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335" y="19150418"/>
            <a:ext cx="918371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result pages</a:t>
            </a:r>
          </a:p>
        </p:txBody>
      </p:sp>
      <p:sp>
        <p:nvSpPr>
          <p:cNvPr id="61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AB1AF147-5D4D-480D-8D15-FEA2A207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9708720"/>
            <a:ext cx="9668839" cy="773550"/>
          </a:xfrm>
          <a:prstGeom xmlns:a="http://schemas.openxmlformats.org/drawingml/2006/main" prst="roundRect">
            <a:avLst>
              <a:gd name="adj" fmla="val 14776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9F770381-4BFA-47F6-9B03-8F2EC256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859" y="19910516"/>
            <a:ext cx="9210664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1" b="1">
                <a:solidFill>
                  <a:srgbClr val="FFFFFF"/>
                </a:solidFill>
              </a:defRPr>
            </a:pPr>
            <a:r>
              <a:rPr sz="1801" b="1">
                <a:solidFill>
                  <a:srgbClr val="FFFFFF"/>
                </a:solidFill>
              </a:rPr>
              <a:t>Primary estimate · uncertainty · validation</a:t>
            </a:r>
          </a:p>
        </p:txBody>
      </p:sp>
      <p:sp>
        <p:nvSpPr>
          <p:cNvPr id="63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13AF8FA0-3BBA-42D5-834F-636C52B3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3968650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Three result anchors</a:t>
            </a:r>
          </a:p>
        </p:txBody>
      </p:sp>
      <p:sp>
        <p:nvSpPr>
          <p:cNvPr id="64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8FC0AA9E-092D-43DF-8452-E45D8527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441932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B2F039D1-3FC0-4719-ADA6-B5AE0975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0F5F73"/>
                </a:solidFill>
              </a:defRPr>
            </a:pPr>
            <a:r>
              <a:rPr sz="3602" b="1">
                <a:solidFill>
                  <a:srgbClr val="0F5F73"/>
                </a:solidFill>
              </a:rPr>
              <a:t>Effect</a:t>
            </a:r>
          </a:p>
        </p:txBody>
      </p:sp>
      <p:sp>
        <p:nvSpPr>
          <p:cNvPr id="66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741A8715-AE94-4811-A9C9-5CE9105A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primary estimate</a:t>
            </a:r>
          </a:p>
        </p:txBody>
      </p:sp>
      <p:sp>
        <p:nvSpPr>
          <p:cNvPr id="67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91DC0067-9452-48A1-8064-0D56C608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1370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2C8C99"/>
                </a:solidFill>
              </a:defRPr>
            </a:pPr>
            <a:r>
              <a:rPr sz="3602" b="1">
                <a:solidFill>
                  <a:srgbClr val="2C8C99"/>
                </a:solidFill>
              </a:rPr>
              <a:t>95% CI</a:t>
            </a:r>
          </a:p>
        </p:txBody>
      </p:sp>
      <p:sp>
        <p:nvSpPr>
          <p:cNvPr id="68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7AA60B57-2CFE-44E8-9454-2795225F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1370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uncertainty</a:t>
            </a:r>
          </a:p>
        </p:txBody>
      </p:sp>
      <p:sp>
        <p:nvSpPr>
          <p:cNvPr id="69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C12430AC-9ECD-4588-9755-32AFD925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1857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E8B44C"/>
                </a:solidFill>
              </a:defRPr>
            </a:pPr>
            <a:r>
              <a:rPr sz="3602" b="1">
                <a:solidFill>
                  <a:srgbClr val="E8B44C"/>
                </a:solidFill>
              </a:rPr>
              <a:t>P</a:t>
            </a:r>
          </a:p>
        </p:txBody>
      </p:sp>
      <p:sp>
        <p:nvSpPr>
          <p:cNvPr id="70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8B0879D4-F84E-4EA8-BCC2-DD313453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1857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robustness</a:t>
            </a:r>
          </a:p>
        </p:txBody>
      </p:sp>
      <p:sp>
        <p:nvSpPr>
          <p:cNvPr id="71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38BDA0B1-9EF4-42FE-B994-91E3F3C0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5986608"/>
            <a:ext cx="9695791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supporting analysis</a:t>
            </a:r>
          </a:p>
        </p:txBody>
      </p:sp>
      <p:sp>
        <p:nvSpPr>
          <p:cNvPr id="72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49BC495D-CE55-4DC1-BA20-CF620E9D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6491097"/>
            <a:ext cx="9695791" cy="4843098"/>
          </a:xfrm>
          <a:prstGeom xmlns:a="http://schemas.openxmlformats.org/drawingml/2006/main" prst="roundRect">
            <a:avLst>
              <a:gd name="adj" fmla="val 23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73" name="figure-three-placeholder">
            <a:extLst xmlns:a="http://schemas.openxmlformats.org/drawingml/2006/main">
              <a:ext uri="{FF2B5EF4-FFF2-40B4-BE49-F238E27FC236}">
                <a16:creationId xmlns:a16="http://schemas.microsoft.com/office/drawing/2014/main" id="{107881C7-499D-49BB-BC8C-5B6A4171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5640" y="6625628"/>
            <a:ext cx="9426276" cy="4183899"/>
          </a:xfrm>
          <a:prstGeom xmlns:a="http://schemas.openxmlformats.org/drawingml/2006/main" prst="roundRect">
            <a:avLst>
              <a:gd name="adj" fmla="val 1821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453">
            <a:solidFill>
              <a:srgbClr val="D9E2EC"/>
            </a:solidFill>
            <a:prstDash val="solid"/>
          </a:ln>
        </p:spPr>
      </p:sp>
      <p:sp>
        <p:nvSpPr>
          <p:cNvPr id="74" name="figure-three-placeholder-label">
            <a:extLst xmlns:a="http://schemas.openxmlformats.org/drawingml/2006/main">
              <a:ext uri="{FF2B5EF4-FFF2-40B4-BE49-F238E27FC236}">
                <a16:creationId xmlns:a16="http://schemas.microsoft.com/office/drawing/2014/main" id="{9860AF97-1FD0-4A78-9855-2EA036EB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155" y="8509055"/>
            <a:ext cx="8887247" cy="605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07" b="1">
                <a:solidFill>
                  <a:srgbClr val="2C8C99"/>
                </a:solidFill>
              </a:defRPr>
            </a:pPr>
            <a:r>
              <a:rPr sz="1907" b="1">
                <a:solidFill>
                  <a:srgbClr val="2C8C99"/>
                </a:solidFill>
              </a:rPr>
              <a:t>supporting result</a:t>
            </a:r>
          </a:p>
        </p:txBody>
      </p:sp>
      <p:sp>
        <p:nvSpPr>
          <p:cNvPr id="75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11FF28A9-6649-4934-ADE1-71C9906A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0849886"/>
            <a:ext cx="9372373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Supporting Result caption</a:t>
            </a:r>
          </a:p>
        </p:txBody>
      </p:sp>
      <p:sp>
        <p:nvSpPr>
          <p:cNvPr id="76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F21ACC7A-7971-4FCD-9EBA-870D9A29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1078588"/>
            <a:ext cx="937237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77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84BDF7F1-8A9E-428A-8544-D911D15B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1670522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Supporting result</a:t>
            </a:r>
          </a:p>
        </p:txBody>
      </p:sp>
      <p:sp>
        <p:nvSpPr>
          <p:cNvPr id="78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1ACBB79C-0F3E-4FC4-88A1-E52F40BF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2121199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5E325A46-912E-440F-A46A-560FBC59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2275909"/>
            <a:ext cx="9695791" cy="5044894"/>
          </a:xfrm>
          <a:prstGeom xmlns:a="http://schemas.openxmlformats.org/drawingml/2006/main" prst="roundRect">
            <a:avLst>
              <a:gd name="adj" fmla="val 22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80" name="figure-four-placeholder">
            <a:extLst xmlns:a="http://schemas.openxmlformats.org/drawingml/2006/main">
              <a:ext uri="{FF2B5EF4-FFF2-40B4-BE49-F238E27FC236}">
                <a16:creationId xmlns:a16="http://schemas.microsoft.com/office/drawing/2014/main" id="{C27F71DE-F7CA-4455-8742-46A41102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5640" y="12410440"/>
            <a:ext cx="9426276" cy="4385695"/>
          </a:xfrm>
          <a:prstGeom xmlns:a="http://schemas.openxmlformats.org/drawingml/2006/main" prst="roundRect">
            <a:avLst>
              <a:gd name="adj" fmla="val 173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453">
            <a:solidFill>
              <a:srgbClr val="D9E2EC"/>
            </a:solidFill>
            <a:prstDash val="solid"/>
          </a:ln>
        </p:spPr>
      </p:sp>
      <p:sp>
        <p:nvSpPr>
          <p:cNvPr id="81" name="figure-four-placeholder-label">
            <a:extLst xmlns:a="http://schemas.openxmlformats.org/drawingml/2006/main">
              <a:ext uri="{FF2B5EF4-FFF2-40B4-BE49-F238E27FC236}">
                <a16:creationId xmlns:a16="http://schemas.microsoft.com/office/drawing/2014/main" id="{D6BBB902-E2F7-491A-AC28-66CB8BFB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155" y="14394765"/>
            <a:ext cx="8887247" cy="605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07" b="1">
                <a:solidFill>
                  <a:srgbClr val="2C8C99"/>
                </a:solidFill>
              </a:defRPr>
            </a:pPr>
            <a:r>
              <a:rPr sz="1907" b="1">
                <a:solidFill>
                  <a:srgbClr val="2C8C99"/>
                </a:solidFill>
              </a:rPr>
              <a:t>validation result</a:t>
            </a:r>
          </a:p>
        </p:txBody>
      </p:sp>
      <p:sp>
        <p:nvSpPr>
          <p:cNvPr id="82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D647632E-4B7B-4E12-8FBA-27041B26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6836494"/>
            <a:ext cx="9372373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Validation Result caption</a:t>
            </a:r>
          </a:p>
        </p:txBody>
      </p:sp>
      <p:sp>
        <p:nvSpPr>
          <p:cNvPr id="83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AD8B1DBB-33CC-442F-A7B1-3E77B488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7065196"/>
            <a:ext cx="937237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84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184D9D25-96BF-42F2-87E1-858D4EE4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7657130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Why this result matters</a:t>
            </a:r>
          </a:p>
        </p:txBody>
      </p:sp>
      <p:sp>
        <p:nvSpPr>
          <p:cNvPr id="85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C08256C1-2A45-4C3F-96B7-A9C374EA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810780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45F2868A-ACE8-4376-BBF3-B4F2B442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8262517"/>
            <a:ext cx="9695791" cy="2219753"/>
          </a:xfrm>
          <a:prstGeom xmlns:a="http://schemas.openxmlformats.org/drawingml/2006/main" prst="roundRect">
            <a:avLst>
              <a:gd name="adj" fmla="val 5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87" name="conclusion">
            <a:extLst xmlns:a="http://schemas.openxmlformats.org/drawingml/2006/main">
              <a:ext uri="{FF2B5EF4-FFF2-40B4-BE49-F238E27FC236}">
                <a16:creationId xmlns:a16="http://schemas.microsoft.com/office/drawing/2014/main" id="{B52BD575-9F26-4430-A369-E5DE3CCA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970" y="18484492"/>
            <a:ext cx="9237616" cy="1547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State the supported conclusion and retain the most important limitation.</a:t>
            </a:r>
          </a:p>
        </p:txBody>
      </p:sp>
      <p:sp>
        <p:nvSpPr>
          <p:cNvPr id="88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D8B2E7E5-54CF-47D0-B71C-CDB35FE0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970" y="20125765"/>
            <a:ext cx="9237616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discussion and conclusion</a:t>
            </a:r>
          </a:p>
        </p:txBody>
      </p:sp>
      <p:sp>
        <p:nvSpPr>
          <p:cNvPr id="89" name="footer-band">
            <a:extLst xmlns:a="http://schemas.openxmlformats.org/drawingml/2006/main">
              <a:ext uri="{FF2B5EF4-FFF2-40B4-BE49-F238E27FC236}">
                <a16:creationId xmlns:a16="http://schemas.microsoft.com/office/drawing/2014/main" id="{941F6A61-08F6-40E4-A241-2FBA5B65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17699"/>
            <a:ext cx="30279975" cy="66592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D392E8C-AC92-4BB0-9509-F8666225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20899315"/>
            <a:ext cx="13543113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77">
                <a:solidFill>
                  <a:srgbClr val="FFFFFF"/>
                </a:solidFill>
              </a:defRPr>
            </a:pPr>
            <a:r>
              <a:rPr sz="1377">
                <a:solidFill>
                  <a:srgbClr val="FFFFFF"/>
                </a:solidFill>
              </a:rPr>
              <a:t>Source citation · content mode · asset license</a:t>
            </a:r>
          </a:p>
        </p:txBody>
      </p:sp>
      <p:sp>
        <p:nvSpPr>
          <p:cNvPr id="91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E77EEA9C-02CA-4D00-8205-A97A9043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8550" y="20899315"/>
            <a:ext cx="6131459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1" b="1">
                <a:solidFill>
                  <a:srgbClr val="E8B44C"/>
                </a:solidFill>
              </a:defRPr>
            </a:pPr>
            <a:r>
              <a:rPr sz="1271" b="1">
                <a:solidFill>
                  <a:srgbClr val="E8B44C"/>
                </a:solidFill>
              </a:rPr>
              <a:t>Approvals current · scientific colors locked</a:t>
            </a:r>
          </a:p>
        </p:txBody>
      </p:sp>
      <p:sp>
        <p:nvSpPr>
          <p:cNvPr id="92" name="POSTEX_PROVENANCE_MARK">
            <a:extLst xmlns:a="http://schemas.openxmlformats.org/drawingml/2006/main">
              <a:ext uri="{FF2B5EF4-FFF2-40B4-BE49-F238E27FC236}">
                <a16:creationId xmlns:a16="http://schemas.microsoft.com/office/drawing/2014/main" id="{5DF366FC-5A87-4B55-9CDF-61EFB287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6418" y="20899315"/>
            <a:ext cx="7883305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1" b="1">
                <a:solidFill>
                  <a:srgbClr val="FFFFFF">
                    <a:alpha val="38000"/>
                  </a:srgbClr>
                </a:solidFill>
              </a:defRPr>
            </a:pPr>
            <a:r>
              <a:rPr sz="1271" b="1">
                <a:solidFill>
                  <a:srgbClr val="FFFFFF">
                    <a:alpha val="38000"/>
                  </a:srgbClr>
                </a:solidFill>
              </a:rPr>
              <a:t>Made with PostEx™ · PX-00000000</a:t>
            </a:r>
          </a:p>
        </p:txBody>
      </p:sp>
    </p:spTree>
    <p:extLst>
      <p:ext uri="{BB962C8B-B14F-4D97-AF65-F5344CB8AC3E}">
        <p14:creationId xmlns:p14="http://schemas.microsoft.com/office/powerpoint/2010/main" val="10823201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2026-08-10T04:10:47.7910000Z</dcterms:created>
  <dcterms:modified xsi:type="dcterms:W3CDTF">2026-08-10T04:10:47.7910000Z</dcterms:modified>
</coreProperties>
</file>