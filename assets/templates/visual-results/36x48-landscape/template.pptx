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bc1157ca374c68" /><Relationship Type="http://schemas.openxmlformats.org/officeDocument/2006/relationships/extended-properties" Target="/docProps/app.xml" Id="Rb84834df1d0b43ee" /><Relationship Type="http://schemas.openxmlformats.org/officeDocument/2006/relationships/officeDocument" Target="/ppt/presentation.xml" Id="Re6d47a9713b841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fa150caf804f64"/>
  </p:sldMasterIdLst>
  <p:notesMasterIdLst>
    <p:notesMasterId xmlns:r="http://schemas.openxmlformats.org/officeDocument/2006/relationships" r:id="R019dcc5c2bf44793"/>
  </p:notesMasterIdLst>
  <p:sldIdLst>
    <p:sldId xmlns:r="http://schemas.openxmlformats.org/officeDocument/2006/relationships" id="256" r:id="R0ff8a4cfa03f4edc"/>
  </p:sldIdLst>
  <p:sldSz cx="43891200" cy="3291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3570dfc54547c3" /><Relationship Type="http://schemas.openxmlformats.org/officeDocument/2006/relationships/slideMaster" Target="/ppt/slideMasters/slideMaster1.xml" Id="Re1fa150caf804f64" /><Relationship Type="http://schemas.openxmlformats.org/officeDocument/2006/relationships/notesMaster" Target="/ppt/notesMasters/notesMaster1.xml" Id="R019dcc5c2bf44793" /><Relationship Type="http://schemas.openxmlformats.org/officeDocument/2006/relationships/presProps" Target="/ppt/presProps.xml" Id="Ra9ca3964b9b1440b" /><Relationship Type="http://schemas.openxmlformats.org/officeDocument/2006/relationships/tableStyles" Target="/ppt/tableStyles.xml" Id="Rae7d2016a232494d" /><Relationship Type="http://schemas.openxmlformats.org/officeDocument/2006/relationships/slide" Target="/ppt/slides/slide1.xml" Id="R0ff8a4cfa03f4e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552f4c952240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4bf709a08b4479" /><Relationship Type="http://schemas.openxmlformats.org/officeDocument/2006/relationships/notesMaster" Target="/ppt/notesMasters/notesMaster1.xml" Id="R79f140811ee142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PostEx official template asset; CC BY 4.0</a:t>
            </a:r>
          </a:p>
          <a:p xmlns:a="http://schemas.openxmlformats.org/drawingml/2006/main">
            <a:r>
              <a:t>- No third-party logo or scientific figure is embedded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7bc3e2aa04d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3096af0c54400d" /><Relationship Type="http://schemas.openxmlformats.org/officeDocument/2006/relationships/slideLayout" Target="/ppt/slideLayouts/slideLayout1.xml" Id="R8c48444c260347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48444c260347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94b1d9d834b21" /><Relationship Type="http://schemas.openxmlformats.org/officeDocument/2006/relationships/notesSlide" Target="/ppt/notesSlides/notesSlide1.xml" Id="R41c6ed91a8b945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6D294DD-9385-4879-B010-D782ECFE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538457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485E897C-A4C0-428C-8E92-7EA9CFCC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FB8AC6EC-44CC-49F8-B623-32046802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42007"/>
            <a:ext cx="30471861" cy="238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36" b="1">
                <a:solidFill>
                  <a:srgbClr val="FFFFFF"/>
                </a:solidFill>
              </a:defRPr>
            </a:pPr>
            <a:r>
              <a:rPr sz="7536" b="1">
                <a:solidFill>
                  <a:srgbClr val="FFFFFF"/>
                </a:solidFill>
              </a:rPr>
              <a:t>Result-first visual research poster title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733186AE-7FF0-4D6E-852B-0B71EAB2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3168616"/>
            <a:ext cx="30178862" cy="683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45" b="1">
                <a:solidFill>
                  <a:srgbClr val="FFFFFF"/>
                </a:solidFill>
              </a:defRPr>
            </a:pPr>
            <a:r>
              <a:rPr sz="2845" b="1">
                <a:solidFill>
                  <a:srgbClr val="FFFFFF"/>
                </a:solidFill>
              </a:rPr>
              <a:t>Author names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6A666209-D08A-4AB3-8782-8BDCAB51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3955593"/>
            <a:ext cx="30178862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30">
                <a:solidFill>
                  <a:srgbClr val="F6F8FA"/>
                </a:solidFill>
              </a:defRPr>
            </a:pPr>
            <a:r>
              <a:rPr sz="2230">
                <a:solidFill>
                  <a:srgbClr val="F6F8FA"/>
                </a:solidFill>
              </a:rPr>
              <a:t>Institutions and collaborating centers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20EC9026-6DE8-438A-8039-8B104D9D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4607955"/>
            <a:ext cx="24904887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99" b="1">
                <a:solidFill>
                  <a:srgbClr val="E8B44C"/>
                </a:solidFill>
              </a:defRPr>
            </a:pPr>
            <a:r>
              <a:rPr sz="1999" b="1">
                <a:solidFill>
                  <a:srgbClr val="E8B44C"/>
                </a:solidFill>
              </a:rPr>
              <a:t>Journal or conference · DOI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A8909D27-9FB6-432C-BC14-A64EFD6B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3517" y="600587"/>
            <a:ext cx="9571290" cy="1346144"/>
          </a:xfrm>
          <a:prstGeom xmlns:a="http://schemas.openxmlformats.org/drawingml/2006/main" prst="roundRect">
            <a:avLst>
              <a:gd name="adj" fmla="val 56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7E7CB6F7-8CAB-4DB9-A38A-BBA24780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0716" y="994076"/>
            <a:ext cx="9336891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76" b="1">
                <a:solidFill>
                  <a:srgbClr val="0F5F73"/>
                </a:solidFill>
              </a:defRPr>
            </a:pPr>
            <a:r>
              <a:rPr sz="2076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32B3FFC6-87A4-4E39-BD5E-3D3A88BB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3517" y="2174540"/>
            <a:ext cx="9571290" cy="2485189"/>
          </a:xfrm>
          <a:prstGeom xmlns:a="http://schemas.openxmlformats.org/drawingml/2006/main" prst="roundRect">
            <a:avLst>
              <a:gd name="adj" fmla="val 6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DE20F9D7-9849-4140-A2B9-D3759D91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180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0F5F73"/>
                </a:solidFill>
              </a:defRPr>
            </a:pPr>
            <a:r>
              <a:rPr sz="5229" b="1">
                <a:solidFill>
                  <a:srgbClr val="0F5F73"/>
                </a:solidFill>
              </a:rPr>
              <a:t>N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F050AEB4-B493-4BDA-8266-45C231D3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180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primary observations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D72D68FA-49D5-45E2-B3A2-597AC605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7167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2C8C99"/>
                </a:solidFill>
              </a:defRPr>
            </a:pPr>
            <a:r>
              <a:rPr sz="5229" b="1">
                <a:solidFill>
                  <a:srgbClr val="2C8C99"/>
                </a:solidFill>
              </a:rPr>
              <a:t>N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889C0B2E-45AA-4A0B-8647-84317AA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7167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analysis samples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DAE81653-11F8-49DD-B1C8-5D278541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154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E8B44C"/>
                </a:solidFill>
              </a:defRPr>
            </a:pPr>
            <a:r>
              <a:rPr sz="5229" b="1">
                <a:solidFill>
                  <a:srgbClr val="E8B44C"/>
                </a:solidFill>
              </a:rPr>
              <a:t>N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5CE11845-9826-4B1B-A917-705A82CB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154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validation units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5554212-EE41-4BFA-8597-627C6A93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109423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One-sentence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1F92C041-05A7-44DA-8D3D-9285120D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803205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479B3228-1E0B-4C57-ABDB-43C291EE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7062079"/>
            <a:ext cx="11915279" cy="2278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State the scientific question in two concise sentences.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49289DDC-74FC-42CA-9C83-16791EA4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9443718"/>
            <a:ext cx="1191527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source page or section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99E745B2-BD60-4941-A00C-1972269F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0044306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Methods at a glance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E373FF67-8483-4A4E-BE7C-3CBBDDFE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0738088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B26B08B8-F0A3-4A21-BA5C-6D0779A3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017671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5ECD0254-E420-488D-8B75-B14F4921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090156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073703A2-A800-4F90-83B0-5A25B8F9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1059091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Study design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405D11BF-6286-48AB-8F6E-87580BEA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846068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F2F98D33-2465-49F5-9FB8-67E28676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918553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C965D929-981B-49C7-AF82-36DB2A35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1887488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Primary measurement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B5C84216-A34C-4EA1-91E0-53A9745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2674464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F1B6DF05-073E-4C05-9532-2A82D2F7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2746949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C5793FE7-2689-4F90-9436-C3D456A1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2715884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Analysis strategy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DE63BDD8-EDE0-4953-9B9C-2FDCF3A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3502861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BCDCB72B-08F6-48B4-AE5A-B7C29F80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3575345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81957403-DC54-44F3-964A-469876A3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3544280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Validation boundary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D484DA50-09DC-46FF-99E5-C02E62AD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4600486"/>
            <a:ext cx="11915279" cy="3727784"/>
          </a:xfrm>
          <a:prstGeom xmlns:a="http://schemas.openxmlformats.org/drawingml/2006/main" prst="roundRect">
            <a:avLst>
              <a:gd name="adj" fmla="val 30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1FF3B7FA-7ED2-4EED-BF26-A23D288B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4911134"/>
            <a:ext cx="4492646" cy="414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30" b="1">
                <a:solidFill>
                  <a:srgbClr val="0F5F73"/>
                </a:solidFill>
              </a:defRPr>
            </a:pPr>
            <a:r>
              <a:rPr sz="2230" b="1">
                <a:solidFill>
                  <a:srgbClr val="0F5F73"/>
                </a:solidFill>
              </a:rPr>
              <a:t>ESSENTIAL CONTEXT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D5459414-11EF-4141-A4FD-666338D5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5480657"/>
            <a:ext cx="11368348" cy="223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Discovery set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Primary analysis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Validation set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Sensitivity analysis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43E74CC3-F1A8-4692-B737-4D4CF6AB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7841586"/>
            <a:ext cx="11368348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methods and dataset table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570A8E69-88F3-4537-BEB1-2C92D14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8897792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How the result was produced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0AA93B1D-13C4-40FE-91E1-5ABF09B7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9591574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445A32AC-8677-4DD4-89E9-15D55C76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9829738"/>
            <a:ext cx="11915279" cy="10769153"/>
          </a:xfrm>
          <a:prstGeom xmlns:a="http://schemas.openxmlformats.org/drawingml/2006/main" prst="roundRect">
            <a:avLst>
              <a:gd name="adj" fmla="val 1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B12DE4F3-4A43-4C1E-8471-F0944CF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60" y="20036837"/>
            <a:ext cx="11524614" cy="9754367"/>
          </a:xfrm>
          <a:prstGeom xmlns:a="http://schemas.openxmlformats.org/drawingml/2006/main" prst="roundRect">
            <a:avLst>
              <a:gd name="adj" fmla="val 78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BF599082-E6DE-4012-A953-96FFE03C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324" y="24593017"/>
            <a:ext cx="10743284" cy="93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68" b="1">
                <a:solidFill>
                  <a:srgbClr val="2C8C99"/>
                </a:solidFill>
              </a:defRPr>
            </a:pPr>
            <a:r>
              <a:rPr sz="2768" b="1">
                <a:solidFill>
                  <a:srgbClr val="2C8C99"/>
                </a:solidFill>
              </a:rPr>
              <a:t>methods summary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F6EF64E9-D90D-40C3-BE4F-60896A0D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726" y="29853334"/>
            <a:ext cx="1144648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Methods Summary caption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43C8FF4D-38F1-42E2-9CF7-607E8495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726" y="30205402"/>
            <a:ext cx="1144648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FCDD627E-6A24-445F-B4F5-A3328A8C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6109423"/>
            <a:ext cx="14015103" cy="2744063"/>
          </a:xfrm>
          <a:prstGeom xmlns:a="http://schemas.openxmlformats.org/drawingml/2006/main" prst="roundRect">
            <a:avLst>
              <a:gd name="adj" fmla="val 555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D267E7E7-2BE5-4ADD-9778-C9E55882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335" y="6471846"/>
            <a:ext cx="13155640" cy="1035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30" b="1">
                <a:solidFill>
                  <a:srgbClr val="102A43"/>
                </a:solidFill>
              </a:defRPr>
            </a:pPr>
            <a:r>
              <a:rPr sz="4230" b="1">
                <a:solidFill>
                  <a:srgbClr val="102A43"/>
                </a:solidFill>
              </a:rPr>
              <a:t>Lead with the decisive visual result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D88582B2-CB5C-4CFA-9094-4F65BD7B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2267" y="7807636"/>
            <a:ext cx="12647776" cy="497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61" b="1">
                <a:solidFill>
                  <a:srgbClr val="102A43"/>
                </a:solidFill>
              </a:defRPr>
            </a:pPr>
            <a:r>
              <a:rPr sz="2461" b="1">
                <a:solidFill>
                  <a:srgbClr val="102A43"/>
                </a:solidFill>
              </a:rPr>
              <a:t>Keep the interpretation adjacent to its evidence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7416F4D4-E0AD-4E31-9686-06A9F8BF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868" y="8387513"/>
            <a:ext cx="13116574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result section and figure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FDF186A4-2760-4917-9702-747905A2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9371234"/>
            <a:ext cx="14015103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Hero result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DFAF5D4C-B77A-499F-BB2D-752B3CF9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10065016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4FFAEAE0-4406-4D8A-BB34-1C5C2CD2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10303180"/>
            <a:ext cx="14015103" cy="13823864"/>
          </a:xfrm>
          <a:prstGeom xmlns:a="http://schemas.openxmlformats.org/drawingml/2006/main" prst="roundRect">
            <a:avLst>
              <a:gd name="adj" fmla="val 8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E0620AD3-47B9-490C-85BB-EA01489F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936" y="10510279"/>
            <a:ext cx="13624438" cy="12809079"/>
          </a:xfrm>
          <a:prstGeom xmlns:a="http://schemas.openxmlformats.org/drawingml/2006/main" prst="roundRect">
            <a:avLst>
              <a:gd name="adj" fmla="val 595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F676A3C5-571E-444E-A8B6-C04B191E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601" y="16593814"/>
            <a:ext cx="12843108" cy="93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68" b="1">
                <a:solidFill>
                  <a:srgbClr val="2C8C99"/>
                </a:solidFill>
              </a:defRPr>
            </a:pPr>
            <a:r>
              <a:rPr sz="2768" b="1">
                <a:solidFill>
                  <a:srgbClr val="2C8C99"/>
                </a:solidFill>
              </a:rPr>
              <a:t>hero result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968E152F-3FBC-410E-A195-8D23CC5D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002" y="23381487"/>
            <a:ext cx="13546305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Hero Result caption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28465795-CBCA-4605-A372-92F7D181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002" y="23733555"/>
            <a:ext cx="13546305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EBA4FF51-8F70-46F4-B582-5F287123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4644791"/>
            <a:ext cx="14015103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What changes the conclusion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5A21C707-8041-4FDF-9940-4B4A8025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5338573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C67883A2-EF0B-4251-A21E-F0AA39DE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5576737"/>
            <a:ext cx="14015103" cy="4400856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531B73A3-7216-4FCE-8A3C-E5F84500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202" y="25918451"/>
            <a:ext cx="13311906" cy="321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Primary adjusted result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External validation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Negative findings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Interpretation boundary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409DBB0E-7AFE-46CF-B5C9-A0C3B469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202" y="29480555"/>
            <a:ext cx="13311906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result pages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2A3090AC-3D63-48B4-8DFB-F6E7FEC2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30340016"/>
            <a:ext cx="14015103" cy="1190820"/>
          </a:xfrm>
          <a:prstGeom xmlns:a="http://schemas.openxmlformats.org/drawingml/2006/main" prst="roundRect">
            <a:avLst>
              <a:gd name="adj" fmla="val 9598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B8EE63DF-564A-4D62-B1B4-9286A610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669" y="30650665"/>
            <a:ext cx="13350972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15" b="1">
                <a:solidFill>
                  <a:srgbClr val="FFFFFF"/>
                </a:solidFill>
              </a:defRPr>
            </a:pPr>
            <a:r>
              <a:rPr sz="2615" b="1">
                <a:solidFill>
                  <a:srgbClr val="FFFFFF"/>
                </a:solidFill>
              </a:rPr>
              <a:t>Primary estimate · uncertainty · validation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5F187119-C28E-4DC5-A476-F1C9BFA5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6109423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Three result anchors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45A5CA4D-B674-4CCA-8C00-C46E006C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6803205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5135A393-5760-49BB-91AE-9195BC65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0F5F73"/>
                </a:solidFill>
              </a:defRPr>
            </a:pPr>
            <a:r>
              <a:rPr sz="5229" b="1">
                <a:solidFill>
                  <a:srgbClr val="0F5F73"/>
                </a:solidFill>
              </a:rPr>
              <a:t>Effect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8B6A7A8B-342D-48BC-9B1E-8508E428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primary estimate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06382AC1-9F12-4CC2-9A19-360DD89E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849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2C8C99"/>
                </a:solidFill>
              </a:defRPr>
            </a:pPr>
            <a:r>
              <a:rPr sz="5229" b="1">
                <a:solidFill>
                  <a:srgbClr val="2C8C99"/>
                </a:solidFill>
              </a:rPr>
              <a:t>95% CI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B8C4577D-B83F-4274-A8E3-CDE77248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849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uncertainty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A512D476-7BB7-40A9-A6B5-E1804F5C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995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E8B44C"/>
                </a:solidFill>
              </a:defRPr>
            </a:pPr>
            <a:r>
              <a:rPr sz="5229" b="1">
                <a:solidFill>
                  <a:srgbClr val="E8B44C"/>
                </a:solidFill>
              </a:rPr>
              <a:t>P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3DF9F368-19A0-4046-82B1-BF68A360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995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robustness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871D74DC-1922-4FED-A60F-D6A1F6D0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9215909"/>
            <a:ext cx="1405416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supporting analysis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18BFA5F0-10DA-4475-8261-8CB51A82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9992531"/>
            <a:ext cx="14054169" cy="7455567"/>
          </a:xfrm>
          <a:prstGeom xmlns:a="http://schemas.openxmlformats.org/drawingml/2006/main" prst="roundRect">
            <a:avLst>
              <a:gd name="adj" fmla="val 15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F0D2E12F-F2AD-452A-90F2-8293B4B9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5036" y="10199630"/>
            <a:ext cx="13663504" cy="6440782"/>
          </a:xfrm>
          <a:prstGeom xmlns:a="http://schemas.openxmlformats.org/drawingml/2006/main" prst="roundRect">
            <a:avLst>
              <a:gd name="adj" fmla="val 118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C4F00712-38C9-4B64-9E6E-E968BFD9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5701" y="13099017"/>
            <a:ext cx="12882175" cy="93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68" b="1">
                <a:solidFill>
                  <a:srgbClr val="2C8C99"/>
                </a:solidFill>
              </a:defRPr>
            </a:pPr>
            <a:r>
              <a:rPr sz="2768" b="1">
                <a:solidFill>
                  <a:srgbClr val="2C8C99"/>
                </a:solidFill>
              </a:rPr>
              <a:t>supporting result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8760CD6D-6658-442C-BFE4-999295FE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16702541"/>
            <a:ext cx="1358537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Supporting Result caption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6C83DC58-1B3C-4F56-89BC-9F098813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17054610"/>
            <a:ext cx="1358537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137FF9E9-905F-46B0-A554-80023E2B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7965846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Supporting result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0E75FBC4-D2C3-4AAA-AAB6-AD734AE2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8659628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EDDEF1F8-7C18-4F19-8B97-72EF9525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8897792"/>
            <a:ext cx="14054169" cy="7766216"/>
          </a:xfrm>
          <a:prstGeom xmlns:a="http://schemas.openxmlformats.org/drawingml/2006/main" prst="roundRect">
            <a:avLst>
              <a:gd name="adj" fmla="val 14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A081E06D-F90F-483C-9FB2-65513186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5036" y="19104891"/>
            <a:ext cx="13663504" cy="6751430"/>
          </a:xfrm>
          <a:prstGeom xmlns:a="http://schemas.openxmlformats.org/drawingml/2006/main" prst="roundRect">
            <a:avLst>
              <a:gd name="adj" fmla="val 112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0DB215A1-EA4D-49AB-97E3-87ACDAD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5701" y="22159602"/>
            <a:ext cx="12882175" cy="93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68" b="1">
                <a:solidFill>
                  <a:srgbClr val="2C8C99"/>
                </a:solidFill>
              </a:defRPr>
            </a:pPr>
            <a:r>
              <a:rPr sz="2768" b="1">
                <a:solidFill>
                  <a:srgbClr val="2C8C99"/>
                </a:solidFill>
              </a:rPr>
              <a:t>validation result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D5A7A996-44E2-402F-BA43-497E630B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25918451"/>
            <a:ext cx="1358537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Validation Result caption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A1E8D37E-4EC6-41C8-A22B-1F150D82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26270519"/>
            <a:ext cx="1358537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CA7363A2-D8E0-4B41-82E0-621E9ED5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7181755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Why this result matters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4B77369A-F92D-460B-9AA4-C19AE669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7875537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C09D9E45-758B-452D-BE07-BB3018E6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8113701"/>
            <a:ext cx="14054169" cy="3417135"/>
          </a:xfrm>
          <a:prstGeom xmlns:a="http://schemas.openxmlformats.org/drawingml/2006/main" prst="roundRect">
            <a:avLst>
              <a:gd name="adj" fmla="val 3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F049E339-93DB-498B-92EB-C7109BD0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28455415"/>
            <a:ext cx="13390039" cy="238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State the supported conclusion and retain the most important limitation.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2DCEBC83-49E0-4DFC-8D40-B67FA613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30982024"/>
            <a:ext cx="1339003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discussion and conclusion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1A3A81A4-1686-4DB4-BA22-EF4AD20D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893260"/>
            <a:ext cx="43891200" cy="102514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BD79790-CA92-4D78-AE95-EA6E4C2B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32172843"/>
            <a:ext cx="19630911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99">
                <a:solidFill>
                  <a:srgbClr val="FFFFFF"/>
                </a:solidFill>
              </a:defRPr>
            </a:pPr>
            <a:r>
              <a:rPr sz="1999">
                <a:solidFill>
                  <a:srgbClr val="FFFFFF"/>
                </a:solidFill>
              </a:rPr>
              <a:t>Source citation · content mode · asset license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99C28E7D-C8CD-4E4B-97D7-1D40EDEF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1236" y="32172843"/>
            <a:ext cx="8887626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46" b="1">
                <a:solidFill>
                  <a:srgbClr val="E8B44C"/>
                </a:solidFill>
              </a:defRPr>
            </a:pPr>
            <a:r>
              <a:rPr sz="1846" b="1">
                <a:solidFill>
                  <a:srgbClr val="E8B44C"/>
                </a:solidFill>
              </a:rPr>
              <a:t>Approvals current · scientific colors locked</a:t>
            </a:r>
          </a:p>
        </p:txBody>
      </p:sp>
      <p:sp>
        <p:nvSpPr>
          <p:cNvPr id="92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942D0BDE-E660-46A2-B796-D3F94D7A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858" y="32172843"/>
            <a:ext cx="11426948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46" b="1">
                <a:solidFill>
                  <a:srgbClr val="FFFFFF">
                    <a:alpha val="38000"/>
                  </a:srgbClr>
                </a:solidFill>
              </a:defRPr>
            </a:pPr>
            <a:r>
              <a:rPr sz="1846" b="1">
                <a:solidFill>
                  <a:srgbClr val="FFFFFF">
                    <a:alpha val="38000"/>
                  </a:srgbClr>
                </a:solidFill>
              </a:rPr>
              <a:t>Made with PostEx™ · PX-00000000</a:t>
            </a:r>
          </a:p>
        </p:txBody>
      </p:sp>
    </p:spTree>
    <p:extLst>
      <p:ext uri="{BB962C8B-B14F-4D97-AF65-F5344CB8AC3E}">
        <p14:creationId xmlns:p14="http://schemas.microsoft.com/office/powerpoint/2010/main" val="1790003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2026-08-10T04:11:00.9120000Z</dcterms:created>
  <dcterms:modified xsi:type="dcterms:W3CDTF">2026-08-10T04:11:00.9120000Z</dcterms:modified>
</coreProperties>
</file>