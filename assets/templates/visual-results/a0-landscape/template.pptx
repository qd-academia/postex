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435f0fdc6945cc" /><Relationship Type="http://schemas.openxmlformats.org/officeDocument/2006/relationships/extended-properties" Target="/docProps/app.xml" Id="Red93cfbbaaa5430f" /><Relationship Type="http://schemas.openxmlformats.org/officeDocument/2006/relationships/officeDocument" Target="/ppt/presentation.xml" Id="Rf813ac8fb72c45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7481a73a104263"/>
  </p:sldMasterIdLst>
  <p:notesMasterIdLst>
    <p:notesMasterId xmlns:r="http://schemas.openxmlformats.org/officeDocument/2006/relationships" r:id="Rfa085a66c3d04305"/>
  </p:notesMasterIdLst>
  <p:sldIdLst>
    <p:sldId xmlns:r="http://schemas.openxmlformats.org/officeDocument/2006/relationships" id="256" r:id="R763b016554754846"/>
  </p:sldIdLst>
  <p:sldSz cx="42805350" cy="302799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609588c3424586" /><Relationship Type="http://schemas.openxmlformats.org/officeDocument/2006/relationships/slideMaster" Target="/ppt/slideMasters/slideMaster1.xml" Id="Rd27481a73a104263" /><Relationship Type="http://schemas.openxmlformats.org/officeDocument/2006/relationships/notesMaster" Target="/ppt/notesMasters/notesMaster1.xml" Id="Rfa085a66c3d04305" /><Relationship Type="http://schemas.openxmlformats.org/officeDocument/2006/relationships/presProps" Target="/ppt/presProps.xml" Id="R6e1155b9bf2e44e9" /><Relationship Type="http://schemas.openxmlformats.org/officeDocument/2006/relationships/tableStyles" Target="/ppt/tableStyles.xml" Id="R7b42e319d909424c" /><Relationship Type="http://schemas.openxmlformats.org/officeDocument/2006/relationships/slide" Target="/ppt/slides/slide1.xml" Id="R763b0165547548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8fb3004bd24f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b58e35c9de438e" /><Relationship Type="http://schemas.openxmlformats.org/officeDocument/2006/relationships/notesMaster" Target="/ppt/notesMasters/notesMaster1.xml" Id="R600607ec907c4ac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PostEx official template asset; CC BY 4.0</a:t>
            </a:r>
          </a:p>
          <a:p xmlns:a="http://schemas.openxmlformats.org/drawingml/2006/main">
            <a:r>
              <a:t>- No third-party logo or scientific figure is embedded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7409239a694c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304069ed854010" /><Relationship Type="http://schemas.openxmlformats.org/officeDocument/2006/relationships/slideLayout" Target="/ppt/slideLayouts/slideLayout1.xml" Id="R1ce7b7c5593e43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e7b7c5593e43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773a115854078" /><Relationship Type="http://schemas.openxmlformats.org/officeDocument/2006/relationships/notesSlide" Target="/ppt/notesSlides/notesSlide1.xml" Id="R23011f10ecb942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header-band">
            <a:extLst xmlns:a="http://schemas.openxmlformats.org/drawingml/2006/main">
              <a:ext uri="{FF2B5EF4-FFF2-40B4-BE49-F238E27FC236}">
                <a16:creationId xmlns:a16="http://schemas.microsoft.com/office/drawing/2014/main" id="{2C83BF50-0F90-4B50-B8CD-BD63C471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495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-accent">
            <a:extLst xmlns:a="http://schemas.openxmlformats.org/drawingml/2006/main">
              <a:ext uri="{FF2B5EF4-FFF2-40B4-BE49-F238E27FC236}">
                <a16:creationId xmlns:a16="http://schemas.microsoft.com/office/drawing/2014/main" id="{86C2F903-80B8-4671-86FB-76E53B89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2805350" cy="285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oster-title">
            <a:extLst xmlns:a="http://schemas.openxmlformats.org/drawingml/2006/main">
              <a:ext uri="{FF2B5EF4-FFF2-40B4-BE49-F238E27FC236}">
                <a16:creationId xmlns:a16="http://schemas.microsoft.com/office/drawing/2014/main" id="{237B41FE-35CF-4EC3-8439-AC394FB4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"/>
            <a:ext cx="2971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350" b="1">
                <a:solidFill>
                  <a:srgbClr val="FFFFFF"/>
                </a:solidFill>
              </a:defRPr>
            </a:pPr>
            <a:r>
              <a:rPr sz="7350" b="1">
                <a:solidFill>
                  <a:srgbClr val="FFFFFF"/>
                </a:solidFill>
              </a:rPr>
              <a:t>Result-first visual research poster title</a:t>
            </a:r>
          </a:p>
        </p:txBody>
      </p:sp>
      <p:sp>
        <p:nvSpPr>
          <p:cNvPr id="4" name="authors">
            <a:extLst xmlns:a="http://schemas.openxmlformats.org/drawingml/2006/main">
              <a:ext uri="{FF2B5EF4-FFF2-40B4-BE49-F238E27FC236}">
                <a16:creationId xmlns:a16="http://schemas.microsoft.com/office/drawing/2014/main" id="{1DB3FE6D-BBFD-4552-BCA3-2EA34079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14650"/>
            <a:ext cx="2943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FFFFFF"/>
                </a:solidFill>
              </a:defRPr>
            </a:pPr>
            <a:r>
              <a:rPr sz="2775" b="1">
                <a:solidFill>
                  <a:srgbClr val="FFFFFF"/>
                </a:solidFill>
              </a:rPr>
              <a:t>Author names</a:t>
            </a:r>
          </a:p>
        </p:txBody>
      </p:sp>
      <p:sp>
        <p:nvSpPr>
          <p:cNvPr id="5" name="affiliations">
            <a:extLst xmlns:a="http://schemas.openxmlformats.org/drawingml/2006/main">
              <a:ext uri="{FF2B5EF4-FFF2-40B4-BE49-F238E27FC236}">
                <a16:creationId xmlns:a16="http://schemas.microsoft.com/office/drawing/2014/main" id="{CCBF6A69-2C9E-43C6-9B01-8E697CA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38550"/>
            <a:ext cx="2943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F6F8FA"/>
                </a:solidFill>
              </a:defRPr>
            </a:pPr>
            <a:r>
              <a:rPr sz="2175">
                <a:solidFill>
                  <a:srgbClr val="F6F8FA"/>
                </a:solidFill>
              </a:rPr>
              <a:t>Institutions and collaborating centers</a:t>
            </a:r>
          </a:p>
        </p:txBody>
      </p:sp>
      <p:sp>
        <p:nvSpPr>
          <p:cNvPr id="6" name="citation">
            <a:extLst xmlns:a="http://schemas.openxmlformats.org/drawingml/2006/main">
              <a:ext uri="{FF2B5EF4-FFF2-40B4-BE49-F238E27FC236}">
                <a16:creationId xmlns:a16="http://schemas.microsoft.com/office/drawing/2014/main" id="{119CE389-5141-40D6-9A19-D153ED78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38625"/>
            <a:ext cx="2428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8B44C"/>
                </a:solidFill>
              </a:defRPr>
            </a:pPr>
            <a:r>
              <a:rPr sz="1950" b="1">
                <a:solidFill>
                  <a:srgbClr val="E8B44C"/>
                </a:solidFill>
              </a:rPr>
              <a:t>Journal or conference · DOI</a:t>
            </a:r>
          </a:p>
        </p:txBody>
      </p:sp>
      <p:sp>
        <p:nvSpPr>
          <p:cNvPr id="7" name="logo-slot-institution-logo">
            <a:extLst xmlns:a="http://schemas.openxmlformats.org/drawingml/2006/main">
              <a:ext uri="{FF2B5EF4-FFF2-40B4-BE49-F238E27FC236}">
                <a16:creationId xmlns:a16="http://schemas.microsoft.com/office/drawing/2014/main" id="{21BBB578-756A-44EB-BB55-0FF4A673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552450"/>
            <a:ext cx="9334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" name="logo-placeholder-institution-logo">
            <a:extLst xmlns:a="http://schemas.openxmlformats.org/drawingml/2006/main">
              <a:ext uri="{FF2B5EF4-FFF2-40B4-BE49-F238E27FC236}">
                <a16:creationId xmlns:a16="http://schemas.microsoft.com/office/drawing/2014/main" id="{D0AB648E-1BEB-4A27-BD26-2445B0803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13550" y="914400"/>
            <a:ext cx="9105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F5F73"/>
                </a:solidFill>
              </a:defRPr>
            </a:pPr>
            <a:r>
              <a:rPr sz="2025" b="1">
                <a:solidFill>
                  <a:srgbClr val="0F5F73"/>
                </a:solidFill>
              </a:rPr>
              <a:t>Institution logo</a:t>
            </a:r>
          </a:p>
        </p:txBody>
      </p:sp>
      <p:sp>
        <p:nvSpPr>
          <p:cNvPr id="9" name="header-summary">
            <a:extLst xmlns:a="http://schemas.openxmlformats.org/drawingml/2006/main">
              <a:ext uri="{FF2B5EF4-FFF2-40B4-BE49-F238E27FC236}">
                <a16:creationId xmlns:a16="http://schemas.microsoft.com/office/drawing/2014/main" id="{FC03A723-7205-4C1F-8EC1-0B2E9F6A2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0" y="2000250"/>
            <a:ext cx="933450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eader-metric-1-value">
            <a:extLst xmlns:a="http://schemas.openxmlformats.org/drawingml/2006/main">
              <a:ext uri="{FF2B5EF4-FFF2-40B4-BE49-F238E27FC236}">
                <a16:creationId xmlns:a16="http://schemas.microsoft.com/office/drawing/2014/main" id="{79243523-77B1-4A69-8621-E6D6AA27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N</a:t>
            </a:r>
          </a:p>
        </p:txBody>
      </p:sp>
      <p:sp>
        <p:nvSpPr>
          <p:cNvPr id="11" name="header-metric-1-label">
            <a:extLst xmlns:a="http://schemas.openxmlformats.org/drawingml/2006/main">
              <a:ext uri="{FF2B5EF4-FFF2-40B4-BE49-F238E27FC236}">
                <a16:creationId xmlns:a16="http://schemas.microsoft.com/office/drawing/2014/main" id="{2AB50008-2BCD-4DDD-8F74-BC584B7D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primary observations</a:t>
            </a:r>
          </a:p>
        </p:txBody>
      </p:sp>
      <p:sp>
        <p:nvSpPr>
          <p:cNvPr id="12" name="header-metric-2-value">
            <a:extLst xmlns:a="http://schemas.openxmlformats.org/drawingml/2006/main">
              <a:ext uri="{FF2B5EF4-FFF2-40B4-BE49-F238E27FC236}">
                <a16:creationId xmlns:a16="http://schemas.microsoft.com/office/drawing/2014/main" id="{6EB4DF49-CCF2-40F5-B5C5-9904A0EF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N</a:t>
            </a:r>
          </a:p>
        </p:txBody>
      </p:sp>
      <p:sp>
        <p:nvSpPr>
          <p:cNvPr id="13" name="header-metric-2-label">
            <a:extLst xmlns:a="http://schemas.openxmlformats.org/drawingml/2006/main">
              <a:ext uri="{FF2B5EF4-FFF2-40B4-BE49-F238E27FC236}">
                <a16:creationId xmlns:a16="http://schemas.microsoft.com/office/drawing/2014/main" id="{F869BC65-45E9-47D7-8604-AD16DFD8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analysis samples</a:t>
            </a:r>
          </a:p>
        </p:txBody>
      </p:sp>
      <p:sp>
        <p:nvSpPr>
          <p:cNvPr id="14" name="header-metric-3-value">
            <a:extLst xmlns:a="http://schemas.openxmlformats.org/drawingml/2006/main">
              <a:ext uri="{FF2B5EF4-FFF2-40B4-BE49-F238E27FC236}">
                <a16:creationId xmlns:a16="http://schemas.microsoft.com/office/drawing/2014/main" id="{40C2298A-FC45-47CF-B798-42690562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2286000"/>
            <a:ext cx="2476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N</a:t>
            </a:r>
          </a:p>
        </p:txBody>
      </p:sp>
      <p:sp>
        <p:nvSpPr>
          <p:cNvPr id="15" name="header-metric-3-label">
            <a:extLst xmlns:a="http://schemas.openxmlformats.org/drawingml/2006/main">
              <a:ext uri="{FF2B5EF4-FFF2-40B4-BE49-F238E27FC236}">
                <a16:creationId xmlns:a16="http://schemas.microsoft.com/office/drawing/2014/main" id="{B030A0BB-75F2-4969-BE45-40C556F7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0" y="302895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validation units</a:t>
            </a:r>
          </a:p>
        </p:txBody>
      </p:sp>
      <p:sp>
        <p:nvSpPr>
          <p:cNvPr id="16" name="question-title">
            <a:extLst xmlns:a="http://schemas.openxmlformats.org/drawingml/2006/main">
              <a:ext uri="{FF2B5EF4-FFF2-40B4-BE49-F238E27FC236}">
                <a16:creationId xmlns:a16="http://schemas.microsoft.com/office/drawing/2014/main" id="{D67E7217-DCA2-48C3-9880-3164C2D2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One-sentence question</a:t>
            </a:r>
          </a:p>
        </p:txBody>
      </p:sp>
      <p:sp>
        <p:nvSpPr>
          <p:cNvPr id="17" name="question-rule">
            <a:extLst xmlns:a="http://schemas.openxmlformats.org/drawingml/2006/main">
              <a:ext uri="{FF2B5EF4-FFF2-40B4-BE49-F238E27FC236}">
                <a16:creationId xmlns:a16="http://schemas.microsoft.com/office/drawing/2014/main" id="{A95660C8-A454-49FD-B526-F2812F2C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search-question">
            <a:extLst xmlns:a="http://schemas.openxmlformats.org/drawingml/2006/main">
              <a:ext uri="{FF2B5EF4-FFF2-40B4-BE49-F238E27FC236}">
                <a16:creationId xmlns:a16="http://schemas.microsoft.com/office/drawing/2014/main" id="{06050E18-1F77-4D9E-87F8-FC534A612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6496050"/>
            <a:ext cx="11620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scientific question in two concise sentences.</a:t>
            </a:r>
          </a:p>
        </p:txBody>
      </p:sp>
      <p:sp>
        <p:nvSpPr>
          <p:cNvPr id="19" name="question-evidence">
            <a:extLst xmlns:a="http://schemas.openxmlformats.org/drawingml/2006/main">
              <a:ext uri="{FF2B5EF4-FFF2-40B4-BE49-F238E27FC236}">
                <a16:creationId xmlns:a16="http://schemas.microsoft.com/office/drawing/2014/main" id="{A3F0A66A-6E85-436B-8E5C-AE77700E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8686800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source page or section</a:t>
            </a:r>
          </a:p>
        </p:txBody>
      </p:sp>
      <p:sp>
        <p:nvSpPr>
          <p:cNvPr id="20" name="pipeline-title">
            <a:extLst xmlns:a="http://schemas.openxmlformats.org/drawingml/2006/main">
              <a:ext uri="{FF2B5EF4-FFF2-40B4-BE49-F238E27FC236}">
                <a16:creationId xmlns:a16="http://schemas.microsoft.com/office/drawing/2014/main" id="{D422A20C-7C25-442D-9AB6-D5265318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239250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Methods at a glance</a:t>
            </a:r>
          </a:p>
        </p:txBody>
      </p:sp>
      <p:sp>
        <p:nvSpPr>
          <p:cNvPr id="21" name="pipeline-rule">
            <a:extLst xmlns:a="http://schemas.openxmlformats.org/drawingml/2006/main">
              <a:ext uri="{FF2B5EF4-FFF2-40B4-BE49-F238E27FC236}">
                <a16:creationId xmlns:a16="http://schemas.microsoft.com/office/drawing/2014/main" id="{9C403A40-445D-42D8-9F8E-3826AC65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98774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ipeline-1-number-bg">
            <a:extLst xmlns:a="http://schemas.openxmlformats.org/drawingml/2006/main">
              <a:ext uri="{FF2B5EF4-FFF2-40B4-BE49-F238E27FC236}">
                <a16:creationId xmlns:a16="http://schemas.microsoft.com/office/drawing/2014/main" id="{15681BA0-B557-4DBC-A0C5-AEE6E32C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134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ipeline-1-number">
            <a:extLst xmlns:a="http://schemas.openxmlformats.org/drawingml/2006/main">
              <a:ext uri="{FF2B5EF4-FFF2-40B4-BE49-F238E27FC236}">
                <a16:creationId xmlns:a16="http://schemas.microsoft.com/office/drawing/2014/main" id="{500D3102-139B-4F3C-B78F-DC1A49D6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01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1</a:t>
            </a:r>
          </a:p>
        </p:txBody>
      </p:sp>
      <p:sp>
        <p:nvSpPr>
          <p:cNvPr id="24" name="pipeline-1-text">
            <a:extLst xmlns:a="http://schemas.openxmlformats.org/drawingml/2006/main">
              <a:ext uri="{FF2B5EF4-FFF2-40B4-BE49-F238E27FC236}">
                <a16:creationId xmlns:a16="http://schemas.microsoft.com/office/drawing/2014/main" id="{34D55119-BFD9-4F41-8543-F39A46E9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172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Study design</a:t>
            </a:r>
          </a:p>
        </p:txBody>
      </p:sp>
      <p:sp>
        <p:nvSpPr>
          <p:cNvPr id="25" name="pipeline-2-number-bg">
            <a:extLst xmlns:a="http://schemas.openxmlformats.org/drawingml/2006/main">
              <a:ext uri="{FF2B5EF4-FFF2-40B4-BE49-F238E27FC236}">
                <a16:creationId xmlns:a16="http://schemas.microsoft.com/office/drawing/2014/main" id="{0D156ACC-0043-4213-8AFC-80B77724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896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ipeline-2-number">
            <a:extLst xmlns:a="http://schemas.openxmlformats.org/drawingml/2006/main">
              <a:ext uri="{FF2B5EF4-FFF2-40B4-BE49-F238E27FC236}">
                <a16:creationId xmlns:a16="http://schemas.microsoft.com/office/drawing/2014/main" id="{F6707B92-DC98-44AA-B469-3E402276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963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2</a:t>
            </a:r>
          </a:p>
        </p:txBody>
      </p:sp>
      <p:sp>
        <p:nvSpPr>
          <p:cNvPr id="27" name="pipeline-2-text">
            <a:extLst xmlns:a="http://schemas.openxmlformats.org/drawingml/2006/main">
              <a:ext uri="{FF2B5EF4-FFF2-40B4-BE49-F238E27FC236}">
                <a16:creationId xmlns:a16="http://schemas.microsoft.com/office/drawing/2014/main" id="{86BA5DDD-4D0C-477E-B3BC-E7DDC1807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934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Primary measurement</a:t>
            </a:r>
          </a:p>
        </p:txBody>
      </p:sp>
      <p:sp>
        <p:nvSpPr>
          <p:cNvPr id="28" name="pipeline-3-number-bg">
            <a:extLst xmlns:a="http://schemas.openxmlformats.org/drawingml/2006/main">
              <a:ext uri="{FF2B5EF4-FFF2-40B4-BE49-F238E27FC236}">
                <a16:creationId xmlns:a16="http://schemas.microsoft.com/office/drawing/2014/main" id="{1F3064B4-21FF-4D91-A0C2-1E18550E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658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peline-3-number">
            <a:extLst xmlns:a="http://schemas.openxmlformats.org/drawingml/2006/main">
              <a:ext uri="{FF2B5EF4-FFF2-40B4-BE49-F238E27FC236}">
                <a16:creationId xmlns:a16="http://schemas.microsoft.com/office/drawing/2014/main" id="{D191C99D-1E7B-410C-9CF8-AD7BBB2E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1725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3</a:t>
            </a:r>
          </a:p>
        </p:txBody>
      </p:sp>
      <p:sp>
        <p:nvSpPr>
          <p:cNvPr id="30" name="pipeline-3-text">
            <a:extLst xmlns:a="http://schemas.openxmlformats.org/drawingml/2006/main">
              <a:ext uri="{FF2B5EF4-FFF2-40B4-BE49-F238E27FC236}">
                <a16:creationId xmlns:a16="http://schemas.microsoft.com/office/drawing/2014/main" id="{15A77E1C-A30A-4003-BC32-87D6CE18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1696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Analysis strategy</a:t>
            </a:r>
          </a:p>
        </p:txBody>
      </p:sp>
      <p:sp>
        <p:nvSpPr>
          <p:cNvPr id="31" name="pipeline-4-number-bg">
            <a:extLst xmlns:a="http://schemas.openxmlformats.org/drawingml/2006/main">
              <a:ext uri="{FF2B5EF4-FFF2-40B4-BE49-F238E27FC236}">
                <a16:creationId xmlns:a16="http://schemas.microsoft.com/office/drawing/2014/main" id="{0CB02C02-0D2B-4AD2-85E5-D87A13563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20600"/>
            <a:ext cx="590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ipeline-4-number">
            <a:extLst xmlns:a="http://schemas.openxmlformats.org/drawingml/2006/main">
              <a:ext uri="{FF2B5EF4-FFF2-40B4-BE49-F238E27FC236}">
                <a16:creationId xmlns:a16="http://schemas.microsoft.com/office/drawing/2014/main" id="{F12A5C16-E1BC-4049-A572-6F4D8C53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487275"/>
            <a:ext cx="59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4</a:t>
            </a:r>
          </a:p>
        </p:txBody>
      </p:sp>
      <p:sp>
        <p:nvSpPr>
          <p:cNvPr id="33" name="pipeline-4-text">
            <a:extLst xmlns:a="http://schemas.openxmlformats.org/drawingml/2006/main">
              <a:ext uri="{FF2B5EF4-FFF2-40B4-BE49-F238E27FC236}">
                <a16:creationId xmlns:a16="http://schemas.microsoft.com/office/drawing/2014/main" id="{ABFB9435-3226-409F-9679-D58437CE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45870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Validation boundary</a:t>
            </a:r>
          </a:p>
        </p:txBody>
      </p:sp>
      <p:sp>
        <p:nvSpPr>
          <p:cNvPr id="34" name="dataset-panel">
            <a:extLst xmlns:a="http://schemas.openxmlformats.org/drawingml/2006/main">
              <a:ext uri="{FF2B5EF4-FFF2-40B4-BE49-F238E27FC236}">
                <a16:creationId xmlns:a16="http://schemas.microsoft.com/office/drawing/2014/main" id="{B3FFB362-C2D0-4E0B-B31E-F5367F83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430250"/>
            <a:ext cx="11620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35" name="dataset-kicker">
            <a:extLst xmlns:a="http://schemas.openxmlformats.org/drawingml/2006/main">
              <a:ext uri="{FF2B5EF4-FFF2-40B4-BE49-F238E27FC236}">
                <a16:creationId xmlns:a16="http://schemas.microsoft.com/office/drawing/2014/main" id="{0DF1901E-CC6C-469A-B011-F76B14F9F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0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F5F73"/>
                </a:solidFill>
              </a:defRPr>
            </a:pPr>
            <a:r>
              <a:rPr sz="2175" b="1">
                <a:solidFill>
                  <a:srgbClr val="0F5F73"/>
                </a:solidFill>
              </a:rPr>
              <a:t>ESSENTIAL CONTEXT</a:t>
            </a:r>
          </a:p>
        </p:txBody>
      </p:sp>
      <p:sp>
        <p:nvSpPr>
          <p:cNvPr id="36" name="datasets">
            <a:extLst xmlns:a="http://schemas.openxmlformats.org/drawingml/2006/main">
              <a:ext uri="{FF2B5EF4-FFF2-40B4-BE49-F238E27FC236}">
                <a16:creationId xmlns:a16="http://schemas.microsoft.com/office/drawing/2014/main" id="{62B65790-6D57-476B-A6F4-90DAF58B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4239875"/>
            <a:ext cx="11087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Discovery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Primary analysis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Validation set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Sensitivity analysis</a:t>
            </a:r>
          </a:p>
        </p:txBody>
      </p:sp>
      <p:sp>
        <p:nvSpPr>
          <p:cNvPr id="37" name="dataset-evidence">
            <a:extLst xmlns:a="http://schemas.openxmlformats.org/drawingml/2006/main">
              <a:ext uri="{FF2B5EF4-FFF2-40B4-BE49-F238E27FC236}">
                <a16:creationId xmlns:a16="http://schemas.microsoft.com/office/drawing/2014/main" id="{3F8A17F7-75A7-439B-8E1C-364CA091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411575"/>
            <a:ext cx="1108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methods and dataset table</a:t>
            </a:r>
          </a:p>
        </p:txBody>
      </p:sp>
      <p:sp>
        <p:nvSpPr>
          <p:cNvPr id="38" name="figure-one-heading-title">
            <a:extLst xmlns:a="http://schemas.openxmlformats.org/drawingml/2006/main">
              <a:ext uri="{FF2B5EF4-FFF2-40B4-BE49-F238E27FC236}">
                <a16:creationId xmlns:a16="http://schemas.microsoft.com/office/drawing/2014/main" id="{F61E64AE-20A1-4C90-B116-4605DBA34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7383125"/>
            <a:ext cx="1162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How the result was produced</a:t>
            </a:r>
          </a:p>
        </p:txBody>
      </p:sp>
      <p:sp>
        <p:nvSpPr>
          <p:cNvPr id="39" name="figure-one-heading-rule">
            <a:extLst xmlns:a="http://schemas.openxmlformats.org/drawingml/2006/main">
              <a:ext uri="{FF2B5EF4-FFF2-40B4-BE49-F238E27FC236}">
                <a16:creationId xmlns:a16="http://schemas.microsoft.com/office/drawing/2014/main" id="{1092DF8E-FF43-4C13-BB71-725E60D1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2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igure-one-frame">
            <a:extLst xmlns:a="http://schemas.openxmlformats.org/drawingml/2006/main">
              <a:ext uri="{FF2B5EF4-FFF2-40B4-BE49-F238E27FC236}">
                <a16:creationId xmlns:a16="http://schemas.microsoft.com/office/drawing/2014/main" id="{B053F9EB-E586-43F8-9FFF-93C95C8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240375"/>
            <a:ext cx="11620500" cy="9906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41" name="figure-one-placeholder">
            <a:extLst xmlns:a="http://schemas.openxmlformats.org/drawingml/2006/main">
              <a:ext uri="{FF2B5EF4-FFF2-40B4-BE49-F238E27FC236}">
                <a16:creationId xmlns:a16="http://schemas.microsoft.com/office/drawing/2014/main" id="{8E43B83D-43E6-4FEB-A39F-428077FF3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430875"/>
            <a:ext cx="11239500" cy="8972550"/>
          </a:xfrm>
          <a:prstGeom xmlns:a="http://schemas.openxmlformats.org/drawingml/2006/main" prst="roundRect">
            <a:avLst>
              <a:gd name="adj" fmla="val 849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42" name="figure-one-placeholder-label">
            <a:extLst xmlns:a="http://schemas.openxmlformats.org/drawingml/2006/main">
              <a:ext uri="{FF2B5EF4-FFF2-40B4-BE49-F238E27FC236}">
                <a16:creationId xmlns:a16="http://schemas.microsoft.com/office/drawing/2014/main" id="{A030190D-148C-43C8-AE59-57F647CBC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26218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methods summary</a:t>
            </a:r>
          </a:p>
        </p:txBody>
      </p:sp>
      <p:sp>
        <p:nvSpPr>
          <p:cNvPr id="43" name="figure-one-caption">
            <a:extLst xmlns:a="http://schemas.openxmlformats.org/drawingml/2006/main">
              <a:ext uri="{FF2B5EF4-FFF2-40B4-BE49-F238E27FC236}">
                <a16:creationId xmlns:a16="http://schemas.microsoft.com/office/drawing/2014/main" id="{F2C4CD02-022B-4ED2-8D95-EF608F30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460575"/>
            <a:ext cx="111633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Methods Summary caption</a:t>
            </a:r>
          </a:p>
        </p:txBody>
      </p:sp>
      <p:sp>
        <p:nvSpPr>
          <p:cNvPr id="44" name="figure-one-source">
            <a:extLst xmlns:a="http://schemas.openxmlformats.org/drawingml/2006/main">
              <a:ext uri="{FF2B5EF4-FFF2-40B4-BE49-F238E27FC236}">
                <a16:creationId xmlns:a16="http://schemas.microsoft.com/office/drawing/2014/main" id="{625D5E26-CA40-4043-A12E-1C3CAE8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7784425"/>
            <a:ext cx="11163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45" name="central-takeaway">
            <a:extLst xmlns:a="http://schemas.openxmlformats.org/drawingml/2006/main">
              <a:ext uri="{FF2B5EF4-FFF2-40B4-BE49-F238E27FC236}">
                <a16:creationId xmlns:a16="http://schemas.microsoft.com/office/drawing/2014/main" id="{FBA4179D-D03C-43BB-BF5B-F2A9BD8FA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5619750"/>
            <a:ext cx="13668375" cy="2524125"/>
          </a:xfrm>
          <a:prstGeom xmlns:a="http://schemas.openxmlformats.org/drawingml/2006/main" prst="roundRect">
            <a:avLst>
              <a:gd name="adj" fmla="val 6038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entral-takeaway-title">
            <a:extLst xmlns:a="http://schemas.openxmlformats.org/drawingml/2006/main">
              <a:ext uri="{FF2B5EF4-FFF2-40B4-BE49-F238E27FC236}">
                <a16:creationId xmlns:a16="http://schemas.microsoft.com/office/drawing/2014/main" id="{76DD2E2F-7114-45D8-965F-1C33AD1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4600" y="5953125"/>
            <a:ext cx="128301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125" b="1">
                <a:solidFill>
                  <a:srgbClr val="102A43"/>
                </a:solidFill>
              </a:defRPr>
            </a:pPr>
            <a:r>
              <a:rPr sz="4125" b="1">
                <a:solidFill>
                  <a:srgbClr val="102A43"/>
                </a:solidFill>
              </a:rPr>
              <a:t>Lead with the decisive visual result</a:t>
            </a:r>
          </a:p>
        </p:txBody>
      </p:sp>
      <p:sp>
        <p:nvSpPr>
          <p:cNvPr id="47" name="central-takeaway-subtitle">
            <a:extLst xmlns:a="http://schemas.openxmlformats.org/drawingml/2006/main">
              <a:ext uri="{FF2B5EF4-FFF2-40B4-BE49-F238E27FC236}">
                <a16:creationId xmlns:a16="http://schemas.microsoft.com/office/drawing/2014/main" id="{E6A8B7AF-C856-4CA7-B1E5-1684FCAF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7181850"/>
            <a:ext cx="1233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A43"/>
                </a:solidFill>
              </a:defRPr>
            </a:pPr>
            <a:r>
              <a:rPr sz="2400" b="1">
                <a:solidFill>
                  <a:srgbClr val="102A43"/>
                </a:solidFill>
              </a:rPr>
              <a:t>Keep the interpretation adjacent to its evidence</a:t>
            </a:r>
          </a:p>
        </p:txBody>
      </p:sp>
      <p:sp>
        <p:nvSpPr>
          <p:cNvPr id="48" name="takeaway-evidence">
            <a:extLst xmlns:a="http://schemas.openxmlformats.org/drawingml/2006/main">
              <a:ext uri="{FF2B5EF4-FFF2-40B4-BE49-F238E27FC236}">
                <a16:creationId xmlns:a16="http://schemas.microsoft.com/office/drawing/2014/main" id="{0908F01B-9F05-4E04-A729-83DDEF7B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7715250"/>
            <a:ext cx="127920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section and figure</a:t>
            </a:r>
          </a:p>
        </p:txBody>
      </p:sp>
      <p:sp>
        <p:nvSpPr>
          <p:cNvPr id="49" name="figure-two-heading-title">
            <a:extLst xmlns:a="http://schemas.openxmlformats.org/drawingml/2006/main">
              <a:ext uri="{FF2B5EF4-FFF2-40B4-BE49-F238E27FC236}">
                <a16:creationId xmlns:a16="http://schemas.microsoft.com/office/drawing/2014/main" id="{14DB0A3C-80C5-4025-BFAB-999521B0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620125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Hero result</a:t>
            </a:r>
          </a:p>
        </p:txBody>
      </p:sp>
      <p:sp>
        <p:nvSpPr>
          <p:cNvPr id="50" name="figure-two-heading-rule">
            <a:extLst xmlns:a="http://schemas.openxmlformats.org/drawingml/2006/main">
              <a:ext uri="{FF2B5EF4-FFF2-40B4-BE49-F238E27FC236}">
                <a16:creationId xmlns:a16="http://schemas.microsoft.com/office/drawing/2014/main" id="{63C9DC6A-3DBF-45D4-A8FF-02F568B4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258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figure-two-frame">
            <a:extLst xmlns:a="http://schemas.openxmlformats.org/drawingml/2006/main">
              <a:ext uri="{FF2B5EF4-FFF2-40B4-BE49-F238E27FC236}">
                <a16:creationId xmlns:a16="http://schemas.microsoft.com/office/drawing/2014/main" id="{9781CCDA-AD5E-4E7D-A474-6AABE45E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9477375"/>
            <a:ext cx="13668375" cy="12715875"/>
          </a:xfrm>
          <a:prstGeom xmlns:a="http://schemas.openxmlformats.org/drawingml/2006/main" prst="roundRect">
            <a:avLst>
              <a:gd name="adj" fmla="val 8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2" name="figure-two-placeholder">
            <a:extLst xmlns:a="http://schemas.openxmlformats.org/drawingml/2006/main">
              <a:ext uri="{FF2B5EF4-FFF2-40B4-BE49-F238E27FC236}">
                <a16:creationId xmlns:a16="http://schemas.microsoft.com/office/drawing/2014/main" id="{986C047D-3B3F-41E9-9C14-C74A4010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667875"/>
            <a:ext cx="13287375" cy="11782425"/>
          </a:xfrm>
          <a:prstGeom xmlns:a="http://schemas.openxmlformats.org/drawingml/2006/main" prst="roundRect">
            <a:avLst>
              <a:gd name="adj" fmla="val 64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53" name="figure-two-placeholder-label">
            <a:extLst xmlns:a="http://schemas.openxmlformats.org/drawingml/2006/main">
              <a:ext uri="{FF2B5EF4-FFF2-40B4-BE49-F238E27FC236}">
                <a16:creationId xmlns:a16="http://schemas.microsoft.com/office/drawing/2014/main" id="{4EBBD412-0C57-4135-BBBF-8F604BE0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15263813"/>
            <a:ext cx="1252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hero result</a:t>
            </a:r>
          </a:p>
        </p:txBody>
      </p:sp>
      <p:sp>
        <p:nvSpPr>
          <p:cNvPr id="54" name="figure-two-caption">
            <a:extLst xmlns:a="http://schemas.openxmlformats.org/drawingml/2006/main">
              <a:ext uri="{FF2B5EF4-FFF2-40B4-BE49-F238E27FC236}">
                <a16:creationId xmlns:a16="http://schemas.microsoft.com/office/drawing/2014/main" id="{849D7F3F-EC11-4A80-BDEC-337DEB32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507450"/>
            <a:ext cx="132111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Hero Result caption</a:t>
            </a:r>
          </a:p>
        </p:txBody>
      </p:sp>
      <p:sp>
        <p:nvSpPr>
          <p:cNvPr id="55" name="figure-two-source">
            <a:extLst xmlns:a="http://schemas.openxmlformats.org/drawingml/2006/main">
              <a:ext uri="{FF2B5EF4-FFF2-40B4-BE49-F238E27FC236}">
                <a16:creationId xmlns:a16="http://schemas.microsoft.com/office/drawing/2014/main" id="{7730B65E-2DF8-4FD5-911A-8193E548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54100" y="21831300"/>
            <a:ext cx="13211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56" name="validation-heading-title">
            <a:extLst xmlns:a="http://schemas.openxmlformats.org/drawingml/2006/main">
              <a:ext uri="{FF2B5EF4-FFF2-40B4-BE49-F238E27FC236}">
                <a16:creationId xmlns:a16="http://schemas.microsoft.com/office/drawing/2014/main" id="{88C9C535-27DA-4548-8621-B98631236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2669500"/>
            <a:ext cx="13668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What changes the conclusion</a:t>
            </a:r>
          </a:p>
        </p:txBody>
      </p:sp>
      <p:sp>
        <p:nvSpPr>
          <p:cNvPr id="57" name="validation-heading-rule">
            <a:extLst xmlns:a="http://schemas.openxmlformats.org/drawingml/2006/main">
              <a:ext uri="{FF2B5EF4-FFF2-40B4-BE49-F238E27FC236}">
                <a16:creationId xmlns:a16="http://schemas.microsoft.com/office/drawing/2014/main" id="{F07ADDE6-B165-49BE-A9B8-BB089935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30767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validation-panel">
            <a:extLst xmlns:a="http://schemas.openxmlformats.org/drawingml/2006/main">
              <a:ext uri="{FF2B5EF4-FFF2-40B4-BE49-F238E27FC236}">
                <a16:creationId xmlns:a16="http://schemas.microsoft.com/office/drawing/2014/main" id="{E867078A-F25C-42AE-9034-6D651E1E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3526750"/>
            <a:ext cx="13668375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59" name="validation">
            <a:extLst xmlns:a="http://schemas.openxmlformats.org/drawingml/2006/main">
              <a:ext uri="{FF2B5EF4-FFF2-40B4-BE49-F238E27FC236}">
                <a16:creationId xmlns:a16="http://schemas.microsoft.com/office/drawing/2014/main" id="{7BE4BDE0-73CA-4A04-97C1-80AE0237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3841075"/>
            <a:ext cx="129825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Primary adjusted result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External validation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Negative findings</a:t>
            </a:r>
          </a:p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• Interpretation boundary</a:t>
            </a:r>
          </a:p>
        </p:txBody>
      </p:sp>
      <p:sp>
        <p:nvSpPr>
          <p:cNvPr id="60" name="validation-evidence">
            <a:extLst xmlns:a="http://schemas.openxmlformats.org/drawingml/2006/main">
              <a:ext uri="{FF2B5EF4-FFF2-40B4-BE49-F238E27FC236}">
                <a16:creationId xmlns:a16="http://schemas.microsoft.com/office/drawing/2014/main" id="{332B4539-3E06-4EDB-BDE6-02940B5D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68400" y="27117675"/>
            <a:ext cx="129825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result pages</a:t>
            </a:r>
          </a:p>
        </p:txBody>
      </p:sp>
      <p:sp>
        <p:nvSpPr>
          <p:cNvPr id="61" name="performance-strip">
            <a:extLst xmlns:a="http://schemas.openxmlformats.org/drawingml/2006/main">
              <a:ext uri="{FF2B5EF4-FFF2-40B4-BE49-F238E27FC236}">
                <a16:creationId xmlns:a16="http://schemas.microsoft.com/office/drawing/2014/main" id="{FB78CCEE-337E-48BC-9C89-50C61D87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7908250"/>
            <a:ext cx="13668375" cy="1095375"/>
          </a:xfrm>
          <a:prstGeom xmlns:a="http://schemas.openxmlformats.org/drawingml/2006/main" prst="roundRect">
            <a:avLst>
              <a:gd name="adj" fmla="val 10435"/>
            </a:avLst>
          </a:prstGeom>
          <a:solidFill xmlns:a="http://schemas.openxmlformats.org/drawingml/2006/main">
            <a:srgbClr val="0F5F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erformance-strip-text">
            <a:extLst xmlns:a="http://schemas.openxmlformats.org/drawingml/2006/main">
              <a:ext uri="{FF2B5EF4-FFF2-40B4-BE49-F238E27FC236}">
                <a16:creationId xmlns:a16="http://schemas.microsoft.com/office/drawing/2014/main" id="{EAEACC12-9345-4D89-AF6A-795908448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8194000"/>
            <a:ext cx="130206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Primary estimate · uncertainty · validation</a:t>
            </a:r>
          </a:p>
        </p:txBody>
      </p:sp>
      <p:sp>
        <p:nvSpPr>
          <p:cNvPr id="63" name="biology-heading-title">
            <a:extLst xmlns:a="http://schemas.openxmlformats.org/drawingml/2006/main">
              <a:ext uri="{FF2B5EF4-FFF2-40B4-BE49-F238E27FC236}">
                <a16:creationId xmlns:a16="http://schemas.microsoft.com/office/drawing/2014/main" id="{AD2638DC-43DF-452B-BC40-28EB5906A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5619750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Three result anchors</a:t>
            </a:r>
          </a:p>
        </p:txBody>
      </p:sp>
      <p:sp>
        <p:nvSpPr>
          <p:cNvPr id="64" name="biology-heading-rule">
            <a:extLst xmlns:a="http://schemas.openxmlformats.org/drawingml/2006/main">
              <a:ext uri="{FF2B5EF4-FFF2-40B4-BE49-F238E27FC236}">
                <a16:creationId xmlns:a16="http://schemas.microsoft.com/office/drawing/2014/main" id="{53A0A211-E49F-4E5A-A040-12420B30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257925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biology-1-value">
            <a:extLst xmlns:a="http://schemas.openxmlformats.org/drawingml/2006/main">
              <a:ext uri="{FF2B5EF4-FFF2-40B4-BE49-F238E27FC236}">
                <a16:creationId xmlns:a16="http://schemas.microsoft.com/office/drawing/2014/main" id="{FBEBAD0B-3CA7-4DCE-A818-C615DF13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5F73"/>
                </a:solidFill>
              </a:defRPr>
            </a:pPr>
            <a:r>
              <a:rPr sz="5100" b="1">
                <a:solidFill>
                  <a:srgbClr val="0F5F73"/>
                </a:solidFill>
              </a:rPr>
              <a:t>Effect</a:t>
            </a:r>
          </a:p>
        </p:txBody>
      </p:sp>
      <p:sp>
        <p:nvSpPr>
          <p:cNvPr id="66" name="biology-1-label">
            <a:extLst xmlns:a="http://schemas.openxmlformats.org/drawingml/2006/main">
              <a:ext uri="{FF2B5EF4-FFF2-40B4-BE49-F238E27FC236}">
                <a16:creationId xmlns:a16="http://schemas.microsoft.com/office/drawing/2014/main" id="{4E10E351-DA3A-4B93-81E7-884F559B5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primary estimate</a:t>
            </a:r>
          </a:p>
        </p:txBody>
      </p:sp>
      <p:sp>
        <p:nvSpPr>
          <p:cNvPr id="67" name="biology-2-value">
            <a:extLst xmlns:a="http://schemas.openxmlformats.org/drawingml/2006/main">
              <a:ext uri="{FF2B5EF4-FFF2-40B4-BE49-F238E27FC236}">
                <a16:creationId xmlns:a16="http://schemas.microsoft.com/office/drawing/2014/main" id="{8C235FD0-688D-4D49-9E65-AABAB8E3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2C8C99"/>
                </a:solidFill>
              </a:defRPr>
            </a:pPr>
            <a:r>
              <a:rPr sz="5100" b="1">
                <a:solidFill>
                  <a:srgbClr val="2C8C99"/>
                </a:solidFill>
              </a:rPr>
              <a:t>95% CI</a:t>
            </a:r>
          </a:p>
        </p:txBody>
      </p:sp>
      <p:sp>
        <p:nvSpPr>
          <p:cNvPr id="68" name="biology-2-label">
            <a:extLst xmlns:a="http://schemas.openxmlformats.org/drawingml/2006/main">
              <a:ext uri="{FF2B5EF4-FFF2-40B4-BE49-F238E27FC236}">
                <a16:creationId xmlns:a16="http://schemas.microsoft.com/office/drawing/2014/main" id="{2B2F1404-B5B9-4C4A-8BE0-9A82DD98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0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uncertainty</a:t>
            </a:r>
          </a:p>
        </p:txBody>
      </p:sp>
      <p:sp>
        <p:nvSpPr>
          <p:cNvPr id="69" name="biology-3-value">
            <a:extLst xmlns:a="http://schemas.openxmlformats.org/drawingml/2006/main">
              <a:ext uri="{FF2B5EF4-FFF2-40B4-BE49-F238E27FC236}">
                <a16:creationId xmlns:a16="http://schemas.microsoft.com/office/drawing/2014/main" id="{B27D6970-BA33-45A2-A39B-D8C745D3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65722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E8B44C"/>
                </a:solidFill>
              </a:defRPr>
            </a:pPr>
            <a:r>
              <a:rPr sz="5100" b="1">
                <a:solidFill>
                  <a:srgbClr val="E8B44C"/>
                </a:solidFill>
              </a:rPr>
              <a:t>P</a:t>
            </a:r>
          </a:p>
        </p:txBody>
      </p:sp>
      <p:sp>
        <p:nvSpPr>
          <p:cNvPr id="70" name="biology-3-label">
            <a:extLst xmlns:a="http://schemas.openxmlformats.org/drawingml/2006/main">
              <a:ext uri="{FF2B5EF4-FFF2-40B4-BE49-F238E27FC236}">
                <a16:creationId xmlns:a16="http://schemas.microsoft.com/office/drawing/2014/main" id="{1DD1D3E7-9E4D-4F3A-AF5C-3DA4191A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14125" y="7315200"/>
            <a:ext cx="4000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02A43"/>
                </a:solidFill>
              </a:defRPr>
            </a:pPr>
            <a:r>
              <a:rPr sz="2325" b="1">
                <a:solidFill>
                  <a:srgbClr val="102A43"/>
                </a:solidFill>
              </a:rPr>
              <a:t>robustness</a:t>
            </a:r>
          </a:p>
        </p:txBody>
      </p:sp>
      <p:sp>
        <p:nvSpPr>
          <p:cNvPr id="71" name="biology-evidence">
            <a:extLst xmlns:a="http://schemas.openxmlformats.org/drawingml/2006/main">
              <a:ext uri="{FF2B5EF4-FFF2-40B4-BE49-F238E27FC236}">
                <a16:creationId xmlns:a16="http://schemas.microsoft.com/office/drawing/2014/main" id="{9658F5CB-3DFA-459B-9AAD-DA3F26A7F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8477250"/>
            <a:ext cx="13706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supporting analysis</a:t>
            </a:r>
          </a:p>
        </p:txBody>
      </p:sp>
      <p:sp>
        <p:nvSpPr>
          <p:cNvPr id="72" name="figure-three-frame">
            <a:extLst xmlns:a="http://schemas.openxmlformats.org/drawingml/2006/main">
              <a:ext uri="{FF2B5EF4-FFF2-40B4-BE49-F238E27FC236}">
                <a16:creationId xmlns:a16="http://schemas.microsoft.com/office/drawing/2014/main" id="{F899D6F5-88C6-430A-B0A4-6E2A1571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9191625"/>
            <a:ext cx="13706475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73" name="figure-three-placeholder">
            <a:extLst xmlns:a="http://schemas.openxmlformats.org/drawingml/2006/main">
              <a:ext uri="{FF2B5EF4-FFF2-40B4-BE49-F238E27FC236}">
                <a16:creationId xmlns:a16="http://schemas.microsoft.com/office/drawing/2014/main" id="{7B98DF7F-3FF5-4A90-B9EA-7BD8D26F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9382125"/>
            <a:ext cx="13325475" cy="5924550"/>
          </a:xfrm>
          <a:prstGeom xmlns:a="http://schemas.openxmlformats.org/drawingml/2006/main" prst="roundRect">
            <a:avLst>
              <a:gd name="adj" fmla="val 1286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74" name="figure-three-placeholder-label">
            <a:extLst xmlns:a="http://schemas.openxmlformats.org/drawingml/2006/main">
              <a:ext uri="{FF2B5EF4-FFF2-40B4-BE49-F238E27FC236}">
                <a16:creationId xmlns:a16="http://schemas.microsoft.com/office/drawing/2014/main" id="{E65B4C5A-7F6E-49A6-A454-80AB93AB0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12049125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supporting result</a:t>
            </a:r>
          </a:p>
        </p:txBody>
      </p:sp>
      <p:sp>
        <p:nvSpPr>
          <p:cNvPr id="75" name="figure-three-caption">
            <a:extLst xmlns:a="http://schemas.openxmlformats.org/drawingml/2006/main">
              <a:ext uri="{FF2B5EF4-FFF2-40B4-BE49-F238E27FC236}">
                <a16:creationId xmlns:a16="http://schemas.microsoft.com/office/drawing/2014/main" id="{D1FDB39A-BB90-49E3-820E-3FCFDA10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36382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Supporting Result caption</a:t>
            </a:r>
          </a:p>
        </p:txBody>
      </p:sp>
      <p:sp>
        <p:nvSpPr>
          <p:cNvPr id="76" name="figure-three-source">
            <a:extLst xmlns:a="http://schemas.openxmlformats.org/drawingml/2006/main">
              <a:ext uri="{FF2B5EF4-FFF2-40B4-BE49-F238E27FC236}">
                <a16:creationId xmlns:a16="http://schemas.microsoft.com/office/drawing/2014/main" id="{DBA5F977-85E0-4DDB-803B-E013B3B4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1568767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77" name="validation-visual-heading-title">
            <a:extLst xmlns:a="http://schemas.openxmlformats.org/drawingml/2006/main">
              <a:ext uri="{FF2B5EF4-FFF2-40B4-BE49-F238E27FC236}">
                <a16:creationId xmlns:a16="http://schemas.microsoft.com/office/drawing/2014/main" id="{17692C35-E0E6-487F-ABBF-BA118D17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652587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Supporting result</a:t>
            </a:r>
          </a:p>
        </p:txBody>
      </p:sp>
      <p:sp>
        <p:nvSpPr>
          <p:cNvPr id="78" name="validation-visual-heading-rule">
            <a:extLst xmlns:a="http://schemas.openxmlformats.org/drawingml/2006/main">
              <a:ext uri="{FF2B5EF4-FFF2-40B4-BE49-F238E27FC236}">
                <a16:creationId xmlns:a16="http://schemas.microsoft.com/office/drawing/2014/main" id="{246941A7-4F06-4952-8F72-0DD04D13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16405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figure-four-frame">
            <a:extLst xmlns:a="http://schemas.openxmlformats.org/drawingml/2006/main">
              <a:ext uri="{FF2B5EF4-FFF2-40B4-BE49-F238E27FC236}">
                <a16:creationId xmlns:a16="http://schemas.microsoft.com/office/drawing/2014/main" id="{8783BC68-9802-45A4-9FDE-2EE88C86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17383125"/>
            <a:ext cx="13706475" cy="714375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0" name="figure-four-placeholder">
            <a:extLst xmlns:a="http://schemas.openxmlformats.org/drawingml/2006/main">
              <a:ext uri="{FF2B5EF4-FFF2-40B4-BE49-F238E27FC236}">
                <a16:creationId xmlns:a16="http://schemas.microsoft.com/office/drawing/2014/main" id="{7837535E-CD4A-4AAF-ACBB-40D1F02B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55875" y="17573625"/>
            <a:ext cx="13325475" cy="6210300"/>
          </a:xfrm>
          <a:prstGeom xmlns:a="http://schemas.openxmlformats.org/drawingml/2006/main" prst="roundRect">
            <a:avLst>
              <a:gd name="adj" fmla="val 1227"/>
            </a:avLst>
          </a:prstGeom>
          <a:solidFill xmlns:a="http://schemas.openxmlformats.org/drawingml/2006/main">
            <a:srgbClr val="F6F8FA"/>
          </a:solidFill>
          <a:ln xmlns:a="http://schemas.openxmlformats.org/drawingml/2006/main" w="19050">
            <a:solidFill>
              <a:srgbClr val="D9E2EC"/>
            </a:solidFill>
            <a:prstDash val="solid"/>
          </a:ln>
        </p:spPr>
      </p:sp>
      <p:sp>
        <p:nvSpPr>
          <p:cNvPr id="81" name="figure-four-placeholder-label">
            <a:extLst xmlns:a="http://schemas.openxmlformats.org/drawingml/2006/main">
              <a:ext uri="{FF2B5EF4-FFF2-40B4-BE49-F238E27FC236}">
                <a16:creationId xmlns:a16="http://schemas.microsoft.com/office/drawing/2014/main" id="{8C45511D-076E-46B9-AFB0-FE5CFDEA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36875" y="20383500"/>
            <a:ext cx="125634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C8C99"/>
                </a:solidFill>
              </a:defRPr>
            </a:pPr>
            <a:r>
              <a:rPr sz="2700" b="1">
                <a:solidFill>
                  <a:srgbClr val="2C8C99"/>
                </a:solidFill>
              </a:rPr>
              <a:t>validation result</a:t>
            </a:r>
          </a:p>
        </p:txBody>
      </p:sp>
      <p:sp>
        <p:nvSpPr>
          <p:cNvPr id="82" name="figure-four-caption">
            <a:extLst xmlns:a="http://schemas.openxmlformats.org/drawingml/2006/main">
              <a:ext uri="{FF2B5EF4-FFF2-40B4-BE49-F238E27FC236}">
                <a16:creationId xmlns:a16="http://schemas.microsoft.com/office/drawing/2014/main" id="{2ABCBD7F-5E2F-4B36-A4AD-55E59040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3841075"/>
            <a:ext cx="132492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2A43"/>
                </a:solidFill>
              </a:defRPr>
            </a:pPr>
            <a:r>
              <a:rPr sz="2250" b="1">
                <a:solidFill>
                  <a:srgbClr val="102A43"/>
                </a:solidFill>
              </a:rPr>
              <a:t>Validation Result caption</a:t>
            </a:r>
          </a:p>
        </p:txBody>
      </p:sp>
      <p:sp>
        <p:nvSpPr>
          <p:cNvPr id="83" name="figure-four-source">
            <a:extLst xmlns:a="http://schemas.openxmlformats.org/drawingml/2006/main">
              <a:ext uri="{FF2B5EF4-FFF2-40B4-BE49-F238E27FC236}">
                <a16:creationId xmlns:a16="http://schemas.microsoft.com/office/drawing/2014/main" id="{91E4F043-6DE6-4A35-AA1B-59B151B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93975" y="24164925"/>
            <a:ext cx="13249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Evidence/source locator</a:t>
            </a:r>
          </a:p>
        </p:txBody>
      </p:sp>
      <p:sp>
        <p:nvSpPr>
          <p:cNvPr id="84" name="conclusion-heading-title">
            <a:extLst xmlns:a="http://schemas.openxmlformats.org/drawingml/2006/main">
              <a:ext uri="{FF2B5EF4-FFF2-40B4-BE49-F238E27FC236}">
                <a16:creationId xmlns:a16="http://schemas.microsoft.com/office/drawing/2014/main" id="{E2B157D0-1EF5-4B61-8FE9-8BBD53C8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003125"/>
            <a:ext cx="13706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F5F73"/>
                </a:solidFill>
              </a:defRPr>
            </a:pPr>
            <a:r>
              <a:rPr sz="3600" b="1">
                <a:solidFill>
                  <a:srgbClr val="0F5F73"/>
                </a:solidFill>
              </a:rPr>
              <a:t>Why this result matters</a:t>
            </a:r>
          </a:p>
        </p:txBody>
      </p:sp>
      <p:sp>
        <p:nvSpPr>
          <p:cNvPr id="85" name="conclusion-heading-rule">
            <a:extLst xmlns:a="http://schemas.openxmlformats.org/drawingml/2006/main">
              <a:ext uri="{FF2B5EF4-FFF2-40B4-BE49-F238E27FC236}">
                <a16:creationId xmlns:a16="http://schemas.microsoft.com/office/drawing/2014/main" id="{0DBCC6E4-B8FD-4924-BD71-F4F3A5ED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641300"/>
            <a:ext cx="31432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8B4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conclusion-panel">
            <a:extLst xmlns:a="http://schemas.openxmlformats.org/drawingml/2006/main">
              <a:ext uri="{FF2B5EF4-FFF2-40B4-BE49-F238E27FC236}">
                <a16:creationId xmlns:a16="http://schemas.microsoft.com/office/drawing/2014/main" id="{145C3114-CDDF-4363-864A-49B8402E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75" y="25860375"/>
            <a:ext cx="1370647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9E2EC"/>
            </a:solidFill>
            <a:prstDash val="solid"/>
          </a:ln>
        </p:spPr>
      </p:sp>
      <p:sp>
        <p:nvSpPr>
          <p:cNvPr id="87" name="conclusion">
            <a:extLst xmlns:a="http://schemas.openxmlformats.org/drawingml/2006/main">
              <a:ext uri="{FF2B5EF4-FFF2-40B4-BE49-F238E27FC236}">
                <a16:creationId xmlns:a16="http://schemas.microsoft.com/office/drawing/2014/main" id="{74AD6D4F-2E29-4906-BF65-21296301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6174700"/>
            <a:ext cx="13058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>
                <a:solidFill>
                  <a:srgbClr val="102A43"/>
                </a:solidFill>
              </a:defRPr>
            </a:pPr>
            <a:r>
              <a:rPr sz="2850">
                <a:solidFill>
                  <a:srgbClr val="102A43"/>
                </a:solidFill>
              </a:rPr>
              <a:t>State the supported conclusion and retain the most important limitation.</a:t>
            </a:r>
          </a:p>
        </p:txBody>
      </p:sp>
      <p:sp>
        <p:nvSpPr>
          <p:cNvPr id="88" name="conclusion-evidence">
            <a:extLst xmlns:a="http://schemas.openxmlformats.org/drawingml/2006/main">
              <a:ext uri="{FF2B5EF4-FFF2-40B4-BE49-F238E27FC236}">
                <a16:creationId xmlns:a16="http://schemas.microsoft.com/office/drawing/2014/main" id="{0052FDF2-CE4D-475D-80D2-CD1001DA9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89225" y="28498800"/>
            <a:ext cx="130587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2C8C99"/>
                </a:solidFill>
              </a:defRPr>
            </a:pPr>
            <a:r>
              <a:rPr sz="1875">
                <a:solidFill>
                  <a:srgbClr val="2C8C99"/>
                </a:solidFill>
              </a:rPr>
              <a:t>Evidence: discussion and conclusion</a:t>
            </a:r>
          </a:p>
        </p:txBody>
      </p:sp>
      <p:sp>
        <p:nvSpPr>
          <p:cNvPr id="89" name="footer-band">
            <a:extLst xmlns:a="http://schemas.openxmlformats.org/drawingml/2006/main">
              <a:ext uri="{FF2B5EF4-FFF2-40B4-BE49-F238E27FC236}">
                <a16:creationId xmlns:a16="http://schemas.microsoft.com/office/drawing/2014/main" id="{23DA4AD5-17F7-4D25-813B-5670A676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337000"/>
            <a:ext cx="42805350" cy="942975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3625C436-9BD2-4FAF-9612-3BB012EB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94175"/>
            <a:ext cx="1914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FFFFFF"/>
                </a:solidFill>
              </a:defRPr>
            </a:pPr>
            <a:r>
              <a:rPr sz="1950">
                <a:solidFill>
                  <a:srgbClr val="FFFFFF"/>
                </a:solidFill>
              </a:rPr>
              <a:t>Source citation · content mode · asset license</a:t>
            </a:r>
          </a:p>
        </p:txBody>
      </p:sp>
      <p:sp>
        <p:nvSpPr>
          <p:cNvPr id="91" name="footer-status">
            <a:extLst xmlns:a="http://schemas.openxmlformats.org/drawingml/2006/main">
              <a:ext uri="{FF2B5EF4-FFF2-40B4-BE49-F238E27FC236}">
                <a16:creationId xmlns:a16="http://schemas.microsoft.com/office/drawing/2014/main" id="{A8797B37-2654-4C4B-B987-7429AB32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0" y="295941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E8B44C"/>
                </a:solidFill>
              </a:defRPr>
            </a:pPr>
            <a:r>
              <a:rPr sz="1800" b="1">
                <a:solidFill>
                  <a:srgbClr val="E8B44C"/>
                </a:solidFill>
              </a:rPr>
              <a:t>Approvals current · scientific colors locked</a:t>
            </a:r>
          </a:p>
        </p:txBody>
      </p:sp>
      <p:sp>
        <p:nvSpPr>
          <p:cNvPr id="92" name="POSTEX_PROVENANCE_MARK">
            <a:extLst xmlns:a="http://schemas.openxmlformats.org/drawingml/2006/main">
              <a:ext uri="{FF2B5EF4-FFF2-40B4-BE49-F238E27FC236}">
                <a16:creationId xmlns:a16="http://schemas.microsoft.com/office/drawing/2014/main" id="{7EEE3AD4-1C72-4DF6-886E-9AF49DF66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0" y="29594175"/>
            <a:ext cx="1114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00" b="1">
                <a:solidFill>
                  <a:srgbClr val="FFFFFF">
                    <a:alpha val="38000"/>
                  </a:srgbClr>
                </a:solidFill>
              </a:defRPr>
            </a:pPr>
            <a:r>
              <a:rPr sz="1800" b="1">
                <a:solidFill>
                  <a:srgbClr val="FFFFFF">
                    <a:alpha val="38000"/>
                  </a:srgbClr>
                </a:solidFill>
              </a:rPr>
              <a:t>Made with PostEx™ · PX-00000000</a:t>
            </a:r>
          </a:p>
        </p:txBody>
      </p:sp>
    </p:spTree>
    <p:extLst>
      <p:ext uri="{BB962C8B-B14F-4D97-AF65-F5344CB8AC3E}">
        <p14:creationId xmlns:p14="http://schemas.microsoft.com/office/powerpoint/2010/main" val="1955981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2026-08-10T04:10:35.1720000Z</dcterms:created>
  <dcterms:modified xsi:type="dcterms:W3CDTF">2026-08-10T04:10:35.1720000Z</dcterms:modified>
</coreProperties>
</file>