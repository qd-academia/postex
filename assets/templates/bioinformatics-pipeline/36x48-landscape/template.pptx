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ec5972b5bc4639" /><Relationship Type="http://schemas.openxmlformats.org/officeDocument/2006/relationships/extended-properties" Target="/docProps/app.xml" Id="Rff2dd3acba7d4807" /><Relationship Type="http://schemas.openxmlformats.org/officeDocument/2006/relationships/officeDocument" Target="/ppt/presentation.xml" Id="Ra4faf9e42bb04d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c357471a3c406a"/>
  </p:sldMasterIdLst>
  <p:notesMasterIdLst>
    <p:notesMasterId xmlns:r="http://schemas.openxmlformats.org/officeDocument/2006/relationships" r:id="R1953748fe7074824"/>
  </p:notesMasterIdLst>
  <p:sldIdLst>
    <p:sldId xmlns:r="http://schemas.openxmlformats.org/officeDocument/2006/relationships" id="256" r:id="Rf8987b7a61a34849"/>
  </p:sldIdLst>
  <p:sldSz cx="43891200" cy="3291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a96748c12648b8" /><Relationship Type="http://schemas.openxmlformats.org/officeDocument/2006/relationships/slideMaster" Target="/ppt/slideMasters/slideMaster1.xml" Id="Rd8c357471a3c406a" /><Relationship Type="http://schemas.openxmlformats.org/officeDocument/2006/relationships/notesMaster" Target="/ppt/notesMasters/notesMaster1.xml" Id="R1953748fe7074824" /><Relationship Type="http://schemas.openxmlformats.org/officeDocument/2006/relationships/presProps" Target="/ppt/presProps.xml" Id="R825e25cab53346ac" /><Relationship Type="http://schemas.openxmlformats.org/officeDocument/2006/relationships/tableStyles" Target="/ppt/tableStyles.xml" Id="R778facdf45d940ec" /><Relationship Type="http://schemas.openxmlformats.org/officeDocument/2006/relationships/slide" Target="/ppt/slides/slide1.xml" Id="Rf8987b7a61a348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b7bc401eec4a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c8aaae86b64bf3" /><Relationship Type="http://schemas.openxmlformats.org/officeDocument/2006/relationships/notesMaster" Target="/ppt/notesMasters/notesMaster1.xml" Id="R940f06b428934f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PostEx official template asset; CC BY 4.0</a:t>
            </a:r>
          </a:p>
          <a:p xmlns:a="http://schemas.openxmlformats.org/drawingml/2006/main">
            <a:r>
              <a:t>- No third-party logo or scientific figure is embedded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84fa7d12ae4d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3a48f73d7246c4" /><Relationship Type="http://schemas.openxmlformats.org/officeDocument/2006/relationships/slideLayout" Target="/ppt/slideLayouts/slideLayout1.xml" Id="Rd23c79ea39f640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3c79ea39f640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875ffb656489a" /><Relationship Type="http://schemas.openxmlformats.org/officeDocument/2006/relationships/notesSlide" Target="/ppt/notesSlides/notesSlide1.xml" Id="R8d64892b06a741e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header-band">
            <a:extLst xmlns:a="http://schemas.openxmlformats.org/drawingml/2006/main">
              <a:ext uri="{FF2B5EF4-FFF2-40B4-BE49-F238E27FC236}">
                <a16:creationId xmlns:a16="http://schemas.microsoft.com/office/drawing/2014/main" id="{E162C301-47B0-4A94-9305-2DCDCE68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91200" cy="538457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C546FEA7-6964-4B86-9EB3-E441D456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91200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0DE6A43A-6B57-4CC8-9016-468F656B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642007"/>
            <a:ext cx="30471861" cy="2381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36" b="1">
                <a:solidFill>
                  <a:srgbClr val="FFFFFF"/>
                </a:solidFill>
              </a:defRPr>
            </a:pPr>
            <a:r>
              <a:rPr sz="7536" b="1">
                <a:solidFill>
                  <a:srgbClr val="FFFFFF"/>
                </a:solidFill>
              </a:rPr>
              <a:t>Evidence-traceable bioinformatics poster title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53D3AE28-741C-40F6-B467-D2847051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60" y="3168616"/>
            <a:ext cx="30178862" cy="683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45" b="1">
                <a:solidFill>
                  <a:srgbClr val="FFFFFF"/>
                </a:solidFill>
              </a:defRPr>
            </a:pPr>
            <a:r>
              <a:rPr sz="2845" b="1">
                <a:solidFill>
                  <a:srgbClr val="FFFFFF"/>
                </a:solidFill>
              </a:rPr>
              <a:t>Author names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9A0DD524-CC5E-4B1C-BCA4-2139AC2C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60" y="3955593"/>
            <a:ext cx="30178862" cy="5384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30">
                <a:solidFill>
                  <a:srgbClr val="F6F8FA"/>
                </a:solidFill>
              </a:defRPr>
            </a:pPr>
            <a:r>
              <a:rPr sz="2230">
                <a:solidFill>
                  <a:srgbClr val="F6F8FA"/>
                </a:solidFill>
              </a:rPr>
              <a:t>Institutions and collaborating centers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A6297583-C6A7-4EC3-B6E7-862B7618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60" y="4607955"/>
            <a:ext cx="24904887" cy="434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99" b="1">
                <a:solidFill>
                  <a:srgbClr val="E8B44C"/>
                </a:solidFill>
              </a:defRPr>
            </a:pPr>
            <a:r>
              <a:rPr sz="1999" b="1">
                <a:solidFill>
                  <a:srgbClr val="E8B44C"/>
                </a:solidFill>
              </a:rPr>
              <a:t>Journal or conference · DOI</a:t>
            </a:r>
          </a:p>
        </p:txBody>
      </p:sp>
      <p:sp>
        <p:nvSpPr>
          <p:cNvPr id="7" name="logo-slot-institution-logo">
            <a:extLst xmlns:a="http://schemas.openxmlformats.org/drawingml/2006/main">
              <a:ext uri="{FF2B5EF4-FFF2-40B4-BE49-F238E27FC236}">
                <a16:creationId xmlns:a16="http://schemas.microsoft.com/office/drawing/2014/main" id="{B16B37EE-A788-4A56-AEBD-4A4405428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3517" y="600587"/>
            <a:ext cx="9571290" cy="1346144"/>
          </a:xfrm>
          <a:prstGeom xmlns:a="http://schemas.openxmlformats.org/drawingml/2006/main" prst="roundRect">
            <a:avLst>
              <a:gd name="adj" fmla="val 56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533">
            <a:solidFill>
              <a:srgbClr val="D9E2EC"/>
            </a:solidFill>
            <a:prstDash val="solid"/>
          </a:ln>
        </p:spPr>
      </p:sp>
      <p:sp>
        <p:nvSpPr>
          <p:cNvPr id="8" name="logo-placeholder-institution-logo">
            <a:extLst xmlns:a="http://schemas.openxmlformats.org/drawingml/2006/main">
              <a:ext uri="{FF2B5EF4-FFF2-40B4-BE49-F238E27FC236}">
                <a16:creationId xmlns:a16="http://schemas.microsoft.com/office/drawing/2014/main" id="{67A38E06-369B-4C83-802D-FAE3E218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30716" y="994076"/>
            <a:ext cx="9336891" cy="5384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76" b="1">
                <a:solidFill>
                  <a:srgbClr val="0F5F73"/>
                </a:solidFill>
              </a:defRPr>
            </a:pPr>
            <a:r>
              <a:rPr sz="2076" b="1">
                <a:solidFill>
                  <a:srgbClr val="0F5F73"/>
                </a:solidFill>
              </a:rPr>
              <a:t>Institution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DAF86BDE-F04A-45DC-9DFF-36612190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3517" y="2174540"/>
            <a:ext cx="9571290" cy="2485189"/>
          </a:xfrm>
          <a:prstGeom xmlns:a="http://schemas.openxmlformats.org/drawingml/2006/main" prst="roundRect">
            <a:avLst>
              <a:gd name="adj" fmla="val 61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E5E383CC-83CD-4A6C-9C82-2D5D1DDF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7180" y="2485189"/>
            <a:ext cx="2539322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0F5F73"/>
                </a:solidFill>
              </a:defRPr>
            </a:pPr>
            <a:r>
              <a:rPr sz="5229" b="1">
                <a:solidFill>
                  <a:srgbClr val="0F5F73"/>
                </a:solidFill>
              </a:rPr>
              <a:t>N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12A70181-82BA-416B-B8BD-DDB8F0CF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7180" y="3292875"/>
            <a:ext cx="2539322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102A43"/>
                </a:solidFill>
              </a:defRPr>
            </a:pPr>
            <a:r>
              <a:rPr sz="2384" b="1">
                <a:solidFill>
                  <a:srgbClr val="102A43"/>
                </a:solidFill>
              </a:rPr>
              <a:t>primary observations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43960DF2-5D36-49BF-AFBC-1320CB6D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27167" y="2485189"/>
            <a:ext cx="2539322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2C8C99"/>
                </a:solidFill>
              </a:defRPr>
            </a:pPr>
            <a:r>
              <a:rPr sz="5229" b="1">
                <a:solidFill>
                  <a:srgbClr val="2C8C99"/>
                </a:solidFill>
              </a:rPr>
              <a:t>N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6C67439A-7807-4549-AE6C-671920C6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27167" y="3292875"/>
            <a:ext cx="2539322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102A43"/>
                </a:solidFill>
              </a:defRPr>
            </a:pPr>
            <a:r>
              <a:rPr sz="2384" b="1">
                <a:solidFill>
                  <a:srgbClr val="102A43"/>
                </a:solidFill>
              </a:rPr>
              <a:t>analysis samples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91FBF501-6417-44FC-872A-52FBE2FC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7154" y="2485189"/>
            <a:ext cx="2539322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E8B44C"/>
                </a:solidFill>
              </a:defRPr>
            </a:pPr>
            <a:r>
              <a:rPr sz="5229" b="1">
                <a:solidFill>
                  <a:srgbClr val="E8B44C"/>
                </a:solidFill>
              </a:rPr>
              <a:t>N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1C15A4F4-B019-4D23-B61D-115BA3DA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7154" y="3292875"/>
            <a:ext cx="2539322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102A43"/>
                </a:solidFill>
              </a:defRPr>
            </a:pPr>
            <a:r>
              <a:rPr sz="2384" b="1">
                <a:solidFill>
                  <a:srgbClr val="102A43"/>
                </a:solidFill>
              </a:rPr>
              <a:t>validation units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03E07F7B-004B-46EE-920D-376881A7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6109423"/>
            <a:ext cx="1191527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0F5F73"/>
                </a:solidFill>
              </a:defRPr>
            </a:pPr>
            <a:r>
              <a:rPr sz="3691" b="1">
                <a:solidFill>
                  <a:srgbClr val="0F5F73"/>
                </a:solidFill>
              </a:rPr>
              <a:t>Biological question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7433157A-C14F-4EEB-A915-89C88ABE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6803205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507DEAF6-C85B-47A3-A1EE-2DE8CD8A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7062079"/>
            <a:ext cx="11915279" cy="2278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State the scientific question in two concise sentences.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7207C035-F106-480A-A67C-DCAA4201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9443718"/>
            <a:ext cx="11915279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2C8C99"/>
                </a:solidFill>
              </a:defRPr>
            </a:pPr>
            <a:r>
              <a:rPr sz="1923">
                <a:solidFill>
                  <a:srgbClr val="2C8C99"/>
                </a:solidFill>
              </a:rPr>
              <a:t>Evidence: source page or section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F97B645C-424A-4148-91E3-66DC0D34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0044306"/>
            <a:ext cx="1191527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0F5F73"/>
                </a:solidFill>
              </a:defRPr>
            </a:pPr>
            <a:r>
              <a:rPr sz="3691" b="1">
                <a:solidFill>
                  <a:srgbClr val="0F5F73"/>
                </a:solidFill>
              </a:rPr>
              <a:t>Analysis pipeline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119BE6BA-BC6A-40C2-9F5C-A3F0EC14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0738088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61A61BB7-D185-4D06-B874-61977573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1017671"/>
            <a:ext cx="605531" cy="642007"/>
          </a:xfrm>
          <a:prstGeom xmlns:a="http://schemas.openxmlformats.org/drawingml/2006/main" prst="roundRect">
            <a:avLst>
              <a:gd name="adj" fmla="val 12584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08A902C8-3556-4D4B-B79B-6360C3BD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1090156"/>
            <a:ext cx="605531" cy="476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84" b="1">
                <a:solidFill>
                  <a:srgbClr val="102A43"/>
                </a:solidFill>
              </a:defRPr>
            </a:pPr>
            <a:r>
              <a:rPr sz="2384" b="1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F686BBD3-604B-40C6-A379-A209715E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190" y="11059091"/>
            <a:ext cx="11114416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Input biomarkers or features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F046A74D-95A1-4603-AAC3-6A763243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1846068"/>
            <a:ext cx="605531" cy="642007"/>
          </a:xfrm>
          <a:prstGeom xmlns:a="http://schemas.openxmlformats.org/drawingml/2006/main" prst="roundRect">
            <a:avLst>
              <a:gd name="adj" fmla="val 12584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ADF0BF7F-945B-4078-BBE5-A72518BF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1918553"/>
            <a:ext cx="605531" cy="476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84" b="1">
                <a:solidFill>
                  <a:srgbClr val="102A43"/>
                </a:solidFill>
              </a:defRPr>
            </a:pPr>
            <a:r>
              <a:rPr sz="2384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397370B1-92CD-444C-A38C-002831C3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190" y="11887488"/>
            <a:ext cx="11114416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Feature selection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A75F54B1-35A1-47F4-80E9-58A3F119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2674464"/>
            <a:ext cx="605531" cy="642007"/>
          </a:xfrm>
          <a:prstGeom xmlns:a="http://schemas.openxmlformats.org/drawingml/2006/main" prst="roundRect">
            <a:avLst>
              <a:gd name="adj" fmla="val 12584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DB07A51A-995C-4E7E-88ED-661F2788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2746949"/>
            <a:ext cx="605531" cy="476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84" b="1">
                <a:solidFill>
                  <a:srgbClr val="102A43"/>
                </a:solidFill>
              </a:defRPr>
            </a:pPr>
            <a:r>
              <a:rPr sz="2384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F653ABFE-3214-487A-9E24-B55F32DF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190" y="12715884"/>
            <a:ext cx="11114416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Model construction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1F72E918-DC14-4337-8C03-C5E115C8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3502861"/>
            <a:ext cx="605531" cy="642007"/>
          </a:xfrm>
          <a:prstGeom xmlns:a="http://schemas.openxmlformats.org/drawingml/2006/main" prst="roundRect">
            <a:avLst>
              <a:gd name="adj" fmla="val 12584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9F930837-AE52-4E79-9BD8-406CFF50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3575345"/>
            <a:ext cx="605531" cy="476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84" b="1">
                <a:solidFill>
                  <a:srgbClr val="102A43"/>
                </a:solidFill>
              </a:defRPr>
            </a:pPr>
            <a:r>
              <a:rPr sz="2384" b="1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84835768-1720-4548-B546-605F8F3C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190" y="13544280"/>
            <a:ext cx="11114416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Independent validation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B6D34E2B-3766-420D-94DE-56965A5F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4600486"/>
            <a:ext cx="11915279" cy="3727784"/>
          </a:xfrm>
          <a:prstGeom xmlns:a="http://schemas.openxmlformats.org/drawingml/2006/main" prst="roundRect">
            <a:avLst>
              <a:gd name="adj" fmla="val 30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9E2EC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16039E8A-4749-4209-834F-977338DB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793" y="14911134"/>
            <a:ext cx="4492646" cy="4141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30" b="1">
                <a:solidFill>
                  <a:srgbClr val="0F5F73"/>
                </a:solidFill>
              </a:defRPr>
            </a:pPr>
            <a:r>
              <a:rPr sz="2230" b="1">
                <a:solidFill>
                  <a:srgbClr val="0F5F73"/>
                </a:solidFill>
              </a:rPr>
              <a:t>DATA FOUNDATION</a:t>
            </a:r>
          </a:p>
        </p:txBody>
      </p:sp>
      <p:sp>
        <p:nvSpPr>
          <p:cNvPr id="36" name="datasets">
            <a:extLst xmlns:a="http://schemas.openxmlformats.org/drawingml/2006/main">
              <a:ext uri="{FF2B5EF4-FFF2-40B4-BE49-F238E27FC236}">
                <a16:creationId xmlns:a16="http://schemas.microsoft.com/office/drawing/2014/main" id="{E92BC317-9AFE-411F-BFD2-2AE61C83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793" y="15480657"/>
            <a:ext cx="11368348" cy="22366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Discovery set</a:t>
            </a:r>
          </a:p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Primary analysis</a:t>
            </a:r>
          </a:p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Validation set</a:t>
            </a:r>
          </a:p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Sensitivity analysis</a:t>
            </a:r>
          </a:p>
        </p:txBody>
      </p:sp>
      <p:sp>
        <p:nvSpPr>
          <p:cNvPr id="37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B003DC99-F20E-4AD3-B3DE-049D9290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793" y="17841586"/>
            <a:ext cx="11368348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2C8C99"/>
                </a:solidFill>
              </a:defRPr>
            </a:pPr>
            <a:r>
              <a:rPr sz="1923">
                <a:solidFill>
                  <a:srgbClr val="2C8C99"/>
                </a:solidFill>
              </a:rPr>
              <a:t>Evidence: methods and dataset table</a:t>
            </a:r>
          </a:p>
        </p:txBody>
      </p:sp>
      <p:sp>
        <p:nvSpPr>
          <p:cNvPr id="38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70D75C5A-A8BF-4DAC-8A03-8417A04E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8897792"/>
            <a:ext cx="1191527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0F5F73"/>
                </a:solidFill>
              </a:defRPr>
            </a:pPr>
            <a:r>
              <a:rPr sz="3691" b="1">
                <a:solidFill>
                  <a:srgbClr val="0F5F73"/>
                </a:solidFill>
              </a:rPr>
              <a:t>From features to signature</a:t>
            </a:r>
          </a:p>
        </p:txBody>
      </p:sp>
      <p:sp>
        <p:nvSpPr>
          <p:cNvPr id="39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E8B29CCE-CCA2-45C4-B4F6-0EA54579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9591574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5771B58C-ED7A-4A0F-8FE9-D7BD8DD2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9829738"/>
            <a:ext cx="11915279" cy="10769153"/>
          </a:xfrm>
          <a:prstGeom xmlns:a="http://schemas.openxmlformats.org/drawingml/2006/main" prst="roundRect">
            <a:avLst>
              <a:gd name="adj" fmla="val 1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9E2EC"/>
            </a:solidFill>
            <a:prstDash val="solid"/>
          </a:ln>
        </p:spPr>
      </p:sp>
      <p:sp>
        <p:nvSpPr>
          <p:cNvPr id="41" name="figure-one-placeholder">
            <a:extLst xmlns:a="http://schemas.openxmlformats.org/drawingml/2006/main">
              <a:ext uri="{FF2B5EF4-FFF2-40B4-BE49-F238E27FC236}">
                <a16:creationId xmlns:a16="http://schemas.microsoft.com/office/drawing/2014/main" id="{5171247B-0BED-4535-AC89-7439BD63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660" y="20036837"/>
            <a:ext cx="11524614" cy="9754367"/>
          </a:xfrm>
          <a:prstGeom xmlns:a="http://schemas.openxmlformats.org/drawingml/2006/main" prst="roundRect">
            <a:avLst>
              <a:gd name="adj" fmla="val 781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533">
            <a:solidFill>
              <a:srgbClr val="D9E2EC"/>
            </a:solidFill>
            <a:prstDash val="solid"/>
          </a:ln>
        </p:spPr>
      </p:sp>
      <p:sp>
        <p:nvSpPr>
          <p:cNvPr id="42" name="figure-one-placeholder-label">
            <a:extLst xmlns:a="http://schemas.openxmlformats.org/drawingml/2006/main">
              <a:ext uri="{FF2B5EF4-FFF2-40B4-BE49-F238E27FC236}">
                <a16:creationId xmlns:a16="http://schemas.microsoft.com/office/drawing/2014/main" id="{160E0A22-DCA3-4736-8881-D20D5A6D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324" y="24593017"/>
            <a:ext cx="10743284" cy="9319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68" b="1">
                <a:solidFill>
                  <a:srgbClr val="2C8C99"/>
                </a:solidFill>
              </a:defRPr>
            </a:pPr>
            <a:r>
              <a:rPr sz="2768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BB63F5D4-EAD9-431B-9537-66C7A47D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726" y="29853334"/>
            <a:ext cx="11446481" cy="341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07" b="1">
                <a:solidFill>
                  <a:srgbClr val="102A43"/>
                </a:solidFill>
              </a:defRPr>
            </a:pPr>
            <a:r>
              <a:rPr sz="2307" b="1">
                <a:solidFill>
                  <a:srgbClr val="102A43"/>
                </a:solidFill>
              </a:rPr>
              <a:t>Scientific Figure caption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8EE31973-493E-4151-A46C-08935FF4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726" y="30205402"/>
            <a:ext cx="11446481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2C8C99"/>
                </a:solidFill>
              </a:defRPr>
            </a:pPr>
            <a:r>
              <a:rPr sz="1923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EF88A6EA-D726-4B85-892D-A99DB50D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6109423"/>
            <a:ext cx="14015103" cy="2744063"/>
          </a:xfrm>
          <a:prstGeom xmlns:a="http://schemas.openxmlformats.org/drawingml/2006/main" prst="roundRect">
            <a:avLst>
              <a:gd name="adj" fmla="val 5554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2A355975-34E4-4F20-9CD2-CBD1CF2D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98335" y="6471846"/>
            <a:ext cx="13155640" cy="10354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230" b="1">
                <a:solidFill>
                  <a:srgbClr val="102A43"/>
                </a:solidFill>
              </a:defRPr>
            </a:pPr>
            <a:r>
              <a:rPr sz="4230" b="1">
                <a:solidFill>
                  <a:srgbClr val="102A43"/>
                </a:solidFill>
              </a:rPr>
              <a:t>Place the single most important result here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4908E5EA-6550-49B5-AA88-7ADBCCF2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2267" y="7807636"/>
            <a:ext cx="12647776" cy="497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61" b="1">
                <a:solidFill>
                  <a:srgbClr val="102A43"/>
                </a:solidFill>
              </a:defRPr>
            </a:pPr>
            <a:r>
              <a:rPr sz="2461" b="1">
                <a:solidFill>
                  <a:srgbClr val="102A43"/>
                </a:solidFill>
              </a:rPr>
              <a:t>Explain what the result means for the audience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9519E93C-85E7-4820-8B79-976FFEDC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17868" y="8387513"/>
            <a:ext cx="13116574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2C8C99"/>
                </a:solidFill>
              </a:defRPr>
            </a:pPr>
            <a:r>
              <a:rPr sz="1923">
                <a:solidFill>
                  <a:srgbClr val="2C8C99"/>
                </a:solidFill>
              </a:rPr>
              <a:t>Evidence: result section and figure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7C44466E-020E-4894-BA4D-CDDEF792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9371234"/>
            <a:ext cx="14015103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0F5F73"/>
                </a:solidFill>
              </a:defRPr>
            </a:pPr>
            <a:r>
              <a:rPr sz="3691" b="1">
                <a:solidFill>
                  <a:srgbClr val="0F5F73"/>
                </a:solidFill>
              </a:rPr>
              <a:t>Primary result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0612D8DA-7E47-41BA-B120-C0260AD2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10065016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3E9C3E40-DFEF-4510-AB0E-F6575BA7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10303180"/>
            <a:ext cx="14015103" cy="13823864"/>
          </a:xfrm>
          <a:prstGeom xmlns:a="http://schemas.openxmlformats.org/drawingml/2006/main" prst="roundRect">
            <a:avLst>
              <a:gd name="adj" fmla="val 8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9E2EC"/>
            </a:solidFill>
            <a:prstDash val="solid"/>
          </a:ln>
        </p:spPr>
      </p:sp>
      <p:sp>
        <p:nvSpPr>
          <p:cNvPr id="52" name="figure-two-placeholder">
            <a:extLst xmlns:a="http://schemas.openxmlformats.org/drawingml/2006/main">
              <a:ext uri="{FF2B5EF4-FFF2-40B4-BE49-F238E27FC236}">
                <a16:creationId xmlns:a16="http://schemas.microsoft.com/office/drawing/2014/main" id="{0886966F-144C-40E6-9B46-BACBA69C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3936" y="10510279"/>
            <a:ext cx="13624438" cy="12809079"/>
          </a:xfrm>
          <a:prstGeom xmlns:a="http://schemas.openxmlformats.org/drawingml/2006/main" prst="roundRect">
            <a:avLst>
              <a:gd name="adj" fmla="val 595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533">
            <a:solidFill>
              <a:srgbClr val="D9E2EC"/>
            </a:solidFill>
            <a:prstDash val="solid"/>
          </a:ln>
        </p:spPr>
      </p:sp>
      <p:sp>
        <p:nvSpPr>
          <p:cNvPr id="53" name="figure-two-placeholder-label">
            <a:extLst xmlns:a="http://schemas.openxmlformats.org/drawingml/2006/main">
              <a:ext uri="{FF2B5EF4-FFF2-40B4-BE49-F238E27FC236}">
                <a16:creationId xmlns:a16="http://schemas.microsoft.com/office/drawing/2014/main" id="{78180973-59B1-4F9A-999D-8A125DD8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4601" y="16593814"/>
            <a:ext cx="12843108" cy="9319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68" b="1">
                <a:solidFill>
                  <a:srgbClr val="2C8C99"/>
                </a:solidFill>
              </a:defRPr>
            </a:pPr>
            <a:r>
              <a:rPr sz="2768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54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2DD73C9C-FDCC-4730-9EB7-55B5DEC3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3002" y="23381487"/>
            <a:ext cx="13546305" cy="341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07" b="1">
                <a:solidFill>
                  <a:srgbClr val="102A43"/>
                </a:solidFill>
              </a:defRPr>
            </a:pPr>
            <a:r>
              <a:rPr sz="2307" b="1">
                <a:solidFill>
                  <a:srgbClr val="102A43"/>
                </a:solidFill>
              </a:rPr>
              <a:t>Scientific Figure caption</a:t>
            </a:r>
          </a:p>
        </p:txBody>
      </p:sp>
      <p:sp>
        <p:nvSpPr>
          <p:cNvPr id="55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A845D3B3-69BE-431C-905F-B6F3CF1D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3002" y="23733555"/>
            <a:ext cx="13546305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2C8C99"/>
                </a:solidFill>
              </a:defRPr>
            </a:pPr>
            <a:r>
              <a:rPr sz="1923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56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4AF246B9-C75D-43E7-8B53-9C1BB719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24644791"/>
            <a:ext cx="14015103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0F5F73"/>
                </a:solidFill>
              </a:defRPr>
            </a:pPr>
            <a:r>
              <a:rPr sz="3691" b="1">
                <a:solidFill>
                  <a:srgbClr val="0F5F73"/>
                </a:solidFill>
              </a:rPr>
              <a:t>Robustness and validation</a:t>
            </a:r>
          </a:p>
        </p:txBody>
      </p:sp>
      <p:sp>
        <p:nvSpPr>
          <p:cNvPr id="57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337FAD41-3E2C-4DA1-90B9-2BD342E9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25338573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C4D9CDFF-0717-4401-8A6E-2D4EF6AE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25576737"/>
            <a:ext cx="14015103" cy="4400856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9E2EC"/>
            </a:solidFill>
            <a:prstDash val="solid"/>
          </a:ln>
        </p:spPr>
      </p:sp>
      <p:sp>
        <p:nvSpPr>
          <p:cNvPr id="59" name="validation">
            <a:extLst xmlns:a="http://schemas.openxmlformats.org/drawingml/2006/main">
              <a:ext uri="{FF2B5EF4-FFF2-40B4-BE49-F238E27FC236}">
                <a16:creationId xmlns:a16="http://schemas.microsoft.com/office/drawing/2014/main" id="{C9AE7C51-18B5-444E-9A07-912E05C6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0202" y="25918451"/>
            <a:ext cx="13311906" cy="321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• Primary adjusted result</a:t>
            </a:r>
          </a:p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• External validation</a:t>
            </a:r>
          </a:p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• Negative findings</a:t>
            </a:r>
          </a:p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• Interpretation boundary</a:t>
            </a:r>
          </a:p>
        </p:txBody>
      </p:sp>
      <p:sp>
        <p:nvSpPr>
          <p:cNvPr id="60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0C34941D-CF6A-4B40-8A16-32C0DE53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0202" y="29480555"/>
            <a:ext cx="13311906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2C8C99"/>
                </a:solidFill>
              </a:defRPr>
            </a:pPr>
            <a:r>
              <a:rPr sz="1923">
                <a:solidFill>
                  <a:srgbClr val="2C8C99"/>
                </a:solidFill>
              </a:rPr>
              <a:t>Evidence: result pages</a:t>
            </a:r>
          </a:p>
        </p:txBody>
      </p:sp>
      <p:sp>
        <p:nvSpPr>
          <p:cNvPr id="61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A470A55C-0780-4CE9-B361-E0C6A9EB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30340016"/>
            <a:ext cx="14015103" cy="1190820"/>
          </a:xfrm>
          <a:prstGeom xmlns:a="http://schemas.openxmlformats.org/drawingml/2006/main" prst="roundRect">
            <a:avLst>
              <a:gd name="adj" fmla="val 9598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26A91053-3898-40EB-88D9-3BFF7779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00669" y="30650665"/>
            <a:ext cx="13350972" cy="5384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615" b="1">
                <a:solidFill>
                  <a:srgbClr val="FFFFFF"/>
                </a:solidFill>
              </a:defRPr>
            </a:pPr>
            <a:r>
              <a:rPr sz="2615" b="1">
                <a:solidFill>
                  <a:srgbClr val="FFFFFF"/>
                </a:solidFill>
              </a:rPr>
              <a:t>Primary estimate · uncertainty · validation</a:t>
            </a:r>
          </a:p>
        </p:txBody>
      </p:sp>
      <p:sp>
        <p:nvSpPr>
          <p:cNvPr id="63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2CBABB0C-82B1-434C-B307-3BDE142C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6109423"/>
            <a:ext cx="1405416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0F5F73"/>
                </a:solidFill>
              </a:defRPr>
            </a:pPr>
            <a:r>
              <a:rPr sz="3691" b="1">
                <a:solidFill>
                  <a:srgbClr val="0F5F73"/>
                </a:solidFill>
              </a:rPr>
              <a:t>Biological interpretation</a:t>
            </a:r>
          </a:p>
        </p:txBody>
      </p:sp>
      <p:sp>
        <p:nvSpPr>
          <p:cNvPr id="64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FC53A03E-28C4-4D78-AE6A-C5C1A52B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6803205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767479BA-76D4-4E54-918A-65343A65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7144919"/>
            <a:ext cx="4101981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0F5F73"/>
                </a:solidFill>
              </a:defRPr>
            </a:pPr>
            <a:r>
              <a:rPr sz="5229" b="1">
                <a:solidFill>
                  <a:srgbClr val="0F5F73"/>
                </a:solidFill>
              </a:rPr>
              <a:t>Effect</a:t>
            </a:r>
          </a:p>
        </p:txBody>
      </p:sp>
      <p:sp>
        <p:nvSpPr>
          <p:cNvPr id="66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D433A23F-27B0-4207-B616-63BB9976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7952605"/>
            <a:ext cx="4101981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102A43"/>
                </a:solidFill>
              </a:defRPr>
            </a:pPr>
            <a:r>
              <a:rPr sz="2384" b="1">
                <a:solidFill>
                  <a:srgbClr val="102A43"/>
                </a:solidFill>
              </a:rPr>
              <a:t>primary estimate</a:t>
            </a:r>
          </a:p>
        </p:txBody>
      </p:sp>
      <p:sp>
        <p:nvSpPr>
          <p:cNvPr id="67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4D13A884-41F1-40AB-AABD-67380254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8849" y="7144919"/>
            <a:ext cx="4101981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2C8C99"/>
                </a:solidFill>
              </a:defRPr>
            </a:pPr>
            <a:r>
              <a:rPr sz="5229" b="1">
                <a:solidFill>
                  <a:srgbClr val="2C8C99"/>
                </a:solidFill>
              </a:rPr>
              <a:t>95% CI</a:t>
            </a:r>
          </a:p>
        </p:txBody>
      </p:sp>
      <p:sp>
        <p:nvSpPr>
          <p:cNvPr id="68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DB77922E-86BC-4739-BAFA-9C85C99E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8849" y="7952605"/>
            <a:ext cx="4101981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102A43"/>
                </a:solidFill>
              </a:defRPr>
            </a:pPr>
            <a:r>
              <a:rPr sz="2384" b="1">
                <a:solidFill>
                  <a:srgbClr val="102A43"/>
                </a:solidFill>
              </a:rPr>
              <a:t>uncertainty</a:t>
            </a:r>
          </a:p>
        </p:txBody>
      </p:sp>
      <p:sp>
        <p:nvSpPr>
          <p:cNvPr id="69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6BCBB224-0D84-4E1F-9FFD-674D51B6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7995" y="7144919"/>
            <a:ext cx="4101981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E8B44C"/>
                </a:solidFill>
              </a:defRPr>
            </a:pPr>
            <a:r>
              <a:rPr sz="5229" b="1">
                <a:solidFill>
                  <a:srgbClr val="E8B44C"/>
                </a:solidFill>
              </a:rPr>
              <a:t>P</a:t>
            </a:r>
          </a:p>
        </p:txBody>
      </p:sp>
      <p:sp>
        <p:nvSpPr>
          <p:cNvPr id="70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B62BF0C9-F3DC-4725-A7C2-A9E67804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7995" y="7952605"/>
            <a:ext cx="4101981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102A43"/>
                </a:solidFill>
              </a:defRPr>
            </a:pPr>
            <a:r>
              <a:rPr sz="2384" b="1">
                <a:solidFill>
                  <a:srgbClr val="102A43"/>
                </a:solidFill>
              </a:rPr>
              <a:t>robustness</a:t>
            </a:r>
          </a:p>
        </p:txBody>
      </p:sp>
      <p:sp>
        <p:nvSpPr>
          <p:cNvPr id="71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B52AD81D-18CA-41A5-B086-B8A6CF51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9215909"/>
            <a:ext cx="14054169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2C8C99"/>
                </a:solidFill>
              </a:defRPr>
            </a:pPr>
            <a:r>
              <a:rPr sz="1923">
                <a:solidFill>
                  <a:srgbClr val="2C8C99"/>
                </a:solidFill>
              </a:rPr>
              <a:t>Evidence: supporting analysis</a:t>
            </a:r>
          </a:p>
        </p:txBody>
      </p:sp>
      <p:sp>
        <p:nvSpPr>
          <p:cNvPr id="72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4CF74A15-869F-4F99-BAE7-7FB0CC20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9992531"/>
            <a:ext cx="14054169" cy="7455567"/>
          </a:xfrm>
          <a:prstGeom xmlns:a="http://schemas.openxmlformats.org/drawingml/2006/main" prst="roundRect">
            <a:avLst>
              <a:gd name="adj" fmla="val 15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9E2EC"/>
            </a:solidFill>
            <a:prstDash val="solid"/>
          </a:ln>
        </p:spPr>
      </p:sp>
      <p:sp>
        <p:nvSpPr>
          <p:cNvPr id="73" name="figure-three-placeholder">
            <a:extLst xmlns:a="http://schemas.openxmlformats.org/drawingml/2006/main">
              <a:ext uri="{FF2B5EF4-FFF2-40B4-BE49-F238E27FC236}">
                <a16:creationId xmlns:a16="http://schemas.microsoft.com/office/drawing/2014/main" id="{37920CAA-651F-4E01-98E9-C5193A04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5036" y="10199630"/>
            <a:ext cx="13663504" cy="6440782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533">
            <a:solidFill>
              <a:srgbClr val="D9E2EC"/>
            </a:solidFill>
            <a:prstDash val="solid"/>
          </a:ln>
        </p:spPr>
      </p:sp>
      <p:sp>
        <p:nvSpPr>
          <p:cNvPr id="74" name="figure-three-placeholder-label">
            <a:extLst xmlns:a="http://schemas.openxmlformats.org/drawingml/2006/main">
              <a:ext uri="{FF2B5EF4-FFF2-40B4-BE49-F238E27FC236}">
                <a16:creationId xmlns:a16="http://schemas.microsoft.com/office/drawing/2014/main" id="{65D6F4D8-473E-40C0-85F1-CFF425CC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5701" y="13099017"/>
            <a:ext cx="12882175" cy="9319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68" b="1">
                <a:solidFill>
                  <a:srgbClr val="2C8C99"/>
                </a:solidFill>
              </a:defRPr>
            </a:pPr>
            <a:r>
              <a:rPr sz="2768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75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ABB43541-A75F-47B5-B0FB-8D353B1F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4103" y="16702541"/>
            <a:ext cx="13585371" cy="341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07" b="1">
                <a:solidFill>
                  <a:srgbClr val="102A43"/>
                </a:solidFill>
              </a:defRPr>
            </a:pPr>
            <a:r>
              <a:rPr sz="2307" b="1">
                <a:solidFill>
                  <a:srgbClr val="102A43"/>
                </a:solidFill>
              </a:rPr>
              <a:t>Scientific Figure caption</a:t>
            </a:r>
          </a:p>
        </p:txBody>
      </p:sp>
      <p:sp>
        <p:nvSpPr>
          <p:cNvPr id="76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B49AB330-2906-4BCE-81C8-21FF9CED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4103" y="17054610"/>
            <a:ext cx="13585371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2C8C99"/>
                </a:solidFill>
              </a:defRPr>
            </a:pPr>
            <a:r>
              <a:rPr sz="1923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77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12CF690D-D34A-4901-9A8C-FCED18B6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17965846"/>
            <a:ext cx="1405416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0F5F73"/>
                </a:solidFill>
              </a:defRPr>
            </a:pPr>
            <a:r>
              <a:rPr sz="3691" b="1">
                <a:solidFill>
                  <a:srgbClr val="0F5F73"/>
                </a:solidFill>
              </a:rPr>
              <a:t>Orthogonal validation</a:t>
            </a:r>
          </a:p>
        </p:txBody>
      </p:sp>
      <p:sp>
        <p:nvSpPr>
          <p:cNvPr id="78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DF59438B-12E0-4E05-AFE6-809349F5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18659628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1D242206-0F04-4838-9D3A-7A40ACE0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18897792"/>
            <a:ext cx="14054169" cy="7766216"/>
          </a:xfrm>
          <a:prstGeom xmlns:a="http://schemas.openxmlformats.org/drawingml/2006/main" prst="roundRect">
            <a:avLst>
              <a:gd name="adj" fmla="val 14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9E2EC"/>
            </a:solidFill>
            <a:prstDash val="solid"/>
          </a:ln>
        </p:spPr>
      </p:sp>
      <p:sp>
        <p:nvSpPr>
          <p:cNvPr id="80" name="figure-four-placeholder">
            <a:extLst xmlns:a="http://schemas.openxmlformats.org/drawingml/2006/main">
              <a:ext uri="{FF2B5EF4-FFF2-40B4-BE49-F238E27FC236}">
                <a16:creationId xmlns:a16="http://schemas.microsoft.com/office/drawing/2014/main" id="{6C87E0FB-3BC4-4A22-9A91-22C28369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5036" y="19104891"/>
            <a:ext cx="13663504" cy="6751430"/>
          </a:xfrm>
          <a:prstGeom xmlns:a="http://schemas.openxmlformats.org/drawingml/2006/main" prst="roundRect">
            <a:avLst>
              <a:gd name="adj" fmla="val 1129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533">
            <a:solidFill>
              <a:srgbClr val="D9E2EC"/>
            </a:solidFill>
            <a:prstDash val="solid"/>
          </a:ln>
        </p:spPr>
      </p:sp>
      <p:sp>
        <p:nvSpPr>
          <p:cNvPr id="81" name="figure-four-placeholder-label">
            <a:extLst xmlns:a="http://schemas.openxmlformats.org/drawingml/2006/main">
              <a:ext uri="{FF2B5EF4-FFF2-40B4-BE49-F238E27FC236}">
                <a16:creationId xmlns:a16="http://schemas.microsoft.com/office/drawing/2014/main" id="{A99B4402-B10D-4AE4-80F3-7EFF5793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5701" y="22159602"/>
            <a:ext cx="12882175" cy="9319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68" b="1">
                <a:solidFill>
                  <a:srgbClr val="2C8C99"/>
                </a:solidFill>
              </a:defRPr>
            </a:pPr>
            <a:r>
              <a:rPr sz="2768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82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0A172FEF-F199-4DCD-B8AE-8D3D8D3F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4103" y="25918451"/>
            <a:ext cx="13585371" cy="341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07" b="1">
                <a:solidFill>
                  <a:srgbClr val="102A43"/>
                </a:solidFill>
              </a:defRPr>
            </a:pPr>
            <a:r>
              <a:rPr sz="2307" b="1">
                <a:solidFill>
                  <a:srgbClr val="102A43"/>
                </a:solidFill>
              </a:rPr>
              <a:t>Scientific Figure caption</a:t>
            </a:r>
          </a:p>
        </p:txBody>
      </p:sp>
      <p:sp>
        <p:nvSpPr>
          <p:cNvPr id="83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211E7CDA-80BF-466A-922E-A2456BBD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4103" y="26270519"/>
            <a:ext cx="13585371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2C8C99"/>
                </a:solidFill>
              </a:defRPr>
            </a:pPr>
            <a:r>
              <a:rPr sz="1923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84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7B3D05BB-D7B2-4346-9CF8-97851434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27181755"/>
            <a:ext cx="1405416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0F5F73"/>
                </a:solidFill>
              </a:defRPr>
            </a:pPr>
            <a:r>
              <a:rPr sz="3691" b="1">
                <a:solidFill>
                  <a:srgbClr val="0F5F73"/>
                </a:solidFill>
              </a:rPr>
              <a:t>Conclusion</a:t>
            </a:r>
          </a:p>
        </p:txBody>
      </p:sp>
      <p:sp>
        <p:nvSpPr>
          <p:cNvPr id="85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AF9C1C59-A97D-4BE1-A858-B3F2FA7C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27875537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80A87FB7-7B5A-4BC6-BC67-8973565F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28113701"/>
            <a:ext cx="14054169" cy="3417135"/>
          </a:xfrm>
          <a:prstGeom xmlns:a="http://schemas.openxmlformats.org/drawingml/2006/main" prst="roundRect">
            <a:avLst>
              <a:gd name="adj" fmla="val 3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9E2EC"/>
            </a:solidFill>
            <a:prstDash val="solid"/>
          </a:ln>
        </p:spPr>
      </p:sp>
      <p:sp>
        <p:nvSpPr>
          <p:cNvPr id="87" name="conclusion">
            <a:extLst xmlns:a="http://schemas.openxmlformats.org/drawingml/2006/main">
              <a:ext uri="{FF2B5EF4-FFF2-40B4-BE49-F238E27FC236}">
                <a16:creationId xmlns:a16="http://schemas.microsoft.com/office/drawing/2014/main" id="{4AC729CD-1C89-4497-963D-F3308962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1769" y="28455415"/>
            <a:ext cx="13390039" cy="2381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102A43"/>
                </a:solidFill>
              </a:defRPr>
            </a:pPr>
            <a:r>
              <a:rPr sz="2922">
                <a:solidFill>
                  <a:srgbClr val="102A43"/>
                </a:solidFill>
              </a:rPr>
              <a:t>State the supported conclusion and retain the most important limitation.</a:t>
            </a:r>
          </a:p>
        </p:txBody>
      </p:sp>
      <p:sp>
        <p:nvSpPr>
          <p:cNvPr id="88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5FE8EB09-9DA2-4CFA-B79E-7B37D33C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1769" y="30982024"/>
            <a:ext cx="13390039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2C8C99"/>
                </a:solidFill>
              </a:defRPr>
            </a:pPr>
            <a:r>
              <a:rPr sz="1923">
                <a:solidFill>
                  <a:srgbClr val="2C8C99"/>
                </a:solidFill>
              </a:rPr>
              <a:t>Evidence: discussion and conclusion</a:t>
            </a:r>
          </a:p>
        </p:txBody>
      </p:sp>
      <p:sp>
        <p:nvSpPr>
          <p:cNvPr id="89" name="footer-band">
            <a:extLst xmlns:a="http://schemas.openxmlformats.org/drawingml/2006/main">
              <a:ext uri="{FF2B5EF4-FFF2-40B4-BE49-F238E27FC236}">
                <a16:creationId xmlns:a16="http://schemas.microsoft.com/office/drawing/2014/main" id="{F59322CF-354B-4236-87F1-4A63F9AA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893260"/>
            <a:ext cx="43891200" cy="102514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1225F07B-B60D-464E-BA0F-2F451DFE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32172843"/>
            <a:ext cx="19630911" cy="434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99">
                <a:solidFill>
                  <a:srgbClr val="FFFFFF"/>
                </a:solidFill>
              </a:defRPr>
            </a:pPr>
            <a:r>
              <a:rPr sz="1999">
                <a:solidFill>
                  <a:srgbClr val="FFFFFF"/>
                </a:solidFill>
              </a:rPr>
              <a:t>Source citation · content mode · asset license</a:t>
            </a:r>
          </a:p>
        </p:txBody>
      </p:sp>
      <p:sp>
        <p:nvSpPr>
          <p:cNvPr id="91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E2C8C207-D263-4464-B000-A36AF036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91236" y="32172843"/>
            <a:ext cx="8887626" cy="434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46" b="1">
                <a:solidFill>
                  <a:srgbClr val="E8B44C"/>
                </a:solidFill>
              </a:defRPr>
            </a:pPr>
            <a:r>
              <a:rPr sz="1846" b="1">
                <a:solidFill>
                  <a:srgbClr val="E8B44C"/>
                </a:solidFill>
              </a:rPr>
              <a:t>Approvals current · scientific colors locked</a:t>
            </a:r>
          </a:p>
        </p:txBody>
      </p:sp>
      <p:sp>
        <p:nvSpPr>
          <p:cNvPr id="92" name="POSTEX_PROVENANCE_MARK">
            <a:extLst xmlns:a="http://schemas.openxmlformats.org/drawingml/2006/main">
              <a:ext uri="{FF2B5EF4-FFF2-40B4-BE49-F238E27FC236}">
                <a16:creationId xmlns:a16="http://schemas.microsoft.com/office/drawing/2014/main" id="{8E642387-AD4D-44A2-9E65-00E4618A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7858" y="32172843"/>
            <a:ext cx="11426948" cy="434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46" b="1">
                <a:solidFill>
                  <a:srgbClr val="FFFFFF">
                    <a:alpha val="38000"/>
                  </a:srgbClr>
                </a:solidFill>
              </a:defRPr>
            </a:pPr>
            <a:r>
              <a:rPr sz="1846" b="1">
                <a:solidFill>
                  <a:srgbClr val="FFFFFF">
                    <a:alpha val="38000"/>
                  </a:srgbClr>
                </a:solidFill>
              </a:rPr>
              <a:t>Made with PostEx™ · PX-00000000</a:t>
            </a:r>
          </a:p>
        </p:txBody>
      </p:sp>
    </p:spTree>
    <p:extLst>
      <p:ext uri="{BB962C8B-B14F-4D97-AF65-F5344CB8AC3E}">
        <p14:creationId xmlns:p14="http://schemas.microsoft.com/office/powerpoint/2010/main" val="16612477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2026-08-10T04:09:42.8860000Z</dcterms:created>
  <dcterms:modified xsi:type="dcterms:W3CDTF">2026-08-10T04:09:42.8860000Z</dcterms:modified>
</coreProperties>
</file>