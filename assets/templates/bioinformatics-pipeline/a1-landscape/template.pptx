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0d64d097d44141" /><Relationship Type="http://schemas.openxmlformats.org/officeDocument/2006/relationships/extended-properties" Target="/docProps/app.xml" Id="R242a873a063a4151" /><Relationship Type="http://schemas.openxmlformats.org/officeDocument/2006/relationships/officeDocument" Target="/ppt/presentation.xml" Id="R81053e1bd22547f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93999768ee465d"/>
  </p:sldMasterIdLst>
  <p:notesMasterIdLst>
    <p:notesMasterId xmlns:r="http://schemas.openxmlformats.org/officeDocument/2006/relationships" r:id="R5b57fdb9c2d344ef"/>
  </p:notesMasterIdLst>
  <p:sldIdLst>
    <p:sldId xmlns:r="http://schemas.openxmlformats.org/officeDocument/2006/relationships" id="256" r:id="R1d9be6c6235a42b2"/>
  </p:sldIdLst>
  <p:sldSz cx="30279975" cy="213836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1133e8186b438f" /><Relationship Type="http://schemas.openxmlformats.org/officeDocument/2006/relationships/slideMaster" Target="/ppt/slideMasters/slideMaster1.xml" Id="R6193999768ee465d" /><Relationship Type="http://schemas.openxmlformats.org/officeDocument/2006/relationships/notesMaster" Target="/ppt/notesMasters/notesMaster1.xml" Id="R5b57fdb9c2d344ef" /><Relationship Type="http://schemas.openxmlformats.org/officeDocument/2006/relationships/presProps" Target="/ppt/presProps.xml" Id="R57fab096e77441bf" /><Relationship Type="http://schemas.openxmlformats.org/officeDocument/2006/relationships/tableStyles" Target="/ppt/tableStyles.xml" Id="R9053a0df898343e1" /><Relationship Type="http://schemas.openxmlformats.org/officeDocument/2006/relationships/slide" Target="/ppt/slides/slide1.xml" Id="R1d9be6c6235a42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be90d3447274e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e9ee94e9564ca2" /><Relationship Type="http://schemas.openxmlformats.org/officeDocument/2006/relationships/notesMaster" Target="/ppt/notesMasters/notesMaster1.xml" Id="R8edc568d06094c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PostEx official template asset; CC BY 4.0</a:t>
            </a:r>
          </a:p>
          <a:p xmlns:a="http://schemas.openxmlformats.org/drawingml/2006/main">
            <a:r>
              <a:t>- No third-party logo or scientific figure is embedded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4d87f3b681485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c9405c6c5364a5d" /><Relationship Type="http://schemas.openxmlformats.org/officeDocument/2006/relationships/slideLayout" Target="/ppt/slideLayouts/slideLayout1.xml" Id="Rbd283309f8f544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283309f8f544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7473a9ec54e98" /><Relationship Type="http://schemas.openxmlformats.org/officeDocument/2006/relationships/notesSlide" Target="/ppt/notesSlides/notesSlide1.xml" Id="R9f183353b9de4d7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2" name="header-band">
            <a:extLst xmlns:a="http://schemas.openxmlformats.org/drawingml/2006/main">
              <a:ext uri="{FF2B5EF4-FFF2-40B4-BE49-F238E27FC236}">
                <a16:creationId xmlns:a16="http://schemas.microsoft.com/office/drawing/2014/main" id="{2D2693EB-2FB0-47B1-9943-14D20A21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0279975" cy="3497793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A1849427-55CA-49AB-BAF0-31070DAA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0279975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1C941443-E4A1-48B1-9CD9-FF8B6CE0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417045"/>
            <a:ext cx="21022146" cy="1547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Evidence-traceable bioinformatics poster title</a:t>
            </a:r>
          </a:p>
        </p:txBody>
      </p:sp>
      <p:sp>
        <p:nvSpPr>
          <p:cNvPr id="4" name="authors">
            <a:extLst xmlns:a="http://schemas.openxmlformats.org/drawingml/2006/main">
              <a:ext uri="{FF2B5EF4-FFF2-40B4-BE49-F238E27FC236}">
                <a16:creationId xmlns:a16="http://schemas.microsoft.com/office/drawing/2014/main" id="{2005D4CF-8590-459A-BAE1-E34778509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991" y="2058317"/>
            <a:ext cx="20820010" cy="4439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Author names</a:t>
            </a:r>
          </a:p>
        </p:txBody>
      </p:sp>
      <p:sp>
        <p:nvSpPr>
          <p:cNvPr id="5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F5AB2077-9573-4CD5-9860-6F2CB08B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991" y="2569533"/>
            <a:ext cx="20820010" cy="3497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6F8FA"/>
                </a:solidFill>
              </a:defRPr>
            </a:pPr>
            <a:r>
              <a:rPr sz="1800">
                <a:solidFill>
                  <a:srgbClr val="F6F8FA"/>
                </a:solidFill>
              </a:rPr>
              <a:t>Institutions and collaborating centers</a:t>
            </a:r>
          </a:p>
        </p:txBody>
      </p:sp>
      <p:sp>
        <p:nvSpPr>
          <p:cNvPr id="6" name="citation">
            <a:extLst xmlns:a="http://schemas.openxmlformats.org/drawingml/2006/main">
              <a:ext uri="{FF2B5EF4-FFF2-40B4-BE49-F238E27FC236}">
                <a16:creationId xmlns:a16="http://schemas.microsoft.com/office/drawing/2014/main" id="{5D78AF0A-3519-4D85-8D2D-A621FD2A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991" y="2993304"/>
            <a:ext cx="17181561" cy="28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E8B44C"/>
                </a:solidFill>
              </a:defRPr>
            </a:pPr>
            <a:r>
              <a:rPr sz="1650" b="1">
                <a:solidFill>
                  <a:srgbClr val="E8B44C"/>
                </a:solidFill>
              </a:rPr>
              <a:t>Journal or conference · DOI</a:t>
            </a:r>
          </a:p>
        </p:txBody>
      </p:sp>
      <p:sp>
        <p:nvSpPr>
          <p:cNvPr id="7" name="logo-slot-institution-logo">
            <a:extLst xmlns:a="http://schemas.openxmlformats.org/drawingml/2006/main">
              <a:ext uri="{FF2B5EF4-FFF2-40B4-BE49-F238E27FC236}">
                <a16:creationId xmlns:a16="http://schemas.microsoft.com/office/drawing/2014/main" id="{84189875-F940-40D1-BA5F-B02083480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6612" y="390138"/>
            <a:ext cx="6603110" cy="874448"/>
          </a:xfrm>
          <a:prstGeom xmlns:a="http://schemas.openxmlformats.org/drawingml/2006/main" prst="roundRect">
            <a:avLst>
              <a:gd name="adj" fmla="val 8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453">
            <a:solidFill>
              <a:srgbClr val="D9E2EC"/>
            </a:solidFill>
            <a:prstDash val="solid"/>
          </a:ln>
        </p:spPr>
      </p:sp>
      <p:sp>
        <p:nvSpPr>
          <p:cNvPr id="8" name="logo-placeholder-institution-logo">
            <a:extLst xmlns:a="http://schemas.openxmlformats.org/drawingml/2006/main">
              <a:ext uri="{FF2B5EF4-FFF2-40B4-BE49-F238E27FC236}">
                <a16:creationId xmlns:a16="http://schemas.microsoft.com/office/drawing/2014/main" id="{D23D8291-399C-43CA-A533-4B4F2967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87467" y="645746"/>
            <a:ext cx="6441401" cy="3497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5F73"/>
                </a:solidFill>
              </a:defRPr>
            </a:pPr>
            <a:r>
              <a:rPr sz="1650" b="1">
                <a:solidFill>
                  <a:srgbClr val="0F5F73"/>
                </a:solidFill>
              </a:rPr>
              <a:t>Institution logo</a:t>
            </a:r>
          </a:p>
        </p:txBody>
      </p:sp>
      <p:sp>
        <p:nvSpPr>
          <p:cNvPr id="9" name="header-summary">
            <a:extLst xmlns:a="http://schemas.openxmlformats.org/drawingml/2006/main">
              <a:ext uri="{FF2B5EF4-FFF2-40B4-BE49-F238E27FC236}">
                <a16:creationId xmlns:a16="http://schemas.microsoft.com/office/drawing/2014/main" id="{448DDEF7-4E02-40AA-AE98-6B01AA99E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6612" y="1412570"/>
            <a:ext cx="6603110" cy="1614366"/>
          </a:xfrm>
          <a:prstGeom xmlns:a="http://schemas.openxmlformats.org/drawingml/2006/main" prst="roundRect">
            <a:avLst>
              <a:gd name="adj" fmla="val 94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eader-metric-1-value">
            <a:extLst xmlns:a="http://schemas.openxmlformats.org/drawingml/2006/main">
              <a:ext uri="{FF2B5EF4-FFF2-40B4-BE49-F238E27FC236}">
                <a16:creationId xmlns:a16="http://schemas.microsoft.com/office/drawing/2014/main" id="{09E96A11-CF75-49DD-9C45-6D787B22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78263" y="1614366"/>
            <a:ext cx="1751845" cy="5246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2" b="1">
                <a:solidFill>
                  <a:srgbClr val="0F5F73"/>
                </a:solidFill>
              </a:defRPr>
            </a:pPr>
            <a:r>
              <a:rPr sz="3602" b="1">
                <a:solidFill>
                  <a:srgbClr val="0F5F73"/>
                </a:solidFill>
              </a:rPr>
              <a:t>N</a:t>
            </a:r>
          </a:p>
        </p:txBody>
      </p:sp>
      <p:sp>
        <p:nvSpPr>
          <p:cNvPr id="11" name="header-metric-1-label">
            <a:extLst xmlns:a="http://schemas.openxmlformats.org/drawingml/2006/main">
              <a:ext uri="{FF2B5EF4-FFF2-40B4-BE49-F238E27FC236}">
                <a16:creationId xmlns:a16="http://schemas.microsoft.com/office/drawing/2014/main" id="{973DBF41-92C3-415D-ADA9-B2B530A5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78263" y="2165941"/>
            <a:ext cx="1751845" cy="591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signature features</a:t>
            </a:r>
          </a:p>
        </p:txBody>
      </p:sp>
      <p:sp>
        <p:nvSpPr>
          <p:cNvPr id="12" name="header-metric-2-value">
            <a:extLst xmlns:a="http://schemas.openxmlformats.org/drawingml/2006/main">
              <a:ext uri="{FF2B5EF4-FFF2-40B4-BE49-F238E27FC236}">
                <a16:creationId xmlns:a16="http://schemas.microsoft.com/office/drawing/2014/main" id="{B9B93132-D916-49CA-A4B2-6C666D8D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9623" y="1614366"/>
            <a:ext cx="1751845" cy="5246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2" b="1">
                <a:solidFill>
                  <a:srgbClr val="2C8C99"/>
                </a:solidFill>
              </a:defRPr>
            </a:pPr>
            <a:r>
              <a:rPr sz="3602" b="1">
                <a:solidFill>
                  <a:srgbClr val="2C8C99"/>
                </a:solidFill>
              </a:rPr>
              <a:t>N</a:t>
            </a:r>
          </a:p>
        </p:txBody>
      </p:sp>
      <p:sp>
        <p:nvSpPr>
          <p:cNvPr id="13" name="header-metric-2-label">
            <a:extLst xmlns:a="http://schemas.openxmlformats.org/drawingml/2006/main">
              <a:ext uri="{FF2B5EF4-FFF2-40B4-BE49-F238E27FC236}">
                <a16:creationId xmlns:a16="http://schemas.microsoft.com/office/drawing/2014/main" id="{4E96E5A3-43AD-4107-9513-F0A051A1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9623" y="2165941"/>
            <a:ext cx="1751845" cy="591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discovery samples</a:t>
            </a:r>
          </a:p>
        </p:txBody>
      </p:sp>
      <p:sp>
        <p:nvSpPr>
          <p:cNvPr id="14" name="header-metric-3-value">
            <a:extLst xmlns:a="http://schemas.openxmlformats.org/drawingml/2006/main">
              <a:ext uri="{FF2B5EF4-FFF2-40B4-BE49-F238E27FC236}">
                <a16:creationId xmlns:a16="http://schemas.microsoft.com/office/drawing/2014/main" id="{8BC84DF8-26C6-405E-B94F-1CF0D1EC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0983" y="1614366"/>
            <a:ext cx="1751845" cy="5246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2" b="1">
                <a:solidFill>
                  <a:srgbClr val="E8B44C"/>
                </a:solidFill>
              </a:defRPr>
            </a:pPr>
            <a:r>
              <a:rPr sz="3602" b="1">
                <a:solidFill>
                  <a:srgbClr val="E8B44C"/>
                </a:solidFill>
              </a:rPr>
              <a:t>N</a:t>
            </a:r>
          </a:p>
        </p:txBody>
      </p:sp>
      <p:sp>
        <p:nvSpPr>
          <p:cNvPr id="15" name="header-metric-3-label">
            <a:extLst xmlns:a="http://schemas.openxmlformats.org/drawingml/2006/main">
              <a:ext uri="{FF2B5EF4-FFF2-40B4-BE49-F238E27FC236}">
                <a16:creationId xmlns:a16="http://schemas.microsoft.com/office/drawing/2014/main" id="{EC3D488D-8EE0-4DD7-B068-B16AC5FF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0983" y="2165941"/>
            <a:ext cx="1751845" cy="591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validation cohorts</a:t>
            </a:r>
          </a:p>
        </p:txBody>
      </p:sp>
      <p:sp>
        <p:nvSpPr>
          <p:cNvPr id="16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42A04BDC-A43C-4223-9FC3-4C6C5992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3968650"/>
            <a:ext cx="8220198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F5F73"/>
                </a:solidFill>
              </a:defRPr>
            </a:pPr>
            <a:r>
              <a:rPr sz="2850" b="1">
                <a:solidFill>
                  <a:srgbClr val="0F5F73"/>
                </a:solidFill>
              </a:rPr>
              <a:t>Research question</a:t>
            </a:r>
          </a:p>
        </p:txBody>
      </p:sp>
      <p:sp>
        <p:nvSpPr>
          <p:cNvPr id="17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966CC940-3983-438C-857D-D1B7AF7C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4419327"/>
            <a:ext cx="2223496" cy="67265"/>
          </a:xfrm>
          <a:prstGeom xmlns:a="http://schemas.openxmlformats.org/drawingml/2006/main" prst="roundRect">
            <a:avLst>
              <a:gd name="adj" fmla="val 28321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F359D600-30D4-40FD-A624-58729D00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4587490"/>
            <a:ext cx="8220198" cy="15807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05">
                <a:solidFill>
                  <a:srgbClr val="102A43"/>
                </a:solidFill>
              </a:defRPr>
            </a:pPr>
            <a:r>
              <a:rPr sz="2805">
                <a:solidFill>
                  <a:srgbClr val="102A43"/>
                </a:solidFill>
              </a:rPr>
              <a:t>State the biological or clinical question in two concise sentences.</a:t>
            </a:r>
          </a:p>
        </p:txBody>
      </p:sp>
      <p:sp>
        <p:nvSpPr>
          <p:cNvPr id="19" name="question-evidence">
            <a:extLst xmlns:a="http://schemas.openxmlformats.org/drawingml/2006/main">
              <a:ext uri="{FF2B5EF4-FFF2-40B4-BE49-F238E27FC236}">
                <a16:creationId xmlns:a16="http://schemas.microsoft.com/office/drawing/2014/main" id="{349C317B-6963-4933-84E5-9581AC9A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6134591"/>
            <a:ext cx="8220198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i="1">
                <a:solidFill>
                  <a:srgbClr val="2C8C99"/>
                </a:solidFill>
              </a:defRPr>
            </a:pPr>
            <a:r>
              <a:rPr sz="1650" i="1">
                <a:solidFill>
                  <a:srgbClr val="2C8C99"/>
                </a:solidFill>
              </a:rPr>
              <a:t>Evidence: source page or section</a:t>
            </a:r>
          </a:p>
        </p:txBody>
      </p:sp>
      <p:sp>
        <p:nvSpPr>
          <p:cNvPr id="20" name="pipeline-title">
            <a:extLst xmlns:a="http://schemas.openxmlformats.org/drawingml/2006/main">
              <a:ext uri="{FF2B5EF4-FFF2-40B4-BE49-F238E27FC236}">
                <a16:creationId xmlns:a16="http://schemas.microsoft.com/office/drawing/2014/main" id="{C983BFDC-587F-485A-BA71-E881C547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6524730"/>
            <a:ext cx="8220198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F5F73"/>
                </a:solidFill>
              </a:defRPr>
            </a:pPr>
            <a:r>
              <a:rPr sz="2850" b="1">
                <a:solidFill>
                  <a:srgbClr val="0F5F73"/>
                </a:solidFill>
              </a:rPr>
              <a:t>Analysis pipeline</a:t>
            </a:r>
          </a:p>
        </p:txBody>
      </p:sp>
      <p:sp>
        <p:nvSpPr>
          <p:cNvPr id="21" name="pipeline-rule">
            <a:extLst xmlns:a="http://schemas.openxmlformats.org/drawingml/2006/main">
              <a:ext uri="{FF2B5EF4-FFF2-40B4-BE49-F238E27FC236}">
                <a16:creationId xmlns:a16="http://schemas.microsoft.com/office/drawing/2014/main" id="{D1DECDCC-FD72-43C0-A83A-35F84AD1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6975407"/>
            <a:ext cx="2223496" cy="67265"/>
          </a:xfrm>
          <a:prstGeom xmlns:a="http://schemas.openxmlformats.org/drawingml/2006/main" prst="roundRect">
            <a:avLst>
              <a:gd name="adj" fmla="val 28321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ipeline-1-number-bg">
            <a:extLst xmlns:a="http://schemas.openxmlformats.org/drawingml/2006/main">
              <a:ext uri="{FF2B5EF4-FFF2-40B4-BE49-F238E27FC236}">
                <a16:creationId xmlns:a16="http://schemas.microsoft.com/office/drawing/2014/main" id="{C25B30A4-8148-480F-9B50-E90A0F64F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7157023"/>
            <a:ext cx="417748" cy="417045"/>
          </a:xfrm>
          <a:prstGeom xmlns:a="http://schemas.openxmlformats.org/drawingml/2006/main" prst="roundRect">
            <a:avLst>
              <a:gd name="adj" fmla="val 18271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ipeline-1-number">
            <a:extLst xmlns:a="http://schemas.openxmlformats.org/drawingml/2006/main">
              <a:ext uri="{FF2B5EF4-FFF2-40B4-BE49-F238E27FC236}">
                <a16:creationId xmlns:a16="http://schemas.microsoft.com/office/drawing/2014/main" id="{8C75D9A4-6B72-4BAC-9D84-9AB2A56E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7204109"/>
            <a:ext cx="417748" cy="309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1</a:t>
            </a:r>
          </a:p>
        </p:txBody>
      </p:sp>
      <p:sp>
        <p:nvSpPr>
          <p:cNvPr id="24" name="pipeline-1-text">
            <a:extLst xmlns:a="http://schemas.openxmlformats.org/drawingml/2006/main">
              <a:ext uri="{FF2B5EF4-FFF2-40B4-BE49-F238E27FC236}">
                <a16:creationId xmlns:a16="http://schemas.microsoft.com/office/drawing/2014/main" id="{73A187FD-D69B-4B37-858E-8AAC2866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807" y="7183929"/>
            <a:ext cx="7667693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05" b="1">
                <a:solidFill>
                  <a:srgbClr val="102A43"/>
                </a:solidFill>
              </a:defRPr>
            </a:pPr>
            <a:r>
              <a:rPr sz="2805" b="1">
                <a:solidFill>
                  <a:srgbClr val="102A43"/>
                </a:solidFill>
              </a:rPr>
              <a:t>Input biomarkers or features</a:t>
            </a:r>
          </a:p>
        </p:txBody>
      </p:sp>
      <p:sp>
        <p:nvSpPr>
          <p:cNvPr id="25" name="pipeline-2-number-bg">
            <a:extLst xmlns:a="http://schemas.openxmlformats.org/drawingml/2006/main">
              <a:ext uri="{FF2B5EF4-FFF2-40B4-BE49-F238E27FC236}">
                <a16:creationId xmlns:a16="http://schemas.microsoft.com/office/drawing/2014/main" id="{1DE334DE-06C7-4A32-BD86-120279B3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7695145"/>
            <a:ext cx="417748" cy="417045"/>
          </a:xfrm>
          <a:prstGeom xmlns:a="http://schemas.openxmlformats.org/drawingml/2006/main" prst="roundRect">
            <a:avLst>
              <a:gd name="adj" fmla="val 18271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ipeline-2-number">
            <a:extLst xmlns:a="http://schemas.openxmlformats.org/drawingml/2006/main">
              <a:ext uri="{FF2B5EF4-FFF2-40B4-BE49-F238E27FC236}">
                <a16:creationId xmlns:a16="http://schemas.microsoft.com/office/drawing/2014/main" id="{46662EF2-99DC-48F6-A271-678AC518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7742231"/>
            <a:ext cx="417748" cy="309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2</a:t>
            </a:r>
          </a:p>
        </p:txBody>
      </p:sp>
      <p:sp>
        <p:nvSpPr>
          <p:cNvPr id="27" name="pipeline-2-text">
            <a:extLst xmlns:a="http://schemas.openxmlformats.org/drawingml/2006/main">
              <a:ext uri="{FF2B5EF4-FFF2-40B4-BE49-F238E27FC236}">
                <a16:creationId xmlns:a16="http://schemas.microsoft.com/office/drawing/2014/main" id="{0C2D2478-024B-4262-AAD9-3390F1B4F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807" y="7722051"/>
            <a:ext cx="7667693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05" b="1">
                <a:solidFill>
                  <a:srgbClr val="102A43"/>
                </a:solidFill>
              </a:defRPr>
            </a:pPr>
            <a:r>
              <a:rPr sz="2805" b="1">
                <a:solidFill>
                  <a:srgbClr val="102A43"/>
                </a:solidFill>
              </a:rPr>
              <a:t>Feature selection</a:t>
            </a:r>
          </a:p>
        </p:txBody>
      </p:sp>
      <p:sp>
        <p:nvSpPr>
          <p:cNvPr id="28" name="pipeline-3-number-bg">
            <a:extLst xmlns:a="http://schemas.openxmlformats.org/drawingml/2006/main">
              <a:ext uri="{FF2B5EF4-FFF2-40B4-BE49-F238E27FC236}">
                <a16:creationId xmlns:a16="http://schemas.microsoft.com/office/drawing/2014/main" id="{611D6E3B-78AD-4488-9986-9A647647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8233267"/>
            <a:ext cx="417748" cy="417045"/>
          </a:xfrm>
          <a:prstGeom xmlns:a="http://schemas.openxmlformats.org/drawingml/2006/main" prst="roundRect">
            <a:avLst>
              <a:gd name="adj" fmla="val 18271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ipeline-3-number">
            <a:extLst xmlns:a="http://schemas.openxmlformats.org/drawingml/2006/main">
              <a:ext uri="{FF2B5EF4-FFF2-40B4-BE49-F238E27FC236}">
                <a16:creationId xmlns:a16="http://schemas.microsoft.com/office/drawing/2014/main" id="{CA876EAD-FB15-4262-BFD4-C89125FB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8280353"/>
            <a:ext cx="417748" cy="309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30" name="pipeline-3-text">
            <a:extLst xmlns:a="http://schemas.openxmlformats.org/drawingml/2006/main">
              <a:ext uri="{FF2B5EF4-FFF2-40B4-BE49-F238E27FC236}">
                <a16:creationId xmlns:a16="http://schemas.microsoft.com/office/drawing/2014/main" id="{3F8AD5A7-E3CD-4ED5-B051-B862892E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807" y="8260173"/>
            <a:ext cx="7667693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05" b="1">
                <a:solidFill>
                  <a:srgbClr val="102A43"/>
                </a:solidFill>
              </a:defRPr>
            </a:pPr>
            <a:r>
              <a:rPr sz="2805" b="1">
                <a:solidFill>
                  <a:srgbClr val="102A43"/>
                </a:solidFill>
              </a:rPr>
              <a:t>Model construction</a:t>
            </a:r>
          </a:p>
        </p:txBody>
      </p:sp>
      <p:sp>
        <p:nvSpPr>
          <p:cNvPr id="31" name="pipeline-4-number-bg">
            <a:extLst xmlns:a="http://schemas.openxmlformats.org/drawingml/2006/main">
              <a:ext uri="{FF2B5EF4-FFF2-40B4-BE49-F238E27FC236}">
                <a16:creationId xmlns:a16="http://schemas.microsoft.com/office/drawing/2014/main" id="{E80D6CAA-70EB-425A-8631-7CFDBC66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8771389"/>
            <a:ext cx="417748" cy="417045"/>
          </a:xfrm>
          <a:prstGeom xmlns:a="http://schemas.openxmlformats.org/drawingml/2006/main" prst="roundRect">
            <a:avLst>
              <a:gd name="adj" fmla="val 18271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ipeline-4-number">
            <a:extLst xmlns:a="http://schemas.openxmlformats.org/drawingml/2006/main">
              <a:ext uri="{FF2B5EF4-FFF2-40B4-BE49-F238E27FC236}">
                <a16:creationId xmlns:a16="http://schemas.microsoft.com/office/drawing/2014/main" id="{D2F53233-0FEB-46A9-9202-59A6BF22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8818475"/>
            <a:ext cx="417748" cy="309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4</a:t>
            </a:r>
          </a:p>
        </p:txBody>
      </p:sp>
      <p:sp>
        <p:nvSpPr>
          <p:cNvPr id="33" name="pipeline-4-text">
            <a:extLst xmlns:a="http://schemas.openxmlformats.org/drawingml/2006/main">
              <a:ext uri="{FF2B5EF4-FFF2-40B4-BE49-F238E27FC236}">
                <a16:creationId xmlns:a16="http://schemas.microsoft.com/office/drawing/2014/main" id="{06A52DD0-4FFC-4259-8B8E-1F41AC702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807" y="8798296"/>
            <a:ext cx="7667693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05" b="1">
                <a:solidFill>
                  <a:srgbClr val="102A43"/>
                </a:solidFill>
              </a:defRPr>
            </a:pPr>
            <a:r>
              <a:rPr sz="2805" b="1">
                <a:solidFill>
                  <a:srgbClr val="102A43"/>
                </a:solidFill>
              </a:rPr>
              <a:t>Independent validation</a:t>
            </a:r>
          </a:p>
        </p:txBody>
      </p:sp>
      <p:sp>
        <p:nvSpPr>
          <p:cNvPr id="34" name="dataset-panel">
            <a:extLst xmlns:a="http://schemas.openxmlformats.org/drawingml/2006/main">
              <a:ext uri="{FF2B5EF4-FFF2-40B4-BE49-F238E27FC236}">
                <a16:creationId xmlns:a16="http://schemas.microsoft.com/office/drawing/2014/main" id="{BC08E5C3-C44B-4A08-84AE-24EF60FE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9484401"/>
            <a:ext cx="8220198" cy="2421549"/>
          </a:xfrm>
          <a:prstGeom xmlns:a="http://schemas.openxmlformats.org/drawingml/2006/main" prst="roundRect">
            <a:avLst>
              <a:gd name="adj" fmla="val 47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0180">
            <a:solidFill>
              <a:srgbClr val="D9E2EC"/>
            </a:solidFill>
            <a:prstDash val="solid"/>
          </a:ln>
        </p:spPr>
      </p:sp>
      <p:sp>
        <p:nvSpPr>
          <p:cNvPr id="35" name="dataset-kicker">
            <a:extLst xmlns:a="http://schemas.openxmlformats.org/drawingml/2006/main">
              <a:ext uri="{FF2B5EF4-FFF2-40B4-BE49-F238E27FC236}">
                <a16:creationId xmlns:a16="http://schemas.microsoft.com/office/drawing/2014/main" id="{E7CC5768-5C1B-48F5-8F1D-171B5D43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962" y="9686197"/>
            <a:ext cx="3099419" cy="2690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F5F73"/>
                </a:solidFill>
              </a:defRPr>
            </a:pPr>
            <a:r>
              <a:rPr sz="1800" b="1">
                <a:solidFill>
                  <a:srgbClr val="0F5F73"/>
                </a:solidFill>
              </a:rPr>
              <a:t>DATA FOUNDATION</a:t>
            </a:r>
          </a:p>
        </p:txBody>
      </p:sp>
      <p:sp>
        <p:nvSpPr>
          <p:cNvPr id="36" name="datasets">
            <a:extLst xmlns:a="http://schemas.openxmlformats.org/drawingml/2006/main">
              <a:ext uri="{FF2B5EF4-FFF2-40B4-BE49-F238E27FC236}">
                <a16:creationId xmlns:a16="http://schemas.microsoft.com/office/drawing/2014/main" id="{5867B5C0-656B-4D34-AE74-0F1D044A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962" y="10056156"/>
            <a:ext cx="7842877" cy="1547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05">
                <a:solidFill>
                  <a:srgbClr val="102A43"/>
                </a:solidFill>
              </a:defRPr>
            </a:pPr>
            <a:r>
              <a:rPr sz="2805">
                <a:solidFill>
                  <a:srgbClr val="102A43"/>
                </a:solidFill>
              </a:rPr>
              <a:t>Discovery cohort</a:t>
            </a:r>
          </a:p>
          <a:p xmlns:a="http://schemas.openxmlformats.org/drawingml/2006/main">
            <a:pPr>
              <a:defRPr sz="2805">
                <a:solidFill>
                  <a:srgbClr val="102A43"/>
                </a:solidFill>
              </a:defRPr>
            </a:pPr>
            <a:r>
              <a:rPr sz="2805">
                <a:solidFill>
                  <a:srgbClr val="102A43"/>
                </a:solidFill>
              </a:rPr>
              <a:t>Training and test split</a:t>
            </a:r>
          </a:p>
          <a:p xmlns:a="http://schemas.openxmlformats.org/drawingml/2006/main">
            <a:pPr>
              <a:defRPr sz="2805">
                <a:solidFill>
                  <a:srgbClr val="102A43"/>
                </a:solidFill>
              </a:defRPr>
            </a:pPr>
            <a:r>
              <a:rPr sz="2805">
                <a:solidFill>
                  <a:srgbClr val="102A43"/>
                </a:solidFill>
              </a:rPr>
              <a:t>External validation</a:t>
            </a:r>
          </a:p>
          <a:p xmlns:a="http://schemas.openxmlformats.org/drawingml/2006/main">
            <a:pPr>
              <a:defRPr sz="2805">
                <a:solidFill>
                  <a:srgbClr val="102A43"/>
                </a:solidFill>
              </a:defRPr>
            </a:pPr>
            <a:r>
              <a:rPr sz="2805">
                <a:solidFill>
                  <a:srgbClr val="102A43"/>
                </a:solidFill>
              </a:rPr>
              <a:t>Orthogonal validation</a:t>
            </a:r>
          </a:p>
        </p:txBody>
      </p:sp>
      <p:sp>
        <p:nvSpPr>
          <p:cNvPr id="37" name="dataset-evidence">
            <a:extLst xmlns:a="http://schemas.openxmlformats.org/drawingml/2006/main">
              <a:ext uri="{FF2B5EF4-FFF2-40B4-BE49-F238E27FC236}">
                <a16:creationId xmlns:a16="http://schemas.microsoft.com/office/drawing/2014/main" id="{F9B94998-EAD5-4073-BC11-8C9873F8A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962" y="11589804"/>
            <a:ext cx="7842877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i="1">
                <a:solidFill>
                  <a:srgbClr val="2C8C99"/>
                </a:solidFill>
              </a:defRPr>
            </a:pPr>
            <a:r>
              <a:rPr sz="1650" i="1">
                <a:solidFill>
                  <a:srgbClr val="2C8C99"/>
                </a:solidFill>
              </a:rPr>
              <a:t>Evidence: methods and dataset table</a:t>
            </a:r>
          </a:p>
        </p:txBody>
      </p:sp>
      <p:sp>
        <p:nvSpPr>
          <p:cNvPr id="38" name="figure-one-heading-title">
            <a:extLst xmlns:a="http://schemas.openxmlformats.org/drawingml/2006/main">
              <a:ext uri="{FF2B5EF4-FFF2-40B4-BE49-F238E27FC236}">
                <a16:creationId xmlns:a16="http://schemas.microsoft.com/office/drawing/2014/main" id="{A136D8DC-6FF1-423C-9C79-1EA12C1B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12275909"/>
            <a:ext cx="8220198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F5F73"/>
                </a:solidFill>
              </a:defRPr>
            </a:pPr>
            <a:r>
              <a:rPr sz="2850" b="1">
                <a:solidFill>
                  <a:srgbClr val="0F5F73"/>
                </a:solidFill>
              </a:rPr>
              <a:t>From features to signature</a:t>
            </a:r>
          </a:p>
        </p:txBody>
      </p:sp>
      <p:sp>
        <p:nvSpPr>
          <p:cNvPr id="39" name="figure-one-heading-rule">
            <a:extLst xmlns:a="http://schemas.openxmlformats.org/drawingml/2006/main">
              <a:ext uri="{FF2B5EF4-FFF2-40B4-BE49-F238E27FC236}">
                <a16:creationId xmlns:a16="http://schemas.microsoft.com/office/drawing/2014/main" id="{5B21DB10-EE18-4978-B323-3E4AB8EC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12726587"/>
            <a:ext cx="2223496" cy="67265"/>
          </a:xfrm>
          <a:prstGeom xmlns:a="http://schemas.openxmlformats.org/drawingml/2006/main" prst="roundRect">
            <a:avLst>
              <a:gd name="adj" fmla="val 28321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figure-one-frame">
            <a:extLst xmlns:a="http://schemas.openxmlformats.org/drawingml/2006/main">
              <a:ext uri="{FF2B5EF4-FFF2-40B4-BE49-F238E27FC236}">
                <a16:creationId xmlns:a16="http://schemas.microsoft.com/office/drawing/2014/main" id="{4F6F57B8-FE69-4FF2-8E2F-E7ADDF8B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12881297"/>
            <a:ext cx="8220198" cy="6995587"/>
          </a:xfrm>
          <a:prstGeom xmlns:a="http://schemas.openxmlformats.org/drawingml/2006/main" prst="roundRect">
            <a:avLst>
              <a:gd name="adj" fmla="val 1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0180">
            <a:solidFill>
              <a:srgbClr val="D9E2EC"/>
            </a:solidFill>
            <a:prstDash val="solid"/>
          </a:ln>
        </p:spPr>
      </p:sp>
      <p:sp>
        <p:nvSpPr>
          <p:cNvPr id="41" name="figure-one-placeholder">
            <a:extLst xmlns:a="http://schemas.openxmlformats.org/drawingml/2006/main">
              <a:ext uri="{FF2B5EF4-FFF2-40B4-BE49-F238E27FC236}">
                <a16:creationId xmlns:a16="http://schemas.microsoft.com/office/drawing/2014/main" id="{7E990ED0-1B2E-4F2C-B653-472D096B4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059" y="13015827"/>
            <a:ext cx="7950683" cy="6336387"/>
          </a:xfrm>
          <a:prstGeom xmlns:a="http://schemas.openxmlformats.org/drawingml/2006/main" prst="roundRect">
            <a:avLst>
              <a:gd name="adj" fmla="val 1203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3453">
            <a:solidFill>
              <a:srgbClr val="D9E2EC"/>
            </a:solidFill>
            <a:prstDash val="solid"/>
          </a:ln>
        </p:spPr>
      </p:sp>
      <p:sp>
        <p:nvSpPr>
          <p:cNvPr id="42" name="figure-one-placeholder-label">
            <a:extLst xmlns:a="http://schemas.openxmlformats.org/drawingml/2006/main">
              <a:ext uri="{FF2B5EF4-FFF2-40B4-BE49-F238E27FC236}">
                <a16:creationId xmlns:a16="http://schemas.microsoft.com/office/drawing/2014/main" id="{F4CE38F0-FBB6-4D31-9D7D-DEC2BBA2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573" y="15975498"/>
            <a:ext cx="7411654" cy="6053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C8C99"/>
                </a:solidFill>
              </a:defRPr>
            </a:pPr>
            <a:r>
              <a:rPr sz="2100" b="1">
                <a:solidFill>
                  <a:srgbClr val="2C8C99"/>
                </a:solidFill>
              </a:rPr>
              <a:t>SCIENTIFIC FIGURE</a:t>
            </a:r>
          </a:p>
        </p:txBody>
      </p:sp>
      <p:sp>
        <p:nvSpPr>
          <p:cNvPr id="43" name="figure-one-caption">
            <a:extLst xmlns:a="http://schemas.openxmlformats.org/drawingml/2006/main">
              <a:ext uri="{FF2B5EF4-FFF2-40B4-BE49-F238E27FC236}">
                <a16:creationId xmlns:a16="http://schemas.microsoft.com/office/drawing/2014/main" id="{B58AC741-D2A0-43D8-84F1-A31B96D4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010" y="19392573"/>
            <a:ext cx="7896780" cy="28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05" b="1">
                <a:solidFill>
                  <a:srgbClr val="102A43"/>
                </a:solidFill>
              </a:defRPr>
            </a:pPr>
            <a:r>
              <a:rPr sz="2205" b="1">
                <a:solidFill>
                  <a:srgbClr val="102A43"/>
                </a:solidFill>
              </a:rPr>
              <a:t>Figure caption</a:t>
            </a:r>
          </a:p>
        </p:txBody>
      </p:sp>
      <p:sp>
        <p:nvSpPr>
          <p:cNvPr id="44" name="figure-one-source">
            <a:extLst xmlns:a="http://schemas.openxmlformats.org/drawingml/2006/main">
              <a:ext uri="{FF2B5EF4-FFF2-40B4-BE49-F238E27FC236}">
                <a16:creationId xmlns:a16="http://schemas.microsoft.com/office/drawing/2014/main" id="{5BFA1099-934C-4FF4-A055-85D82AFB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010" y="19614549"/>
            <a:ext cx="7896780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i="1">
                <a:solidFill>
                  <a:srgbClr val="2C8C99"/>
                </a:solidFill>
              </a:defRPr>
            </a:pPr>
            <a:r>
              <a:rPr sz="1650" i="1">
                <a:solidFill>
                  <a:srgbClr val="2C8C99"/>
                </a:solidFill>
              </a:rPr>
              <a:t>Evidence/source locator</a:t>
            </a:r>
          </a:p>
        </p:txBody>
      </p:sp>
      <p:sp>
        <p:nvSpPr>
          <p:cNvPr id="45" name="central-takeaway">
            <a:extLst xmlns:a="http://schemas.openxmlformats.org/drawingml/2006/main">
              <a:ext uri="{FF2B5EF4-FFF2-40B4-BE49-F238E27FC236}">
                <a16:creationId xmlns:a16="http://schemas.microsoft.com/office/drawing/2014/main" id="{2CFCFF51-AF87-44EE-A642-E2FE3094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771" y="3968650"/>
            <a:ext cx="9668839" cy="1782529"/>
          </a:xfrm>
          <a:prstGeom xmlns:a="http://schemas.openxmlformats.org/drawingml/2006/main" prst="roundRect">
            <a:avLst>
              <a:gd name="adj" fmla="val 855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central-takeaway-title">
            <a:extLst xmlns:a="http://schemas.openxmlformats.org/drawingml/2006/main">
              <a:ext uri="{FF2B5EF4-FFF2-40B4-BE49-F238E27FC236}">
                <a16:creationId xmlns:a16="http://schemas.microsoft.com/office/drawing/2014/main" id="{80607441-A0B4-4D9E-8D3E-103C7B42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4238" y="4204079"/>
            <a:ext cx="9075907" cy="672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102A43"/>
                </a:solidFill>
              </a:defRPr>
            </a:pPr>
            <a:r>
              <a:rPr sz="3150" b="1">
                <a:solidFill>
                  <a:srgbClr val="102A43"/>
                </a:solidFill>
              </a:rPr>
              <a:t>Place the single most important result here</a:t>
            </a:r>
          </a:p>
        </p:txBody>
      </p:sp>
      <p:sp>
        <p:nvSpPr>
          <p:cNvPr id="47" name="central-takeaway-subtitle">
            <a:extLst xmlns:a="http://schemas.openxmlformats.org/drawingml/2006/main">
              <a:ext uri="{FF2B5EF4-FFF2-40B4-BE49-F238E27FC236}">
                <a16:creationId xmlns:a16="http://schemas.microsoft.com/office/drawing/2014/main" id="{0DEA3297-9087-4033-B549-BFC36CF8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422" y="5071800"/>
            <a:ext cx="8725538" cy="3228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Explain what the result means for the audience</a:t>
            </a:r>
          </a:p>
        </p:txBody>
      </p:sp>
      <p:sp>
        <p:nvSpPr>
          <p:cNvPr id="48" name="takeaway-evidence">
            <a:extLst xmlns:a="http://schemas.openxmlformats.org/drawingml/2006/main">
              <a:ext uri="{FF2B5EF4-FFF2-40B4-BE49-F238E27FC236}">
                <a16:creationId xmlns:a16="http://schemas.microsoft.com/office/drawing/2014/main" id="{D01E18F0-D12C-47D4-A716-13F5B5E2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713" y="5448486"/>
            <a:ext cx="9048956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i="1">
                <a:solidFill>
                  <a:srgbClr val="2C8C99"/>
                </a:solidFill>
              </a:defRPr>
            </a:pPr>
            <a:r>
              <a:rPr sz="1650" i="1">
                <a:solidFill>
                  <a:srgbClr val="2C8C99"/>
                </a:solidFill>
              </a:rPr>
              <a:t>Evidence: result section and figure</a:t>
            </a:r>
          </a:p>
        </p:txBody>
      </p:sp>
      <p:sp>
        <p:nvSpPr>
          <p:cNvPr id="49" name="figure-two-heading-title">
            <a:extLst xmlns:a="http://schemas.openxmlformats.org/drawingml/2006/main">
              <a:ext uri="{FF2B5EF4-FFF2-40B4-BE49-F238E27FC236}">
                <a16:creationId xmlns:a16="http://schemas.microsoft.com/office/drawing/2014/main" id="{8C7883E6-FD6E-4169-95DC-BC8521D38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771" y="6087506"/>
            <a:ext cx="9668839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F5F73"/>
                </a:solidFill>
              </a:defRPr>
            </a:pPr>
            <a:r>
              <a:rPr sz="2850" b="1">
                <a:solidFill>
                  <a:srgbClr val="0F5F73"/>
                </a:solidFill>
              </a:rPr>
              <a:t>Primary performance</a:t>
            </a:r>
          </a:p>
        </p:txBody>
      </p:sp>
      <p:sp>
        <p:nvSpPr>
          <p:cNvPr id="50" name="figure-two-heading-rule">
            <a:extLst xmlns:a="http://schemas.openxmlformats.org/drawingml/2006/main">
              <a:ext uri="{FF2B5EF4-FFF2-40B4-BE49-F238E27FC236}">
                <a16:creationId xmlns:a16="http://schemas.microsoft.com/office/drawing/2014/main" id="{E6117133-7509-4867-AF73-45C4CE10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771" y="6538183"/>
            <a:ext cx="2223496" cy="67265"/>
          </a:xfrm>
          <a:prstGeom xmlns:a="http://schemas.openxmlformats.org/drawingml/2006/main" prst="roundRect">
            <a:avLst>
              <a:gd name="adj" fmla="val 28321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figure-two-frame">
            <a:extLst xmlns:a="http://schemas.openxmlformats.org/drawingml/2006/main">
              <a:ext uri="{FF2B5EF4-FFF2-40B4-BE49-F238E27FC236}">
                <a16:creationId xmlns:a16="http://schemas.microsoft.com/office/drawing/2014/main" id="{4FE5DF13-1FD4-4D84-BAEB-87439715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771" y="6692893"/>
            <a:ext cx="9668839" cy="8979912"/>
          </a:xfrm>
          <a:prstGeom xmlns:a="http://schemas.openxmlformats.org/drawingml/2006/main" prst="roundRect">
            <a:avLst>
              <a:gd name="adj" fmla="val 1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0180">
            <a:solidFill>
              <a:srgbClr val="D9E2EC"/>
            </a:solidFill>
            <a:prstDash val="solid"/>
          </a:ln>
        </p:spPr>
      </p:sp>
      <p:sp>
        <p:nvSpPr>
          <p:cNvPr id="52" name="figure-two-placeholder">
            <a:extLst xmlns:a="http://schemas.openxmlformats.org/drawingml/2006/main">
              <a:ext uri="{FF2B5EF4-FFF2-40B4-BE49-F238E27FC236}">
                <a16:creationId xmlns:a16="http://schemas.microsoft.com/office/drawing/2014/main" id="{F2F2A302-727A-4459-AA5A-CA829FFD7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2529" y="6827424"/>
            <a:ext cx="9399325" cy="8320712"/>
          </a:xfrm>
          <a:prstGeom xmlns:a="http://schemas.openxmlformats.org/drawingml/2006/main" prst="roundRect">
            <a:avLst>
              <a:gd name="adj" fmla="val 916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3453">
            <a:solidFill>
              <a:srgbClr val="D9E2EC"/>
            </a:solidFill>
            <a:prstDash val="solid"/>
          </a:ln>
        </p:spPr>
      </p:sp>
      <p:sp>
        <p:nvSpPr>
          <p:cNvPr id="53" name="figure-two-placeholder-label">
            <a:extLst xmlns:a="http://schemas.openxmlformats.org/drawingml/2006/main">
              <a:ext uri="{FF2B5EF4-FFF2-40B4-BE49-F238E27FC236}">
                <a16:creationId xmlns:a16="http://schemas.microsoft.com/office/drawing/2014/main" id="{2678E941-BEAF-4E44-A4C1-588E9E80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043" y="10779257"/>
            <a:ext cx="8860295" cy="6053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C8C99"/>
                </a:solidFill>
              </a:defRPr>
            </a:pPr>
            <a:r>
              <a:rPr sz="2100" b="1">
                <a:solidFill>
                  <a:srgbClr val="2C8C99"/>
                </a:solidFill>
              </a:rPr>
              <a:t>SCIENTIFIC FIGURE</a:t>
            </a:r>
          </a:p>
        </p:txBody>
      </p:sp>
      <p:sp>
        <p:nvSpPr>
          <p:cNvPr id="54" name="figure-two-caption">
            <a:extLst xmlns:a="http://schemas.openxmlformats.org/drawingml/2006/main">
              <a:ext uri="{FF2B5EF4-FFF2-40B4-BE49-F238E27FC236}">
                <a16:creationId xmlns:a16="http://schemas.microsoft.com/office/drawing/2014/main" id="{8D3C8DDF-AF00-4532-8117-F87E1E24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480" y="15188495"/>
            <a:ext cx="9345422" cy="28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05" b="1">
                <a:solidFill>
                  <a:srgbClr val="102A43"/>
                </a:solidFill>
              </a:defRPr>
            </a:pPr>
            <a:r>
              <a:rPr sz="2205" b="1">
                <a:solidFill>
                  <a:srgbClr val="102A43"/>
                </a:solidFill>
              </a:rPr>
              <a:t>Figure caption</a:t>
            </a:r>
          </a:p>
        </p:txBody>
      </p:sp>
      <p:sp>
        <p:nvSpPr>
          <p:cNvPr id="55" name="figure-two-source">
            <a:extLst xmlns:a="http://schemas.openxmlformats.org/drawingml/2006/main">
              <a:ext uri="{FF2B5EF4-FFF2-40B4-BE49-F238E27FC236}">
                <a16:creationId xmlns:a16="http://schemas.microsoft.com/office/drawing/2014/main" id="{1EBB2007-66F3-408E-8250-BEFEAAFB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480" y="15410470"/>
            <a:ext cx="9345422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i="1">
                <a:solidFill>
                  <a:srgbClr val="2C8C99"/>
                </a:solidFill>
              </a:defRPr>
            </a:pPr>
            <a:r>
              <a:rPr sz="1650" i="1">
                <a:solidFill>
                  <a:srgbClr val="2C8C99"/>
                </a:solidFill>
              </a:rPr>
              <a:t>Evidence/source locator</a:t>
            </a:r>
          </a:p>
        </p:txBody>
      </p:sp>
      <p:sp>
        <p:nvSpPr>
          <p:cNvPr id="56" name="validation-heading-title">
            <a:extLst xmlns:a="http://schemas.openxmlformats.org/drawingml/2006/main">
              <a:ext uri="{FF2B5EF4-FFF2-40B4-BE49-F238E27FC236}">
                <a16:creationId xmlns:a16="http://schemas.microsoft.com/office/drawing/2014/main" id="{B4FD3903-00E8-471E-818B-72AC88E9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771" y="16009131"/>
            <a:ext cx="9668839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F5F73"/>
                </a:solidFill>
              </a:defRPr>
            </a:pPr>
            <a:r>
              <a:rPr sz="2850" b="1">
                <a:solidFill>
                  <a:srgbClr val="0F5F73"/>
                </a:solidFill>
              </a:rPr>
              <a:t>Independent and external validation</a:t>
            </a:r>
          </a:p>
        </p:txBody>
      </p:sp>
      <p:sp>
        <p:nvSpPr>
          <p:cNvPr id="57" name="validation-heading-rule">
            <a:extLst xmlns:a="http://schemas.openxmlformats.org/drawingml/2006/main">
              <a:ext uri="{FF2B5EF4-FFF2-40B4-BE49-F238E27FC236}">
                <a16:creationId xmlns:a16="http://schemas.microsoft.com/office/drawing/2014/main" id="{7122245A-3641-4FD3-846A-05DEE1087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771" y="16459808"/>
            <a:ext cx="2223496" cy="67265"/>
          </a:xfrm>
          <a:prstGeom xmlns:a="http://schemas.openxmlformats.org/drawingml/2006/main" prst="roundRect">
            <a:avLst>
              <a:gd name="adj" fmla="val 28321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validation-panel">
            <a:extLst xmlns:a="http://schemas.openxmlformats.org/drawingml/2006/main">
              <a:ext uri="{FF2B5EF4-FFF2-40B4-BE49-F238E27FC236}">
                <a16:creationId xmlns:a16="http://schemas.microsoft.com/office/drawing/2014/main" id="{0FAEB380-59D8-4A43-9ED6-E1364504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771" y="16614518"/>
            <a:ext cx="9668839" cy="2858773"/>
          </a:xfrm>
          <a:prstGeom xmlns:a="http://schemas.openxmlformats.org/drawingml/2006/main" prst="roundRect">
            <a:avLst>
              <a:gd name="adj" fmla="val 39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0180">
            <a:solidFill>
              <a:srgbClr val="D9E2EC"/>
            </a:solidFill>
            <a:prstDash val="solid"/>
          </a:ln>
        </p:spPr>
      </p:sp>
      <p:sp>
        <p:nvSpPr>
          <p:cNvPr id="59" name="validation">
            <a:extLst xmlns:a="http://schemas.openxmlformats.org/drawingml/2006/main">
              <a:ext uri="{FF2B5EF4-FFF2-40B4-BE49-F238E27FC236}">
                <a16:creationId xmlns:a16="http://schemas.microsoft.com/office/drawing/2014/main" id="{360C3A68-D83D-4D85-87E9-C732571B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335" y="16836494"/>
            <a:ext cx="9183713" cy="20852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05">
                <a:solidFill>
                  <a:srgbClr val="102A43"/>
                </a:solidFill>
              </a:defRPr>
            </a:pPr>
            <a:r>
              <a:rPr sz="2805">
                <a:solidFill>
                  <a:srgbClr val="102A43"/>
                </a:solidFill>
              </a:rPr>
              <a:t>• Primary adjusted result</a:t>
            </a:r>
          </a:p>
          <a:p xmlns:a="http://schemas.openxmlformats.org/drawingml/2006/main">
            <a:pPr>
              <a:defRPr sz="2805">
                <a:solidFill>
                  <a:srgbClr val="102A43"/>
                </a:solidFill>
              </a:defRPr>
            </a:pPr>
            <a:r>
              <a:rPr sz="2805">
                <a:solidFill>
                  <a:srgbClr val="102A43"/>
                </a:solidFill>
              </a:rPr>
              <a:t>• External validation</a:t>
            </a:r>
          </a:p>
          <a:p xmlns:a="http://schemas.openxmlformats.org/drawingml/2006/main">
            <a:pPr>
              <a:defRPr sz="2805">
                <a:solidFill>
                  <a:srgbClr val="102A43"/>
                </a:solidFill>
              </a:defRPr>
            </a:pPr>
            <a:r>
              <a:rPr sz="2805">
                <a:solidFill>
                  <a:srgbClr val="102A43"/>
                </a:solidFill>
              </a:rPr>
              <a:t>• Negative or inconsistent findings</a:t>
            </a:r>
          </a:p>
          <a:p xmlns:a="http://schemas.openxmlformats.org/drawingml/2006/main">
            <a:pPr>
              <a:defRPr sz="2805">
                <a:solidFill>
                  <a:srgbClr val="102A43"/>
                </a:solidFill>
              </a:defRPr>
            </a:pPr>
            <a:r>
              <a:rPr sz="2805">
                <a:solidFill>
                  <a:srgbClr val="102A43"/>
                </a:solidFill>
              </a:rPr>
              <a:t>• Interpretation boundary</a:t>
            </a:r>
          </a:p>
        </p:txBody>
      </p:sp>
      <p:sp>
        <p:nvSpPr>
          <p:cNvPr id="60" name="validation-evidence">
            <a:extLst xmlns:a="http://schemas.openxmlformats.org/drawingml/2006/main">
              <a:ext uri="{FF2B5EF4-FFF2-40B4-BE49-F238E27FC236}">
                <a16:creationId xmlns:a16="http://schemas.microsoft.com/office/drawing/2014/main" id="{49FF198D-7615-436D-A585-E4F59213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335" y="19150418"/>
            <a:ext cx="9183713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i="1">
                <a:solidFill>
                  <a:srgbClr val="2C8C99"/>
                </a:solidFill>
              </a:defRPr>
            </a:pPr>
            <a:r>
              <a:rPr sz="1650" i="1">
                <a:solidFill>
                  <a:srgbClr val="2C8C99"/>
                </a:solidFill>
              </a:rPr>
              <a:t>Evidence: result pages</a:t>
            </a:r>
          </a:p>
        </p:txBody>
      </p:sp>
      <p:sp>
        <p:nvSpPr>
          <p:cNvPr id="61" name="performance-strip">
            <a:extLst xmlns:a="http://schemas.openxmlformats.org/drawingml/2006/main">
              <a:ext uri="{FF2B5EF4-FFF2-40B4-BE49-F238E27FC236}">
                <a16:creationId xmlns:a16="http://schemas.microsoft.com/office/drawing/2014/main" id="{C96440E8-2498-4E5B-87B7-31040961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771" y="19708720"/>
            <a:ext cx="9668839" cy="773550"/>
          </a:xfrm>
          <a:prstGeom xmlns:a="http://schemas.openxmlformats.org/drawingml/2006/main" prst="roundRect">
            <a:avLst>
              <a:gd name="adj" fmla="val 14776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erformance-strip-text">
            <a:extLst xmlns:a="http://schemas.openxmlformats.org/drawingml/2006/main">
              <a:ext uri="{FF2B5EF4-FFF2-40B4-BE49-F238E27FC236}">
                <a16:creationId xmlns:a16="http://schemas.microsoft.com/office/drawing/2014/main" id="{69AE8AB0-268A-4EC7-8FF2-2A86486E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6859" y="19910516"/>
            <a:ext cx="9210664" cy="3497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Primary performance statistic or calibrated model comparison</a:t>
            </a:r>
          </a:p>
        </p:txBody>
      </p:sp>
      <p:sp>
        <p:nvSpPr>
          <p:cNvPr id="63" name="biology-heading-title">
            <a:extLst xmlns:a="http://schemas.openxmlformats.org/drawingml/2006/main">
              <a:ext uri="{FF2B5EF4-FFF2-40B4-BE49-F238E27FC236}">
                <a16:creationId xmlns:a16="http://schemas.microsoft.com/office/drawing/2014/main" id="{963F5E93-02E7-4BAF-A79D-14B17E38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3968650"/>
            <a:ext cx="9695791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F5F73"/>
                </a:solidFill>
              </a:defRPr>
            </a:pPr>
            <a:r>
              <a:rPr sz="2850" b="1">
                <a:solidFill>
                  <a:srgbClr val="0F5F73"/>
                </a:solidFill>
              </a:rPr>
              <a:t>Biological interpretation</a:t>
            </a:r>
          </a:p>
        </p:txBody>
      </p:sp>
      <p:sp>
        <p:nvSpPr>
          <p:cNvPr id="64" name="biology-heading-rule">
            <a:extLst xmlns:a="http://schemas.openxmlformats.org/drawingml/2006/main">
              <a:ext uri="{FF2B5EF4-FFF2-40B4-BE49-F238E27FC236}">
                <a16:creationId xmlns:a16="http://schemas.microsoft.com/office/drawing/2014/main" id="{8593AF15-FB6F-4497-919B-457F4C5F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4419327"/>
            <a:ext cx="2223496" cy="67265"/>
          </a:xfrm>
          <a:prstGeom xmlns:a="http://schemas.openxmlformats.org/drawingml/2006/main" prst="roundRect">
            <a:avLst>
              <a:gd name="adj" fmla="val 28321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biology-1-value">
            <a:extLst xmlns:a="http://schemas.openxmlformats.org/drawingml/2006/main">
              <a:ext uri="{FF2B5EF4-FFF2-40B4-BE49-F238E27FC236}">
                <a16:creationId xmlns:a16="http://schemas.microsoft.com/office/drawing/2014/main" id="{0186CD8E-4404-4CF3-8466-C4ED65E5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4641303"/>
            <a:ext cx="2829904" cy="5246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2" b="1">
                <a:solidFill>
                  <a:srgbClr val="0F5F73"/>
                </a:solidFill>
              </a:defRPr>
            </a:pPr>
            <a:r>
              <a:rPr sz="3602" b="1">
                <a:solidFill>
                  <a:srgbClr val="0F5F73"/>
                </a:solidFill>
              </a:rPr>
              <a:t>Effect</a:t>
            </a:r>
          </a:p>
        </p:txBody>
      </p:sp>
      <p:sp>
        <p:nvSpPr>
          <p:cNvPr id="66" name="biology-1-label">
            <a:extLst xmlns:a="http://schemas.openxmlformats.org/drawingml/2006/main">
              <a:ext uri="{FF2B5EF4-FFF2-40B4-BE49-F238E27FC236}">
                <a16:creationId xmlns:a16="http://schemas.microsoft.com/office/drawing/2014/main" id="{B1AC63D3-9CA8-4EE0-981D-17C31C56B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5192878"/>
            <a:ext cx="2829904" cy="591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program or pathway</a:t>
            </a:r>
          </a:p>
        </p:txBody>
      </p:sp>
      <p:sp>
        <p:nvSpPr>
          <p:cNvPr id="67" name="biology-2-value">
            <a:extLst xmlns:a="http://schemas.openxmlformats.org/drawingml/2006/main">
              <a:ext uri="{FF2B5EF4-FFF2-40B4-BE49-F238E27FC236}">
                <a16:creationId xmlns:a16="http://schemas.microsoft.com/office/drawing/2014/main" id="{36114A16-F0BA-4AB1-B403-3CFC0BAB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1370" y="4641303"/>
            <a:ext cx="2829904" cy="5246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2" b="1">
                <a:solidFill>
                  <a:srgbClr val="2C8C99"/>
                </a:solidFill>
              </a:defRPr>
            </a:pPr>
            <a:r>
              <a:rPr sz="3602" b="1">
                <a:solidFill>
                  <a:srgbClr val="2C8C99"/>
                </a:solidFill>
              </a:rPr>
              <a:t>Effect</a:t>
            </a:r>
          </a:p>
        </p:txBody>
      </p:sp>
      <p:sp>
        <p:nvSpPr>
          <p:cNvPr id="68" name="biology-2-label">
            <a:extLst xmlns:a="http://schemas.openxmlformats.org/drawingml/2006/main">
              <a:ext uri="{FF2B5EF4-FFF2-40B4-BE49-F238E27FC236}">
                <a16:creationId xmlns:a16="http://schemas.microsoft.com/office/drawing/2014/main" id="{233B5F72-853D-45B8-A651-0189734C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1370" y="5192878"/>
            <a:ext cx="2829904" cy="591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program or pathway</a:t>
            </a:r>
          </a:p>
        </p:txBody>
      </p:sp>
      <p:sp>
        <p:nvSpPr>
          <p:cNvPr id="69" name="biology-3-value">
            <a:extLst xmlns:a="http://schemas.openxmlformats.org/drawingml/2006/main">
              <a:ext uri="{FF2B5EF4-FFF2-40B4-BE49-F238E27FC236}">
                <a16:creationId xmlns:a16="http://schemas.microsoft.com/office/drawing/2014/main" id="{D89A4F05-DF68-4A37-BA48-1BB5BE98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41857" y="4641303"/>
            <a:ext cx="2829904" cy="5246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2" b="1">
                <a:solidFill>
                  <a:srgbClr val="E8B44C"/>
                </a:solidFill>
              </a:defRPr>
            </a:pPr>
            <a:r>
              <a:rPr sz="3602" b="1">
                <a:solidFill>
                  <a:srgbClr val="E8B44C"/>
                </a:solidFill>
              </a:rPr>
              <a:t>Effect</a:t>
            </a:r>
          </a:p>
        </p:txBody>
      </p:sp>
      <p:sp>
        <p:nvSpPr>
          <p:cNvPr id="70" name="biology-3-label">
            <a:extLst xmlns:a="http://schemas.openxmlformats.org/drawingml/2006/main">
              <a:ext uri="{FF2B5EF4-FFF2-40B4-BE49-F238E27FC236}">
                <a16:creationId xmlns:a16="http://schemas.microsoft.com/office/drawing/2014/main" id="{53280CB1-B625-4F41-9411-2673A4E7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41857" y="5192878"/>
            <a:ext cx="2829904" cy="591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program or pathway</a:t>
            </a:r>
          </a:p>
        </p:txBody>
      </p:sp>
      <p:sp>
        <p:nvSpPr>
          <p:cNvPr id="71" name="biology-evidence">
            <a:extLst xmlns:a="http://schemas.openxmlformats.org/drawingml/2006/main">
              <a:ext uri="{FF2B5EF4-FFF2-40B4-BE49-F238E27FC236}">
                <a16:creationId xmlns:a16="http://schemas.microsoft.com/office/drawing/2014/main" id="{8727FE57-C2B8-4714-8659-B9316D570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5986608"/>
            <a:ext cx="9695791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i="1">
                <a:solidFill>
                  <a:srgbClr val="2C8C99"/>
                </a:solidFill>
              </a:defRPr>
            </a:pPr>
            <a:r>
              <a:rPr sz="1650" i="1">
                <a:solidFill>
                  <a:srgbClr val="2C8C99"/>
                </a:solidFill>
              </a:rPr>
              <a:t>Evidence: biological analysis</a:t>
            </a:r>
          </a:p>
        </p:txBody>
      </p:sp>
      <p:sp>
        <p:nvSpPr>
          <p:cNvPr id="72" name="figure-three-frame">
            <a:extLst xmlns:a="http://schemas.openxmlformats.org/drawingml/2006/main">
              <a:ext uri="{FF2B5EF4-FFF2-40B4-BE49-F238E27FC236}">
                <a16:creationId xmlns:a16="http://schemas.microsoft.com/office/drawing/2014/main" id="{535E9FE7-2415-4049-A795-9192B75B8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6491097"/>
            <a:ext cx="9695791" cy="4843098"/>
          </a:xfrm>
          <a:prstGeom xmlns:a="http://schemas.openxmlformats.org/drawingml/2006/main" prst="roundRect">
            <a:avLst>
              <a:gd name="adj" fmla="val 23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0180">
            <a:solidFill>
              <a:srgbClr val="D9E2EC"/>
            </a:solidFill>
            <a:prstDash val="solid"/>
          </a:ln>
        </p:spPr>
      </p:sp>
      <p:sp>
        <p:nvSpPr>
          <p:cNvPr id="73" name="figure-three-placeholder">
            <a:extLst xmlns:a="http://schemas.openxmlformats.org/drawingml/2006/main">
              <a:ext uri="{FF2B5EF4-FFF2-40B4-BE49-F238E27FC236}">
                <a16:creationId xmlns:a16="http://schemas.microsoft.com/office/drawing/2014/main" id="{9CE9E8ED-6B4C-455A-A9E5-B26E92E7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75640" y="6625628"/>
            <a:ext cx="9426276" cy="4183899"/>
          </a:xfrm>
          <a:prstGeom xmlns:a="http://schemas.openxmlformats.org/drawingml/2006/main" prst="roundRect">
            <a:avLst>
              <a:gd name="adj" fmla="val 1821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3453">
            <a:solidFill>
              <a:srgbClr val="D9E2EC"/>
            </a:solidFill>
            <a:prstDash val="solid"/>
          </a:ln>
        </p:spPr>
      </p:sp>
      <p:sp>
        <p:nvSpPr>
          <p:cNvPr id="74" name="figure-three-placeholder-label">
            <a:extLst xmlns:a="http://schemas.openxmlformats.org/drawingml/2006/main">
              <a:ext uri="{FF2B5EF4-FFF2-40B4-BE49-F238E27FC236}">
                <a16:creationId xmlns:a16="http://schemas.microsoft.com/office/drawing/2014/main" id="{FBF830B1-25ED-4F49-A870-1466A0B5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45155" y="8509055"/>
            <a:ext cx="8887247" cy="6053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C8C99"/>
                </a:solidFill>
              </a:defRPr>
            </a:pPr>
            <a:r>
              <a:rPr sz="2100" b="1">
                <a:solidFill>
                  <a:srgbClr val="2C8C99"/>
                </a:solidFill>
              </a:rPr>
              <a:t>SCIENTIFIC FIGURE</a:t>
            </a:r>
          </a:p>
        </p:txBody>
      </p:sp>
      <p:sp>
        <p:nvSpPr>
          <p:cNvPr id="75" name="figure-three-caption">
            <a:extLst xmlns:a="http://schemas.openxmlformats.org/drawingml/2006/main">
              <a:ext uri="{FF2B5EF4-FFF2-40B4-BE49-F238E27FC236}">
                <a16:creationId xmlns:a16="http://schemas.microsoft.com/office/drawing/2014/main" id="{910F08B3-078A-4D74-9D0D-CF38E4F0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02592" y="10849886"/>
            <a:ext cx="9372373" cy="28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05" b="1">
                <a:solidFill>
                  <a:srgbClr val="102A43"/>
                </a:solidFill>
              </a:defRPr>
            </a:pPr>
            <a:r>
              <a:rPr sz="2205" b="1">
                <a:solidFill>
                  <a:srgbClr val="102A43"/>
                </a:solidFill>
              </a:rPr>
              <a:t>Figure caption</a:t>
            </a:r>
          </a:p>
        </p:txBody>
      </p:sp>
      <p:sp>
        <p:nvSpPr>
          <p:cNvPr id="76" name="figure-three-source">
            <a:extLst xmlns:a="http://schemas.openxmlformats.org/drawingml/2006/main">
              <a:ext uri="{FF2B5EF4-FFF2-40B4-BE49-F238E27FC236}">
                <a16:creationId xmlns:a16="http://schemas.microsoft.com/office/drawing/2014/main" id="{DFC001D3-1AD6-4516-BB70-D6E44721B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02592" y="11071861"/>
            <a:ext cx="9372373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i="1">
                <a:solidFill>
                  <a:srgbClr val="2C8C99"/>
                </a:solidFill>
              </a:defRPr>
            </a:pPr>
            <a:r>
              <a:rPr sz="1650" i="1">
                <a:solidFill>
                  <a:srgbClr val="2C8C99"/>
                </a:solidFill>
              </a:rPr>
              <a:t>Evidence/source locator</a:t>
            </a:r>
          </a:p>
        </p:txBody>
      </p:sp>
      <p:sp>
        <p:nvSpPr>
          <p:cNvPr id="77" name="validation-visual-heading-title">
            <a:extLst xmlns:a="http://schemas.openxmlformats.org/drawingml/2006/main">
              <a:ext uri="{FF2B5EF4-FFF2-40B4-BE49-F238E27FC236}">
                <a16:creationId xmlns:a16="http://schemas.microsoft.com/office/drawing/2014/main" id="{663C5D78-1D2F-41A7-9E28-58E4B1E5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11670522"/>
            <a:ext cx="9695791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F5F73"/>
                </a:solidFill>
              </a:defRPr>
            </a:pPr>
            <a:r>
              <a:rPr sz="2850" b="1">
                <a:solidFill>
                  <a:srgbClr val="0F5F73"/>
                </a:solidFill>
              </a:rPr>
              <a:t>Orthogonal validation</a:t>
            </a:r>
          </a:p>
        </p:txBody>
      </p:sp>
      <p:sp>
        <p:nvSpPr>
          <p:cNvPr id="78" name="validation-visual-heading-rule">
            <a:extLst xmlns:a="http://schemas.openxmlformats.org/drawingml/2006/main">
              <a:ext uri="{FF2B5EF4-FFF2-40B4-BE49-F238E27FC236}">
                <a16:creationId xmlns:a16="http://schemas.microsoft.com/office/drawing/2014/main" id="{45D457A9-CD46-47F8-BE94-9E4A9180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12121199"/>
            <a:ext cx="2223496" cy="67265"/>
          </a:xfrm>
          <a:prstGeom xmlns:a="http://schemas.openxmlformats.org/drawingml/2006/main" prst="roundRect">
            <a:avLst>
              <a:gd name="adj" fmla="val 28321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figure-four-frame">
            <a:extLst xmlns:a="http://schemas.openxmlformats.org/drawingml/2006/main">
              <a:ext uri="{FF2B5EF4-FFF2-40B4-BE49-F238E27FC236}">
                <a16:creationId xmlns:a16="http://schemas.microsoft.com/office/drawing/2014/main" id="{4DD7C11B-80F3-43B0-98B5-6B963D2E0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12275909"/>
            <a:ext cx="9695791" cy="5044894"/>
          </a:xfrm>
          <a:prstGeom xmlns:a="http://schemas.openxmlformats.org/drawingml/2006/main" prst="roundRect">
            <a:avLst>
              <a:gd name="adj" fmla="val 22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0180">
            <a:solidFill>
              <a:srgbClr val="D9E2EC"/>
            </a:solidFill>
            <a:prstDash val="solid"/>
          </a:ln>
        </p:spPr>
      </p:sp>
      <p:sp>
        <p:nvSpPr>
          <p:cNvPr id="80" name="figure-four-placeholder">
            <a:extLst xmlns:a="http://schemas.openxmlformats.org/drawingml/2006/main">
              <a:ext uri="{FF2B5EF4-FFF2-40B4-BE49-F238E27FC236}">
                <a16:creationId xmlns:a16="http://schemas.microsoft.com/office/drawing/2014/main" id="{3461A08B-ABAB-44AA-93D2-342663DC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75640" y="12410440"/>
            <a:ext cx="9426276" cy="4385695"/>
          </a:xfrm>
          <a:prstGeom xmlns:a="http://schemas.openxmlformats.org/drawingml/2006/main" prst="roundRect">
            <a:avLst>
              <a:gd name="adj" fmla="val 173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3453">
            <a:solidFill>
              <a:srgbClr val="D9E2EC"/>
            </a:solidFill>
            <a:prstDash val="solid"/>
          </a:ln>
        </p:spPr>
      </p:sp>
      <p:sp>
        <p:nvSpPr>
          <p:cNvPr id="81" name="figure-four-placeholder-label">
            <a:extLst xmlns:a="http://schemas.openxmlformats.org/drawingml/2006/main">
              <a:ext uri="{FF2B5EF4-FFF2-40B4-BE49-F238E27FC236}">
                <a16:creationId xmlns:a16="http://schemas.microsoft.com/office/drawing/2014/main" id="{EB41FAEC-DDD7-4E6B-ADD4-6A28B445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45155" y="14394765"/>
            <a:ext cx="8887247" cy="6053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C8C99"/>
                </a:solidFill>
              </a:defRPr>
            </a:pPr>
            <a:r>
              <a:rPr sz="2100" b="1">
                <a:solidFill>
                  <a:srgbClr val="2C8C99"/>
                </a:solidFill>
              </a:rPr>
              <a:t>SCIENTIFIC FIGURE</a:t>
            </a:r>
          </a:p>
        </p:txBody>
      </p:sp>
      <p:sp>
        <p:nvSpPr>
          <p:cNvPr id="82" name="figure-four-caption">
            <a:extLst xmlns:a="http://schemas.openxmlformats.org/drawingml/2006/main">
              <a:ext uri="{FF2B5EF4-FFF2-40B4-BE49-F238E27FC236}">
                <a16:creationId xmlns:a16="http://schemas.microsoft.com/office/drawing/2014/main" id="{5E02B418-0C25-4A6F-99B4-F7F819BC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02592" y="16836494"/>
            <a:ext cx="9372373" cy="28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05" b="1">
                <a:solidFill>
                  <a:srgbClr val="102A43"/>
                </a:solidFill>
              </a:defRPr>
            </a:pPr>
            <a:r>
              <a:rPr sz="2205" b="1">
                <a:solidFill>
                  <a:srgbClr val="102A43"/>
                </a:solidFill>
              </a:rPr>
              <a:t>Figure caption</a:t>
            </a:r>
          </a:p>
        </p:txBody>
      </p:sp>
      <p:sp>
        <p:nvSpPr>
          <p:cNvPr id="83" name="figure-four-source">
            <a:extLst xmlns:a="http://schemas.openxmlformats.org/drawingml/2006/main">
              <a:ext uri="{FF2B5EF4-FFF2-40B4-BE49-F238E27FC236}">
                <a16:creationId xmlns:a16="http://schemas.microsoft.com/office/drawing/2014/main" id="{93268400-38FE-4C2B-8971-D9DB9218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02592" y="17058469"/>
            <a:ext cx="9372373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i="1">
                <a:solidFill>
                  <a:srgbClr val="2C8C99"/>
                </a:solidFill>
              </a:defRPr>
            </a:pPr>
            <a:r>
              <a:rPr sz="1650" i="1">
                <a:solidFill>
                  <a:srgbClr val="2C8C99"/>
                </a:solidFill>
              </a:rPr>
              <a:t>Evidence/source locator</a:t>
            </a:r>
          </a:p>
        </p:txBody>
      </p:sp>
      <p:sp>
        <p:nvSpPr>
          <p:cNvPr id="84" name="conclusion-heading-title">
            <a:extLst xmlns:a="http://schemas.openxmlformats.org/drawingml/2006/main">
              <a:ext uri="{FF2B5EF4-FFF2-40B4-BE49-F238E27FC236}">
                <a16:creationId xmlns:a16="http://schemas.microsoft.com/office/drawing/2014/main" id="{43CACFCD-29A7-4A64-B30F-2C38FE1B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17657130"/>
            <a:ext cx="9695791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F5F73"/>
                </a:solidFill>
              </a:defRPr>
            </a:pPr>
            <a:r>
              <a:rPr sz="2850" b="1">
                <a:solidFill>
                  <a:srgbClr val="0F5F73"/>
                </a:solidFill>
              </a:rPr>
              <a:t>Conclusion</a:t>
            </a:r>
          </a:p>
        </p:txBody>
      </p:sp>
      <p:sp>
        <p:nvSpPr>
          <p:cNvPr id="85" name="conclusion-heading-rule">
            <a:extLst xmlns:a="http://schemas.openxmlformats.org/drawingml/2006/main">
              <a:ext uri="{FF2B5EF4-FFF2-40B4-BE49-F238E27FC236}">
                <a16:creationId xmlns:a16="http://schemas.microsoft.com/office/drawing/2014/main" id="{01EF6AB2-3457-40CB-9C67-346AABCD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18107807"/>
            <a:ext cx="2223496" cy="67265"/>
          </a:xfrm>
          <a:prstGeom xmlns:a="http://schemas.openxmlformats.org/drawingml/2006/main" prst="roundRect">
            <a:avLst>
              <a:gd name="adj" fmla="val 28321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conclusion-panel">
            <a:extLst xmlns:a="http://schemas.openxmlformats.org/drawingml/2006/main">
              <a:ext uri="{FF2B5EF4-FFF2-40B4-BE49-F238E27FC236}">
                <a16:creationId xmlns:a16="http://schemas.microsoft.com/office/drawing/2014/main" id="{C8FB8638-C0DA-4FCC-8892-7B3EB6A64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18262517"/>
            <a:ext cx="9695791" cy="2219753"/>
          </a:xfrm>
          <a:prstGeom xmlns:a="http://schemas.openxmlformats.org/drawingml/2006/main" prst="roundRect">
            <a:avLst>
              <a:gd name="adj" fmla="val 51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0180">
            <a:solidFill>
              <a:srgbClr val="D9E2EC"/>
            </a:solidFill>
            <a:prstDash val="solid"/>
          </a:ln>
        </p:spPr>
      </p:sp>
      <p:sp>
        <p:nvSpPr>
          <p:cNvPr id="87" name="conclusion">
            <a:extLst xmlns:a="http://schemas.openxmlformats.org/drawingml/2006/main">
              <a:ext uri="{FF2B5EF4-FFF2-40B4-BE49-F238E27FC236}">
                <a16:creationId xmlns:a16="http://schemas.microsoft.com/office/drawing/2014/main" id="{5ECE7C8A-6BE7-48E6-8D75-64A864BB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69970" y="18484492"/>
            <a:ext cx="9237616" cy="1547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05">
                <a:solidFill>
                  <a:srgbClr val="102A43"/>
                </a:solidFill>
              </a:defRPr>
            </a:pPr>
            <a:r>
              <a:rPr sz="2805">
                <a:solidFill>
                  <a:srgbClr val="102A43"/>
                </a:solidFill>
              </a:rPr>
              <a:t>State the supported conclusion and retain the most important limitation.</a:t>
            </a:r>
          </a:p>
        </p:txBody>
      </p:sp>
      <p:sp>
        <p:nvSpPr>
          <p:cNvPr id="88" name="conclusion-evidence">
            <a:extLst xmlns:a="http://schemas.openxmlformats.org/drawingml/2006/main">
              <a:ext uri="{FF2B5EF4-FFF2-40B4-BE49-F238E27FC236}">
                <a16:creationId xmlns:a16="http://schemas.microsoft.com/office/drawing/2014/main" id="{AC663882-56F8-4765-902B-50856238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69970" y="20125765"/>
            <a:ext cx="9237616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i="1">
                <a:solidFill>
                  <a:srgbClr val="2C8C99"/>
                </a:solidFill>
              </a:defRPr>
            </a:pPr>
            <a:r>
              <a:rPr sz="1650" i="1">
                <a:solidFill>
                  <a:srgbClr val="2C8C99"/>
                </a:solidFill>
              </a:rPr>
              <a:t>Evidence: discussion and conclusion</a:t>
            </a:r>
          </a:p>
        </p:txBody>
      </p:sp>
      <p:sp>
        <p:nvSpPr>
          <p:cNvPr id="89" name="footer-band">
            <a:extLst xmlns:a="http://schemas.openxmlformats.org/drawingml/2006/main">
              <a:ext uri="{FF2B5EF4-FFF2-40B4-BE49-F238E27FC236}">
                <a16:creationId xmlns:a16="http://schemas.microsoft.com/office/drawing/2014/main" id="{5303ACCD-DEC3-43EA-A270-28043278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717699"/>
            <a:ext cx="30279975" cy="66592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85DED568-5D08-4BA1-AB2E-52DAFFED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20899315"/>
            <a:ext cx="20213601" cy="28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Source citation · content mode · asset license</a:t>
            </a:r>
          </a:p>
        </p:txBody>
      </p:sp>
      <p:sp>
        <p:nvSpPr>
          <p:cNvPr id="91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8B472A99-2B96-4287-8DDD-0508A9F8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22146" y="20899315"/>
            <a:ext cx="8287577" cy="28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575" b="1">
                <a:solidFill>
                  <a:srgbClr val="E8B44C"/>
                </a:solidFill>
              </a:defRPr>
            </a:pPr>
            <a:r>
              <a:rPr sz="1575" b="1">
                <a:solidFill>
                  <a:srgbClr val="E8B44C"/>
                </a:solidFill>
              </a:rPr>
              <a:t>Approval status · scientific colors locked</a:t>
            </a:r>
          </a:p>
        </p:txBody>
      </p:sp>
    </p:spTree>
    <p:extLst>
      <p:ext uri="{BB962C8B-B14F-4D97-AF65-F5344CB8AC3E}">
        <p14:creationId xmlns:p14="http://schemas.microsoft.com/office/powerpoint/2010/main" val="13230799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2026-08-07T03:58:36.3430000Z</dcterms:created>
  <dcterms:modified xsi:type="dcterms:W3CDTF">2026-08-07T03:58:36.3430000Z</dcterms:modified>
</coreProperties>
</file>