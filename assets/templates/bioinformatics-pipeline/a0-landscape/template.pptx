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a8f647762ef4f70" /><Relationship Type="http://schemas.openxmlformats.org/officeDocument/2006/relationships/extended-properties" Target="/docProps/app.xml" Id="Rd12aef66e6514c58" /><Relationship Type="http://schemas.openxmlformats.org/officeDocument/2006/relationships/officeDocument" Target="/ppt/presentation.xml" Id="Rcbc0eff91e404fe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7313914108c4f0a"/>
  </p:sldMasterIdLst>
  <p:notesMasterIdLst>
    <p:notesMasterId xmlns:r="http://schemas.openxmlformats.org/officeDocument/2006/relationships" r:id="R9be4877268534c82"/>
  </p:notesMasterIdLst>
  <p:sldIdLst>
    <p:sldId xmlns:r="http://schemas.openxmlformats.org/officeDocument/2006/relationships" id="256" r:id="Re16ff08079184fa2"/>
  </p:sldIdLst>
  <p:sldSz cx="42805350" cy="30279975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030b90f65ba4aa8" /><Relationship Type="http://schemas.openxmlformats.org/officeDocument/2006/relationships/slideMaster" Target="/ppt/slideMasters/slideMaster1.xml" Id="Rc7313914108c4f0a" /><Relationship Type="http://schemas.openxmlformats.org/officeDocument/2006/relationships/notesMaster" Target="/ppt/notesMasters/notesMaster1.xml" Id="R9be4877268534c82" /><Relationship Type="http://schemas.openxmlformats.org/officeDocument/2006/relationships/presProps" Target="/ppt/presProps.xml" Id="Re4b1ba417fce41fa" /><Relationship Type="http://schemas.openxmlformats.org/officeDocument/2006/relationships/tableStyles" Target="/ppt/tableStyles.xml" Id="Rd0e3a67273014105" /><Relationship Type="http://schemas.openxmlformats.org/officeDocument/2006/relationships/slide" Target="/ppt/slides/slide1.xml" Id="Re16ff08079184fa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43ada2a132a45e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9032e392ef34bd3" /><Relationship Type="http://schemas.openxmlformats.org/officeDocument/2006/relationships/notesMaster" Target="/ppt/notesMasters/notesMaster1.xml" Id="R90185445c91342b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PostEx official template asset; CC BY 4.0</a:t>
            </a:r>
          </a:p>
          <a:p xmlns:a="http://schemas.openxmlformats.org/drawingml/2006/main">
            <a:r>
              <a:t>- No third-party logo or scientific figure is embedded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43e363ec182474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2e4f80a87c8460a" /><Relationship Type="http://schemas.openxmlformats.org/officeDocument/2006/relationships/slideLayout" Target="/ppt/slideLayouts/slideLayout1.xml" Id="Ra05d98f675974cc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05d98f675974cc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7b3d775c4e463a" /><Relationship Type="http://schemas.openxmlformats.org/officeDocument/2006/relationships/notesSlide" Target="/ppt/notesSlides/notesSlide1.xml" Id="R6f6339abb350461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6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2" name="header-band">
            <a:extLst xmlns:a="http://schemas.openxmlformats.org/drawingml/2006/main">
              <a:ext uri="{FF2B5EF4-FFF2-40B4-BE49-F238E27FC236}">
                <a16:creationId xmlns:a16="http://schemas.microsoft.com/office/drawing/2014/main" id="{B943E98F-5F2D-4D93-AD6A-1BDC96993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2805350" cy="49530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0F5F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op-accent">
            <a:extLst xmlns:a="http://schemas.openxmlformats.org/drawingml/2006/main">
              <a:ext uri="{FF2B5EF4-FFF2-40B4-BE49-F238E27FC236}">
                <a16:creationId xmlns:a16="http://schemas.microsoft.com/office/drawing/2014/main" id="{5225D396-0C17-47AD-A699-5604F2B96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2805350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oster-title">
            <a:extLst xmlns:a="http://schemas.openxmlformats.org/drawingml/2006/main">
              <a:ext uri="{FF2B5EF4-FFF2-40B4-BE49-F238E27FC236}">
                <a16:creationId xmlns:a16="http://schemas.microsoft.com/office/drawing/2014/main" id="{B3AAB54D-19C5-41B1-8B68-12063EA41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90550"/>
            <a:ext cx="297180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350" b="1">
                <a:solidFill>
                  <a:srgbClr val="FFFFFF"/>
                </a:solidFill>
              </a:defRPr>
            </a:pPr>
            <a:r>
              <a:rPr sz="7350" b="1">
                <a:solidFill>
                  <a:srgbClr val="FFFFFF"/>
                </a:solidFill>
              </a:rPr>
              <a:t>Evidence-traceable bioinformatics poster title</a:t>
            </a:r>
          </a:p>
        </p:txBody>
      </p:sp>
      <p:sp>
        <p:nvSpPr>
          <p:cNvPr id="4" name="authors">
            <a:extLst xmlns:a="http://schemas.openxmlformats.org/drawingml/2006/main">
              <a:ext uri="{FF2B5EF4-FFF2-40B4-BE49-F238E27FC236}">
                <a16:creationId xmlns:a16="http://schemas.microsoft.com/office/drawing/2014/main" id="{718F821F-07B2-4286-A51F-47E2A4C17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914650"/>
            <a:ext cx="29432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75" b="1">
                <a:solidFill>
                  <a:srgbClr val="FFFFFF"/>
                </a:solidFill>
              </a:defRPr>
            </a:pPr>
            <a:r>
              <a:rPr sz="2775" b="1">
                <a:solidFill>
                  <a:srgbClr val="FFFFFF"/>
                </a:solidFill>
              </a:rPr>
              <a:t>Author names</a:t>
            </a:r>
          </a:p>
        </p:txBody>
      </p:sp>
      <p:sp>
        <p:nvSpPr>
          <p:cNvPr id="5" name="affiliations">
            <a:extLst xmlns:a="http://schemas.openxmlformats.org/drawingml/2006/main">
              <a:ext uri="{FF2B5EF4-FFF2-40B4-BE49-F238E27FC236}">
                <a16:creationId xmlns:a16="http://schemas.microsoft.com/office/drawing/2014/main" id="{04A02AA6-C0CA-4EA2-81BE-2BBE51037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638550"/>
            <a:ext cx="29432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F6F8FA"/>
                </a:solidFill>
              </a:defRPr>
            </a:pPr>
            <a:r>
              <a:rPr sz="2175">
                <a:solidFill>
                  <a:srgbClr val="F6F8FA"/>
                </a:solidFill>
              </a:rPr>
              <a:t>Institutions and collaborating centers</a:t>
            </a:r>
          </a:p>
        </p:txBody>
      </p:sp>
      <p:sp>
        <p:nvSpPr>
          <p:cNvPr id="6" name="citation">
            <a:extLst xmlns:a="http://schemas.openxmlformats.org/drawingml/2006/main">
              <a:ext uri="{FF2B5EF4-FFF2-40B4-BE49-F238E27FC236}">
                <a16:creationId xmlns:a16="http://schemas.microsoft.com/office/drawing/2014/main" id="{2952E778-8F37-4BCE-85E3-31A284BD6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238625"/>
            <a:ext cx="24288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E8B44C"/>
                </a:solidFill>
              </a:defRPr>
            </a:pPr>
            <a:r>
              <a:rPr sz="1950" b="1">
                <a:solidFill>
                  <a:srgbClr val="E8B44C"/>
                </a:solidFill>
              </a:rPr>
              <a:t>Journal or conference · DOI</a:t>
            </a:r>
          </a:p>
        </p:txBody>
      </p:sp>
      <p:sp>
        <p:nvSpPr>
          <p:cNvPr id="7" name="logo-slot-institution-logo">
            <a:extLst xmlns:a="http://schemas.openxmlformats.org/drawingml/2006/main">
              <a:ext uri="{FF2B5EF4-FFF2-40B4-BE49-F238E27FC236}">
                <a16:creationId xmlns:a16="http://schemas.microsoft.com/office/drawing/2014/main" id="{11520F9D-4AEE-45EF-BDE9-5878AC16B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0" y="552450"/>
            <a:ext cx="933450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9E2EC"/>
            </a:solidFill>
            <a:prstDash val="solid"/>
          </a:ln>
        </p:spPr>
      </p:sp>
      <p:sp>
        <p:nvSpPr>
          <p:cNvPr id="8" name="logo-placeholder-institution-logo">
            <a:extLst xmlns:a="http://schemas.openxmlformats.org/drawingml/2006/main">
              <a:ext uri="{FF2B5EF4-FFF2-40B4-BE49-F238E27FC236}">
                <a16:creationId xmlns:a16="http://schemas.microsoft.com/office/drawing/2014/main" id="{00405277-6549-429D-9E6E-4C70A29AB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13550" y="914400"/>
            <a:ext cx="910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F5F73"/>
                </a:solidFill>
              </a:defRPr>
            </a:pPr>
            <a:r>
              <a:rPr sz="2025" b="1">
                <a:solidFill>
                  <a:srgbClr val="0F5F73"/>
                </a:solidFill>
              </a:rPr>
              <a:t>Institution logo</a:t>
            </a:r>
          </a:p>
        </p:txBody>
      </p:sp>
      <p:sp>
        <p:nvSpPr>
          <p:cNvPr id="9" name="header-summary">
            <a:extLst xmlns:a="http://schemas.openxmlformats.org/drawingml/2006/main">
              <a:ext uri="{FF2B5EF4-FFF2-40B4-BE49-F238E27FC236}">
                <a16:creationId xmlns:a16="http://schemas.microsoft.com/office/drawing/2014/main" id="{B66A27FE-E50C-415F-A8DA-50C1DF0B2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0" y="2000250"/>
            <a:ext cx="9334500" cy="2286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header-metric-1-value">
            <a:extLst xmlns:a="http://schemas.openxmlformats.org/drawingml/2006/main">
              <a:ext uri="{FF2B5EF4-FFF2-40B4-BE49-F238E27FC236}">
                <a16:creationId xmlns:a16="http://schemas.microsoft.com/office/drawing/2014/main" id="{B656911E-987D-446E-AD35-C5FF594D2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0" y="2286000"/>
            <a:ext cx="2476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5100" b="1">
                <a:solidFill>
                  <a:srgbClr val="0F5F73"/>
                </a:solidFill>
              </a:defRPr>
            </a:pPr>
            <a:r>
              <a:rPr sz="5100" b="1">
                <a:solidFill>
                  <a:srgbClr val="0F5F73"/>
                </a:solidFill>
              </a:rPr>
              <a:t>N</a:t>
            </a:r>
          </a:p>
        </p:txBody>
      </p:sp>
      <p:sp>
        <p:nvSpPr>
          <p:cNvPr id="11" name="header-metric-1-label">
            <a:extLst xmlns:a="http://schemas.openxmlformats.org/drawingml/2006/main">
              <a:ext uri="{FF2B5EF4-FFF2-40B4-BE49-F238E27FC236}">
                <a16:creationId xmlns:a16="http://schemas.microsoft.com/office/drawing/2014/main" id="{E18A8E4B-1635-418F-8F81-77CBD9DDA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0" y="3067050"/>
            <a:ext cx="247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02A43"/>
                </a:solidFill>
              </a:defRPr>
            </a:pPr>
            <a:r>
              <a:rPr sz="2325" b="1">
                <a:solidFill>
                  <a:srgbClr val="102A43"/>
                </a:solidFill>
              </a:rPr>
              <a:t>signature features</a:t>
            </a:r>
          </a:p>
        </p:txBody>
      </p:sp>
      <p:sp>
        <p:nvSpPr>
          <p:cNvPr id="12" name="header-metric-2-value">
            <a:extLst xmlns:a="http://schemas.openxmlformats.org/drawingml/2006/main">
              <a:ext uri="{FF2B5EF4-FFF2-40B4-BE49-F238E27FC236}">
                <a16:creationId xmlns:a16="http://schemas.microsoft.com/office/drawing/2014/main" id="{77AFEF6C-0E5C-40AD-82C5-99D1CED61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0" y="2286000"/>
            <a:ext cx="2476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5100" b="1">
                <a:solidFill>
                  <a:srgbClr val="2C8C99"/>
                </a:solidFill>
              </a:defRPr>
            </a:pPr>
            <a:r>
              <a:rPr sz="5100" b="1">
                <a:solidFill>
                  <a:srgbClr val="2C8C99"/>
                </a:solidFill>
              </a:rPr>
              <a:t>N</a:t>
            </a:r>
          </a:p>
        </p:txBody>
      </p:sp>
      <p:sp>
        <p:nvSpPr>
          <p:cNvPr id="13" name="header-metric-2-label">
            <a:extLst xmlns:a="http://schemas.openxmlformats.org/drawingml/2006/main">
              <a:ext uri="{FF2B5EF4-FFF2-40B4-BE49-F238E27FC236}">
                <a16:creationId xmlns:a16="http://schemas.microsoft.com/office/drawing/2014/main" id="{D75684AA-8BC7-4679-928A-BE28B4D40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0" y="3067050"/>
            <a:ext cx="247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02A43"/>
                </a:solidFill>
              </a:defRPr>
            </a:pPr>
            <a:r>
              <a:rPr sz="2325" b="1">
                <a:solidFill>
                  <a:srgbClr val="102A43"/>
                </a:solidFill>
              </a:rPr>
              <a:t>discovery samples</a:t>
            </a:r>
          </a:p>
        </p:txBody>
      </p:sp>
      <p:sp>
        <p:nvSpPr>
          <p:cNvPr id="14" name="header-metric-3-value">
            <a:extLst xmlns:a="http://schemas.openxmlformats.org/drawingml/2006/main">
              <a:ext uri="{FF2B5EF4-FFF2-40B4-BE49-F238E27FC236}">
                <a16:creationId xmlns:a16="http://schemas.microsoft.com/office/drawing/2014/main" id="{8E7F891D-AD44-4378-9516-BD7C288EA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0" y="2286000"/>
            <a:ext cx="2476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5100" b="1">
                <a:solidFill>
                  <a:srgbClr val="E8B44C"/>
                </a:solidFill>
              </a:defRPr>
            </a:pPr>
            <a:r>
              <a:rPr sz="5100" b="1">
                <a:solidFill>
                  <a:srgbClr val="E8B44C"/>
                </a:solidFill>
              </a:rPr>
              <a:t>N</a:t>
            </a:r>
          </a:p>
        </p:txBody>
      </p:sp>
      <p:sp>
        <p:nvSpPr>
          <p:cNvPr id="15" name="header-metric-3-label">
            <a:extLst xmlns:a="http://schemas.openxmlformats.org/drawingml/2006/main">
              <a:ext uri="{FF2B5EF4-FFF2-40B4-BE49-F238E27FC236}">
                <a16:creationId xmlns:a16="http://schemas.microsoft.com/office/drawing/2014/main" id="{BB123E47-4A0F-4CEE-94E3-2E2C30EEB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0" y="3067050"/>
            <a:ext cx="247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02A43"/>
                </a:solidFill>
              </a:defRPr>
            </a:pPr>
            <a:r>
              <a:rPr sz="2325" b="1">
                <a:solidFill>
                  <a:srgbClr val="102A43"/>
                </a:solidFill>
              </a:rPr>
              <a:t>validation cohorts</a:t>
            </a:r>
          </a:p>
        </p:txBody>
      </p:sp>
      <p:sp>
        <p:nvSpPr>
          <p:cNvPr id="16" name="question-title">
            <a:extLst xmlns:a="http://schemas.openxmlformats.org/drawingml/2006/main">
              <a:ext uri="{FF2B5EF4-FFF2-40B4-BE49-F238E27FC236}">
                <a16:creationId xmlns:a16="http://schemas.microsoft.com/office/drawing/2014/main" id="{F5E6D123-E2D1-44BF-9ACA-C32DE0983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619750"/>
            <a:ext cx="1162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F5F73"/>
                </a:solidFill>
              </a:defRPr>
            </a:pPr>
            <a:r>
              <a:rPr sz="3600" b="1">
                <a:solidFill>
                  <a:srgbClr val="0F5F73"/>
                </a:solidFill>
              </a:rPr>
              <a:t>Research question</a:t>
            </a:r>
          </a:p>
        </p:txBody>
      </p:sp>
      <p:sp>
        <p:nvSpPr>
          <p:cNvPr id="17" name="question-rule">
            <a:extLst xmlns:a="http://schemas.openxmlformats.org/drawingml/2006/main">
              <a:ext uri="{FF2B5EF4-FFF2-40B4-BE49-F238E27FC236}">
                <a16:creationId xmlns:a16="http://schemas.microsoft.com/office/drawing/2014/main" id="{50636BFE-E796-40D9-B1D3-A502E55F8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6257925"/>
            <a:ext cx="3143250" cy="952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research-question">
            <a:extLst xmlns:a="http://schemas.openxmlformats.org/drawingml/2006/main">
              <a:ext uri="{FF2B5EF4-FFF2-40B4-BE49-F238E27FC236}">
                <a16:creationId xmlns:a16="http://schemas.microsoft.com/office/drawing/2014/main" id="{FB33F9C1-14A3-4AAC-8887-28609DB93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6496050"/>
            <a:ext cx="11620500" cy="2238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102A43"/>
                </a:solidFill>
              </a:defRPr>
            </a:pPr>
            <a:r>
              <a:rPr sz="2850">
                <a:solidFill>
                  <a:srgbClr val="102A43"/>
                </a:solidFill>
              </a:rPr>
              <a:t>State the biological or clinical question in two concise sentences.</a:t>
            </a:r>
          </a:p>
        </p:txBody>
      </p:sp>
      <p:sp>
        <p:nvSpPr>
          <p:cNvPr id="19" name="question-evidence">
            <a:extLst xmlns:a="http://schemas.openxmlformats.org/drawingml/2006/main">
              <a:ext uri="{FF2B5EF4-FFF2-40B4-BE49-F238E27FC236}">
                <a16:creationId xmlns:a16="http://schemas.microsoft.com/office/drawing/2014/main" id="{5F9D8EAA-35A1-409E-B8E0-B65AC9ED5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8686800"/>
            <a:ext cx="11620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i="1">
                <a:solidFill>
                  <a:srgbClr val="2C8C99"/>
                </a:solidFill>
              </a:defRPr>
            </a:pPr>
            <a:r>
              <a:rPr sz="1875" i="1">
                <a:solidFill>
                  <a:srgbClr val="2C8C99"/>
                </a:solidFill>
              </a:rPr>
              <a:t>Evidence: source page or section</a:t>
            </a:r>
          </a:p>
        </p:txBody>
      </p:sp>
      <p:sp>
        <p:nvSpPr>
          <p:cNvPr id="20" name="pipeline-title">
            <a:extLst xmlns:a="http://schemas.openxmlformats.org/drawingml/2006/main">
              <a:ext uri="{FF2B5EF4-FFF2-40B4-BE49-F238E27FC236}">
                <a16:creationId xmlns:a16="http://schemas.microsoft.com/office/drawing/2014/main" id="{B45E763E-4AF5-47E5-BD8A-73715D33E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9239250"/>
            <a:ext cx="1162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F5F73"/>
                </a:solidFill>
              </a:defRPr>
            </a:pPr>
            <a:r>
              <a:rPr sz="3600" b="1">
                <a:solidFill>
                  <a:srgbClr val="0F5F73"/>
                </a:solidFill>
              </a:rPr>
              <a:t>Analysis pipeline</a:t>
            </a:r>
          </a:p>
        </p:txBody>
      </p:sp>
      <p:sp>
        <p:nvSpPr>
          <p:cNvPr id="21" name="pipeline-rule">
            <a:extLst xmlns:a="http://schemas.openxmlformats.org/drawingml/2006/main">
              <a:ext uri="{FF2B5EF4-FFF2-40B4-BE49-F238E27FC236}">
                <a16:creationId xmlns:a16="http://schemas.microsoft.com/office/drawing/2014/main" id="{DA0D7B69-CE86-44A0-AD8D-21D2A2A0E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9877425"/>
            <a:ext cx="3143250" cy="952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pipeline-1-number-bg">
            <a:extLst xmlns:a="http://schemas.openxmlformats.org/drawingml/2006/main">
              <a:ext uri="{FF2B5EF4-FFF2-40B4-BE49-F238E27FC236}">
                <a16:creationId xmlns:a16="http://schemas.microsoft.com/office/drawing/2014/main" id="{F80AC29C-DC41-4C19-860F-E28EA4F29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0134600"/>
            <a:ext cx="5905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pipeline-1-number">
            <a:extLst xmlns:a="http://schemas.openxmlformats.org/drawingml/2006/main">
              <a:ext uri="{FF2B5EF4-FFF2-40B4-BE49-F238E27FC236}">
                <a16:creationId xmlns:a16="http://schemas.microsoft.com/office/drawing/2014/main" id="{39AC36DC-D5B8-45D0-B764-A31081F2C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0201275"/>
            <a:ext cx="590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02A43"/>
                </a:solidFill>
              </a:defRPr>
            </a:pPr>
            <a:r>
              <a:rPr sz="2325" b="1">
                <a:solidFill>
                  <a:srgbClr val="102A43"/>
                </a:solidFill>
              </a:rPr>
              <a:t>1</a:t>
            </a:r>
          </a:p>
        </p:txBody>
      </p:sp>
      <p:sp>
        <p:nvSpPr>
          <p:cNvPr id="24" name="pipeline-1-text">
            <a:extLst xmlns:a="http://schemas.openxmlformats.org/drawingml/2006/main">
              <a:ext uri="{FF2B5EF4-FFF2-40B4-BE49-F238E27FC236}">
                <a16:creationId xmlns:a16="http://schemas.microsoft.com/office/drawing/2014/main" id="{10F2BDE4-A5CA-4DEA-B794-3357E1270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10172700"/>
            <a:ext cx="10839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02A43"/>
                </a:solidFill>
              </a:defRPr>
            </a:pPr>
            <a:r>
              <a:rPr sz="2850" b="1">
                <a:solidFill>
                  <a:srgbClr val="102A43"/>
                </a:solidFill>
              </a:rPr>
              <a:t>Input biomarkers or features</a:t>
            </a:r>
          </a:p>
        </p:txBody>
      </p:sp>
      <p:sp>
        <p:nvSpPr>
          <p:cNvPr id="25" name="pipeline-2-number-bg">
            <a:extLst xmlns:a="http://schemas.openxmlformats.org/drawingml/2006/main">
              <a:ext uri="{FF2B5EF4-FFF2-40B4-BE49-F238E27FC236}">
                <a16:creationId xmlns:a16="http://schemas.microsoft.com/office/drawing/2014/main" id="{AA8575E1-BA98-4874-BB9A-5BD02552E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0896600"/>
            <a:ext cx="5905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pipeline-2-number">
            <a:extLst xmlns:a="http://schemas.openxmlformats.org/drawingml/2006/main">
              <a:ext uri="{FF2B5EF4-FFF2-40B4-BE49-F238E27FC236}">
                <a16:creationId xmlns:a16="http://schemas.microsoft.com/office/drawing/2014/main" id="{3FE1C661-9FFD-4D5E-9191-1ADF4CAC1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0963275"/>
            <a:ext cx="590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02A43"/>
                </a:solidFill>
              </a:defRPr>
            </a:pPr>
            <a:r>
              <a:rPr sz="2325" b="1">
                <a:solidFill>
                  <a:srgbClr val="102A43"/>
                </a:solidFill>
              </a:rPr>
              <a:t>2</a:t>
            </a:r>
          </a:p>
        </p:txBody>
      </p:sp>
      <p:sp>
        <p:nvSpPr>
          <p:cNvPr id="27" name="pipeline-2-text">
            <a:extLst xmlns:a="http://schemas.openxmlformats.org/drawingml/2006/main">
              <a:ext uri="{FF2B5EF4-FFF2-40B4-BE49-F238E27FC236}">
                <a16:creationId xmlns:a16="http://schemas.microsoft.com/office/drawing/2014/main" id="{53F19F9C-00AD-4A41-B812-672A9D84D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10934700"/>
            <a:ext cx="10839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02A43"/>
                </a:solidFill>
              </a:defRPr>
            </a:pPr>
            <a:r>
              <a:rPr sz="2850" b="1">
                <a:solidFill>
                  <a:srgbClr val="102A43"/>
                </a:solidFill>
              </a:rPr>
              <a:t>Feature selection</a:t>
            </a:r>
          </a:p>
        </p:txBody>
      </p:sp>
      <p:sp>
        <p:nvSpPr>
          <p:cNvPr id="28" name="pipeline-3-number-bg">
            <a:extLst xmlns:a="http://schemas.openxmlformats.org/drawingml/2006/main">
              <a:ext uri="{FF2B5EF4-FFF2-40B4-BE49-F238E27FC236}">
                <a16:creationId xmlns:a16="http://schemas.microsoft.com/office/drawing/2014/main" id="{5D6DFA99-3751-438D-B94E-C54D612B0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1658600"/>
            <a:ext cx="5905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pipeline-3-number">
            <a:extLst xmlns:a="http://schemas.openxmlformats.org/drawingml/2006/main">
              <a:ext uri="{FF2B5EF4-FFF2-40B4-BE49-F238E27FC236}">
                <a16:creationId xmlns:a16="http://schemas.microsoft.com/office/drawing/2014/main" id="{01ABDC1A-16C0-4B45-9254-46CBA84E4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1725275"/>
            <a:ext cx="590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02A43"/>
                </a:solidFill>
              </a:defRPr>
            </a:pPr>
            <a:r>
              <a:rPr sz="2325" b="1">
                <a:solidFill>
                  <a:srgbClr val="102A43"/>
                </a:solidFill>
              </a:rPr>
              <a:t>3</a:t>
            </a:r>
          </a:p>
        </p:txBody>
      </p:sp>
      <p:sp>
        <p:nvSpPr>
          <p:cNvPr id="30" name="pipeline-3-text">
            <a:extLst xmlns:a="http://schemas.openxmlformats.org/drawingml/2006/main">
              <a:ext uri="{FF2B5EF4-FFF2-40B4-BE49-F238E27FC236}">
                <a16:creationId xmlns:a16="http://schemas.microsoft.com/office/drawing/2014/main" id="{359BCF40-932A-4C09-B8B3-64FDC5C63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11696700"/>
            <a:ext cx="10839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02A43"/>
                </a:solidFill>
              </a:defRPr>
            </a:pPr>
            <a:r>
              <a:rPr sz="2850" b="1">
                <a:solidFill>
                  <a:srgbClr val="102A43"/>
                </a:solidFill>
              </a:rPr>
              <a:t>Model construction</a:t>
            </a:r>
          </a:p>
        </p:txBody>
      </p:sp>
      <p:sp>
        <p:nvSpPr>
          <p:cNvPr id="31" name="pipeline-4-number-bg">
            <a:extLst xmlns:a="http://schemas.openxmlformats.org/drawingml/2006/main">
              <a:ext uri="{FF2B5EF4-FFF2-40B4-BE49-F238E27FC236}">
                <a16:creationId xmlns:a16="http://schemas.microsoft.com/office/drawing/2014/main" id="{974F87F6-6387-46B2-8A83-8F71BAE33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2420600"/>
            <a:ext cx="5905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pipeline-4-number">
            <a:extLst xmlns:a="http://schemas.openxmlformats.org/drawingml/2006/main">
              <a:ext uri="{FF2B5EF4-FFF2-40B4-BE49-F238E27FC236}">
                <a16:creationId xmlns:a16="http://schemas.microsoft.com/office/drawing/2014/main" id="{DBD89A33-0238-4F24-BAAC-8133402C7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2487275"/>
            <a:ext cx="590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02A43"/>
                </a:solidFill>
              </a:defRPr>
            </a:pPr>
            <a:r>
              <a:rPr sz="2325" b="1">
                <a:solidFill>
                  <a:srgbClr val="102A43"/>
                </a:solidFill>
              </a:rPr>
              <a:t>4</a:t>
            </a:r>
          </a:p>
        </p:txBody>
      </p:sp>
      <p:sp>
        <p:nvSpPr>
          <p:cNvPr id="33" name="pipeline-4-text">
            <a:extLst xmlns:a="http://schemas.openxmlformats.org/drawingml/2006/main">
              <a:ext uri="{FF2B5EF4-FFF2-40B4-BE49-F238E27FC236}">
                <a16:creationId xmlns:a16="http://schemas.microsoft.com/office/drawing/2014/main" id="{4EF78C30-B261-4423-91C5-28F4F603B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12458700"/>
            <a:ext cx="10839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02A43"/>
                </a:solidFill>
              </a:defRPr>
            </a:pPr>
            <a:r>
              <a:rPr sz="2850" b="1">
                <a:solidFill>
                  <a:srgbClr val="102A43"/>
                </a:solidFill>
              </a:rPr>
              <a:t>Independent validation</a:t>
            </a:r>
          </a:p>
        </p:txBody>
      </p:sp>
      <p:sp>
        <p:nvSpPr>
          <p:cNvPr id="34" name="dataset-panel">
            <a:extLst xmlns:a="http://schemas.openxmlformats.org/drawingml/2006/main">
              <a:ext uri="{FF2B5EF4-FFF2-40B4-BE49-F238E27FC236}">
                <a16:creationId xmlns:a16="http://schemas.microsoft.com/office/drawing/2014/main" id="{FBFF06DA-F8D0-4C93-9215-E01B4CDDB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3430250"/>
            <a:ext cx="11620500" cy="3429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D9E2EC"/>
            </a:solidFill>
            <a:prstDash val="solid"/>
          </a:ln>
        </p:spPr>
      </p:sp>
      <p:sp>
        <p:nvSpPr>
          <p:cNvPr id="35" name="dataset-kicker">
            <a:extLst xmlns:a="http://schemas.openxmlformats.org/drawingml/2006/main">
              <a:ext uri="{FF2B5EF4-FFF2-40B4-BE49-F238E27FC236}">
                <a16:creationId xmlns:a16="http://schemas.microsoft.com/office/drawing/2014/main" id="{6344AB8E-5A4F-4F19-9FA9-043A09B31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13716000"/>
            <a:ext cx="4381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0F5F73"/>
                </a:solidFill>
              </a:defRPr>
            </a:pPr>
            <a:r>
              <a:rPr sz="2175" b="1">
                <a:solidFill>
                  <a:srgbClr val="0F5F73"/>
                </a:solidFill>
              </a:rPr>
              <a:t>DATA FOUNDATION</a:t>
            </a:r>
          </a:p>
        </p:txBody>
      </p:sp>
      <p:sp>
        <p:nvSpPr>
          <p:cNvPr id="36" name="datasets">
            <a:extLst xmlns:a="http://schemas.openxmlformats.org/drawingml/2006/main">
              <a:ext uri="{FF2B5EF4-FFF2-40B4-BE49-F238E27FC236}">
                <a16:creationId xmlns:a16="http://schemas.microsoft.com/office/drawing/2014/main" id="{FEA2DCF9-D854-4A29-ABBA-6B726048C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14239875"/>
            <a:ext cx="110871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102A43"/>
                </a:solidFill>
              </a:defRPr>
            </a:pPr>
            <a:r>
              <a:rPr sz="2850">
                <a:solidFill>
                  <a:srgbClr val="102A43"/>
                </a:solidFill>
              </a:rPr>
              <a:t>Discovery cohort</a:t>
            </a:r>
          </a:p>
          <a:p xmlns:a="http://schemas.openxmlformats.org/drawingml/2006/main">
            <a:pPr>
              <a:defRPr sz="2850">
                <a:solidFill>
                  <a:srgbClr val="102A43"/>
                </a:solidFill>
              </a:defRPr>
            </a:pPr>
            <a:r>
              <a:rPr sz="2850">
                <a:solidFill>
                  <a:srgbClr val="102A43"/>
                </a:solidFill>
              </a:rPr>
              <a:t>Training and test split</a:t>
            </a:r>
          </a:p>
          <a:p xmlns:a="http://schemas.openxmlformats.org/drawingml/2006/main">
            <a:pPr>
              <a:defRPr sz="2850">
                <a:solidFill>
                  <a:srgbClr val="102A43"/>
                </a:solidFill>
              </a:defRPr>
            </a:pPr>
            <a:r>
              <a:rPr sz="2850">
                <a:solidFill>
                  <a:srgbClr val="102A43"/>
                </a:solidFill>
              </a:rPr>
              <a:t>External validation</a:t>
            </a:r>
          </a:p>
          <a:p xmlns:a="http://schemas.openxmlformats.org/drawingml/2006/main">
            <a:pPr>
              <a:defRPr sz="2850">
                <a:solidFill>
                  <a:srgbClr val="102A43"/>
                </a:solidFill>
              </a:defRPr>
            </a:pPr>
            <a:r>
              <a:rPr sz="2850">
                <a:solidFill>
                  <a:srgbClr val="102A43"/>
                </a:solidFill>
              </a:rPr>
              <a:t>Orthogonal validation</a:t>
            </a:r>
          </a:p>
        </p:txBody>
      </p:sp>
      <p:sp>
        <p:nvSpPr>
          <p:cNvPr id="37" name="dataset-evidence">
            <a:extLst xmlns:a="http://schemas.openxmlformats.org/drawingml/2006/main">
              <a:ext uri="{FF2B5EF4-FFF2-40B4-BE49-F238E27FC236}">
                <a16:creationId xmlns:a16="http://schemas.microsoft.com/office/drawing/2014/main" id="{0C65B472-9EF1-432D-8453-F6ADE6AAD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16411575"/>
            <a:ext cx="11087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i="1">
                <a:solidFill>
                  <a:srgbClr val="2C8C99"/>
                </a:solidFill>
              </a:defRPr>
            </a:pPr>
            <a:r>
              <a:rPr sz="1875" i="1">
                <a:solidFill>
                  <a:srgbClr val="2C8C99"/>
                </a:solidFill>
              </a:rPr>
              <a:t>Evidence: methods and dataset table</a:t>
            </a:r>
          </a:p>
        </p:txBody>
      </p:sp>
      <p:sp>
        <p:nvSpPr>
          <p:cNvPr id="38" name="figure-one-heading-title">
            <a:extLst xmlns:a="http://schemas.openxmlformats.org/drawingml/2006/main">
              <a:ext uri="{FF2B5EF4-FFF2-40B4-BE49-F238E27FC236}">
                <a16:creationId xmlns:a16="http://schemas.microsoft.com/office/drawing/2014/main" id="{0C624AC1-B4A8-4D80-8A62-7A1C14C45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7383125"/>
            <a:ext cx="1162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F5F73"/>
                </a:solidFill>
              </a:defRPr>
            </a:pPr>
            <a:r>
              <a:rPr sz="3600" b="1">
                <a:solidFill>
                  <a:srgbClr val="0F5F73"/>
                </a:solidFill>
              </a:rPr>
              <a:t>From features to signature</a:t>
            </a:r>
          </a:p>
        </p:txBody>
      </p:sp>
      <p:sp>
        <p:nvSpPr>
          <p:cNvPr id="39" name="figure-one-heading-rule">
            <a:extLst xmlns:a="http://schemas.openxmlformats.org/drawingml/2006/main">
              <a:ext uri="{FF2B5EF4-FFF2-40B4-BE49-F238E27FC236}">
                <a16:creationId xmlns:a16="http://schemas.microsoft.com/office/drawing/2014/main" id="{64844983-825B-42ED-A5F1-EB50A94CF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8021300"/>
            <a:ext cx="3143250" cy="952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figure-one-frame">
            <a:extLst xmlns:a="http://schemas.openxmlformats.org/drawingml/2006/main">
              <a:ext uri="{FF2B5EF4-FFF2-40B4-BE49-F238E27FC236}">
                <a16:creationId xmlns:a16="http://schemas.microsoft.com/office/drawing/2014/main" id="{5733C612-C5A0-4D62-8A0A-EC5B94115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8240375"/>
            <a:ext cx="11620500" cy="9906000"/>
          </a:xfrm>
          <a:prstGeom xmlns:a="http://schemas.openxmlformats.org/drawingml/2006/main" prst="roundRect">
            <a:avLst>
              <a:gd name="adj" fmla="val 11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D9E2EC"/>
            </a:solidFill>
            <a:prstDash val="solid"/>
          </a:ln>
        </p:spPr>
      </p:sp>
      <p:sp>
        <p:nvSpPr>
          <p:cNvPr id="41" name="figure-one-placeholder">
            <a:extLst xmlns:a="http://schemas.openxmlformats.org/drawingml/2006/main">
              <a:ext uri="{FF2B5EF4-FFF2-40B4-BE49-F238E27FC236}">
                <a16:creationId xmlns:a16="http://schemas.microsoft.com/office/drawing/2014/main" id="{70F02DA1-1A27-4969-94EF-E7F4FFDC1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8430875"/>
            <a:ext cx="11239500" cy="8972550"/>
          </a:xfrm>
          <a:prstGeom xmlns:a="http://schemas.openxmlformats.org/drawingml/2006/main" prst="roundRect">
            <a:avLst>
              <a:gd name="adj" fmla="val 849"/>
            </a:avLst>
          </a:prstGeom>
          <a:solidFill xmlns:a="http://schemas.openxmlformats.org/drawingml/2006/main">
            <a:srgbClr val="F6F8FA"/>
          </a:solidFill>
          <a:ln xmlns:a="http://schemas.openxmlformats.org/drawingml/2006/main" w="19050">
            <a:solidFill>
              <a:srgbClr val="D9E2EC"/>
            </a:solidFill>
            <a:prstDash val="solid"/>
          </a:ln>
        </p:spPr>
      </p:sp>
      <p:sp>
        <p:nvSpPr>
          <p:cNvPr id="42" name="figure-one-placeholder-label">
            <a:extLst xmlns:a="http://schemas.openxmlformats.org/drawingml/2006/main">
              <a:ext uri="{FF2B5EF4-FFF2-40B4-BE49-F238E27FC236}">
                <a16:creationId xmlns:a16="http://schemas.microsoft.com/office/drawing/2014/main" id="{70B59292-CF2D-4CF7-9CCB-C23E6DDFA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22621875"/>
            <a:ext cx="10477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2C8C99"/>
                </a:solidFill>
              </a:defRPr>
            </a:pPr>
            <a:r>
              <a:rPr sz="2700" b="1">
                <a:solidFill>
                  <a:srgbClr val="2C8C99"/>
                </a:solidFill>
              </a:rPr>
              <a:t>SCIENTIFIC FIGURE</a:t>
            </a:r>
          </a:p>
        </p:txBody>
      </p:sp>
      <p:sp>
        <p:nvSpPr>
          <p:cNvPr id="43" name="figure-one-caption">
            <a:extLst xmlns:a="http://schemas.openxmlformats.org/drawingml/2006/main">
              <a:ext uri="{FF2B5EF4-FFF2-40B4-BE49-F238E27FC236}">
                <a16:creationId xmlns:a16="http://schemas.microsoft.com/office/drawing/2014/main" id="{BAB32BC1-3578-4B10-A1C5-C087E2B65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7460575"/>
            <a:ext cx="1116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02A43"/>
                </a:solidFill>
              </a:defRPr>
            </a:pPr>
            <a:r>
              <a:rPr sz="2250" b="1">
                <a:solidFill>
                  <a:srgbClr val="102A43"/>
                </a:solidFill>
              </a:rPr>
              <a:t>Figure caption</a:t>
            </a:r>
          </a:p>
        </p:txBody>
      </p:sp>
      <p:sp>
        <p:nvSpPr>
          <p:cNvPr id="44" name="figure-one-source">
            <a:extLst xmlns:a="http://schemas.openxmlformats.org/drawingml/2006/main">
              <a:ext uri="{FF2B5EF4-FFF2-40B4-BE49-F238E27FC236}">
                <a16:creationId xmlns:a16="http://schemas.microsoft.com/office/drawing/2014/main" id="{63DE9C76-7076-4A63-A6BA-57DC5E3C8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7774900"/>
            <a:ext cx="11163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i="1">
                <a:solidFill>
                  <a:srgbClr val="2C8C99"/>
                </a:solidFill>
              </a:defRPr>
            </a:pPr>
            <a:r>
              <a:rPr sz="1875" i="1">
                <a:solidFill>
                  <a:srgbClr val="2C8C99"/>
                </a:solidFill>
              </a:rPr>
              <a:t>Evidence/source locator</a:t>
            </a:r>
          </a:p>
        </p:txBody>
      </p:sp>
      <p:sp>
        <p:nvSpPr>
          <p:cNvPr id="45" name="central-takeaway">
            <a:extLst xmlns:a="http://schemas.openxmlformats.org/drawingml/2006/main">
              <a:ext uri="{FF2B5EF4-FFF2-40B4-BE49-F238E27FC236}">
                <a16:creationId xmlns:a16="http://schemas.microsoft.com/office/drawing/2014/main" id="{91A37D52-7246-4CDA-86FC-37B764D95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5619750"/>
            <a:ext cx="13668375" cy="2524125"/>
          </a:xfrm>
          <a:prstGeom xmlns:a="http://schemas.openxmlformats.org/drawingml/2006/main" prst="roundRect">
            <a:avLst>
              <a:gd name="adj" fmla="val 6038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central-takeaway-title">
            <a:extLst xmlns:a="http://schemas.openxmlformats.org/drawingml/2006/main">
              <a:ext uri="{FF2B5EF4-FFF2-40B4-BE49-F238E27FC236}">
                <a16:creationId xmlns:a16="http://schemas.microsoft.com/office/drawing/2014/main" id="{8009C112-CA29-4894-A5B9-46051C6EA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44600" y="5953125"/>
            <a:ext cx="128301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125" b="1">
                <a:solidFill>
                  <a:srgbClr val="102A43"/>
                </a:solidFill>
              </a:defRPr>
            </a:pPr>
            <a:r>
              <a:rPr sz="4125" b="1">
                <a:solidFill>
                  <a:srgbClr val="102A43"/>
                </a:solidFill>
              </a:rPr>
              <a:t>Place the single most important result here</a:t>
            </a:r>
          </a:p>
        </p:txBody>
      </p:sp>
      <p:sp>
        <p:nvSpPr>
          <p:cNvPr id="47" name="central-takeaway-subtitle">
            <a:extLst xmlns:a="http://schemas.openxmlformats.org/drawingml/2006/main">
              <a:ext uri="{FF2B5EF4-FFF2-40B4-BE49-F238E27FC236}">
                <a16:creationId xmlns:a16="http://schemas.microsoft.com/office/drawing/2014/main" id="{A555A8DF-BCB2-45B0-9427-149286D7C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2250" y="7181850"/>
            <a:ext cx="12334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02A43"/>
                </a:solidFill>
              </a:defRPr>
            </a:pPr>
            <a:r>
              <a:rPr sz="2400" b="1">
                <a:solidFill>
                  <a:srgbClr val="102A43"/>
                </a:solidFill>
              </a:rPr>
              <a:t>Explain what the result means for the audience</a:t>
            </a:r>
          </a:p>
        </p:txBody>
      </p:sp>
      <p:sp>
        <p:nvSpPr>
          <p:cNvPr id="48" name="takeaway-evidence">
            <a:extLst xmlns:a="http://schemas.openxmlformats.org/drawingml/2006/main">
              <a:ext uri="{FF2B5EF4-FFF2-40B4-BE49-F238E27FC236}">
                <a16:creationId xmlns:a16="http://schemas.microsoft.com/office/drawing/2014/main" id="{945FF7AC-18B4-4530-A1FF-5ACDBD0A1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63650" y="7715250"/>
            <a:ext cx="127920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i="1">
                <a:solidFill>
                  <a:srgbClr val="2C8C99"/>
                </a:solidFill>
              </a:defRPr>
            </a:pPr>
            <a:r>
              <a:rPr sz="1875" i="1">
                <a:solidFill>
                  <a:srgbClr val="2C8C99"/>
                </a:solidFill>
              </a:rPr>
              <a:t>Evidence: result section and figure</a:t>
            </a:r>
          </a:p>
        </p:txBody>
      </p:sp>
      <p:sp>
        <p:nvSpPr>
          <p:cNvPr id="49" name="figure-two-heading-title">
            <a:extLst xmlns:a="http://schemas.openxmlformats.org/drawingml/2006/main">
              <a:ext uri="{FF2B5EF4-FFF2-40B4-BE49-F238E27FC236}">
                <a16:creationId xmlns:a16="http://schemas.microsoft.com/office/drawing/2014/main" id="{A8B740ED-388F-495E-9B27-71371D8C3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8620125"/>
            <a:ext cx="136683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F5F73"/>
                </a:solidFill>
              </a:defRPr>
            </a:pPr>
            <a:r>
              <a:rPr sz="3600" b="1">
                <a:solidFill>
                  <a:srgbClr val="0F5F73"/>
                </a:solidFill>
              </a:rPr>
              <a:t>Primary performance</a:t>
            </a:r>
          </a:p>
        </p:txBody>
      </p:sp>
      <p:sp>
        <p:nvSpPr>
          <p:cNvPr id="50" name="figure-two-heading-rule">
            <a:extLst xmlns:a="http://schemas.openxmlformats.org/drawingml/2006/main">
              <a:ext uri="{FF2B5EF4-FFF2-40B4-BE49-F238E27FC236}">
                <a16:creationId xmlns:a16="http://schemas.microsoft.com/office/drawing/2014/main" id="{3EF34C6D-A96C-4641-BC54-0C3D55E7B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9258300"/>
            <a:ext cx="3143250" cy="952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figure-two-frame">
            <a:extLst xmlns:a="http://schemas.openxmlformats.org/drawingml/2006/main">
              <a:ext uri="{FF2B5EF4-FFF2-40B4-BE49-F238E27FC236}">
                <a16:creationId xmlns:a16="http://schemas.microsoft.com/office/drawing/2014/main" id="{E931C31F-F3B1-4134-BA88-FA2FF58A6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9477375"/>
            <a:ext cx="13668375" cy="12715875"/>
          </a:xfrm>
          <a:prstGeom xmlns:a="http://schemas.openxmlformats.org/drawingml/2006/main" prst="roundRect">
            <a:avLst>
              <a:gd name="adj" fmla="val 89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D9E2EC"/>
            </a:solidFill>
            <a:prstDash val="solid"/>
          </a:ln>
        </p:spPr>
      </p:sp>
      <p:sp>
        <p:nvSpPr>
          <p:cNvPr id="52" name="figure-two-placeholder">
            <a:extLst xmlns:a="http://schemas.openxmlformats.org/drawingml/2006/main">
              <a:ext uri="{FF2B5EF4-FFF2-40B4-BE49-F238E27FC236}">
                <a16:creationId xmlns:a16="http://schemas.microsoft.com/office/drawing/2014/main" id="{342F7851-8CE0-447B-89CD-679895D24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0" y="9667875"/>
            <a:ext cx="13287375" cy="11782425"/>
          </a:xfrm>
          <a:prstGeom xmlns:a="http://schemas.openxmlformats.org/drawingml/2006/main" prst="roundRect">
            <a:avLst>
              <a:gd name="adj" fmla="val 647"/>
            </a:avLst>
          </a:prstGeom>
          <a:solidFill xmlns:a="http://schemas.openxmlformats.org/drawingml/2006/main">
            <a:srgbClr val="F6F8FA"/>
          </a:solidFill>
          <a:ln xmlns:a="http://schemas.openxmlformats.org/drawingml/2006/main" w="19050">
            <a:solidFill>
              <a:srgbClr val="D9E2EC"/>
            </a:solidFill>
            <a:prstDash val="solid"/>
          </a:ln>
        </p:spPr>
      </p:sp>
      <p:sp>
        <p:nvSpPr>
          <p:cNvPr id="53" name="figure-two-placeholder-label">
            <a:extLst xmlns:a="http://schemas.openxmlformats.org/drawingml/2006/main">
              <a:ext uri="{FF2B5EF4-FFF2-40B4-BE49-F238E27FC236}">
                <a16:creationId xmlns:a16="http://schemas.microsoft.com/office/drawing/2014/main" id="{8A01B66D-2524-4A70-92A7-C0F0326B1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15263813"/>
            <a:ext cx="12525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2C8C99"/>
                </a:solidFill>
              </a:defRPr>
            </a:pPr>
            <a:r>
              <a:rPr sz="2700" b="1">
                <a:solidFill>
                  <a:srgbClr val="2C8C99"/>
                </a:solidFill>
              </a:rPr>
              <a:t>SCIENTIFIC FIGURE</a:t>
            </a:r>
          </a:p>
        </p:txBody>
      </p:sp>
      <p:sp>
        <p:nvSpPr>
          <p:cNvPr id="54" name="figure-two-caption">
            <a:extLst xmlns:a="http://schemas.openxmlformats.org/drawingml/2006/main">
              <a:ext uri="{FF2B5EF4-FFF2-40B4-BE49-F238E27FC236}">
                <a16:creationId xmlns:a16="http://schemas.microsoft.com/office/drawing/2014/main" id="{85A5203E-525B-4AAB-97CD-DC972751E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54100" y="21507450"/>
            <a:ext cx="132111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02A43"/>
                </a:solidFill>
              </a:defRPr>
            </a:pPr>
            <a:r>
              <a:rPr sz="2250" b="1">
                <a:solidFill>
                  <a:srgbClr val="102A43"/>
                </a:solidFill>
              </a:rPr>
              <a:t>Figure caption</a:t>
            </a:r>
          </a:p>
        </p:txBody>
      </p:sp>
      <p:sp>
        <p:nvSpPr>
          <p:cNvPr id="55" name="figure-two-source">
            <a:extLst xmlns:a="http://schemas.openxmlformats.org/drawingml/2006/main">
              <a:ext uri="{FF2B5EF4-FFF2-40B4-BE49-F238E27FC236}">
                <a16:creationId xmlns:a16="http://schemas.microsoft.com/office/drawing/2014/main" id="{7144CE93-0022-43A1-8252-AE2CC1FF4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54100" y="21821775"/>
            <a:ext cx="132111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i="1">
                <a:solidFill>
                  <a:srgbClr val="2C8C99"/>
                </a:solidFill>
              </a:defRPr>
            </a:pPr>
            <a:r>
              <a:rPr sz="1875" i="1">
                <a:solidFill>
                  <a:srgbClr val="2C8C99"/>
                </a:solidFill>
              </a:rPr>
              <a:t>Evidence/source locator</a:t>
            </a:r>
          </a:p>
        </p:txBody>
      </p:sp>
      <p:sp>
        <p:nvSpPr>
          <p:cNvPr id="56" name="validation-heading-title">
            <a:extLst xmlns:a="http://schemas.openxmlformats.org/drawingml/2006/main">
              <a:ext uri="{FF2B5EF4-FFF2-40B4-BE49-F238E27FC236}">
                <a16:creationId xmlns:a16="http://schemas.microsoft.com/office/drawing/2014/main" id="{68C0F51D-7829-4F60-BB11-39D3301A1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22669500"/>
            <a:ext cx="136683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F5F73"/>
                </a:solidFill>
              </a:defRPr>
            </a:pPr>
            <a:r>
              <a:rPr sz="3600" b="1">
                <a:solidFill>
                  <a:srgbClr val="0F5F73"/>
                </a:solidFill>
              </a:rPr>
              <a:t>Independent and external validation</a:t>
            </a:r>
          </a:p>
        </p:txBody>
      </p:sp>
      <p:sp>
        <p:nvSpPr>
          <p:cNvPr id="57" name="validation-heading-rule">
            <a:extLst xmlns:a="http://schemas.openxmlformats.org/drawingml/2006/main">
              <a:ext uri="{FF2B5EF4-FFF2-40B4-BE49-F238E27FC236}">
                <a16:creationId xmlns:a16="http://schemas.microsoft.com/office/drawing/2014/main" id="{2D99CF5E-E745-45E3-AFFA-14FC638F1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23307675"/>
            <a:ext cx="3143250" cy="952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validation-panel">
            <a:extLst xmlns:a="http://schemas.openxmlformats.org/drawingml/2006/main">
              <a:ext uri="{FF2B5EF4-FFF2-40B4-BE49-F238E27FC236}">
                <a16:creationId xmlns:a16="http://schemas.microsoft.com/office/drawing/2014/main" id="{BD039E0F-4CDF-4612-84BB-160102B25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23526750"/>
            <a:ext cx="13668375" cy="4048125"/>
          </a:xfrm>
          <a:prstGeom xmlns:a="http://schemas.openxmlformats.org/drawingml/2006/main" prst="roundRect">
            <a:avLst>
              <a:gd name="adj" fmla="val 28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D9E2EC"/>
            </a:solidFill>
            <a:prstDash val="solid"/>
          </a:ln>
        </p:spPr>
      </p:sp>
      <p:sp>
        <p:nvSpPr>
          <p:cNvPr id="59" name="validation">
            <a:extLst xmlns:a="http://schemas.openxmlformats.org/drawingml/2006/main">
              <a:ext uri="{FF2B5EF4-FFF2-40B4-BE49-F238E27FC236}">
                <a16:creationId xmlns:a16="http://schemas.microsoft.com/office/drawing/2014/main" id="{0DF65B55-0398-47A7-8F3D-1A17D9CA8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8400" y="23841075"/>
            <a:ext cx="12982575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102A43"/>
                </a:solidFill>
              </a:defRPr>
            </a:pPr>
            <a:r>
              <a:rPr sz="2850">
                <a:solidFill>
                  <a:srgbClr val="102A43"/>
                </a:solidFill>
              </a:rPr>
              <a:t>• Primary adjusted result</a:t>
            </a:r>
          </a:p>
          <a:p xmlns:a="http://schemas.openxmlformats.org/drawingml/2006/main">
            <a:pPr>
              <a:defRPr sz="2850">
                <a:solidFill>
                  <a:srgbClr val="102A43"/>
                </a:solidFill>
              </a:defRPr>
            </a:pPr>
            <a:r>
              <a:rPr sz="2850">
                <a:solidFill>
                  <a:srgbClr val="102A43"/>
                </a:solidFill>
              </a:rPr>
              <a:t>• External validation</a:t>
            </a:r>
          </a:p>
          <a:p xmlns:a="http://schemas.openxmlformats.org/drawingml/2006/main">
            <a:pPr>
              <a:defRPr sz="2850">
                <a:solidFill>
                  <a:srgbClr val="102A43"/>
                </a:solidFill>
              </a:defRPr>
            </a:pPr>
            <a:r>
              <a:rPr sz="2850">
                <a:solidFill>
                  <a:srgbClr val="102A43"/>
                </a:solidFill>
              </a:rPr>
              <a:t>• Negative or inconsistent findings</a:t>
            </a:r>
          </a:p>
          <a:p xmlns:a="http://schemas.openxmlformats.org/drawingml/2006/main">
            <a:pPr>
              <a:defRPr sz="2850">
                <a:solidFill>
                  <a:srgbClr val="102A43"/>
                </a:solidFill>
              </a:defRPr>
            </a:pPr>
            <a:r>
              <a:rPr sz="2850">
                <a:solidFill>
                  <a:srgbClr val="102A43"/>
                </a:solidFill>
              </a:rPr>
              <a:t>• Interpretation boundary</a:t>
            </a:r>
          </a:p>
        </p:txBody>
      </p:sp>
      <p:sp>
        <p:nvSpPr>
          <p:cNvPr id="60" name="validation-evidence">
            <a:extLst xmlns:a="http://schemas.openxmlformats.org/drawingml/2006/main">
              <a:ext uri="{FF2B5EF4-FFF2-40B4-BE49-F238E27FC236}">
                <a16:creationId xmlns:a16="http://schemas.microsoft.com/office/drawing/2014/main" id="{5FE3964C-9FBF-4A0C-90B9-93D20DAEB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8400" y="27117675"/>
            <a:ext cx="129825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i="1">
                <a:solidFill>
                  <a:srgbClr val="2C8C99"/>
                </a:solidFill>
              </a:defRPr>
            </a:pPr>
            <a:r>
              <a:rPr sz="1875" i="1">
                <a:solidFill>
                  <a:srgbClr val="2C8C99"/>
                </a:solidFill>
              </a:rPr>
              <a:t>Evidence: result pages</a:t>
            </a:r>
          </a:p>
        </p:txBody>
      </p:sp>
      <p:sp>
        <p:nvSpPr>
          <p:cNvPr id="61" name="performance-strip">
            <a:extLst xmlns:a="http://schemas.openxmlformats.org/drawingml/2006/main">
              <a:ext uri="{FF2B5EF4-FFF2-40B4-BE49-F238E27FC236}">
                <a16:creationId xmlns:a16="http://schemas.microsoft.com/office/drawing/2014/main" id="{8A97E5A1-2BB5-4900-B476-1455BBDFE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27908250"/>
            <a:ext cx="13668375" cy="1095375"/>
          </a:xfrm>
          <a:prstGeom xmlns:a="http://schemas.openxmlformats.org/drawingml/2006/main" prst="roundRect">
            <a:avLst>
              <a:gd name="adj" fmla="val 10435"/>
            </a:avLst>
          </a:prstGeom>
          <a:solidFill xmlns:a="http://schemas.openxmlformats.org/drawingml/2006/main">
            <a:srgbClr val="0F5F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performance-strip-text">
            <a:extLst xmlns:a="http://schemas.openxmlformats.org/drawingml/2006/main">
              <a:ext uri="{FF2B5EF4-FFF2-40B4-BE49-F238E27FC236}">
                <a16:creationId xmlns:a16="http://schemas.microsoft.com/office/drawing/2014/main" id="{2AFF452F-9063-4069-B4E6-1095CDDD6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49350" y="28194000"/>
            <a:ext cx="130206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Primary performance statistic or calibrated model comparison</a:t>
            </a:r>
          </a:p>
        </p:txBody>
      </p:sp>
      <p:sp>
        <p:nvSpPr>
          <p:cNvPr id="63" name="biology-heading-title">
            <a:extLst xmlns:a="http://schemas.openxmlformats.org/drawingml/2006/main">
              <a:ext uri="{FF2B5EF4-FFF2-40B4-BE49-F238E27FC236}">
                <a16:creationId xmlns:a16="http://schemas.microsoft.com/office/drawing/2014/main" id="{17FF1860-879A-4967-8CB7-5AB9A0C35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5619750"/>
            <a:ext cx="137064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F5F73"/>
                </a:solidFill>
              </a:defRPr>
            </a:pPr>
            <a:r>
              <a:rPr sz="3600" b="1">
                <a:solidFill>
                  <a:srgbClr val="0F5F73"/>
                </a:solidFill>
              </a:rPr>
              <a:t>Biological interpretation</a:t>
            </a:r>
          </a:p>
        </p:txBody>
      </p:sp>
      <p:sp>
        <p:nvSpPr>
          <p:cNvPr id="64" name="biology-heading-rule">
            <a:extLst xmlns:a="http://schemas.openxmlformats.org/drawingml/2006/main">
              <a:ext uri="{FF2B5EF4-FFF2-40B4-BE49-F238E27FC236}">
                <a16:creationId xmlns:a16="http://schemas.microsoft.com/office/drawing/2014/main" id="{772EAE5F-03F9-4D84-BB44-59635DE4E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6257925"/>
            <a:ext cx="3143250" cy="952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biology-1-value">
            <a:extLst xmlns:a="http://schemas.openxmlformats.org/drawingml/2006/main">
              <a:ext uri="{FF2B5EF4-FFF2-40B4-BE49-F238E27FC236}">
                <a16:creationId xmlns:a16="http://schemas.microsoft.com/office/drawing/2014/main" id="{B7C4166B-238D-42D6-986B-320713184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6572250"/>
            <a:ext cx="4000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5100" b="1">
                <a:solidFill>
                  <a:srgbClr val="0F5F73"/>
                </a:solidFill>
              </a:defRPr>
            </a:pPr>
            <a:r>
              <a:rPr sz="5100" b="1">
                <a:solidFill>
                  <a:srgbClr val="0F5F73"/>
                </a:solidFill>
              </a:rPr>
              <a:t>Effect</a:t>
            </a:r>
          </a:p>
        </p:txBody>
      </p:sp>
      <p:sp>
        <p:nvSpPr>
          <p:cNvPr id="66" name="biology-1-label">
            <a:extLst xmlns:a="http://schemas.openxmlformats.org/drawingml/2006/main">
              <a:ext uri="{FF2B5EF4-FFF2-40B4-BE49-F238E27FC236}">
                <a16:creationId xmlns:a16="http://schemas.microsoft.com/office/drawing/2014/main" id="{5F1D5C56-7C2B-4DA9-92A7-31C3CF153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7353300"/>
            <a:ext cx="4000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02A43"/>
                </a:solidFill>
              </a:defRPr>
            </a:pPr>
            <a:r>
              <a:rPr sz="2325" b="1">
                <a:solidFill>
                  <a:srgbClr val="102A43"/>
                </a:solidFill>
              </a:rPr>
              <a:t>program or pathway</a:t>
            </a:r>
          </a:p>
        </p:txBody>
      </p:sp>
      <p:sp>
        <p:nvSpPr>
          <p:cNvPr id="67" name="biology-2-value">
            <a:extLst xmlns:a="http://schemas.openxmlformats.org/drawingml/2006/main">
              <a:ext uri="{FF2B5EF4-FFF2-40B4-BE49-F238E27FC236}">
                <a16:creationId xmlns:a16="http://schemas.microsoft.com/office/drawing/2014/main" id="{8C148609-B73B-4FD0-818A-C2311F75D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9750" y="6572250"/>
            <a:ext cx="4000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5100" b="1">
                <a:solidFill>
                  <a:srgbClr val="2C8C99"/>
                </a:solidFill>
              </a:defRPr>
            </a:pPr>
            <a:r>
              <a:rPr sz="5100" b="1">
                <a:solidFill>
                  <a:srgbClr val="2C8C99"/>
                </a:solidFill>
              </a:rPr>
              <a:t>Effect</a:t>
            </a:r>
          </a:p>
        </p:txBody>
      </p:sp>
      <p:sp>
        <p:nvSpPr>
          <p:cNvPr id="68" name="biology-2-label">
            <a:extLst xmlns:a="http://schemas.openxmlformats.org/drawingml/2006/main">
              <a:ext uri="{FF2B5EF4-FFF2-40B4-BE49-F238E27FC236}">
                <a16:creationId xmlns:a16="http://schemas.microsoft.com/office/drawing/2014/main" id="{5D54BC8D-D4E8-4FC4-A438-DF0E48B9E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9750" y="7353300"/>
            <a:ext cx="4000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02A43"/>
                </a:solidFill>
              </a:defRPr>
            </a:pPr>
            <a:r>
              <a:rPr sz="2325" b="1">
                <a:solidFill>
                  <a:srgbClr val="102A43"/>
                </a:solidFill>
              </a:rPr>
              <a:t>program or pathway</a:t>
            </a:r>
          </a:p>
        </p:txBody>
      </p:sp>
      <p:sp>
        <p:nvSpPr>
          <p:cNvPr id="69" name="biology-3-value">
            <a:extLst xmlns:a="http://schemas.openxmlformats.org/drawingml/2006/main">
              <a:ext uri="{FF2B5EF4-FFF2-40B4-BE49-F238E27FC236}">
                <a16:creationId xmlns:a16="http://schemas.microsoft.com/office/drawing/2014/main" id="{3FD63D72-5B9F-42C5-B745-BBC30E549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14125" y="6572250"/>
            <a:ext cx="4000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5100" b="1">
                <a:solidFill>
                  <a:srgbClr val="E8B44C"/>
                </a:solidFill>
              </a:defRPr>
            </a:pPr>
            <a:r>
              <a:rPr sz="5100" b="1">
                <a:solidFill>
                  <a:srgbClr val="E8B44C"/>
                </a:solidFill>
              </a:rPr>
              <a:t>Effect</a:t>
            </a:r>
          </a:p>
        </p:txBody>
      </p:sp>
      <p:sp>
        <p:nvSpPr>
          <p:cNvPr id="70" name="biology-3-label">
            <a:extLst xmlns:a="http://schemas.openxmlformats.org/drawingml/2006/main">
              <a:ext uri="{FF2B5EF4-FFF2-40B4-BE49-F238E27FC236}">
                <a16:creationId xmlns:a16="http://schemas.microsoft.com/office/drawing/2014/main" id="{AF56853A-F9A5-4888-9E9D-F3E1A668A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14125" y="7353300"/>
            <a:ext cx="4000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02A43"/>
                </a:solidFill>
              </a:defRPr>
            </a:pPr>
            <a:r>
              <a:rPr sz="2325" b="1">
                <a:solidFill>
                  <a:srgbClr val="102A43"/>
                </a:solidFill>
              </a:rPr>
              <a:t>program or pathway</a:t>
            </a:r>
          </a:p>
        </p:txBody>
      </p:sp>
      <p:sp>
        <p:nvSpPr>
          <p:cNvPr id="71" name="biology-evidence">
            <a:extLst xmlns:a="http://schemas.openxmlformats.org/drawingml/2006/main">
              <a:ext uri="{FF2B5EF4-FFF2-40B4-BE49-F238E27FC236}">
                <a16:creationId xmlns:a16="http://schemas.microsoft.com/office/drawing/2014/main" id="{6DC9665A-CD80-44C7-9AFF-5CC2F8AD5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8477250"/>
            <a:ext cx="137064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i="1">
                <a:solidFill>
                  <a:srgbClr val="2C8C99"/>
                </a:solidFill>
              </a:defRPr>
            </a:pPr>
            <a:r>
              <a:rPr sz="1875" i="1">
                <a:solidFill>
                  <a:srgbClr val="2C8C99"/>
                </a:solidFill>
              </a:rPr>
              <a:t>Evidence: biological analysis</a:t>
            </a:r>
          </a:p>
        </p:txBody>
      </p:sp>
      <p:sp>
        <p:nvSpPr>
          <p:cNvPr id="72" name="figure-three-frame">
            <a:extLst xmlns:a="http://schemas.openxmlformats.org/drawingml/2006/main">
              <a:ext uri="{FF2B5EF4-FFF2-40B4-BE49-F238E27FC236}">
                <a16:creationId xmlns:a16="http://schemas.microsoft.com/office/drawing/2014/main" id="{875CF1E9-97BE-4D2C-ABCE-BDADF0D82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9191625"/>
            <a:ext cx="13706475" cy="6858000"/>
          </a:xfrm>
          <a:prstGeom xmlns:a="http://schemas.openxmlformats.org/drawingml/2006/main" prst="roundRect">
            <a:avLst>
              <a:gd name="adj" fmla="val 1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D9E2EC"/>
            </a:solidFill>
            <a:prstDash val="solid"/>
          </a:ln>
        </p:spPr>
      </p:sp>
      <p:sp>
        <p:nvSpPr>
          <p:cNvPr id="73" name="figure-three-placeholder">
            <a:extLst xmlns:a="http://schemas.openxmlformats.org/drawingml/2006/main">
              <a:ext uri="{FF2B5EF4-FFF2-40B4-BE49-F238E27FC236}">
                <a16:creationId xmlns:a16="http://schemas.microsoft.com/office/drawing/2014/main" id="{16AE7DEE-E309-464D-9EC7-69B47D4D7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55875" y="9382125"/>
            <a:ext cx="13325475" cy="5924550"/>
          </a:xfrm>
          <a:prstGeom xmlns:a="http://schemas.openxmlformats.org/drawingml/2006/main" prst="roundRect">
            <a:avLst>
              <a:gd name="adj" fmla="val 1286"/>
            </a:avLst>
          </a:prstGeom>
          <a:solidFill xmlns:a="http://schemas.openxmlformats.org/drawingml/2006/main">
            <a:srgbClr val="F6F8FA"/>
          </a:solidFill>
          <a:ln xmlns:a="http://schemas.openxmlformats.org/drawingml/2006/main" w="19050">
            <a:solidFill>
              <a:srgbClr val="D9E2EC"/>
            </a:solidFill>
            <a:prstDash val="solid"/>
          </a:ln>
        </p:spPr>
      </p:sp>
      <p:sp>
        <p:nvSpPr>
          <p:cNvPr id="74" name="figure-three-placeholder-label">
            <a:extLst xmlns:a="http://schemas.openxmlformats.org/drawingml/2006/main">
              <a:ext uri="{FF2B5EF4-FFF2-40B4-BE49-F238E27FC236}">
                <a16:creationId xmlns:a16="http://schemas.microsoft.com/office/drawing/2014/main" id="{3C8C8368-0F3C-4D62-BCC6-CC1ABEAE4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36875" y="12049125"/>
            <a:ext cx="125634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2C8C99"/>
                </a:solidFill>
              </a:defRPr>
            </a:pPr>
            <a:r>
              <a:rPr sz="2700" b="1">
                <a:solidFill>
                  <a:srgbClr val="2C8C99"/>
                </a:solidFill>
              </a:rPr>
              <a:t>SCIENTIFIC FIGURE</a:t>
            </a:r>
          </a:p>
        </p:txBody>
      </p:sp>
      <p:sp>
        <p:nvSpPr>
          <p:cNvPr id="75" name="figure-three-caption">
            <a:extLst xmlns:a="http://schemas.openxmlformats.org/drawingml/2006/main">
              <a:ext uri="{FF2B5EF4-FFF2-40B4-BE49-F238E27FC236}">
                <a16:creationId xmlns:a16="http://schemas.microsoft.com/office/drawing/2014/main" id="{0A5D5221-E6B1-4C6F-8412-C92D431A4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93975" y="15363825"/>
            <a:ext cx="132492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02A43"/>
                </a:solidFill>
              </a:defRPr>
            </a:pPr>
            <a:r>
              <a:rPr sz="2250" b="1">
                <a:solidFill>
                  <a:srgbClr val="102A43"/>
                </a:solidFill>
              </a:rPr>
              <a:t>Figure caption</a:t>
            </a:r>
          </a:p>
        </p:txBody>
      </p:sp>
      <p:sp>
        <p:nvSpPr>
          <p:cNvPr id="76" name="figure-three-source">
            <a:extLst xmlns:a="http://schemas.openxmlformats.org/drawingml/2006/main">
              <a:ext uri="{FF2B5EF4-FFF2-40B4-BE49-F238E27FC236}">
                <a16:creationId xmlns:a16="http://schemas.microsoft.com/office/drawing/2014/main" id="{3C773945-6858-4D81-9A05-332785EC6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93975" y="15678150"/>
            <a:ext cx="132492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i="1">
                <a:solidFill>
                  <a:srgbClr val="2C8C99"/>
                </a:solidFill>
              </a:defRPr>
            </a:pPr>
            <a:r>
              <a:rPr sz="1875" i="1">
                <a:solidFill>
                  <a:srgbClr val="2C8C99"/>
                </a:solidFill>
              </a:rPr>
              <a:t>Evidence/source locator</a:t>
            </a:r>
          </a:p>
        </p:txBody>
      </p:sp>
      <p:sp>
        <p:nvSpPr>
          <p:cNvPr id="77" name="validation-visual-heading-title">
            <a:extLst xmlns:a="http://schemas.openxmlformats.org/drawingml/2006/main">
              <a:ext uri="{FF2B5EF4-FFF2-40B4-BE49-F238E27FC236}">
                <a16:creationId xmlns:a16="http://schemas.microsoft.com/office/drawing/2014/main" id="{D47C5BEB-5139-4064-BA20-3D336005A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16525875"/>
            <a:ext cx="137064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F5F73"/>
                </a:solidFill>
              </a:defRPr>
            </a:pPr>
            <a:r>
              <a:rPr sz="3600" b="1">
                <a:solidFill>
                  <a:srgbClr val="0F5F73"/>
                </a:solidFill>
              </a:rPr>
              <a:t>Orthogonal validation</a:t>
            </a:r>
          </a:p>
        </p:txBody>
      </p:sp>
      <p:sp>
        <p:nvSpPr>
          <p:cNvPr id="78" name="validation-visual-heading-rule">
            <a:extLst xmlns:a="http://schemas.openxmlformats.org/drawingml/2006/main">
              <a:ext uri="{FF2B5EF4-FFF2-40B4-BE49-F238E27FC236}">
                <a16:creationId xmlns:a16="http://schemas.microsoft.com/office/drawing/2014/main" id="{D3747B2E-C2FD-4CDA-8E2A-B98D5FAB2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17164050"/>
            <a:ext cx="3143250" cy="952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figure-four-frame">
            <a:extLst xmlns:a="http://schemas.openxmlformats.org/drawingml/2006/main">
              <a:ext uri="{FF2B5EF4-FFF2-40B4-BE49-F238E27FC236}">
                <a16:creationId xmlns:a16="http://schemas.microsoft.com/office/drawing/2014/main" id="{105DECA0-8EF4-43AA-A17D-16B97C4B6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17383125"/>
            <a:ext cx="13706475" cy="7143750"/>
          </a:xfrm>
          <a:prstGeom xmlns:a="http://schemas.openxmlformats.org/drawingml/2006/main" prst="roundRect">
            <a:avLst>
              <a:gd name="adj" fmla="val 16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D9E2EC"/>
            </a:solidFill>
            <a:prstDash val="solid"/>
          </a:ln>
        </p:spPr>
      </p:sp>
      <p:sp>
        <p:nvSpPr>
          <p:cNvPr id="80" name="figure-four-placeholder">
            <a:extLst xmlns:a="http://schemas.openxmlformats.org/drawingml/2006/main">
              <a:ext uri="{FF2B5EF4-FFF2-40B4-BE49-F238E27FC236}">
                <a16:creationId xmlns:a16="http://schemas.microsoft.com/office/drawing/2014/main" id="{BA6191A1-8A8F-488D-A2DA-B29F525FD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55875" y="17573625"/>
            <a:ext cx="13325475" cy="6210300"/>
          </a:xfrm>
          <a:prstGeom xmlns:a="http://schemas.openxmlformats.org/drawingml/2006/main" prst="roundRect">
            <a:avLst>
              <a:gd name="adj" fmla="val 1227"/>
            </a:avLst>
          </a:prstGeom>
          <a:solidFill xmlns:a="http://schemas.openxmlformats.org/drawingml/2006/main">
            <a:srgbClr val="F6F8FA"/>
          </a:solidFill>
          <a:ln xmlns:a="http://schemas.openxmlformats.org/drawingml/2006/main" w="19050">
            <a:solidFill>
              <a:srgbClr val="D9E2EC"/>
            </a:solidFill>
            <a:prstDash val="solid"/>
          </a:ln>
        </p:spPr>
      </p:sp>
      <p:sp>
        <p:nvSpPr>
          <p:cNvPr id="81" name="figure-four-placeholder-label">
            <a:extLst xmlns:a="http://schemas.openxmlformats.org/drawingml/2006/main">
              <a:ext uri="{FF2B5EF4-FFF2-40B4-BE49-F238E27FC236}">
                <a16:creationId xmlns:a16="http://schemas.microsoft.com/office/drawing/2014/main" id="{DA75D3BD-B429-4F45-BA4A-03DD35D88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36875" y="20383500"/>
            <a:ext cx="125634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2C8C99"/>
                </a:solidFill>
              </a:defRPr>
            </a:pPr>
            <a:r>
              <a:rPr sz="2700" b="1">
                <a:solidFill>
                  <a:srgbClr val="2C8C99"/>
                </a:solidFill>
              </a:rPr>
              <a:t>SCIENTIFIC FIGURE</a:t>
            </a:r>
          </a:p>
        </p:txBody>
      </p:sp>
      <p:sp>
        <p:nvSpPr>
          <p:cNvPr id="82" name="figure-four-caption">
            <a:extLst xmlns:a="http://schemas.openxmlformats.org/drawingml/2006/main">
              <a:ext uri="{FF2B5EF4-FFF2-40B4-BE49-F238E27FC236}">
                <a16:creationId xmlns:a16="http://schemas.microsoft.com/office/drawing/2014/main" id="{7C94B568-3AFC-427C-A949-A914A7FFB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93975" y="23841075"/>
            <a:ext cx="132492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02A43"/>
                </a:solidFill>
              </a:defRPr>
            </a:pPr>
            <a:r>
              <a:rPr sz="2250" b="1">
                <a:solidFill>
                  <a:srgbClr val="102A43"/>
                </a:solidFill>
              </a:rPr>
              <a:t>Figure caption</a:t>
            </a:r>
          </a:p>
        </p:txBody>
      </p:sp>
      <p:sp>
        <p:nvSpPr>
          <p:cNvPr id="83" name="figure-four-source">
            <a:extLst xmlns:a="http://schemas.openxmlformats.org/drawingml/2006/main">
              <a:ext uri="{FF2B5EF4-FFF2-40B4-BE49-F238E27FC236}">
                <a16:creationId xmlns:a16="http://schemas.microsoft.com/office/drawing/2014/main" id="{420C1B44-78BA-4AC0-8AD5-F83445424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93975" y="24155400"/>
            <a:ext cx="132492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i="1">
                <a:solidFill>
                  <a:srgbClr val="2C8C99"/>
                </a:solidFill>
              </a:defRPr>
            </a:pPr>
            <a:r>
              <a:rPr sz="1875" i="1">
                <a:solidFill>
                  <a:srgbClr val="2C8C99"/>
                </a:solidFill>
              </a:rPr>
              <a:t>Evidence/source locator</a:t>
            </a:r>
          </a:p>
        </p:txBody>
      </p:sp>
      <p:sp>
        <p:nvSpPr>
          <p:cNvPr id="84" name="conclusion-heading-title">
            <a:extLst xmlns:a="http://schemas.openxmlformats.org/drawingml/2006/main">
              <a:ext uri="{FF2B5EF4-FFF2-40B4-BE49-F238E27FC236}">
                <a16:creationId xmlns:a16="http://schemas.microsoft.com/office/drawing/2014/main" id="{3F6BD872-FC77-42C7-8411-74DF12D65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25003125"/>
            <a:ext cx="137064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F5F73"/>
                </a:solidFill>
              </a:defRPr>
            </a:pPr>
            <a:r>
              <a:rPr sz="3600" b="1">
                <a:solidFill>
                  <a:srgbClr val="0F5F73"/>
                </a:solidFill>
              </a:rPr>
              <a:t>Conclusion</a:t>
            </a:r>
          </a:p>
        </p:txBody>
      </p:sp>
      <p:sp>
        <p:nvSpPr>
          <p:cNvPr id="85" name="conclusion-heading-rule">
            <a:extLst xmlns:a="http://schemas.openxmlformats.org/drawingml/2006/main">
              <a:ext uri="{FF2B5EF4-FFF2-40B4-BE49-F238E27FC236}">
                <a16:creationId xmlns:a16="http://schemas.microsoft.com/office/drawing/2014/main" id="{117CF0E6-CF9E-4508-8D89-319999711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25641300"/>
            <a:ext cx="3143250" cy="952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" name="conclusion-panel">
            <a:extLst xmlns:a="http://schemas.openxmlformats.org/drawingml/2006/main">
              <a:ext uri="{FF2B5EF4-FFF2-40B4-BE49-F238E27FC236}">
                <a16:creationId xmlns:a16="http://schemas.microsoft.com/office/drawing/2014/main" id="{AE250102-07D1-45A0-A146-02068FB4F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25860375"/>
            <a:ext cx="13706475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D9E2EC"/>
            </a:solidFill>
            <a:prstDash val="solid"/>
          </a:ln>
        </p:spPr>
      </p:sp>
      <p:sp>
        <p:nvSpPr>
          <p:cNvPr id="87" name="conclusion">
            <a:extLst xmlns:a="http://schemas.openxmlformats.org/drawingml/2006/main">
              <a:ext uri="{FF2B5EF4-FFF2-40B4-BE49-F238E27FC236}">
                <a16:creationId xmlns:a16="http://schemas.microsoft.com/office/drawing/2014/main" id="{183E57D8-4E8A-4AEB-A789-A7AF40FA8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89225" y="26174700"/>
            <a:ext cx="13058775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102A43"/>
                </a:solidFill>
              </a:defRPr>
            </a:pPr>
            <a:r>
              <a:rPr sz="2850">
                <a:solidFill>
                  <a:srgbClr val="102A43"/>
                </a:solidFill>
              </a:rPr>
              <a:t>State the supported conclusion and retain the most important limitation.</a:t>
            </a:r>
          </a:p>
        </p:txBody>
      </p:sp>
      <p:sp>
        <p:nvSpPr>
          <p:cNvPr id="88" name="conclusion-evidence">
            <a:extLst xmlns:a="http://schemas.openxmlformats.org/drawingml/2006/main">
              <a:ext uri="{FF2B5EF4-FFF2-40B4-BE49-F238E27FC236}">
                <a16:creationId xmlns:a16="http://schemas.microsoft.com/office/drawing/2014/main" id="{E9EA788B-9DDB-4925-85CD-BD2AA85E8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89225" y="28498800"/>
            <a:ext cx="130587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i="1">
                <a:solidFill>
                  <a:srgbClr val="2C8C99"/>
                </a:solidFill>
              </a:defRPr>
            </a:pPr>
            <a:r>
              <a:rPr sz="1875" i="1">
                <a:solidFill>
                  <a:srgbClr val="2C8C99"/>
                </a:solidFill>
              </a:rPr>
              <a:t>Evidence: discussion and conclusion</a:t>
            </a:r>
          </a:p>
        </p:txBody>
      </p:sp>
      <p:sp>
        <p:nvSpPr>
          <p:cNvPr id="89" name="footer-band">
            <a:extLst xmlns:a="http://schemas.openxmlformats.org/drawingml/2006/main">
              <a:ext uri="{FF2B5EF4-FFF2-40B4-BE49-F238E27FC236}">
                <a16:creationId xmlns:a16="http://schemas.microsoft.com/office/drawing/2014/main" id="{46FC9100-D5BF-4301-824B-B18090E61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9337000"/>
            <a:ext cx="42805350" cy="942975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footer-source">
            <a:extLst xmlns:a="http://schemas.openxmlformats.org/drawingml/2006/main">
              <a:ext uri="{FF2B5EF4-FFF2-40B4-BE49-F238E27FC236}">
                <a16:creationId xmlns:a16="http://schemas.microsoft.com/office/drawing/2014/main" id="{F3CE12C1-90D6-4356-82C3-2F295D755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9594175"/>
            <a:ext cx="2857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FFFFFF"/>
                </a:solidFill>
              </a:defRPr>
            </a:pPr>
            <a:r>
              <a:rPr sz="1950">
                <a:solidFill>
                  <a:srgbClr val="FFFFFF"/>
                </a:solidFill>
              </a:rPr>
              <a:t>Source citation · content mode · asset license</a:t>
            </a:r>
          </a:p>
        </p:txBody>
      </p:sp>
      <p:sp>
        <p:nvSpPr>
          <p:cNvPr id="91" name="footer-status">
            <a:extLst xmlns:a="http://schemas.openxmlformats.org/drawingml/2006/main">
              <a:ext uri="{FF2B5EF4-FFF2-40B4-BE49-F238E27FC236}">
                <a16:creationId xmlns:a16="http://schemas.microsoft.com/office/drawing/2014/main" id="{2519F68E-3F02-4C18-B1C3-3DD83483D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0" y="29594175"/>
            <a:ext cx="1171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875" b="1">
                <a:solidFill>
                  <a:srgbClr val="E8B44C"/>
                </a:solidFill>
              </a:defRPr>
            </a:pPr>
            <a:r>
              <a:rPr sz="1875" b="1">
                <a:solidFill>
                  <a:srgbClr val="E8B44C"/>
                </a:solidFill>
              </a:rPr>
              <a:t>Approval status · scientific colors locked</a:t>
            </a:r>
          </a:p>
        </p:txBody>
      </p:sp>
    </p:spTree>
    <p:extLst>
      <p:ext uri="{BB962C8B-B14F-4D97-AF65-F5344CB8AC3E}">
        <p14:creationId xmlns:p14="http://schemas.microsoft.com/office/powerpoint/2010/main" val="145154005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2026-08-07T03:58:24.3930000Z</dcterms:created>
  <dcterms:modified xsi:type="dcterms:W3CDTF">2026-08-07T03:58:24.3930000Z</dcterms:modified>
</coreProperties>
</file>