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3e25638e59e4fff" /><Relationship Type="http://schemas.openxmlformats.org/officeDocument/2006/relationships/extended-properties" Target="/docProps/app.xml" Id="R2eccd2ac466c469e" /><Relationship Type="http://schemas.openxmlformats.org/officeDocument/2006/relationships/officeDocument" Target="/ppt/presentation.xml" Id="R7a48579d147b4a9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db9f667777c41ee"/>
  </p:sldMasterIdLst>
  <p:notesMasterIdLst>
    <p:notesMasterId xmlns:r="http://schemas.openxmlformats.org/officeDocument/2006/relationships" r:id="R9691cb73a3a649f3"/>
  </p:notesMasterIdLst>
  <p:sldIdLst>
    <p:sldId xmlns:r="http://schemas.openxmlformats.org/officeDocument/2006/relationships" id="256" r:id="Ra98cf771bdc14549"/>
  </p:sldIdLst>
  <p:sldSz cx="42805350" cy="3027997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3db68f5f48946fd" /><Relationship Type="http://schemas.openxmlformats.org/officeDocument/2006/relationships/slideMaster" Target="/ppt/slideMasters/slideMaster1.xml" Id="R1db9f667777c41ee" /><Relationship Type="http://schemas.openxmlformats.org/officeDocument/2006/relationships/notesMaster" Target="/ppt/notesMasters/notesMaster1.xml" Id="R9691cb73a3a649f3" /><Relationship Type="http://schemas.openxmlformats.org/officeDocument/2006/relationships/presProps" Target="/ppt/presProps.xml" Id="Rd7ceab3e985446b7" /><Relationship Type="http://schemas.openxmlformats.org/officeDocument/2006/relationships/tableStyles" Target="/ppt/tableStyles.xml" Id="R31415341d26e43f7" /><Relationship Type="http://schemas.openxmlformats.org/officeDocument/2006/relationships/slide" Target="/ppt/slides/slide1.xml" Id="Ra98cf771bdc1454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e7ddcea03aa4c9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62046ffe6f549b2" /><Relationship Type="http://schemas.openxmlformats.org/officeDocument/2006/relationships/notesMaster" Target="/ppt/notesMasters/notesMaster1.xml" Id="Ra1f3f83f481c40b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/Users/qichen_dai/Documents/Codex/2026-08-06/referenced-chatgpt-conversation-this-is-an/outputs/postex-v0.1/examples/sci02jitc/SCI02JITC.pdf</a:t>
            </a:r>
          </a:p>
          <a:p xmlns:a="http://schemas.openxmlformats.org/drawingml/2006/main">
            <a:r>
              <a:t>- 10.1136/jitc-2021-004210</a:t>
            </a:r>
          </a:p>
          <a:p xmlns:a="http://schemas.openxmlformats.org/drawingml/2006/main">
            <a:r>
              <a:t>- palette approval sha256:1046a396ac28389a2a39c7e93d6002ca6ac6a0ed54ef043f014da5e74439d63a</a:t>
            </a:r>
          </a:p>
          <a:p xmlns:a="http://schemas.openxmlformats.org/drawingml/2006/main">
            <a:r>
              <a:t>- deletion approval sha256:3f7de758a1ffc62f53bc50fab271cc5b41c4fc956f05dcfbf25609acd0309c88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d6805a8a76c4ee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7c79dc000074072" /><Relationship Type="http://schemas.openxmlformats.org/officeDocument/2006/relationships/slideLayout" Target="/ppt/slideLayouts/slideLayout1.xml" Id="R416e10fcaca44f6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16e10fcaca44f6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6e2abbf3a94fc3" /><Relationship Type="http://schemas.openxmlformats.org/officeDocument/2006/relationships/image" Target="/ppt/media/image.png" Id="R73db1f87952e441c" /><Relationship Type="http://schemas.openxmlformats.org/officeDocument/2006/relationships/image" Target="/ppt/media/image2.png" Id="R786b6a3db16247a9" /><Relationship Type="http://schemas.openxmlformats.org/officeDocument/2006/relationships/image" Target="/ppt/media/image3.png" Id="R291a2c05af1b45bf" /><Relationship Type="http://schemas.openxmlformats.org/officeDocument/2006/relationships/image" Target="/ppt/media/image4.png" Id="R02cfb60a515f4974" /><Relationship Type="http://schemas.openxmlformats.org/officeDocument/2006/relationships/notesSlide" Target="/ppt/notesSlides/notesSlide1.xml" Id="R1e5984f6ce08490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8" name="header-band">
            <a:extLst xmlns:a="http://schemas.openxmlformats.org/drawingml/2006/main">
              <a:ext uri="{FF2B5EF4-FFF2-40B4-BE49-F238E27FC236}">
                <a16:creationId xmlns:a16="http://schemas.microsoft.com/office/drawing/2014/main" id="{F71F5558-E93E-481F-A42F-ABC0A31CE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2805350" cy="4953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F5F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accent">
            <a:extLst xmlns:a="http://schemas.openxmlformats.org/drawingml/2006/main">
              <a:ext uri="{FF2B5EF4-FFF2-40B4-BE49-F238E27FC236}">
                <a16:creationId xmlns:a16="http://schemas.microsoft.com/office/drawing/2014/main" id="{7274F8B2-DD31-47DD-BC84-D52508E07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2805350" cy="2857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oster-title">
            <a:extLst xmlns:a="http://schemas.openxmlformats.org/drawingml/2006/main">
              <a:ext uri="{FF2B5EF4-FFF2-40B4-BE49-F238E27FC236}">
                <a16:creationId xmlns:a16="http://schemas.microsoft.com/office/drawing/2014/main" id="{006D45C0-9F46-4202-B10A-B92F0FF9A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90550"/>
            <a:ext cx="29718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350" b="1">
                <a:solidFill>
                  <a:srgbClr val="FFFFFF"/>
                </a:solidFill>
              </a:defRPr>
            </a:pPr>
            <a:r>
              <a:rPr sz="7350" b="1">
                <a:solidFill>
                  <a:srgbClr val="FFFFFF"/>
                </a:solidFill>
              </a:rPr>
              <a:t>A signature for pan-cancer prognosis</a:t>
            </a:r>
          </a:p>
          <a:p xmlns:a="http://schemas.openxmlformats.org/drawingml/2006/main">
            <a:pPr>
              <a:defRPr sz="7350" b="1">
                <a:solidFill>
                  <a:srgbClr val="FFFFFF"/>
                </a:solidFill>
              </a:defRPr>
            </a:pPr>
            <a:r>
              <a:rPr sz="7350" b="1">
                <a:solidFill>
                  <a:srgbClr val="FFFFFF"/>
                </a:solidFill>
              </a:rPr>
              <a:t>based on neutrophil extracellular traps</a:t>
            </a:r>
          </a:p>
        </p:txBody>
      </p:sp>
      <p:sp>
        <p:nvSpPr>
          <p:cNvPr id="4" name="authors">
            <a:extLst xmlns:a="http://schemas.openxmlformats.org/drawingml/2006/main">
              <a:ext uri="{FF2B5EF4-FFF2-40B4-BE49-F238E27FC236}">
                <a16:creationId xmlns:a16="http://schemas.microsoft.com/office/drawing/2014/main" id="{5E4340A1-DA6A-47D0-9C31-FB9AB720B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914650"/>
            <a:ext cx="2943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FFFFF"/>
                </a:solidFill>
              </a:defRPr>
            </a:pPr>
            <a:r>
              <a:rPr sz="2775" b="1">
                <a:solidFill>
                  <a:srgbClr val="FFFFFF"/>
                </a:solidFill>
              </a:rPr>
              <a:t>Yi Zhang, Liping Guo, Qichen Dai, Bingqing Shang, Ting Xiao, Xuebing Di, Kaitai Zhang, Lin Feng, Jianzhong Shou &amp; Yipeng Wang</a:t>
            </a:r>
          </a:p>
        </p:txBody>
      </p:sp>
      <p:sp>
        <p:nvSpPr>
          <p:cNvPr id="5" name="affiliations">
            <a:extLst xmlns:a="http://schemas.openxmlformats.org/drawingml/2006/main">
              <a:ext uri="{FF2B5EF4-FFF2-40B4-BE49-F238E27FC236}">
                <a16:creationId xmlns:a16="http://schemas.microsoft.com/office/drawing/2014/main" id="{89544C16-2F74-4BD4-A1E3-3C7EF449B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638550"/>
            <a:ext cx="2943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F6F8FA"/>
                </a:solidFill>
              </a:defRPr>
            </a:pPr>
            <a:r>
              <a:rPr sz="2175">
                <a:solidFill>
                  <a:srgbClr val="F6F8FA"/>
                </a:solidFill>
              </a:rPr>
              <a:t>National Cancer Center / Cancer Hospital, CAMS &amp; PUMC · Peking University People's Hospital · collaborating centers</a:t>
            </a:r>
          </a:p>
        </p:txBody>
      </p:sp>
      <p:sp>
        <p:nvSpPr>
          <p:cNvPr id="6" name="citation">
            <a:extLst xmlns:a="http://schemas.openxmlformats.org/drawingml/2006/main">
              <a:ext uri="{FF2B5EF4-FFF2-40B4-BE49-F238E27FC236}">
                <a16:creationId xmlns:a16="http://schemas.microsoft.com/office/drawing/2014/main" id="{790632B9-861E-473C-A25A-E5C000C30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238625"/>
            <a:ext cx="2428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E8B44C"/>
                </a:solidFill>
              </a:defRPr>
            </a:pPr>
            <a:r>
              <a:rPr sz="1950" b="1">
                <a:solidFill>
                  <a:srgbClr val="E8B44C"/>
                </a:solidFill>
              </a:rPr>
              <a:t>J Immunother Cancer 2022 · DOI 10.1136/jitc-2021-004210</a:t>
            </a:r>
          </a:p>
        </p:txBody>
      </p:sp>
      <p:sp>
        <p:nvSpPr>
          <p:cNvPr id="7" name="logo-slot-institution-logo">
            <a:extLst xmlns:a="http://schemas.openxmlformats.org/drawingml/2006/main">
              <a:ext uri="{FF2B5EF4-FFF2-40B4-BE49-F238E27FC236}">
                <a16:creationId xmlns:a16="http://schemas.microsoft.com/office/drawing/2014/main" id="{77EDB659-8C9E-4D66-B55E-0DECA01D0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0" y="552450"/>
            <a:ext cx="93345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E2EC"/>
            </a:solidFill>
            <a:prstDash val="solid"/>
          </a:ln>
        </p:spPr>
      </p:sp>
      <p:sp>
        <p:nvSpPr>
          <p:cNvPr id="8" name="logo-placeholder-institution-logo">
            <a:extLst xmlns:a="http://schemas.openxmlformats.org/drawingml/2006/main">
              <a:ext uri="{FF2B5EF4-FFF2-40B4-BE49-F238E27FC236}">
                <a16:creationId xmlns:a16="http://schemas.microsoft.com/office/drawing/2014/main" id="{B987A44B-A89D-4AAE-A95D-BBC302941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13550" y="914400"/>
            <a:ext cx="9105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0F5F73"/>
                </a:solidFill>
              </a:defRPr>
            </a:pPr>
            <a:r>
              <a:rPr sz="2025" b="1">
                <a:solidFill>
                  <a:srgbClr val="0F5F73"/>
                </a:solidFill>
              </a:rPr>
              <a:t>Institution logo</a:t>
            </a:r>
          </a:p>
        </p:txBody>
      </p:sp>
      <p:sp>
        <p:nvSpPr>
          <p:cNvPr id="9" name="header-summary">
            <a:extLst xmlns:a="http://schemas.openxmlformats.org/drawingml/2006/main">
              <a:ext uri="{FF2B5EF4-FFF2-40B4-BE49-F238E27FC236}">
                <a16:creationId xmlns:a16="http://schemas.microsoft.com/office/drawing/2014/main" id="{E7F4018B-1598-481C-92BB-1A1801E1F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0" y="2000250"/>
            <a:ext cx="9334500" cy="2286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header-metric-1-value">
            <a:extLst xmlns:a="http://schemas.openxmlformats.org/drawingml/2006/main">
              <a:ext uri="{FF2B5EF4-FFF2-40B4-BE49-F238E27FC236}">
                <a16:creationId xmlns:a16="http://schemas.microsoft.com/office/drawing/2014/main" id="{84832B9E-1371-4C43-9C00-5E84D911E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0" y="2286000"/>
            <a:ext cx="247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100" b="1">
                <a:solidFill>
                  <a:srgbClr val="0F5F73"/>
                </a:solidFill>
              </a:defRPr>
            </a:pPr>
            <a:r>
              <a:rPr sz="5100" b="1">
                <a:solidFill>
                  <a:srgbClr val="0F5F73"/>
                </a:solidFill>
              </a:rPr>
              <a:t>19</a:t>
            </a:r>
          </a:p>
        </p:txBody>
      </p:sp>
      <p:sp>
        <p:nvSpPr>
          <p:cNvPr id="11" name="header-metric-1-label">
            <a:extLst xmlns:a="http://schemas.openxmlformats.org/drawingml/2006/main">
              <a:ext uri="{FF2B5EF4-FFF2-40B4-BE49-F238E27FC236}">
                <a16:creationId xmlns:a16="http://schemas.microsoft.com/office/drawing/2014/main" id="{C1E6AA66-CE5B-47AD-9EFB-4F90FB6DF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0" y="3067050"/>
            <a:ext cx="2476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02A43"/>
                </a:solidFill>
              </a:defRPr>
            </a:pPr>
            <a:r>
              <a:rPr sz="2325" b="1">
                <a:solidFill>
                  <a:srgbClr val="102A43"/>
                </a:solidFill>
              </a:rPr>
              <a:t>genes in the NETs signature</a:t>
            </a:r>
          </a:p>
        </p:txBody>
      </p:sp>
      <p:sp>
        <p:nvSpPr>
          <p:cNvPr id="12" name="header-metric-2-value">
            <a:extLst xmlns:a="http://schemas.openxmlformats.org/drawingml/2006/main">
              <a:ext uri="{FF2B5EF4-FFF2-40B4-BE49-F238E27FC236}">
                <a16:creationId xmlns:a16="http://schemas.microsoft.com/office/drawing/2014/main" id="{D9157A3F-1A45-480E-8F16-985455E04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0" y="2286000"/>
            <a:ext cx="247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100" b="1">
                <a:solidFill>
                  <a:srgbClr val="2C8C99"/>
                </a:solidFill>
              </a:defRPr>
            </a:pPr>
            <a:r>
              <a:rPr sz="5100" b="1">
                <a:solidFill>
                  <a:srgbClr val="2C8C99"/>
                </a:solidFill>
              </a:rPr>
              <a:t>8,739</a:t>
            </a:r>
          </a:p>
        </p:txBody>
      </p:sp>
      <p:sp>
        <p:nvSpPr>
          <p:cNvPr id="13" name="header-metric-2-label">
            <a:extLst xmlns:a="http://schemas.openxmlformats.org/drawingml/2006/main">
              <a:ext uri="{FF2B5EF4-FFF2-40B4-BE49-F238E27FC236}">
                <a16:creationId xmlns:a16="http://schemas.microsoft.com/office/drawing/2014/main" id="{D17A18A4-1135-4F2E-BCFC-DDA51992A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0" y="3067050"/>
            <a:ext cx="2476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02A43"/>
                </a:solidFill>
              </a:defRPr>
            </a:pPr>
            <a:r>
              <a:rPr sz="2325" b="1">
                <a:solidFill>
                  <a:srgbClr val="102A43"/>
                </a:solidFill>
              </a:rPr>
              <a:t>TCGA pan-cancer cases</a:t>
            </a:r>
          </a:p>
        </p:txBody>
      </p:sp>
      <p:sp>
        <p:nvSpPr>
          <p:cNvPr id="14" name="header-metric-3-value">
            <a:extLst xmlns:a="http://schemas.openxmlformats.org/drawingml/2006/main">
              <a:ext uri="{FF2B5EF4-FFF2-40B4-BE49-F238E27FC236}">
                <a16:creationId xmlns:a16="http://schemas.microsoft.com/office/drawing/2014/main" id="{61C836D8-411B-4940-8AEF-828FE9D71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0" y="2286000"/>
            <a:ext cx="247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100" b="1">
                <a:solidFill>
                  <a:srgbClr val="E8B44C"/>
                </a:solidFill>
              </a:defRPr>
            </a:pPr>
            <a:r>
              <a:rPr sz="5100" b="1">
                <a:solidFill>
                  <a:srgbClr val="E8B44C"/>
                </a:solidFill>
              </a:rPr>
              <a:t>4</a:t>
            </a:r>
          </a:p>
        </p:txBody>
      </p:sp>
      <p:sp>
        <p:nvSpPr>
          <p:cNvPr id="15" name="header-metric-3-label">
            <a:extLst xmlns:a="http://schemas.openxmlformats.org/drawingml/2006/main">
              <a:ext uri="{FF2B5EF4-FFF2-40B4-BE49-F238E27FC236}">
                <a16:creationId xmlns:a16="http://schemas.microsoft.com/office/drawing/2014/main" id="{A89BD648-E0AF-4B73-81B5-C0B12635E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0" y="3067050"/>
            <a:ext cx="2476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02A43"/>
                </a:solidFill>
              </a:defRPr>
            </a:pPr>
            <a:r>
              <a:rPr sz="2325" b="1">
                <a:solidFill>
                  <a:srgbClr val="102A43"/>
                </a:solidFill>
              </a:rPr>
              <a:t>IHC validation cohorts</a:t>
            </a:r>
          </a:p>
        </p:txBody>
      </p:sp>
      <p:sp>
        <p:nvSpPr>
          <p:cNvPr id="16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1581E871-DEA0-4B53-A025-6E06497F4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619750"/>
            <a:ext cx="1162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F5F73"/>
                </a:solidFill>
              </a:defRPr>
            </a:pPr>
            <a:r>
              <a:rPr sz="3600" b="1">
                <a:solidFill>
                  <a:srgbClr val="0F5F73"/>
                </a:solidFill>
              </a:rPr>
              <a:t>Why NETs?</a:t>
            </a:r>
          </a:p>
        </p:txBody>
      </p:sp>
      <p:sp>
        <p:nvSpPr>
          <p:cNvPr id="17" name="question-rule">
            <a:extLst xmlns:a="http://schemas.openxmlformats.org/drawingml/2006/main">
              <a:ext uri="{FF2B5EF4-FFF2-40B4-BE49-F238E27FC236}">
                <a16:creationId xmlns:a16="http://schemas.microsoft.com/office/drawing/2014/main" id="{8BF58F28-68CD-4635-B0B4-499ECFDFB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6257925"/>
            <a:ext cx="3143250" cy="95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research-question">
            <a:extLst xmlns:a="http://schemas.openxmlformats.org/drawingml/2006/main">
              <a:ext uri="{FF2B5EF4-FFF2-40B4-BE49-F238E27FC236}">
                <a16:creationId xmlns:a16="http://schemas.microsoft.com/office/drawing/2014/main" id="{AA04D1FE-CBF4-4E08-AB9E-525E2A58D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6496050"/>
            <a:ext cx="1162050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102A43"/>
                </a:solidFill>
              </a:defRPr>
            </a:pPr>
            <a:r>
              <a:rPr sz="2850">
                <a:solidFill>
                  <a:srgbClr val="102A43"/>
                </a:solidFill>
              </a:rPr>
              <a:t>Neutrophil extracellular traps (NETs) can support tumor progression and dissemination. The study asked whether transcriptomic NETs-formation potential could stratify prognosis across cancer types.</a:t>
            </a:r>
          </a:p>
        </p:txBody>
      </p:sp>
      <p:sp>
        <p:nvSpPr>
          <p:cNvPr id="19" name="question-evidence">
            <a:extLst xmlns:a="http://schemas.openxmlformats.org/drawingml/2006/main">
              <a:ext uri="{FF2B5EF4-FFF2-40B4-BE49-F238E27FC236}">
                <a16:creationId xmlns:a16="http://schemas.microsoft.com/office/drawing/2014/main" id="{DC1260E7-DEE2-4FF7-B3EC-DA0323970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8686800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i="1">
                <a:solidFill>
                  <a:srgbClr val="2C8C99"/>
                </a:solidFill>
              </a:defRPr>
            </a:pPr>
            <a:r>
              <a:rPr sz="1875" i="1">
                <a:solidFill>
                  <a:srgbClr val="2C8C99"/>
                </a:solidFill>
              </a:rPr>
              <a:t>Evidence: Abstract and Introduction, pp. 1-2</a:t>
            </a:r>
          </a:p>
        </p:txBody>
      </p:sp>
      <p:sp>
        <p:nvSpPr>
          <p:cNvPr id="20" name="pipeline-title">
            <a:extLst xmlns:a="http://schemas.openxmlformats.org/drawingml/2006/main">
              <a:ext uri="{FF2B5EF4-FFF2-40B4-BE49-F238E27FC236}">
                <a16:creationId xmlns:a16="http://schemas.microsoft.com/office/drawing/2014/main" id="{295BC3A0-9605-4C50-9546-93865D682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9239250"/>
            <a:ext cx="1162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F5F73"/>
                </a:solidFill>
              </a:defRPr>
            </a:pPr>
            <a:r>
              <a:rPr sz="3600" b="1">
                <a:solidFill>
                  <a:srgbClr val="0F5F73"/>
                </a:solidFill>
              </a:rPr>
              <a:t>Model construction</a:t>
            </a:r>
          </a:p>
        </p:txBody>
      </p:sp>
      <p:sp>
        <p:nvSpPr>
          <p:cNvPr id="21" name="pipeline-rule">
            <a:extLst xmlns:a="http://schemas.openxmlformats.org/drawingml/2006/main">
              <a:ext uri="{FF2B5EF4-FFF2-40B4-BE49-F238E27FC236}">
                <a16:creationId xmlns:a16="http://schemas.microsoft.com/office/drawing/2014/main" id="{2EA2623E-8F08-40BE-96BB-962ECD397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9877425"/>
            <a:ext cx="3143250" cy="95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pipeline-1-number-bg">
            <a:extLst xmlns:a="http://schemas.openxmlformats.org/drawingml/2006/main">
              <a:ext uri="{FF2B5EF4-FFF2-40B4-BE49-F238E27FC236}">
                <a16:creationId xmlns:a16="http://schemas.microsoft.com/office/drawing/2014/main" id="{8C404A54-4FBA-472E-A371-F0C451E90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0134600"/>
            <a:ext cx="5905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pipeline-1-number">
            <a:extLst xmlns:a="http://schemas.openxmlformats.org/drawingml/2006/main">
              <a:ext uri="{FF2B5EF4-FFF2-40B4-BE49-F238E27FC236}">
                <a16:creationId xmlns:a16="http://schemas.microsoft.com/office/drawing/2014/main" id="{674B3441-AE19-4DF9-9878-C376852DD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0201275"/>
            <a:ext cx="590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02A43"/>
                </a:solidFill>
              </a:defRPr>
            </a:pPr>
            <a:r>
              <a:rPr sz="2325" b="1">
                <a:solidFill>
                  <a:srgbClr val="102A43"/>
                </a:solidFill>
              </a:rPr>
              <a:t>1</a:t>
            </a:r>
          </a:p>
        </p:txBody>
      </p:sp>
      <p:sp>
        <p:nvSpPr>
          <p:cNvPr id="24" name="pipeline-1-text">
            <a:extLst xmlns:a="http://schemas.openxmlformats.org/drawingml/2006/main">
              <a:ext uri="{FF2B5EF4-FFF2-40B4-BE49-F238E27FC236}">
                <a16:creationId xmlns:a16="http://schemas.microsoft.com/office/drawing/2014/main" id="{15DED8B4-35B7-4057-BC00-1AA7B83FF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10172700"/>
            <a:ext cx="10839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2A43"/>
                </a:solidFill>
              </a:defRPr>
            </a:pPr>
            <a:r>
              <a:rPr sz="2850" b="1">
                <a:solidFill>
                  <a:srgbClr val="102A43"/>
                </a:solidFill>
              </a:rPr>
              <a:t>69 initial NETs biomarkers</a:t>
            </a:r>
          </a:p>
        </p:txBody>
      </p:sp>
      <p:sp>
        <p:nvSpPr>
          <p:cNvPr id="25" name="pipeline-2-number-bg">
            <a:extLst xmlns:a="http://schemas.openxmlformats.org/drawingml/2006/main">
              <a:ext uri="{FF2B5EF4-FFF2-40B4-BE49-F238E27FC236}">
                <a16:creationId xmlns:a16="http://schemas.microsoft.com/office/drawing/2014/main" id="{4D58BF80-1021-4148-961F-F2C95C1DD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0896600"/>
            <a:ext cx="5905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pipeline-2-number">
            <a:extLst xmlns:a="http://schemas.openxmlformats.org/drawingml/2006/main">
              <a:ext uri="{FF2B5EF4-FFF2-40B4-BE49-F238E27FC236}">
                <a16:creationId xmlns:a16="http://schemas.microsoft.com/office/drawing/2014/main" id="{94E5DFD6-E80A-4908-9B9D-752615AF7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0963275"/>
            <a:ext cx="590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02A43"/>
                </a:solidFill>
              </a:defRPr>
            </a:pPr>
            <a:r>
              <a:rPr sz="2325" b="1">
                <a:solidFill>
                  <a:srgbClr val="102A43"/>
                </a:solidFill>
              </a:rPr>
              <a:t>2</a:t>
            </a:r>
          </a:p>
        </p:txBody>
      </p:sp>
      <p:sp>
        <p:nvSpPr>
          <p:cNvPr id="27" name="pipeline-2-text">
            <a:extLst xmlns:a="http://schemas.openxmlformats.org/drawingml/2006/main">
              <a:ext uri="{FF2B5EF4-FFF2-40B4-BE49-F238E27FC236}">
                <a16:creationId xmlns:a16="http://schemas.microsoft.com/office/drawing/2014/main" id="{A5B6744A-37C7-4616-AEBE-00663B140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10934700"/>
            <a:ext cx="10839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2A43"/>
                </a:solidFill>
              </a:defRPr>
            </a:pPr>
            <a:r>
              <a:rPr sz="2850" b="1">
                <a:solidFill>
                  <a:srgbClr val="102A43"/>
                </a:solidFill>
              </a:rPr>
              <a:t>LASSO retained 24 genes</a:t>
            </a:r>
          </a:p>
        </p:txBody>
      </p:sp>
      <p:sp>
        <p:nvSpPr>
          <p:cNvPr id="28" name="pipeline-3-number-bg">
            <a:extLst xmlns:a="http://schemas.openxmlformats.org/drawingml/2006/main">
              <a:ext uri="{FF2B5EF4-FFF2-40B4-BE49-F238E27FC236}">
                <a16:creationId xmlns:a16="http://schemas.microsoft.com/office/drawing/2014/main" id="{A5C1F938-65D4-4E3A-9C4C-2953B8648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1658600"/>
            <a:ext cx="5905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pipeline-3-number">
            <a:extLst xmlns:a="http://schemas.openxmlformats.org/drawingml/2006/main">
              <a:ext uri="{FF2B5EF4-FFF2-40B4-BE49-F238E27FC236}">
                <a16:creationId xmlns:a16="http://schemas.microsoft.com/office/drawing/2014/main" id="{561FB4D6-310B-436D-B08E-3F0A4480F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1725275"/>
            <a:ext cx="590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02A43"/>
                </a:solidFill>
              </a:defRPr>
            </a:pPr>
            <a:r>
              <a:rPr sz="2325" b="1">
                <a:solidFill>
                  <a:srgbClr val="102A43"/>
                </a:solidFill>
              </a:rPr>
              <a:t>3</a:t>
            </a:r>
          </a:p>
        </p:txBody>
      </p:sp>
      <p:sp>
        <p:nvSpPr>
          <p:cNvPr id="30" name="pipeline-3-text">
            <a:extLst xmlns:a="http://schemas.openxmlformats.org/drawingml/2006/main">
              <a:ext uri="{FF2B5EF4-FFF2-40B4-BE49-F238E27FC236}">
                <a16:creationId xmlns:a16="http://schemas.microsoft.com/office/drawing/2014/main" id="{0984334E-FE6E-4B63-92E0-6C42EB10E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11696700"/>
            <a:ext cx="10839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2A43"/>
                </a:solidFill>
              </a:defRPr>
            </a:pPr>
            <a:r>
              <a:rPr sz="2850" b="1">
                <a:solidFill>
                  <a:srgbClr val="102A43"/>
                </a:solidFill>
              </a:rPr>
              <a:t>Correlation pruning removed 5 genes</a:t>
            </a:r>
          </a:p>
        </p:txBody>
      </p:sp>
      <p:sp>
        <p:nvSpPr>
          <p:cNvPr id="31" name="pipeline-4-number-bg">
            <a:extLst xmlns:a="http://schemas.openxmlformats.org/drawingml/2006/main">
              <a:ext uri="{FF2B5EF4-FFF2-40B4-BE49-F238E27FC236}">
                <a16:creationId xmlns:a16="http://schemas.microsoft.com/office/drawing/2014/main" id="{3C954084-8840-426C-A37F-B62859D55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2420600"/>
            <a:ext cx="5905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pipeline-4-number">
            <a:extLst xmlns:a="http://schemas.openxmlformats.org/drawingml/2006/main">
              <a:ext uri="{FF2B5EF4-FFF2-40B4-BE49-F238E27FC236}">
                <a16:creationId xmlns:a16="http://schemas.microsoft.com/office/drawing/2014/main" id="{73F3D861-AF2B-46F3-97FF-9A84AFA2E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2487275"/>
            <a:ext cx="590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02A43"/>
                </a:solidFill>
              </a:defRPr>
            </a:pPr>
            <a:r>
              <a:rPr sz="2325" b="1">
                <a:solidFill>
                  <a:srgbClr val="102A43"/>
                </a:solidFill>
              </a:rPr>
              <a:t>4</a:t>
            </a:r>
          </a:p>
        </p:txBody>
      </p:sp>
      <p:sp>
        <p:nvSpPr>
          <p:cNvPr id="33" name="pipeline-4-text">
            <a:extLst xmlns:a="http://schemas.openxmlformats.org/drawingml/2006/main">
              <a:ext uri="{FF2B5EF4-FFF2-40B4-BE49-F238E27FC236}">
                <a16:creationId xmlns:a16="http://schemas.microsoft.com/office/drawing/2014/main" id="{0A1407FE-2191-4085-AD82-E0FBC5C95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12458700"/>
            <a:ext cx="10839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2A43"/>
                </a:solidFill>
              </a:defRPr>
            </a:pPr>
            <a:r>
              <a:rPr sz="2850" b="1">
                <a:solidFill>
                  <a:srgbClr val="102A43"/>
                </a:solidFill>
              </a:rPr>
              <a:t>19-gene Cox-derived NETs score</a:t>
            </a:r>
          </a:p>
        </p:txBody>
      </p:sp>
      <p:sp>
        <p:nvSpPr>
          <p:cNvPr id="34" name="dataset-panel">
            <a:extLst xmlns:a="http://schemas.openxmlformats.org/drawingml/2006/main">
              <a:ext uri="{FF2B5EF4-FFF2-40B4-BE49-F238E27FC236}">
                <a16:creationId xmlns:a16="http://schemas.microsoft.com/office/drawing/2014/main" id="{E42C4BFA-F5D7-4DA8-B882-08392D0A5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3430250"/>
            <a:ext cx="1162050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D9E2EC"/>
            </a:solidFill>
            <a:prstDash val="solid"/>
          </a:ln>
        </p:spPr>
      </p:sp>
      <p:sp>
        <p:nvSpPr>
          <p:cNvPr id="35" name="dataset-kicker">
            <a:extLst xmlns:a="http://schemas.openxmlformats.org/drawingml/2006/main">
              <a:ext uri="{FF2B5EF4-FFF2-40B4-BE49-F238E27FC236}">
                <a16:creationId xmlns:a16="http://schemas.microsoft.com/office/drawing/2014/main" id="{65431B3D-1640-4A94-9B2C-D3E1CE7D3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3716000"/>
            <a:ext cx="438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F5F73"/>
                </a:solidFill>
              </a:defRPr>
            </a:pPr>
            <a:r>
              <a:rPr sz="2175" b="1">
                <a:solidFill>
                  <a:srgbClr val="0F5F73"/>
                </a:solidFill>
              </a:rPr>
              <a:t>DATA FOUNDATION</a:t>
            </a:r>
          </a:p>
        </p:txBody>
      </p:sp>
      <p:sp>
        <p:nvSpPr>
          <p:cNvPr id="36" name="datasets">
            <a:extLst xmlns:a="http://schemas.openxmlformats.org/drawingml/2006/main">
              <a:ext uri="{FF2B5EF4-FFF2-40B4-BE49-F238E27FC236}">
                <a16:creationId xmlns:a16="http://schemas.microsoft.com/office/drawing/2014/main" id="{EDB3CAFE-F64D-4AC8-BF62-A497A45EC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4239875"/>
            <a:ext cx="110871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102A43"/>
                </a:solidFill>
              </a:defRPr>
            </a:pPr>
            <a:r>
              <a:rPr sz="2850">
                <a:solidFill>
                  <a:srgbClr val="102A43"/>
                </a:solidFill>
              </a:rPr>
              <a:t>TCGA: n=8,739, 32 tumor types</a:t>
            </a:r>
          </a:p>
          <a:p xmlns:a="http://schemas.openxmlformats.org/drawingml/2006/main">
            <a:pPr>
              <a:defRPr sz="2850">
                <a:solidFill>
                  <a:srgbClr val="102A43"/>
                </a:solidFill>
              </a:defRPr>
            </a:pPr>
            <a:r>
              <a:rPr sz="2850">
                <a:solidFill>
                  <a:srgbClr val="102A43"/>
                </a:solidFill>
              </a:rPr>
              <a:t>Training: n=6,117 · Test: n=2,622</a:t>
            </a:r>
          </a:p>
          <a:p xmlns:a="http://schemas.openxmlformats.org/drawingml/2006/main">
            <a:pPr>
              <a:defRPr sz="2850">
                <a:solidFill>
                  <a:srgbClr val="102A43"/>
                </a:solidFill>
              </a:defRPr>
            </a:pPr>
            <a:r>
              <a:rPr sz="2850">
                <a:solidFill>
                  <a:srgbClr val="102A43"/>
                </a:solidFill>
              </a:rPr>
              <a:t>CGGA: n=651 · METABRIC: n=1,868 · GEO: n=2,459</a:t>
            </a:r>
          </a:p>
          <a:p xmlns:a="http://schemas.openxmlformats.org/drawingml/2006/main">
            <a:pPr>
              <a:defRPr sz="2850">
                <a:solidFill>
                  <a:srgbClr val="102A43"/>
                </a:solidFill>
              </a:defRPr>
            </a:pPr>
            <a:r>
              <a:rPr sz="2850">
                <a:solidFill>
                  <a:srgbClr val="102A43"/>
                </a:solidFill>
              </a:rPr>
              <a:t>IHC: LUAD n=58 · COAD n=93 · KIRC n=90 · TNBC n=80</a:t>
            </a:r>
          </a:p>
        </p:txBody>
      </p:sp>
      <p:sp>
        <p:nvSpPr>
          <p:cNvPr id="37" name="dataset-evidence">
            <a:extLst xmlns:a="http://schemas.openxmlformats.org/drawingml/2006/main">
              <a:ext uri="{FF2B5EF4-FFF2-40B4-BE49-F238E27FC236}">
                <a16:creationId xmlns:a16="http://schemas.microsoft.com/office/drawing/2014/main" id="{8A20ECCE-6359-44CC-AB94-052A9B918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6411575"/>
            <a:ext cx="11087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i="1">
                <a:solidFill>
                  <a:srgbClr val="2C8C99"/>
                </a:solidFill>
              </a:defRPr>
            </a:pPr>
            <a:r>
              <a:rPr sz="1875" i="1">
                <a:solidFill>
                  <a:srgbClr val="2C8C99"/>
                </a:solidFill>
              </a:rPr>
              <a:t>Evidence: Methods, pp. 2-3</a:t>
            </a:r>
          </a:p>
        </p:txBody>
      </p:sp>
      <p:sp>
        <p:nvSpPr>
          <p:cNvPr id="38" name="figure-one-heading-title">
            <a:extLst xmlns:a="http://schemas.openxmlformats.org/drawingml/2006/main">
              <a:ext uri="{FF2B5EF4-FFF2-40B4-BE49-F238E27FC236}">
                <a16:creationId xmlns:a16="http://schemas.microsoft.com/office/drawing/2014/main" id="{389A2010-FC49-4E23-A0AB-FD84F1DE5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7383125"/>
            <a:ext cx="1162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F5F73"/>
                </a:solidFill>
              </a:defRPr>
            </a:pPr>
            <a:r>
              <a:rPr sz="3600" b="1">
                <a:solidFill>
                  <a:srgbClr val="0F5F73"/>
                </a:solidFill>
              </a:rPr>
              <a:t>From biomarkers to signature</a:t>
            </a:r>
          </a:p>
        </p:txBody>
      </p:sp>
      <p:sp>
        <p:nvSpPr>
          <p:cNvPr id="39" name="figure-one-heading-rule">
            <a:extLst xmlns:a="http://schemas.openxmlformats.org/drawingml/2006/main">
              <a:ext uri="{FF2B5EF4-FFF2-40B4-BE49-F238E27FC236}">
                <a16:creationId xmlns:a16="http://schemas.microsoft.com/office/drawing/2014/main" id="{8CB40851-8E9B-498D-B184-D787F9158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8021300"/>
            <a:ext cx="3143250" cy="95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figure-one-frame">
            <a:extLst xmlns:a="http://schemas.openxmlformats.org/drawingml/2006/main">
              <a:ext uri="{FF2B5EF4-FFF2-40B4-BE49-F238E27FC236}">
                <a16:creationId xmlns:a16="http://schemas.microsoft.com/office/drawing/2014/main" id="{03D2EAA2-9C43-4032-9F14-F7FE441F5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8240375"/>
            <a:ext cx="11620500" cy="9906000"/>
          </a:xfrm>
          <a:prstGeom xmlns:a="http://schemas.openxmlformats.org/drawingml/2006/main" prst="roundRect">
            <a:avLst>
              <a:gd name="adj" fmla="val 1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D9E2EC"/>
            </a:solidFill>
            <a:prstDash val="solid"/>
          </a:ln>
        </p:spPr>
      </p:sp>
      <p:pic>
        <p:nvPicPr>
          <p:cNvPr id="1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db1f87952e441c"/>
          <a:stretch xmlns:a="http://schemas.openxmlformats.org/drawingml/2006/main"/>
        </p:blipFill>
        <p:spPr>
          <a:xfrm xmlns:a="http://schemas.openxmlformats.org/drawingml/2006/main">
            <a:off x="1524000" y="18848451"/>
            <a:ext cx="11239500" cy="8137398"/>
          </a:xfrm>
          <a:prstGeom xmlns:a="http://schemas.openxmlformats.org/drawingml/2006/main" prst="rect">
            <a:avLst/>
          </a:prstGeom>
        </p:spPr>
      </p:pic>
      <p:sp>
        <p:nvSpPr>
          <p:cNvPr id="42" name="figure-one-caption">
            <a:extLst xmlns:a="http://schemas.openxmlformats.org/drawingml/2006/main">
              <a:ext uri="{FF2B5EF4-FFF2-40B4-BE49-F238E27FC236}">
                <a16:creationId xmlns:a16="http://schemas.microsoft.com/office/drawing/2014/main" id="{BDDF0362-620F-4B80-92BC-8E3C35A3A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460575"/>
            <a:ext cx="11163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02A43"/>
                </a:solidFill>
              </a:defRPr>
            </a:pPr>
            <a:r>
              <a:rPr sz="2250" b="1">
                <a:solidFill>
                  <a:srgbClr val="102A43"/>
                </a:solidFill>
              </a:rPr>
              <a:t>Figure 1 · Construction of the pan-cancer NETs signature</a:t>
            </a:r>
          </a:p>
        </p:txBody>
      </p:sp>
      <p:sp>
        <p:nvSpPr>
          <p:cNvPr id="43" name="figure-one-source">
            <a:extLst xmlns:a="http://schemas.openxmlformats.org/drawingml/2006/main">
              <a:ext uri="{FF2B5EF4-FFF2-40B4-BE49-F238E27FC236}">
                <a16:creationId xmlns:a16="http://schemas.microsoft.com/office/drawing/2014/main" id="{B41FE1E3-4865-4657-AD94-996CDDED2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774900"/>
            <a:ext cx="11163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i="1">
                <a:solidFill>
                  <a:srgbClr val="2C8C99"/>
                </a:solidFill>
              </a:defRPr>
            </a:pPr>
            <a:r>
              <a:rPr sz="1875" i="1">
                <a:solidFill>
                  <a:srgbClr val="2C8C99"/>
                </a:solidFill>
              </a:rPr>
              <a:t>Source paper, p. 4 · original colors locked</a:t>
            </a:r>
          </a:p>
        </p:txBody>
      </p:sp>
      <p:sp>
        <p:nvSpPr>
          <p:cNvPr id="44" name="central-takeaway">
            <a:extLst xmlns:a="http://schemas.openxmlformats.org/drawingml/2006/main">
              <a:ext uri="{FF2B5EF4-FFF2-40B4-BE49-F238E27FC236}">
                <a16:creationId xmlns:a16="http://schemas.microsoft.com/office/drawing/2014/main" id="{463AD116-8659-4E8B-87C7-88CA1B560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5619750"/>
            <a:ext cx="13668375" cy="2524125"/>
          </a:xfrm>
          <a:prstGeom xmlns:a="http://schemas.openxmlformats.org/drawingml/2006/main" prst="roundRect">
            <a:avLst>
              <a:gd name="adj" fmla="val 6038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central-takeaway-title">
            <a:extLst xmlns:a="http://schemas.openxmlformats.org/drawingml/2006/main">
              <a:ext uri="{FF2B5EF4-FFF2-40B4-BE49-F238E27FC236}">
                <a16:creationId xmlns:a16="http://schemas.microsoft.com/office/drawing/2014/main" id="{6AE6E9F8-6460-4654-8D90-96108FF73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44600" y="5953125"/>
            <a:ext cx="128301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125" b="1">
                <a:solidFill>
                  <a:srgbClr val="102A43"/>
                </a:solidFill>
              </a:defRPr>
            </a:pPr>
            <a:r>
              <a:rPr sz="4125" b="1">
                <a:solidFill>
                  <a:srgbClr val="102A43"/>
                </a:solidFill>
              </a:rPr>
              <a:t>Higher NETs score identified patients with poorer survival</a:t>
            </a:r>
          </a:p>
        </p:txBody>
      </p:sp>
      <p:sp>
        <p:nvSpPr>
          <p:cNvPr id="46" name="central-takeaway-subtitle">
            <a:extLst xmlns:a="http://schemas.openxmlformats.org/drawingml/2006/main">
              <a:ext uri="{FF2B5EF4-FFF2-40B4-BE49-F238E27FC236}">
                <a16:creationId xmlns:a16="http://schemas.microsoft.com/office/drawing/2014/main" id="{2766C518-0937-418F-AC6F-2B2E4462D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7181850"/>
            <a:ext cx="12334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02A43"/>
                </a:solidFill>
              </a:defRPr>
            </a:pPr>
            <a:r>
              <a:rPr sz="2400" b="1">
                <a:solidFill>
                  <a:srgbClr val="102A43"/>
                </a:solidFill>
              </a:rPr>
              <a:t>Worse DSS, OS and PFI across most cancer types</a:t>
            </a:r>
          </a:p>
        </p:txBody>
      </p:sp>
      <p:sp>
        <p:nvSpPr>
          <p:cNvPr id="47" name="takeaway-evidence">
            <a:extLst xmlns:a="http://schemas.openxmlformats.org/drawingml/2006/main">
              <a:ext uri="{FF2B5EF4-FFF2-40B4-BE49-F238E27FC236}">
                <a16:creationId xmlns:a16="http://schemas.microsoft.com/office/drawing/2014/main" id="{B619C813-46B0-4593-A3B4-997180C17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63650" y="7715250"/>
            <a:ext cx="127920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i="1">
                <a:solidFill>
                  <a:srgbClr val="2C8C99"/>
                </a:solidFill>
              </a:defRPr>
            </a:pPr>
            <a:r>
              <a:rPr sz="1875" i="1">
                <a:solidFill>
                  <a:srgbClr val="2C8C99"/>
                </a:solidFill>
              </a:rPr>
              <a:t>Evidence: Results, p. 4; Figure 2</a:t>
            </a:r>
          </a:p>
        </p:txBody>
      </p:sp>
      <p:sp>
        <p:nvSpPr>
          <p:cNvPr id="48" name="figure-two-heading-title">
            <a:extLst xmlns:a="http://schemas.openxmlformats.org/drawingml/2006/main">
              <a:ext uri="{FF2B5EF4-FFF2-40B4-BE49-F238E27FC236}">
                <a16:creationId xmlns:a16="http://schemas.microsoft.com/office/drawing/2014/main" id="{B692073E-7499-4D6A-996B-477CD9B45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8620125"/>
            <a:ext cx="13668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F5F73"/>
                </a:solidFill>
              </a:defRPr>
            </a:pPr>
            <a:r>
              <a:rPr sz="3600" b="1">
                <a:solidFill>
                  <a:srgbClr val="0F5F73"/>
                </a:solidFill>
              </a:rPr>
              <a:t>Pan-cancer prognostic performance</a:t>
            </a:r>
          </a:p>
        </p:txBody>
      </p:sp>
      <p:sp>
        <p:nvSpPr>
          <p:cNvPr id="49" name="figure-two-heading-rule">
            <a:extLst xmlns:a="http://schemas.openxmlformats.org/drawingml/2006/main">
              <a:ext uri="{FF2B5EF4-FFF2-40B4-BE49-F238E27FC236}">
                <a16:creationId xmlns:a16="http://schemas.microsoft.com/office/drawing/2014/main" id="{79100B36-2D58-488D-BC86-2A8DA3642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9258300"/>
            <a:ext cx="3143250" cy="95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figure-two-frame">
            <a:extLst xmlns:a="http://schemas.openxmlformats.org/drawingml/2006/main">
              <a:ext uri="{FF2B5EF4-FFF2-40B4-BE49-F238E27FC236}">
                <a16:creationId xmlns:a16="http://schemas.microsoft.com/office/drawing/2014/main" id="{6FE90866-87EF-487D-B57C-92F87E61D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9477375"/>
            <a:ext cx="13668375" cy="12715875"/>
          </a:xfrm>
          <a:prstGeom xmlns:a="http://schemas.openxmlformats.org/drawingml/2006/main" prst="roundRect">
            <a:avLst>
              <a:gd name="adj" fmla="val 89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D9E2EC"/>
            </a:solidFill>
            <a:prstDash val="solid"/>
          </a:ln>
        </p:spPr>
      </p:sp>
      <p:pic>
        <p:nvPicPr>
          <p:cNvPr id="1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6b6a3db16247a9"/>
          <a:stretch xmlns:a="http://schemas.openxmlformats.org/drawingml/2006/main"/>
        </p:blipFill>
        <p:spPr>
          <a:xfrm xmlns:a="http://schemas.openxmlformats.org/drawingml/2006/main">
            <a:off x="16443546" y="9667875"/>
            <a:ext cx="7832284" cy="11782425"/>
          </a:xfrm>
          <a:prstGeom xmlns:a="http://schemas.openxmlformats.org/drawingml/2006/main" prst="rect">
            <a:avLst/>
          </a:prstGeom>
        </p:spPr>
      </p:pic>
      <p:sp>
        <p:nvSpPr>
          <p:cNvPr id="52" name="figure-two-caption">
            <a:extLst xmlns:a="http://schemas.openxmlformats.org/drawingml/2006/main">
              <a:ext uri="{FF2B5EF4-FFF2-40B4-BE49-F238E27FC236}">
                <a16:creationId xmlns:a16="http://schemas.microsoft.com/office/drawing/2014/main" id="{4C412B26-1EF0-4B4C-92C4-A919D08B9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54100" y="21507450"/>
            <a:ext cx="132111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02A43"/>
                </a:solidFill>
              </a:defRPr>
            </a:pPr>
            <a:r>
              <a:rPr sz="2250" b="1">
                <a:solidFill>
                  <a:srgbClr val="102A43"/>
                </a:solidFill>
              </a:rPr>
              <a:t>Figure 2 · NETs score distribution and survival performance</a:t>
            </a:r>
          </a:p>
        </p:txBody>
      </p:sp>
      <p:sp>
        <p:nvSpPr>
          <p:cNvPr id="53" name="figure-two-source">
            <a:extLst xmlns:a="http://schemas.openxmlformats.org/drawingml/2006/main">
              <a:ext uri="{FF2B5EF4-FFF2-40B4-BE49-F238E27FC236}">
                <a16:creationId xmlns:a16="http://schemas.microsoft.com/office/drawing/2014/main" id="{8E44A42F-60D4-424B-824E-DBECAD550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54100" y="21821775"/>
            <a:ext cx="132111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i="1">
                <a:solidFill>
                  <a:srgbClr val="2C8C99"/>
                </a:solidFill>
              </a:defRPr>
            </a:pPr>
            <a:r>
              <a:rPr sz="1875" i="1">
                <a:solidFill>
                  <a:srgbClr val="2C8C99"/>
                </a:solidFill>
              </a:rPr>
              <a:t>Source paper, p. 5 · original colors locked</a:t>
            </a:r>
          </a:p>
        </p:txBody>
      </p:sp>
      <p:sp>
        <p:nvSpPr>
          <p:cNvPr id="54" name="validation-heading-title">
            <a:extLst xmlns:a="http://schemas.openxmlformats.org/drawingml/2006/main">
              <a:ext uri="{FF2B5EF4-FFF2-40B4-BE49-F238E27FC236}">
                <a16:creationId xmlns:a16="http://schemas.microsoft.com/office/drawing/2014/main" id="{B11EFF48-FDD6-444D-8B29-51BEF5FD1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22669500"/>
            <a:ext cx="13668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F5F73"/>
                </a:solidFill>
              </a:defRPr>
            </a:pPr>
            <a:r>
              <a:rPr sz="3600" b="1">
                <a:solidFill>
                  <a:srgbClr val="0F5F73"/>
                </a:solidFill>
              </a:rPr>
              <a:t>Independent and external validation</a:t>
            </a:r>
          </a:p>
        </p:txBody>
      </p:sp>
      <p:sp>
        <p:nvSpPr>
          <p:cNvPr id="55" name="validation-heading-rule">
            <a:extLst xmlns:a="http://schemas.openxmlformats.org/drawingml/2006/main">
              <a:ext uri="{FF2B5EF4-FFF2-40B4-BE49-F238E27FC236}">
                <a16:creationId xmlns:a16="http://schemas.microsoft.com/office/drawing/2014/main" id="{5EC91142-3DDC-4069-9F43-5884270C3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23307675"/>
            <a:ext cx="3143250" cy="95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validation-panel">
            <a:extLst xmlns:a="http://schemas.openxmlformats.org/drawingml/2006/main">
              <a:ext uri="{FF2B5EF4-FFF2-40B4-BE49-F238E27FC236}">
                <a16:creationId xmlns:a16="http://schemas.microsoft.com/office/drawing/2014/main" id="{72D38B9C-C402-48E7-ADD5-32C43C51B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23526750"/>
            <a:ext cx="13668375" cy="4048125"/>
          </a:xfrm>
          <a:prstGeom xmlns:a="http://schemas.openxmlformats.org/drawingml/2006/main" prst="roundRect">
            <a:avLst>
              <a:gd name="adj" fmla="val 28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D9E2EC"/>
            </a:solidFill>
            <a:prstDash val="solid"/>
          </a:ln>
        </p:spPr>
      </p:sp>
      <p:sp>
        <p:nvSpPr>
          <p:cNvPr id="57" name="validation">
            <a:extLst xmlns:a="http://schemas.openxmlformats.org/drawingml/2006/main">
              <a:ext uri="{FF2B5EF4-FFF2-40B4-BE49-F238E27FC236}">
                <a16:creationId xmlns:a16="http://schemas.microsoft.com/office/drawing/2014/main" id="{AD2DBA3E-BF0B-4C7A-9368-345C46BD9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68400" y="23841075"/>
            <a:ext cx="12982575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102A43"/>
                </a:solidFill>
              </a:defRPr>
            </a:pPr>
            <a:r>
              <a:rPr sz="2850">
                <a:solidFill>
                  <a:srgbClr val="102A43"/>
                </a:solidFill>
              </a:rPr>
              <a:t>• TCGA test cohort: OS HR=1.22, p=0.0070 after adjustment for cancer type.</a:t>
            </a:r>
          </a:p>
          <a:p xmlns:a="http://schemas.openxmlformats.org/drawingml/2006/main">
            <a:pPr>
              <a:defRPr sz="2850">
                <a:solidFill>
                  <a:srgbClr val="102A43"/>
                </a:solidFill>
              </a:defRPr>
            </a:pPr>
            <a:r>
              <a:rPr sz="2850">
                <a:solidFill>
                  <a:srgbClr val="102A43"/>
                </a:solidFill>
              </a:rPr>
              <a:t>• External cohorts supported prognostic value in glioma and LUAD.</a:t>
            </a:r>
          </a:p>
          <a:p xmlns:a="http://schemas.openxmlformats.org/drawingml/2006/main">
            <a:pPr>
              <a:defRPr sz="2850">
                <a:solidFill>
                  <a:srgbClr val="102A43"/>
                </a:solidFill>
              </a:defRPr>
            </a:pPr>
            <a:r>
              <a:rPr sz="2850">
                <a:solidFill>
                  <a:srgbClr val="102A43"/>
                </a:solidFill>
              </a:rPr>
              <a:t>• Results were not consistent in breast cancer (7/8 cohorts non-significant) or LUSC.</a:t>
            </a:r>
          </a:p>
          <a:p xmlns:a="http://schemas.openxmlformats.org/drawingml/2006/main">
            <a:pPr>
              <a:defRPr sz="2850">
                <a:solidFill>
                  <a:srgbClr val="102A43"/>
                </a:solidFill>
              </a:defRPr>
            </a:pPr>
            <a:r>
              <a:rPr sz="2850">
                <a:solidFill>
                  <a:srgbClr val="102A43"/>
                </a:solidFill>
              </a:rPr>
              <a:t>• Tumor-type context remains essential for interpretation.</a:t>
            </a:r>
          </a:p>
        </p:txBody>
      </p:sp>
      <p:sp>
        <p:nvSpPr>
          <p:cNvPr id="58" name="validation-evidence">
            <a:extLst xmlns:a="http://schemas.openxmlformats.org/drawingml/2006/main">
              <a:ext uri="{FF2B5EF4-FFF2-40B4-BE49-F238E27FC236}">
                <a16:creationId xmlns:a16="http://schemas.microsoft.com/office/drawing/2014/main" id="{7FC3DEE4-B7EB-4971-8CA1-A3C2D2A11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68400" y="27117675"/>
            <a:ext cx="129825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i="1">
                <a:solidFill>
                  <a:srgbClr val="2C8C99"/>
                </a:solidFill>
              </a:defRPr>
            </a:pPr>
            <a:r>
              <a:rPr sz="1875" i="1">
                <a:solidFill>
                  <a:srgbClr val="2C8C99"/>
                </a:solidFill>
              </a:rPr>
              <a:t>Evidence: Results, pp. 4-6</a:t>
            </a:r>
          </a:p>
        </p:txBody>
      </p:sp>
      <p:sp>
        <p:nvSpPr>
          <p:cNvPr id="59" name="performance-strip">
            <a:extLst xmlns:a="http://schemas.openxmlformats.org/drawingml/2006/main">
              <a:ext uri="{FF2B5EF4-FFF2-40B4-BE49-F238E27FC236}">
                <a16:creationId xmlns:a16="http://schemas.microsoft.com/office/drawing/2014/main" id="{E7B53802-1A1F-490C-9E04-DBC6F8E4C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27908250"/>
            <a:ext cx="13668375" cy="1095375"/>
          </a:xfrm>
          <a:prstGeom xmlns:a="http://schemas.openxmlformats.org/drawingml/2006/main" prst="roundRect">
            <a:avLst>
              <a:gd name="adj" fmla="val 10435"/>
            </a:avLst>
          </a:prstGeom>
          <a:solidFill xmlns:a="http://schemas.openxmlformats.org/drawingml/2006/main">
            <a:srgbClr val="0F5F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performance-strip-text">
            <a:extLst xmlns:a="http://schemas.openxmlformats.org/drawingml/2006/main">
              <a:ext uri="{FF2B5EF4-FFF2-40B4-BE49-F238E27FC236}">
                <a16:creationId xmlns:a16="http://schemas.microsoft.com/office/drawing/2014/main" id="{38FF2D5A-E88E-42C6-86A6-EE963CBB3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49350" y="28194000"/>
            <a:ext cx="130206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Nomogram AUC improved: 0.700→0.726 (train) · 0.661→0.718 (test)</a:t>
            </a:r>
          </a:p>
        </p:txBody>
      </p:sp>
      <p:sp>
        <p:nvSpPr>
          <p:cNvPr id="61" name="biology-heading-title">
            <a:extLst xmlns:a="http://schemas.openxmlformats.org/drawingml/2006/main">
              <a:ext uri="{FF2B5EF4-FFF2-40B4-BE49-F238E27FC236}">
                <a16:creationId xmlns:a16="http://schemas.microsoft.com/office/drawing/2014/main" id="{8B091E83-2F2F-4F26-88B1-32CE7FE5A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65375" y="5619750"/>
            <a:ext cx="137064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F5F73"/>
                </a:solidFill>
              </a:defRPr>
            </a:pPr>
            <a:r>
              <a:rPr sz="3600" b="1">
                <a:solidFill>
                  <a:srgbClr val="0F5F73"/>
                </a:solidFill>
              </a:rPr>
              <a:t>Malignant biology</a:t>
            </a:r>
          </a:p>
        </p:txBody>
      </p:sp>
      <p:sp>
        <p:nvSpPr>
          <p:cNvPr id="62" name="biology-heading-rule">
            <a:extLst xmlns:a="http://schemas.openxmlformats.org/drawingml/2006/main">
              <a:ext uri="{FF2B5EF4-FFF2-40B4-BE49-F238E27FC236}">
                <a16:creationId xmlns:a16="http://schemas.microsoft.com/office/drawing/2014/main" id="{DA9B61D2-7600-4B83-BF58-F03D5F4BF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65375" y="6257925"/>
            <a:ext cx="3143250" cy="95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biology-1-value">
            <a:extLst xmlns:a="http://schemas.openxmlformats.org/drawingml/2006/main">
              <a:ext uri="{FF2B5EF4-FFF2-40B4-BE49-F238E27FC236}">
                <a16:creationId xmlns:a16="http://schemas.microsoft.com/office/drawing/2014/main" id="{8D5C0542-FF33-4650-A29F-FA5D836DE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65375" y="6572250"/>
            <a:ext cx="4000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100" b="1">
                <a:solidFill>
                  <a:srgbClr val="0F5F73"/>
                </a:solidFill>
              </a:defRPr>
            </a:pPr>
            <a:r>
              <a:rPr sz="5100" b="1">
                <a:solidFill>
                  <a:srgbClr val="0F5F73"/>
                </a:solidFill>
              </a:rPr>
              <a:t>R=0.7444</a:t>
            </a:r>
          </a:p>
        </p:txBody>
      </p:sp>
      <p:sp>
        <p:nvSpPr>
          <p:cNvPr id="64" name="biology-1-label">
            <a:extLst xmlns:a="http://schemas.openxmlformats.org/drawingml/2006/main">
              <a:ext uri="{FF2B5EF4-FFF2-40B4-BE49-F238E27FC236}">
                <a16:creationId xmlns:a16="http://schemas.microsoft.com/office/drawing/2014/main" id="{E9A16FDA-938F-4678-8224-1D5A4EF53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65375" y="7353300"/>
            <a:ext cx="4000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02A43"/>
                </a:solidFill>
              </a:defRPr>
            </a:pPr>
            <a:r>
              <a:rPr sz="2325" b="1">
                <a:solidFill>
                  <a:srgbClr val="102A43"/>
                </a:solidFill>
              </a:rPr>
              <a:t>Epithelial-mesenchymal transition</a:t>
            </a:r>
          </a:p>
        </p:txBody>
      </p:sp>
      <p:sp>
        <p:nvSpPr>
          <p:cNvPr id="65" name="biology-2-value">
            <a:extLst xmlns:a="http://schemas.openxmlformats.org/drawingml/2006/main">
              <a:ext uri="{FF2B5EF4-FFF2-40B4-BE49-F238E27FC236}">
                <a16:creationId xmlns:a16="http://schemas.microsoft.com/office/drawing/2014/main" id="{7D016BC9-E2BD-4CD0-9B9E-C6DD39316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0" y="6572250"/>
            <a:ext cx="4000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100" b="1">
                <a:solidFill>
                  <a:srgbClr val="2C8C99"/>
                </a:solidFill>
              </a:defRPr>
            </a:pPr>
            <a:r>
              <a:rPr sz="5100" b="1">
                <a:solidFill>
                  <a:srgbClr val="2C8C99"/>
                </a:solidFill>
              </a:rPr>
              <a:t>R=0.5369</a:t>
            </a:r>
          </a:p>
        </p:txBody>
      </p:sp>
      <p:sp>
        <p:nvSpPr>
          <p:cNvPr id="66" name="biology-2-label">
            <a:extLst xmlns:a="http://schemas.openxmlformats.org/drawingml/2006/main">
              <a:ext uri="{FF2B5EF4-FFF2-40B4-BE49-F238E27FC236}">
                <a16:creationId xmlns:a16="http://schemas.microsoft.com/office/drawing/2014/main" id="{6BFC5082-C835-4712-9799-638CEC143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0" y="7353300"/>
            <a:ext cx="4000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02A43"/>
                </a:solidFill>
              </a:defRPr>
            </a:pPr>
            <a:r>
              <a:rPr sz="2325" b="1">
                <a:solidFill>
                  <a:srgbClr val="102A43"/>
                </a:solidFill>
              </a:rPr>
              <a:t>Angiogenesis</a:t>
            </a:r>
          </a:p>
        </p:txBody>
      </p:sp>
      <p:sp>
        <p:nvSpPr>
          <p:cNvPr id="67" name="biology-3-value">
            <a:extLst xmlns:a="http://schemas.openxmlformats.org/drawingml/2006/main">
              <a:ext uri="{FF2B5EF4-FFF2-40B4-BE49-F238E27FC236}">
                <a16:creationId xmlns:a16="http://schemas.microsoft.com/office/drawing/2014/main" id="{64E2530B-ADA5-4CC0-A96A-E981186A8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14125" y="6572250"/>
            <a:ext cx="4000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100" b="1">
                <a:solidFill>
                  <a:srgbClr val="E8B44C"/>
                </a:solidFill>
              </a:defRPr>
            </a:pPr>
            <a:r>
              <a:rPr sz="5100" b="1">
                <a:solidFill>
                  <a:srgbClr val="E8B44C"/>
                </a:solidFill>
              </a:rPr>
              <a:t>R=0.3835</a:t>
            </a:r>
          </a:p>
        </p:txBody>
      </p:sp>
      <p:sp>
        <p:nvSpPr>
          <p:cNvPr id="68" name="biology-3-label">
            <a:extLst xmlns:a="http://schemas.openxmlformats.org/drawingml/2006/main">
              <a:ext uri="{FF2B5EF4-FFF2-40B4-BE49-F238E27FC236}">
                <a16:creationId xmlns:a16="http://schemas.microsoft.com/office/drawing/2014/main" id="{EED9E2B2-196D-4FBA-9E1F-EF824FF2C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14125" y="7353300"/>
            <a:ext cx="4000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02A43"/>
                </a:solidFill>
              </a:defRPr>
            </a:pPr>
            <a:r>
              <a:rPr sz="2325" b="1">
                <a:solidFill>
                  <a:srgbClr val="102A43"/>
                </a:solidFill>
              </a:rPr>
              <a:t>Cell cycle</a:t>
            </a:r>
          </a:p>
        </p:txBody>
      </p:sp>
      <p:sp>
        <p:nvSpPr>
          <p:cNvPr id="69" name="biology-evidence">
            <a:extLst xmlns:a="http://schemas.openxmlformats.org/drawingml/2006/main">
              <a:ext uri="{FF2B5EF4-FFF2-40B4-BE49-F238E27FC236}">
                <a16:creationId xmlns:a16="http://schemas.microsoft.com/office/drawing/2014/main" id="{C9FD83DB-83BD-4F40-A070-1B8D125B3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65375" y="8477250"/>
            <a:ext cx="137064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i="1">
                <a:solidFill>
                  <a:srgbClr val="2C8C99"/>
                </a:solidFill>
              </a:defRPr>
            </a:pPr>
            <a:r>
              <a:rPr sz="1875" i="1">
                <a:solidFill>
                  <a:srgbClr val="2C8C99"/>
                </a:solidFill>
              </a:rPr>
              <a:t>All correlations p&lt;0.0001 · Results, p. 6</a:t>
            </a:r>
          </a:p>
        </p:txBody>
      </p:sp>
      <p:sp>
        <p:nvSpPr>
          <p:cNvPr id="70" name="figure-three-frame">
            <a:extLst xmlns:a="http://schemas.openxmlformats.org/drawingml/2006/main">
              <a:ext uri="{FF2B5EF4-FFF2-40B4-BE49-F238E27FC236}">
                <a16:creationId xmlns:a16="http://schemas.microsoft.com/office/drawing/2014/main" id="{6CFAFAAE-E4E8-4B08-BBDD-DB09B0A0F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65375" y="9191625"/>
            <a:ext cx="13706475" cy="685800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D9E2EC"/>
            </a:solidFill>
            <a:prstDash val="solid"/>
          </a:ln>
        </p:spPr>
      </p:sp>
      <p:pic>
        <p:nvPicPr>
          <p:cNvPr id="15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1a2c05af1b45bf"/>
          <a:stretch xmlns:a="http://schemas.openxmlformats.org/drawingml/2006/main"/>
        </p:blipFill>
        <p:spPr>
          <a:xfrm xmlns:a="http://schemas.openxmlformats.org/drawingml/2006/main">
            <a:off x="32464753" y="9382125"/>
            <a:ext cx="4307719" cy="5924550"/>
          </a:xfrm>
          <a:prstGeom xmlns:a="http://schemas.openxmlformats.org/drawingml/2006/main" prst="rect">
            <a:avLst/>
          </a:prstGeom>
        </p:spPr>
      </p:pic>
      <p:sp>
        <p:nvSpPr>
          <p:cNvPr id="72" name="figure-three-caption">
            <a:extLst xmlns:a="http://schemas.openxmlformats.org/drawingml/2006/main">
              <a:ext uri="{FF2B5EF4-FFF2-40B4-BE49-F238E27FC236}">
                <a16:creationId xmlns:a16="http://schemas.microsoft.com/office/drawing/2014/main" id="{10D76EB8-8123-4061-BF2A-EAD0D7A09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3975" y="15363825"/>
            <a:ext cx="132492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02A43"/>
                </a:solidFill>
              </a:defRPr>
            </a:pPr>
            <a:r>
              <a:rPr sz="2250" b="1">
                <a:solidFill>
                  <a:srgbClr val="102A43"/>
                </a:solidFill>
              </a:rPr>
              <a:t>Figure 5 · NETs activity aligns with aggressive tumor programs</a:t>
            </a:r>
          </a:p>
        </p:txBody>
      </p:sp>
      <p:sp>
        <p:nvSpPr>
          <p:cNvPr id="73" name="figure-three-source">
            <a:extLst xmlns:a="http://schemas.openxmlformats.org/drawingml/2006/main">
              <a:ext uri="{FF2B5EF4-FFF2-40B4-BE49-F238E27FC236}">
                <a16:creationId xmlns:a16="http://schemas.microsoft.com/office/drawing/2014/main" id="{1E32AEF6-7A86-4990-A5DF-003E6DA2C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3975" y="15678150"/>
            <a:ext cx="132492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i="1">
                <a:solidFill>
                  <a:srgbClr val="2C8C99"/>
                </a:solidFill>
              </a:defRPr>
            </a:pPr>
            <a:r>
              <a:rPr sz="1875" i="1">
                <a:solidFill>
                  <a:srgbClr val="2C8C99"/>
                </a:solidFill>
              </a:rPr>
              <a:t>Source paper, p. 8 · original colors locked</a:t>
            </a:r>
          </a:p>
        </p:txBody>
      </p:sp>
      <p:sp>
        <p:nvSpPr>
          <p:cNvPr id="74" name="validation-visual-heading-title">
            <a:extLst xmlns:a="http://schemas.openxmlformats.org/drawingml/2006/main">
              <a:ext uri="{FF2B5EF4-FFF2-40B4-BE49-F238E27FC236}">
                <a16:creationId xmlns:a16="http://schemas.microsoft.com/office/drawing/2014/main" id="{4E0AF4EF-528D-4F6D-B7C6-4220C4448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65375" y="16525875"/>
            <a:ext cx="137064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F5F73"/>
                </a:solidFill>
              </a:defRPr>
            </a:pPr>
            <a:r>
              <a:rPr sz="3600" b="1">
                <a:solidFill>
                  <a:srgbClr val="0F5F73"/>
                </a:solidFill>
              </a:rPr>
              <a:t>Clinical IHC validation</a:t>
            </a:r>
          </a:p>
        </p:txBody>
      </p:sp>
      <p:sp>
        <p:nvSpPr>
          <p:cNvPr id="75" name="validation-visual-heading-rule">
            <a:extLst xmlns:a="http://schemas.openxmlformats.org/drawingml/2006/main">
              <a:ext uri="{FF2B5EF4-FFF2-40B4-BE49-F238E27FC236}">
                <a16:creationId xmlns:a16="http://schemas.microsoft.com/office/drawing/2014/main" id="{7BF81A64-220B-4C8F-AC5C-D6FF68355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65375" y="17164050"/>
            <a:ext cx="3143250" cy="95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figure-four-frame">
            <a:extLst xmlns:a="http://schemas.openxmlformats.org/drawingml/2006/main">
              <a:ext uri="{FF2B5EF4-FFF2-40B4-BE49-F238E27FC236}">
                <a16:creationId xmlns:a16="http://schemas.microsoft.com/office/drawing/2014/main" id="{B764CB60-1E7C-4ED6-83D7-30C358FBA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65375" y="17383125"/>
            <a:ext cx="13706475" cy="7143750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D9E2EC"/>
            </a:solidFill>
            <a:prstDash val="solid"/>
          </a:ln>
        </p:spPr>
      </p:sp>
      <p:pic>
        <p:nvPicPr>
          <p:cNvPr id="16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cfb60a515f4974"/>
          <a:stretch xmlns:a="http://schemas.openxmlformats.org/drawingml/2006/main"/>
        </p:blipFill>
        <p:spPr>
          <a:xfrm xmlns:a="http://schemas.openxmlformats.org/drawingml/2006/main">
            <a:off x="30976920" y="17573625"/>
            <a:ext cx="7283385" cy="6210300"/>
          </a:xfrm>
          <a:prstGeom xmlns:a="http://schemas.openxmlformats.org/drawingml/2006/main" prst="rect">
            <a:avLst/>
          </a:prstGeom>
        </p:spPr>
      </p:pic>
      <p:sp>
        <p:nvSpPr>
          <p:cNvPr id="78" name="figure-four-caption">
            <a:extLst xmlns:a="http://schemas.openxmlformats.org/drawingml/2006/main">
              <a:ext uri="{FF2B5EF4-FFF2-40B4-BE49-F238E27FC236}">
                <a16:creationId xmlns:a16="http://schemas.microsoft.com/office/drawing/2014/main" id="{7FD460D0-B133-4235-8EA2-6393B55D9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3975" y="23841075"/>
            <a:ext cx="132492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02A43"/>
                </a:solidFill>
              </a:defRPr>
            </a:pPr>
            <a:r>
              <a:rPr sz="2250" b="1">
                <a:solidFill>
                  <a:srgbClr val="102A43"/>
                </a:solidFill>
              </a:rPr>
              <a:t>Figure 6 · MPO stratified outcomes in COAD, KIRC and LUAD, not TNBC</a:t>
            </a:r>
          </a:p>
        </p:txBody>
      </p:sp>
      <p:sp>
        <p:nvSpPr>
          <p:cNvPr id="79" name="figure-four-source">
            <a:extLst xmlns:a="http://schemas.openxmlformats.org/drawingml/2006/main">
              <a:ext uri="{FF2B5EF4-FFF2-40B4-BE49-F238E27FC236}">
                <a16:creationId xmlns:a16="http://schemas.microsoft.com/office/drawing/2014/main" id="{90581EB8-9ADF-47CF-A021-056456301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3975" y="24155400"/>
            <a:ext cx="132492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i="1">
                <a:solidFill>
                  <a:srgbClr val="2C8C99"/>
                </a:solidFill>
              </a:defRPr>
            </a:pPr>
            <a:r>
              <a:rPr sz="1875" i="1">
                <a:solidFill>
                  <a:srgbClr val="2C8C99"/>
                </a:solidFill>
              </a:rPr>
              <a:t>Source paper, p. 9 · original colors locked</a:t>
            </a:r>
          </a:p>
        </p:txBody>
      </p:sp>
      <p:sp>
        <p:nvSpPr>
          <p:cNvPr id="80" name="conclusion-heading-title">
            <a:extLst xmlns:a="http://schemas.openxmlformats.org/drawingml/2006/main">
              <a:ext uri="{FF2B5EF4-FFF2-40B4-BE49-F238E27FC236}">
                <a16:creationId xmlns:a16="http://schemas.microsoft.com/office/drawing/2014/main" id="{7D21ECC8-4B9D-4D52-9B88-90391B8DD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65375" y="25003125"/>
            <a:ext cx="137064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F5F73"/>
                </a:solidFill>
              </a:defRPr>
            </a:pPr>
            <a:r>
              <a:rPr sz="3600" b="1">
                <a:solidFill>
                  <a:srgbClr val="0F5F73"/>
                </a:solidFill>
              </a:rPr>
              <a:t>Conclusion</a:t>
            </a:r>
          </a:p>
        </p:txBody>
      </p:sp>
      <p:sp>
        <p:nvSpPr>
          <p:cNvPr id="81" name="conclusion-heading-rule">
            <a:extLst xmlns:a="http://schemas.openxmlformats.org/drawingml/2006/main">
              <a:ext uri="{FF2B5EF4-FFF2-40B4-BE49-F238E27FC236}">
                <a16:creationId xmlns:a16="http://schemas.microsoft.com/office/drawing/2014/main" id="{4531912E-C2ED-4637-A8AF-D0F5672EE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65375" y="25641300"/>
            <a:ext cx="3143250" cy="95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" name="conclusion-panel">
            <a:extLst xmlns:a="http://schemas.openxmlformats.org/drawingml/2006/main">
              <a:ext uri="{FF2B5EF4-FFF2-40B4-BE49-F238E27FC236}">
                <a16:creationId xmlns:a16="http://schemas.microsoft.com/office/drawing/2014/main" id="{42446E0D-6A7B-47DB-81BB-EE0577F10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65375" y="25860375"/>
            <a:ext cx="13706475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D9E2EC"/>
            </a:solidFill>
            <a:prstDash val="solid"/>
          </a:ln>
        </p:spPr>
      </p:sp>
      <p:sp>
        <p:nvSpPr>
          <p:cNvPr id="83" name="conclusion">
            <a:extLst xmlns:a="http://schemas.openxmlformats.org/drawingml/2006/main">
              <a:ext uri="{FF2B5EF4-FFF2-40B4-BE49-F238E27FC236}">
                <a16:creationId xmlns:a16="http://schemas.microsoft.com/office/drawing/2014/main" id="{C0C8784D-1782-4065-B327-E247F42E4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89225" y="26174700"/>
            <a:ext cx="13058775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102A43"/>
                </a:solidFill>
              </a:defRPr>
            </a:pPr>
            <a:r>
              <a:rPr sz="2850">
                <a:solidFill>
                  <a:srgbClr val="102A43"/>
                </a:solidFill>
              </a:rPr>
              <a:t>A 19-gene transcriptomic signature captured clinically relevant NETs-formation potential, prognosis and malignant biology across cancers.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850">
                <a:solidFill>
                  <a:srgbClr val="102A43"/>
                </a:solidFill>
              </a:defRPr>
            </a:pPr>
            <a:r>
              <a:rPr sz="2850">
                <a:solidFill>
                  <a:srgbClr val="102A43"/>
                </a:solidFill>
              </a:rPr>
              <a:t>Limitations: few NETs markers, limited cancer-specific IHC cohorts and insufficient H3Cit positivity; broader multi-marker validation is required.</a:t>
            </a:r>
          </a:p>
        </p:txBody>
      </p:sp>
      <p:sp>
        <p:nvSpPr>
          <p:cNvPr id="84" name="conclusion-evidence">
            <a:extLst xmlns:a="http://schemas.openxmlformats.org/drawingml/2006/main">
              <a:ext uri="{FF2B5EF4-FFF2-40B4-BE49-F238E27FC236}">
                <a16:creationId xmlns:a16="http://schemas.microsoft.com/office/drawing/2014/main" id="{FABCEC3C-0B15-4C71-9EB1-3EAF14CCB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89225" y="28498800"/>
            <a:ext cx="130587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i="1">
                <a:solidFill>
                  <a:srgbClr val="2C8C99"/>
                </a:solidFill>
              </a:defRPr>
            </a:pPr>
            <a:r>
              <a:rPr sz="1875" i="1">
                <a:solidFill>
                  <a:srgbClr val="2C8C99"/>
                </a:solidFill>
              </a:rPr>
              <a:t>Evidence: Discussion and Conclusions, p. 10</a:t>
            </a:r>
          </a:p>
        </p:txBody>
      </p:sp>
      <p:sp>
        <p:nvSpPr>
          <p:cNvPr id="85" name="footer-band">
            <a:extLst xmlns:a="http://schemas.openxmlformats.org/drawingml/2006/main">
              <a:ext uri="{FF2B5EF4-FFF2-40B4-BE49-F238E27FC236}">
                <a16:creationId xmlns:a16="http://schemas.microsoft.com/office/drawing/2014/main" id="{05EE3A1C-A8E1-4EB3-A491-EC4600920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9337000"/>
            <a:ext cx="42805350" cy="942975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89473CE4-7B9A-4C1A-B995-F458026E2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9594175"/>
            <a:ext cx="2857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FFFFFF"/>
                </a:solidFill>
              </a:defRPr>
            </a:pPr>
            <a:r>
              <a:rPr sz="1950">
                <a:solidFill>
                  <a:srgbClr val="FFFFFF"/>
                </a:solidFill>
              </a:rPr>
              <a:t>Zhang et al. J Immunother Cancer. 2022;10:e004210 · CC BY-NC · traceable paraphrase</a:t>
            </a:r>
          </a:p>
        </p:txBody>
      </p:sp>
      <p:sp>
        <p:nvSpPr>
          <p:cNvPr id="87" name="footer-status">
            <a:extLst xmlns:a="http://schemas.openxmlformats.org/drawingml/2006/main">
              <a:ext uri="{FF2B5EF4-FFF2-40B4-BE49-F238E27FC236}">
                <a16:creationId xmlns:a16="http://schemas.microsoft.com/office/drawing/2014/main" id="{D93AFEFF-3D1D-4690-ADD9-D5001C7E3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0" y="29594175"/>
            <a:ext cx="1171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875" b="1">
                <a:solidFill>
                  <a:srgbClr val="E8B44C"/>
                </a:solidFill>
              </a:defRPr>
            </a:pPr>
            <a:r>
              <a:rPr sz="1875" b="1">
                <a:solidFill>
                  <a:srgbClr val="E8B44C"/>
                </a:solidFill>
              </a:rPr>
              <a:t>Approvals current · scientific figure colors locked</a:t>
            </a:r>
          </a:p>
        </p:txBody>
      </p:sp>
    </p:spTree>
    <p:extLst>
      <p:ext uri="{BB962C8B-B14F-4D97-AF65-F5344CB8AC3E}">
        <p14:creationId xmlns:p14="http://schemas.microsoft.com/office/powerpoint/2010/main" val="144023118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2026-08-07T04:10:09.8140000Z</dcterms:created>
  <dcterms:modified xsi:type="dcterms:W3CDTF">2026-08-07T04:10:09.8140000Z</dcterms:modified>
</coreProperties>
</file>