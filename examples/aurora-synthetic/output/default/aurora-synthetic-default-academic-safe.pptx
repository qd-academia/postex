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0c793bd50544f2" /><Relationship Type="http://schemas.openxmlformats.org/officeDocument/2006/relationships/extended-properties" Target="/docProps/app.xml" Id="R52c682d3861244d4" /><Relationship Type="http://schemas.openxmlformats.org/officeDocument/2006/relationships/officeDocument" Target="/ppt/presentation.xml" Id="R43b7d0579f1e4e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5182b2d56403f"/>
  </p:sldMasterIdLst>
  <p:notesMasterIdLst>
    <p:notesMasterId xmlns:r="http://schemas.openxmlformats.org/officeDocument/2006/relationships" r:id="R2a4aa9a544e9453f"/>
  </p:notesMasterIdLst>
  <p:sldIdLst>
    <p:sldId xmlns:r="http://schemas.openxmlformats.org/officeDocument/2006/relationships" id="256" r:id="R350546b6c92444d1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67a36e53f404f" /><Relationship Type="http://schemas.openxmlformats.org/officeDocument/2006/relationships/slideMaster" Target="/ppt/slideMasters/slideMaster1.xml" Id="R8015182b2d56403f" /><Relationship Type="http://schemas.openxmlformats.org/officeDocument/2006/relationships/notesMaster" Target="/ppt/notesMasters/notesMaster1.xml" Id="R2a4aa9a544e9453f" /><Relationship Type="http://schemas.openxmlformats.org/officeDocument/2006/relationships/presProps" Target="/ppt/presProps.xml" Id="R13d5b1a7ac4b4698" /><Relationship Type="http://schemas.openxmlformats.org/officeDocument/2006/relationships/tableStyles" Target="/ppt/tableStyles.xml" Id="Rfa21cbee334344fc" /><Relationship Type="http://schemas.openxmlformats.org/officeDocument/2006/relationships/slide" Target="/ppt/slides/slide1.xml" Id="R350546b6c92444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d7f3d287f1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a62cdb9cb74cbb" /><Relationship Type="http://schemas.openxmlformats.org/officeDocument/2006/relationships/notesMaster" Target="/ppt/notesMasters/notesMaster1.xml" Id="Rf8f36dbfbc6b4a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b629cc2e34d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5e7aa9a93414c" /><Relationship Type="http://schemas.openxmlformats.org/officeDocument/2006/relationships/slideLayout" Target="/ppt/slideLayouts/slideLayout1.xml" Id="Ra853d59fe46e4f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53d59fe46e4f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8397b4a084e02" /><Relationship Type="http://schemas.openxmlformats.org/officeDocument/2006/relationships/image" Target="/ppt/media/image.png" Id="R6b1565952c4f4300" /><Relationship Type="http://schemas.openxmlformats.org/officeDocument/2006/relationships/image" Target="/ppt/media/image.svg" Id="R8c9b504dbf554fab" /><Relationship Type="http://schemas.openxmlformats.org/officeDocument/2006/relationships/image" Target="/ppt/media/image2.png" Id="R8c9d1c8915174c64" /><Relationship Type="http://schemas.openxmlformats.org/officeDocument/2006/relationships/image" Target="/ppt/media/image2.svg" Id="Rb7d006c649424665" /><Relationship Type="http://schemas.openxmlformats.org/officeDocument/2006/relationships/image" Target="/ppt/media/image3.png" Id="Rbdcbb2b7fe53480e" /><Relationship Type="http://schemas.openxmlformats.org/officeDocument/2006/relationships/image" Target="/ppt/media/image3.svg" Id="Rc95c101a1bf44ae4" /><Relationship Type="http://schemas.openxmlformats.org/officeDocument/2006/relationships/image" Target="/ppt/media/image4.png" Id="R783054ee9c6e475c" /><Relationship Type="http://schemas.openxmlformats.org/officeDocument/2006/relationships/image" Target="/ppt/media/image4.svg" Id="R529c2d32ea754c98" /><Relationship Type="http://schemas.openxmlformats.org/officeDocument/2006/relationships/notesSlide" Target="/ppt/notesSlides/notesSlide1.xml" Id="R334b70e1173040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6B97E08-92EB-41FB-AA2B-7171062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B22AB5-21C2-45FF-9827-F51BEACD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AE35A472-CF5D-489E-8641-1E8DCC1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197AC713-115E-40B9-9536-8C08C5D2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62012248-12D2-42AB-9C40-8045ABD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DED63E32-D2F7-4EA3-A9D2-211830D2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0421F854-35D7-4FF2-B33B-C5EA8F8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0AC69709-D18E-4A1A-9B8C-66856EA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51E15929-634D-4576-B92D-7C60B212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44087AA6-C940-4F6D-AD60-4C6D0E51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BDA31662-DD71-40EB-A750-D1B8DB72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191FBCD7-760B-4E2D-8170-DB5C408F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D14905DC-1088-4847-9269-44027086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9943FA08-8DC9-49FA-8B5E-814BF706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A2CD411B-91F2-4D01-BCF5-B55EC8B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4B6A1F8-DED8-4ED5-BFEA-827B0FCC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Communication test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35A2BC68-676F-4EE0-8C46-509F5DDA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CBD0F0F7-74ED-4F89-ADE3-55588356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5EB60026-8E3A-4157-A1FF-7B2A882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35BE22B3-B8BE-48ED-B7AD-55825C43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Deterministic workflow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8D2B7ADE-470B-42DC-B6E1-1BD4956D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8C088A21-097F-46EF-88B6-B51AF039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6FE64AD5-FF93-46D0-BDBD-EB88C0B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E3AB6F50-6967-45D5-9B9E-E7BB9152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6E7C6F99-3D03-491E-BD51-4E2B9E60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B81108F7-EDF4-4684-A3C9-E453050F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925D2426-E48D-40C4-A77B-6AB78F25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A231EDDD-5B44-4EF1-BCD0-BC041CC1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B72E8249-8FD5-493D-8707-491405C8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457C0282-C1FC-4C64-A67A-EEBE5083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19FDAD0D-1749-4714-BB85-C4B5E909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307E0CEC-F8B9-471F-8921-142B311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99F02AF8-2A70-482C-A606-1BDB9B46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3DF89B08-8909-4C4B-9776-90A2F3A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DCA02CDE-35A1-44A3-ABD1-4AED602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FOUR SYNTHETIC COHORTS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3B8F40FD-E399-4067-9D73-41275F0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Discovery n=620 · Internal validation n=310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External simulation A n=186 · External simulation B n=124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All values are authored fixtures; no participant, specimen, institution, registry or external dataset exists.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506B3EA5-8E1C-4A10-BE7E-AE738CB6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78AD154D-DC55-47E8-A0A2-B77D84F5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Generation to validation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D423D96C-1AC5-4B86-A4C0-61CC361B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77EB65D4-FDD9-409C-AB05-5DA3FE5E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565952c4f4300">
            <a:extLst>
              <a:ext uri="{96DAC541-7B7A-43D3-8B79-37D633B846F1}">
                <asvg:svgBlip xmlns:asvg="http://schemas.microsoft.com/office/drawing/2016/SVG/main" r:embed="R8c9b504dbf554f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ect">
            <a:avLst/>
          </a:prstGeom>
        </p:spPr>
      </p:pic>
      <p:sp>
        <p:nvSpPr>
          <p:cNvPr id="42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600F6889-2877-4396-B5A7-A8672CA4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3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28F157C2-848E-400A-838B-6E0CDEAC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4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ECA0B784-F8AC-4CEA-919C-FF4572CA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5A883596-F20D-4359-8CBE-39FE4FF8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External simulations retained C-indices of 0.75 and 0.74</a:t>
            </a:r>
          </a:p>
        </p:txBody>
      </p:sp>
      <p:sp>
        <p:nvSpPr>
          <p:cNvPr id="46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C70E9D60-D347-460E-80DF-B44F1883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7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2A0D971A-8CFB-486A-B1CD-3C3F51F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8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93F75617-1520-4809-8AD2-D9E71643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Discrimination across shifts</a:t>
            </a:r>
          </a:p>
        </p:txBody>
      </p:sp>
      <p:sp>
        <p:nvSpPr>
          <p:cNvPr id="49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93D1EF55-9AE8-41AA-8B02-9A56C0AC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0FCB1741-6384-4527-AA01-DC5B4B77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d1c8915174c64">
            <a:extLst>
              <a:ext uri="{96DAC541-7B7A-43D3-8B79-37D633B846F1}">
                <asvg:svgBlip xmlns:asvg="http://schemas.microsoft.com/office/drawing/2016/SVG/main" r:embed="Rb7d006c6494246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ect">
            <a:avLst/>
          </a:prstGeom>
        </p:spPr>
      </p:pic>
      <p:sp>
        <p:nvSpPr>
          <p:cNvPr id="52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C91EE88A-A256-41E3-AB5E-24C2C435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3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A74D7F43-89B4-4743-938A-A1D56699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4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FC6EBB6D-E562-4B0B-93AB-2291695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Calibration and stress boundary</a:t>
            </a:r>
          </a:p>
        </p:txBody>
      </p:sp>
      <p:sp>
        <p:nvSpPr>
          <p:cNvPr id="55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ADF86218-4202-4DFF-9AED-B06561DF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887CA80D-CBFD-4A1A-A7FE-DBD1B8DF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7" name="validation">
            <a:extLst xmlns:a="http://schemas.openxmlformats.org/drawingml/2006/main">
              <a:ext uri="{FF2B5EF4-FFF2-40B4-BE49-F238E27FC236}">
                <a16:creationId xmlns:a16="http://schemas.microsoft.com/office/drawing/2014/main" id="{62A2A3D5-63C3-4A9F-BB26-297960E5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8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5DEA038C-0655-45A2-A050-D7007C82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59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739FFA4B-FEBD-4373-9E11-81F222D1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766473C8-8C40-42C7-A2C1-64F2E45E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AURORA-12 vs baseline C-index · Discovery 0.78 vs 0.68 · Internal 0.76 vs 0.67 · External A 0.75 vs 0.66 · External B 0.74 vs 0.65</a:t>
            </a:r>
          </a:p>
        </p:txBody>
      </p:sp>
      <p:sp>
        <p:nvSpPr>
          <p:cNvPr id="61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78263B02-DD54-41A5-8261-8164020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Calibration &amp; stability</a:t>
            </a:r>
          </a:p>
        </p:txBody>
      </p:sp>
      <p:sp>
        <p:nvSpPr>
          <p:cNvPr id="62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7DE865FF-BE22-41C5-AD45-6BC1E38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3F7BEA19-5D31-4B69-8E28-987F075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4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B77C36C3-AFDB-43B2-BFA6-805E1D8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5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681C92D0-236D-4563-86E5-76461D66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6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6DEB8577-6A4B-41F6-8D31-7A7CE2E2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7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B25252C5-EC3D-45E6-8A5C-B2850666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8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21DE78D6-0E03-41E0-9AA8-97AE7074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69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C725240F-C5CC-4BC8-9903-34C4E655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0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D148CA4E-CCAB-4831-A0A8-AA14962E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bb2b7fe53480e">
            <a:extLst>
              <a:ext uri="{96DAC541-7B7A-43D3-8B79-37D633B846F1}">
                <asvg:svgBlip xmlns:asvg="http://schemas.microsoft.com/office/drawing/2016/SVG/main" r:embed="Rc95c101a1bf44a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ect">
            <a:avLst/>
          </a:prstGeom>
        </p:spPr>
      </p:pic>
      <p:sp>
        <p:nvSpPr>
          <p:cNvPr id="72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F3ECA723-DAD3-462D-B2C0-E4B301B9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3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8BA893C1-AD53-4795-961D-92215E9B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4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974B7BBA-9184-4F60-A682-1CD7B6FF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Pre-specified stress test</a:t>
            </a:r>
          </a:p>
        </p:txBody>
      </p:sp>
      <p:sp>
        <p:nvSpPr>
          <p:cNvPr id="75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E06A7DAD-DF93-466C-ACD7-0C3C4175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74C85410-D0C9-4729-B332-BA3C671B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054ee9c6e475c">
            <a:extLst>
              <a:ext uri="{96DAC541-7B7A-43D3-8B79-37D633B846F1}">
                <asvg:svgBlip xmlns:asvg="http://schemas.microsoft.com/office/drawing/2016/SVG/main" r:embed="R529c2d32ea754c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ect">
            <a:avLst/>
          </a:prstGeom>
        </p:spPr>
      </p:pic>
      <p:sp>
        <p:nvSpPr>
          <p:cNvPr id="78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08F3EBFB-B1CD-49EA-9921-1FDC45C0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79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7C8DACDE-44AF-49E6-AC42-4FCE82BC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0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702970AD-E065-45F7-85CF-1840B1D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Supported conclusion</a:t>
            </a:r>
          </a:p>
        </p:txBody>
      </p:sp>
      <p:sp>
        <p:nvSpPr>
          <p:cNvPr id="81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031D8E3B-F7A6-4ACE-A173-05CBB048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50F4BA34-3F55-4D2E-A389-A72B367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3" name="conclusion">
            <a:extLst xmlns:a="http://schemas.openxmlformats.org/drawingml/2006/main">
              <a:ext uri="{FF2B5EF4-FFF2-40B4-BE49-F238E27FC236}">
                <a16:creationId xmlns:a16="http://schemas.microsoft.com/office/drawing/2014/main" id="{DA7BB850-25A8-4FA9-A5B0-7D1F40ED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AURORA-12 is a controlled, rights-safe fixture for testing evidence-linked scientific communication. It supports no inference about real biology, prognosis, treatment or clinical utility. Every number, cohort, feature, author and institution is fictional.</a:t>
            </a:r>
          </a:p>
        </p:txBody>
      </p:sp>
      <p:sp>
        <p:nvSpPr>
          <p:cNvPr id="84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622A09C5-2272-4F48-8B6B-DDD1BFA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5" name="footer-band">
            <a:extLst xmlns:a="http://schemas.openxmlformats.org/drawingml/2006/main">
              <a:ext uri="{FF2B5EF4-FFF2-40B4-BE49-F238E27FC236}">
                <a16:creationId xmlns:a16="http://schemas.microsoft.com/office/drawing/2014/main" id="{1472C739-3EF3-47E8-8A0E-C6607FC8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DAE6FC0-7E5A-4A5D-AD23-9CC74B0B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7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677E8B7-0BB0-45F3-838D-2C5DB522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8B44C"/>
                </a:solidFill>
              </a:defRPr>
            </a:pPr>
            <a:r>
              <a:rPr sz="1875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</p:spTree>
    <p:extLst>
      <p:ext uri="{BB962C8B-B14F-4D97-AF65-F5344CB8AC3E}">
        <p14:creationId xmlns:p14="http://schemas.microsoft.com/office/powerpoint/2010/main" val="1129746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2026-08-08T08:08:02.5150000Z</dcterms:created>
  <dcterms:modified xsi:type="dcterms:W3CDTF">2026-08-08T08:08:02.5150000Z</dcterms:modified>
</coreProperties>
</file>