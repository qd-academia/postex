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8588bd52564ab3" /><Relationship Type="http://schemas.openxmlformats.org/officeDocument/2006/relationships/extended-properties" Target="/docProps/app.xml" Id="R7a8ec88f508e4e1f" /><Relationship Type="http://schemas.openxmlformats.org/officeDocument/2006/relationships/officeDocument" Target="/ppt/presentation.xml" Id="Rf1166604a9934c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a3b7dfcd2a4bed"/>
  </p:sldMasterIdLst>
  <p:notesMasterIdLst>
    <p:notesMasterId xmlns:r="http://schemas.openxmlformats.org/officeDocument/2006/relationships" r:id="Rfda1cb38bf4b4a04"/>
  </p:notesMasterIdLst>
  <p:sldIdLst>
    <p:sldId xmlns:r="http://schemas.openxmlformats.org/officeDocument/2006/relationships" id="256" r:id="R590d0c3b33154c38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0cdd0c661a4cf3" /><Relationship Type="http://schemas.openxmlformats.org/officeDocument/2006/relationships/slideMaster" Target="/ppt/slideMasters/slideMaster1.xml" Id="Rf0a3b7dfcd2a4bed" /><Relationship Type="http://schemas.openxmlformats.org/officeDocument/2006/relationships/notesMaster" Target="/ppt/notesMasters/notesMaster1.xml" Id="Rfda1cb38bf4b4a04" /><Relationship Type="http://schemas.openxmlformats.org/officeDocument/2006/relationships/presProps" Target="/ppt/presProps.xml" Id="R2ebee8e75ce34480" /><Relationship Type="http://schemas.openxmlformats.org/officeDocument/2006/relationships/tableStyles" Target="/ppt/tableStyles.xml" Id="R9b3b40bac90f460a" /><Relationship Type="http://schemas.openxmlformats.org/officeDocument/2006/relationships/slide" Target="/ppt/slides/slide1.xml" Id="R590d0c3b33154c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2e496b182940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a57721d92f4b7f" /><Relationship Type="http://schemas.openxmlformats.org/officeDocument/2006/relationships/notesMaster" Target="/ppt/notesMasters/notesMaster1.xml" Id="R7eeec104e34a4a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sha256:c9834f95586be531d5d8667465b8d0525469d9de17a3f361d76c34ad4677c4ca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f105b734f142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ddce7a8d8e4fe3" /><Relationship Type="http://schemas.openxmlformats.org/officeDocument/2006/relationships/slideLayout" Target="/ppt/slideLayouts/slideLayout1.xml" Id="Rff191c4f559746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191c4f559746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d95fa5cad4397" /><Relationship Type="http://schemas.openxmlformats.org/officeDocument/2006/relationships/image" Target="/ppt/media/image.png" Id="Rb239f9cd2b894da7" /><Relationship Type="http://schemas.openxmlformats.org/officeDocument/2006/relationships/image" Target="/ppt/media/image.svg" Id="Rca10a8d789c647f2" /><Relationship Type="http://schemas.openxmlformats.org/officeDocument/2006/relationships/image" Target="/ppt/media/image2.png" Id="R615f9e0703354312" /><Relationship Type="http://schemas.openxmlformats.org/officeDocument/2006/relationships/image" Target="/ppt/media/image2.svg" Id="Re268e951e3fb404a" /><Relationship Type="http://schemas.openxmlformats.org/officeDocument/2006/relationships/image" Target="/ppt/media/image3.png" Id="Rf248fedfd1074d15" /><Relationship Type="http://schemas.openxmlformats.org/officeDocument/2006/relationships/image" Target="/ppt/media/image3.svg" Id="Rceabe35bf7254b9c" /><Relationship Type="http://schemas.openxmlformats.org/officeDocument/2006/relationships/image" Target="/ppt/media/image4.png" Id="Raec0ab85d6a14af5" /><Relationship Type="http://schemas.openxmlformats.org/officeDocument/2006/relationships/image" Target="/ppt/media/image4.svg" Id="R9aa5ac09baae4371" /><Relationship Type="http://schemas.openxmlformats.org/officeDocument/2006/relationships/notesSlide" Target="/ppt/notesSlides/notesSlide1.xml" Id="R34f7b70606e440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5" name="header-band">
            <a:extLst xmlns:a="http://schemas.openxmlformats.org/drawingml/2006/main">
              <a:ext uri="{FF2B5EF4-FFF2-40B4-BE49-F238E27FC236}">
                <a16:creationId xmlns:a16="http://schemas.microsoft.com/office/drawing/2014/main" id="{30EA33EB-5ED3-41DB-BC70-C4B588D3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cape-gradient-1">
            <a:extLst xmlns:a="http://schemas.openxmlformats.org/drawingml/2006/main">
              <a:ext uri="{FF2B5EF4-FFF2-40B4-BE49-F238E27FC236}">
                <a16:creationId xmlns:a16="http://schemas.microsoft.com/office/drawing/2014/main" id="{FB86C90C-10AD-427F-BAF4-EE147E76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op-cape-gradient-2">
            <a:extLst xmlns:a="http://schemas.openxmlformats.org/drawingml/2006/main">
              <a:ext uri="{FF2B5EF4-FFF2-40B4-BE49-F238E27FC236}">
                <a16:creationId xmlns:a16="http://schemas.microsoft.com/office/drawing/2014/main" id="{6AFBABC5-EDCB-4CF1-9D2C-EB8D3C7D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op-cape-gradient-3">
            <a:extLst xmlns:a="http://schemas.openxmlformats.org/drawingml/2006/main">
              <a:ext uri="{FF2B5EF4-FFF2-40B4-BE49-F238E27FC236}">
                <a16:creationId xmlns:a16="http://schemas.microsoft.com/office/drawing/2014/main" id="{0DF6E8A6-B05C-48AF-8650-C912855F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op-cape-gradient-4">
            <a:extLst xmlns:a="http://schemas.openxmlformats.org/drawingml/2006/main">
              <a:ext uri="{FF2B5EF4-FFF2-40B4-BE49-F238E27FC236}">
                <a16:creationId xmlns:a16="http://schemas.microsoft.com/office/drawing/2014/main" id="{F01B0759-09B0-45E9-9AEE-60CEA876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op-cape-gradient-5">
            <a:extLst xmlns:a="http://schemas.openxmlformats.org/drawingml/2006/main">
              <a:ext uri="{FF2B5EF4-FFF2-40B4-BE49-F238E27FC236}">
                <a16:creationId xmlns:a16="http://schemas.microsoft.com/office/drawing/2014/main" id="{E42BF33A-31E2-472E-B94C-5701DD60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66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op-cape-gradient-6">
            <a:extLst xmlns:a="http://schemas.openxmlformats.org/drawingml/2006/main">
              <a:ext uri="{FF2B5EF4-FFF2-40B4-BE49-F238E27FC236}">
                <a16:creationId xmlns:a16="http://schemas.microsoft.com/office/drawing/2014/main" id="{E6A3C9A3-95D7-4865-84E4-04100885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33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op-cape-gradient-7">
            <a:extLst xmlns:a="http://schemas.openxmlformats.org/drawingml/2006/main">
              <a:ext uri="{FF2B5EF4-FFF2-40B4-BE49-F238E27FC236}">
                <a16:creationId xmlns:a16="http://schemas.microsoft.com/office/drawing/2014/main" id="{D8508F70-74B5-4EE4-8150-F804B047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00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op-cape-gradient-8">
            <a:extLst xmlns:a="http://schemas.openxmlformats.org/drawingml/2006/main">
              <a:ext uri="{FF2B5EF4-FFF2-40B4-BE49-F238E27FC236}">
                <a16:creationId xmlns:a16="http://schemas.microsoft.com/office/drawing/2014/main" id="{ADB8BD36-AB07-488A-B331-906EAC78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7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op-cape-gradient-9">
            <a:extLst xmlns:a="http://schemas.openxmlformats.org/drawingml/2006/main">
              <a:ext uri="{FF2B5EF4-FFF2-40B4-BE49-F238E27FC236}">
                <a16:creationId xmlns:a16="http://schemas.microsoft.com/office/drawing/2014/main" id="{B096CDBB-AC6E-4113-9F6B-D5EEBF4F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133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op-cape-gradient-10">
            <a:extLst xmlns:a="http://schemas.openxmlformats.org/drawingml/2006/main">
              <a:ext uri="{FF2B5EF4-FFF2-40B4-BE49-F238E27FC236}">
                <a16:creationId xmlns:a16="http://schemas.microsoft.com/office/drawing/2014/main" id="{946AEF22-3A2B-4549-98AB-F4CBAC86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00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op-cape-gradient-11">
            <a:extLst xmlns:a="http://schemas.openxmlformats.org/drawingml/2006/main">
              <a:ext uri="{FF2B5EF4-FFF2-40B4-BE49-F238E27FC236}">
                <a16:creationId xmlns:a16="http://schemas.microsoft.com/office/drawing/2014/main" id="{E02D2964-B380-436E-921D-24A5C0CF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p-cape-gradient-12">
            <a:extLst xmlns:a="http://schemas.openxmlformats.org/drawingml/2006/main">
              <a:ext uri="{FF2B5EF4-FFF2-40B4-BE49-F238E27FC236}">
                <a16:creationId xmlns:a16="http://schemas.microsoft.com/office/drawing/2014/main" id="{8714309B-065A-48D7-9253-843BFBDA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33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op-cape-gradient-13">
            <a:extLst xmlns:a="http://schemas.openxmlformats.org/drawingml/2006/main">
              <a:ext uri="{FF2B5EF4-FFF2-40B4-BE49-F238E27FC236}">
                <a16:creationId xmlns:a16="http://schemas.microsoft.com/office/drawing/2014/main" id="{DB32549E-6F24-48E4-AA56-156CC6A2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5200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op-cape-gradient-14">
            <a:extLst xmlns:a="http://schemas.openxmlformats.org/drawingml/2006/main">
              <a:ext uri="{FF2B5EF4-FFF2-40B4-BE49-F238E27FC236}">
                <a16:creationId xmlns:a16="http://schemas.microsoft.com/office/drawing/2014/main" id="{7808865D-86BA-4678-87D3-5F63C8FB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67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op-cape-gradient-15">
            <a:extLst xmlns:a="http://schemas.openxmlformats.org/drawingml/2006/main">
              <a:ext uri="{FF2B5EF4-FFF2-40B4-BE49-F238E27FC236}">
                <a16:creationId xmlns:a16="http://schemas.microsoft.com/office/drawing/2014/main" id="{12F349A1-9CB3-4003-B615-E1EBA471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734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op-cape-gradient-16">
            <a:extLst xmlns:a="http://schemas.openxmlformats.org/drawingml/2006/main">
              <a:ext uri="{FF2B5EF4-FFF2-40B4-BE49-F238E27FC236}">
                <a16:creationId xmlns:a16="http://schemas.microsoft.com/office/drawing/2014/main" id="{9A4BC5EF-6C23-405F-8BF1-2A23C8D2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500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op-cape-gradient-17">
            <a:extLst xmlns:a="http://schemas.openxmlformats.org/drawingml/2006/main">
              <a:ext uri="{FF2B5EF4-FFF2-40B4-BE49-F238E27FC236}">
                <a16:creationId xmlns:a16="http://schemas.microsoft.com/office/drawing/2014/main" id="{987A46B9-9C9F-446C-AD33-C7292D7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267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op-cape-gradient-18">
            <a:extLst xmlns:a="http://schemas.openxmlformats.org/drawingml/2006/main">
              <a:ext uri="{FF2B5EF4-FFF2-40B4-BE49-F238E27FC236}">
                <a16:creationId xmlns:a16="http://schemas.microsoft.com/office/drawing/2014/main" id="{E16F0E9D-0185-4B73-9C47-F70AEF93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0342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op-cape-gradient-19">
            <a:extLst xmlns:a="http://schemas.openxmlformats.org/drawingml/2006/main">
              <a:ext uri="{FF2B5EF4-FFF2-40B4-BE49-F238E27FC236}">
                <a16:creationId xmlns:a16="http://schemas.microsoft.com/office/drawing/2014/main" id="{FAE92A78-5B34-4699-8139-52729B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8009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op-cape-gradient-20">
            <a:extLst xmlns:a="http://schemas.openxmlformats.org/drawingml/2006/main">
              <a:ext uri="{FF2B5EF4-FFF2-40B4-BE49-F238E27FC236}">
                <a16:creationId xmlns:a16="http://schemas.microsoft.com/office/drawing/2014/main" id="{4E8523A2-4FA4-4E23-A785-D88A565B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1567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p-cape-gradient-21">
            <a:extLst xmlns:a="http://schemas.openxmlformats.org/drawingml/2006/main">
              <a:ext uri="{FF2B5EF4-FFF2-40B4-BE49-F238E27FC236}">
                <a16:creationId xmlns:a16="http://schemas.microsoft.com/office/drawing/2014/main" id="{D53F15E8-7F24-411C-90C2-1D2EEDC8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op-cape-gradient-22">
            <a:extLst xmlns:a="http://schemas.openxmlformats.org/drawingml/2006/main">
              <a:ext uri="{FF2B5EF4-FFF2-40B4-BE49-F238E27FC236}">
                <a16:creationId xmlns:a16="http://schemas.microsoft.com/office/drawing/2014/main" id="{02EED68E-217B-4DC6-BDE8-B4211C86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101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op-cape-gradient-23">
            <a:extLst xmlns:a="http://schemas.openxmlformats.org/drawingml/2006/main">
              <a:ext uri="{FF2B5EF4-FFF2-40B4-BE49-F238E27FC236}">
                <a16:creationId xmlns:a16="http://schemas.microsoft.com/office/drawing/2014/main" id="{8E881A91-193D-4EBA-B49D-1583F4A8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2867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op-cape-gradient-24">
            <a:extLst xmlns:a="http://schemas.openxmlformats.org/drawingml/2006/main">
              <a:ext uri="{FF2B5EF4-FFF2-40B4-BE49-F238E27FC236}">
                <a16:creationId xmlns:a16="http://schemas.microsoft.com/office/drawing/2014/main" id="{77D394A8-C3AD-45DD-A611-10C75EED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6345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op-cape-gradient-25">
            <a:extLst xmlns:a="http://schemas.openxmlformats.org/drawingml/2006/main">
              <a:ext uri="{FF2B5EF4-FFF2-40B4-BE49-F238E27FC236}">
                <a16:creationId xmlns:a16="http://schemas.microsoft.com/office/drawing/2014/main" id="{48923783-BC65-4BF5-B0EF-DB8DFE8B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401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op-cape-gradient-26">
            <a:extLst xmlns:a="http://schemas.openxmlformats.org/drawingml/2006/main">
              <a:ext uri="{FF2B5EF4-FFF2-40B4-BE49-F238E27FC236}">
                <a16:creationId xmlns:a16="http://schemas.microsoft.com/office/drawing/2014/main" id="{4E3D0B82-7FE0-4C05-9E68-0EC1A9BA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80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op-cape-gradient-27">
            <a:extLst xmlns:a="http://schemas.openxmlformats.org/drawingml/2006/main">
              <a:ext uri="{FF2B5EF4-FFF2-40B4-BE49-F238E27FC236}">
                <a16:creationId xmlns:a16="http://schemas.microsoft.com/office/drawing/2014/main" id="{F325C7F2-208A-47CD-84DE-4794AD3F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9347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op-cape-gradient-28">
            <a:extLst xmlns:a="http://schemas.openxmlformats.org/drawingml/2006/main">
              <a:ext uri="{FF2B5EF4-FFF2-40B4-BE49-F238E27FC236}">
                <a16:creationId xmlns:a16="http://schemas.microsoft.com/office/drawing/2014/main" id="{5422244B-37E1-4007-9DD0-FA5DB891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7014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op-cape-gradient-29">
            <a:extLst xmlns:a="http://schemas.openxmlformats.org/drawingml/2006/main">
              <a:ext uri="{FF2B5EF4-FFF2-40B4-BE49-F238E27FC236}">
                <a16:creationId xmlns:a16="http://schemas.microsoft.com/office/drawing/2014/main" id="{9E968BC7-3895-422B-B977-16B56ECF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681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op-cape-gradient-30">
            <a:extLst xmlns:a="http://schemas.openxmlformats.org/drawingml/2006/main">
              <a:ext uri="{FF2B5EF4-FFF2-40B4-BE49-F238E27FC236}">
                <a16:creationId xmlns:a16="http://schemas.microsoft.com/office/drawing/2014/main" id="{F8D7C5F4-A982-4046-B592-330D4460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2348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op-cape-gradient-31">
            <a:extLst xmlns:a="http://schemas.openxmlformats.org/drawingml/2006/main">
              <a:ext uri="{FF2B5EF4-FFF2-40B4-BE49-F238E27FC236}">
                <a16:creationId xmlns:a16="http://schemas.microsoft.com/office/drawing/2014/main" id="{A76B84AD-F4F8-44D7-95F5-47DB8CB3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16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op-cape-gradient-32">
            <a:extLst xmlns:a="http://schemas.openxmlformats.org/drawingml/2006/main">
              <a:ext uri="{FF2B5EF4-FFF2-40B4-BE49-F238E27FC236}">
                <a16:creationId xmlns:a16="http://schemas.microsoft.com/office/drawing/2014/main" id="{04B6092B-97B1-40E8-BC89-03644544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7683" y="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eader-cape-gradient-1">
            <a:extLst xmlns:a="http://schemas.openxmlformats.org/drawingml/2006/main">
              <a:ext uri="{FF2B5EF4-FFF2-40B4-BE49-F238E27FC236}">
                <a16:creationId xmlns:a16="http://schemas.microsoft.com/office/drawing/2014/main" id="{3832C6EC-81DA-47CE-B557-19CBD1BF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eader-cape-gradient-2">
            <a:extLst xmlns:a="http://schemas.openxmlformats.org/drawingml/2006/main">
              <a:ext uri="{FF2B5EF4-FFF2-40B4-BE49-F238E27FC236}">
                <a16:creationId xmlns:a16="http://schemas.microsoft.com/office/drawing/2014/main" id="{E6C05D38-7974-4E00-93E6-F41235D3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eader-cape-gradient-3">
            <a:extLst xmlns:a="http://schemas.openxmlformats.org/drawingml/2006/main">
              <a:ext uri="{FF2B5EF4-FFF2-40B4-BE49-F238E27FC236}">
                <a16:creationId xmlns:a16="http://schemas.microsoft.com/office/drawing/2014/main" id="{9366DD42-B0E9-44A6-973D-5EDD2EC2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eader-cape-gradient-4">
            <a:extLst xmlns:a="http://schemas.openxmlformats.org/drawingml/2006/main">
              <a:ext uri="{FF2B5EF4-FFF2-40B4-BE49-F238E27FC236}">
                <a16:creationId xmlns:a16="http://schemas.microsoft.com/office/drawing/2014/main" id="{9C29AE74-4242-4C74-A07D-0D141BD8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eader-cape-gradient-5">
            <a:extLst xmlns:a="http://schemas.openxmlformats.org/drawingml/2006/main">
              <a:ext uri="{FF2B5EF4-FFF2-40B4-BE49-F238E27FC236}">
                <a16:creationId xmlns:a16="http://schemas.microsoft.com/office/drawing/2014/main" id="{044068F9-A3FE-4B50-AB66-C97FEB47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66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eader-cape-gradient-6">
            <a:extLst xmlns:a="http://schemas.openxmlformats.org/drawingml/2006/main">
              <a:ext uri="{FF2B5EF4-FFF2-40B4-BE49-F238E27FC236}">
                <a16:creationId xmlns:a16="http://schemas.microsoft.com/office/drawing/2014/main" id="{22D39809-476E-4D73-833A-68D30510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33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eader-cape-gradient-7">
            <a:extLst xmlns:a="http://schemas.openxmlformats.org/drawingml/2006/main">
              <a:ext uri="{FF2B5EF4-FFF2-40B4-BE49-F238E27FC236}">
                <a16:creationId xmlns:a16="http://schemas.microsoft.com/office/drawing/2014/main" id="{0528965D-2EDC-464D-8600-463CEF3E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00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eader-cape-gradient-8">
            <a:extLst xmlns:a="http://schemas.openxmlformats.org/drawingml/2006/main">
              <a:ext uri="{FF2B5EF4-FFF2-40B4-BE49-F238E27FC236}">
                <a16:creationId xmlns:a16="http://schemas.microsoft.com/office/drawing/2014/main" id="{A9DA9DBD-F6D3-4072-9093-772AC606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7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eader-cape-gradient-9">
            <a:extLst xmlns:a="http://schemas.openxmlformats.org/drawingml/2006/main">
              <a:ext uri="{FF2B5EF4-FFF2-40B4-BE49-F238E27FC236}">
                <a16:creationId xmlns:a16="http://schemas.microsoft.com/office/drawing/2014/main" id="{6E87CB65-738D-4517-80FA-3433C25A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133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eader-cape-gradient-10">
            <a:extLst xmlns:a="http://schemas.openxmlformats.org/drawingml/2006/main">
              <a:ext uri="{FF2B5EF4-FFF2-40B4-BE49-F238E27FC236}">
                <a16:creationId xmlns:a16="http://schemas.microsoft.com/office/drawing/2014/main" id="{2E102580-3FE6-4212-BC4B-3AA30774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00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eader-cape-gradient-11">
            <a:extLst xmlns:a="http://schemas.openxmlformats.org/drawingml/2006/main">
              <a:ext uri="{FF2B5EF4-FFF2-40B4-BE49-F238E27FC236}">
                <a16:creationId xmlns:a16="http://schemas.microsoft.com/office/drawing/2014/main" id="{50CEC633-88CF-43F8-9EC8-EF5BD0D7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667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eader-cape-gradient-12">
            <a:extLst xmlns:a="http://schemas.openxmlformats.org/drawingml/2006/main">
              <a:ext uri="{FF2B5EF4-FFF2-40B4-BE49-F238E27FC236}">
                <a16:creationId xmlns:a16="http://schemas.microsoft.com/office/drawing/2014/main" id="{806E57A8-2035-466D-BF89-9A29E8CA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33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eader-cape-gradient-13">
            <a:extLst xmlns:a="http://schemas.openxmlformats.org/drawingml/2006/main">
              <a:ext uri="{FF2B5EF4-FFF2-40B4-BE49-F238E27FC236}">
                <a16:creationId xmlns:a16="http://schemas.microsoft.com/office/drawing/2014/main" id="{EEBB28EB-DFD5-47AC-803F-A30DCAF1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5200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eader-cape-gradient-14">
            <a:extLst xmlns:a="http://schemas.openxmlformats.org/drawingml/2006/main">
              <a:ext uri="{FF2B5EF4-FFF2-40B4-BE49-F238E27FC236}">
                <a16:creationId xmlns:a16="http://schemas.microsoft.com/office/drawing/2014/main" id="{DBB4FD23-1E84-4CFE-9F9E-47C012D5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67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eader-cape-gradient-15">
            <a:extLst xmlns:a="http://schemas.openxmlformats.org/drawingml/2006/main">
              <a:ext uri="{FF2B5EF4-FFF2-40B4-BE49-F238E27FC236}">
                <a16:creationId xmlns:a16="http://schemas.microsoft.com/office/drawing/2014/main" id="{03257C69-F8E6-4700-AE37-741C1243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734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eader-cape-gradient-16">
            <a:extLst xmlns:a="http://schemas.openxmlformats.org/drawingml/2006/main">
              <a:ext uri="{FF2B5EF4-FFF2-40B4-BE49-F238E27FC236}">
                <a16:creationId xmlns:a16="http://schemas.microsoft.com/office/drawing/2014/main" id="{CF13087D-3EE2-4033-8364-584CA50B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500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eader-cape-gradient-17">
            <a:extLst xmlns:a="http://schemas.openxmlformats.org/drawingml/2006/main">
              <a:ext uri="{FF2B5EF4-FFF2-40B4-BE49-F238E27FC236}">
                <a16:creationId xmlns:a16="http://schemas.microsoft.com/office/drawing/2014/main" id="{27A94E2F-F8A1-495B-A7F0-1F18F9CB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267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eader-cape-gradient-18">
            <a:extLst xmlns:a="http://schemas.openxmlformats.org/drawingml/2006/main">
              <a:ext uri="{FF2B5EF4-FFF2-40B4-BE49-F238E27FC236}">
                <a16:creationId xmlns:a16="http://schemas.microsoft.com/office/drawing/2014/main" id="{EA492484-6BFE-4E2F-A013-DDD4B310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0342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eader-cape-gradient-19">
            <a:extLst xmlns:a="http://schemas.openxmlformats.org/drawingml/2006/main">
              <a:ext uri="{FF2B5EF4-FFF2-40B4-BE49-F238E27FC236}">
                <a16:creationId xmlns:a16="http://schemas.microsoft.com/office/drawing/2014/main" id="{3C0E2A66-4809-4791-867D-50AB5F7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8009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eader-cape-gradient-20">
            <a:extLst xmlns:a="http://schemas.openxmlformats.org/drawingml/2006/main">
              <a:ext uri="{FF2B5EF4-FFF2-40B4-BE49-F238E27FC236}">
                <a16:creationId xmlns:a16="http://schemas.microsoft.com/office/drawing/2014/main" id="{F1AE6534-5BEE-4ED2-881B-653232AA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1567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eader-cape-gradient-21">
            <a:extLst xmlns:a="http://schemas.openxmlformats.org/drawingml/2006/main">
              <a:ext uri="{FF2B5EF4-FFF2-40B4-BE49-F238E27FC236}">
                <a16:creationId xmlns:a16="http://schemas.microsoft.com/office/drawing/2014/main" id="{0297B2D1-6F3F-4F27-9F88-AC0EE345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334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eader-cape-gradient-22">
            <a:extLst xmlns:a="http://schemas.openxmlformats.org/drawingml/2006/main">
              <a:ext uri="{FF2B5EF4-FFF2-40B4-BE49-F238E27FC236}">
                <a16:creationId xmlns:a16="http://schemas.microsoft.com/office/drawing/2014/main" id="{7F12BC13-28A4-4E62-B5B4-9F0382B5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101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eader-cape-gradient-23">
            <a:extLst xmlns:a="http://schemas.openxmlformats.org/drawingml/2006/main">
              <a:ext uri="{FF2B5EF4-FFF2-40B4-BE49-F238E27FC236}">
                <a16:creationId xmlns:a16="http://schemas.microsoft.com/office/drawing/2014/main" id="{7F5EB024-6D74-41AB-A65D-F27E844E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2867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eader-cape-gradient-24">
            <a:extLst xmlns:a="http://schemas.openxmlformats.org/drawingml/2006/main">
              <a:ext uri="{FF2B5EF4-FFF2-40B4-BE49-F238E27FC236}">
                <a16:creationId xmlns:a16="http://schemas.microsoft.com/office/drawing/2014/main" id="{C3B6455E-608D-4375-B021-FA101331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6345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eader-cape-gradient-25">
            <a:extLst xmlns:a="http://schemas.openxmlformats.org/drawingml/2006/main">
              <a:ext uri="{FF2B5EF4-FFF2-40B4-BE49-F238E27FC236}">
                <a16:creationId xmlns:a16="http://schemas.microsoft.com/office/drawing/2014/main" id="{357EFCF9-B159-449F-9D16-9D3AD8CC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401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eader-cape-gradient-26">
            <a:extLst xmlns:a="http://schemas.openxmlformats.org/drawingml/2006/main">
              <a:ext uri="{FF2B5EF4-FFF2-40B4-BE49-F238E27FC236}">
                <a16:creationId xmlns:a16="http://schemas.microsoft.com/office/drawing/2014/main" id="{D7C4ADBC-7A5F-42F5-B39C-F34549D8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80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eader-cape-gradient-27">
            <a:extLst xmlns:a="http://schemas.openxmlformats.org/drawingml/2006/main">
              <a:ext uri="{FF2B5EF4-FFF2-40B4-BE49-F238E27FC236}">
                <a16:creationId xmlns:a16="http://schemas.microsoft.com/office/drawing/2014/main" id="{FE20584E-A9D3-4BCC-BF02-ED30D177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9347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eader-cape-gradient-28">
            <a:extLst xmlns:a="http://schemas.openxmlformats.org/drawingml/2006/main">
              <a:ext uri="{FF2B5EF4-FFF2-40B4-BE49-F238E27FC236}">
                <a16:creationId xmlns:a16="http://schemas.microsoft.com/office/drawing/2014/main" id="{36BA05EA-2809-4F13-B0B7-84016A9E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7014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eader-cape-gradient-29">
            <a:extLst xmlns:a="http://schemas.openxmlformats.org/drawingml/2006/main">
              <a:ext uri="{FF2B5EF4-FFF2-40B4-BE49-F238E27FC236}">
                <a16:creationId xmlns:a16="http://schemas.microsoft.com/office/drawing/2014/main" id="{44C9DE3E-EE33-4563-B203-DD2BDB48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681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eader-cape-gradient-30">
            <a:extLst xmlns:a="http://schemas.openxmlformats.org/drawingml/2006/main">
              <a:ext uri="{FF2B5EF4-FFF2-40B4-BE49-F238E27FC236}">
                <a16:creationId xmlns:a16="http://schemas.microsoft.com/office/drawing/2014/main" id="{0E8BC080-1C32-4CA5-9B78-F52BC02D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2348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eader-cape-gradient-31">
            <a:extLst xmlns:a="http://schemas.openxmlformats.org/drawingml/2006/main">
              <a:ext uri="{FF2B5EF4-FFF2-40B4-BE49-F238E27FC236}">
                <a16:creationId xmlns:a16="http://schemas.microsoft.com/office/drawing/2014/main" id="{E403013F-76A4-4151-A50B-03AFC5B9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0016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eader-cape-gradient-32">
            <a:extLst xmlns:a="http://schemas.openxmlformats.org/drawingml/2006/main">
              <a:ext uri="{FF2B5EF4-FFF2-40B4-BE49-F238E27FC236}">
                <a16:creationId xmlns:a16="http://schemas.microsoft.com/office/drawing/2014/main" id="{EC1530B2-CEC1-4485-8E4E-39D5CF25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7683" y="4667250"/>
            <a:ext cx="1347192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F8A7CE10-1152-4E64-919C-54A3A8C9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67" name="authors">
            <a:extLst xmlns:a="http://schemas.openxmlformats.org/drawingml/2006/main">
              <a:ext uri="{FF2B5EF4-FFF2-40B4-BE49-F238E27FC236}">
                <a16:creationId xmlns:a16="http://schemas.microsoft.com/office/drawing/2014/main" id="{553DA962-7041-4261-B80E-BD07C81D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68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89B7634F-8C53-40F9-B788-7B9FFC79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2EE"/>
                </a:solidFill>
              </a:defRPr>
            </a:pPr>
            <a:r>
              <a:rPr sz="2175">
                <a:solidFill>
                  <a:srgbClr val="F6F2EE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9" name="citation">
            <a:extLst xmlns:a="http://schemas.openxmlformats.org/drawingml/2006/main">
              <a:ext uri="{FF2B5EF4-FFF2-40B4-BE49-F238E27FC236}">
                <a16:creationId xmlns:a16="http://schemas.microsoft.com/office/drawing/2014/main" id="{FB02FFB8-057B-47E2-8BF7-0AF343AE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5BC6C"/>
                </a:solidFill>
              </a:defRPr>
            </a:pPr>
            <a:r>
              <a:rPr sz="1950" b="1">
                <a:solidFill>
                  <a:srgbClr val="E5BC6C"/>
                </a:solidFill>
              </a:rPr>
              <a:t>POSTEX-SYNTH-2026-001 · fully synthetic · CC0-1.0 · no DOI</a:t>
            </a:r>
          </a:p>
        </p:txBody>
      </p:sp>
      <p:sp>
        <p:nvSpPr>
          <p:cNvPr id="70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9DC62563-DB7B-4A7F-9868-2EC1829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DE5E7"/>
            </a:solidFill>
            <a:prstDash val="solid"/>
          </a:ln>
        </p:spPr>
      </p:sp>
      <p:sp>
        <p:nvSpPr>
          <p:cNvPr id="71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62937F39-DEA0-4292-8457-1221B11F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E5C78"/>
                </a:solidFill>
              </a:defRPr>
            </a:pPr>
            <a:r>
              <a:rPr sz="2025" b="1">
                <a:solidFill>
                  <a:srgbClr val="3E5C78"/>
                </a:solidFill>
              </a:rPr>
              <a:t>Fictional lab logo</a:t>
            </a:r>
          </a:p>
        </p:txBody>
      </p:sp>
      <p:sp>
        <p:nvSpPr>
          <p:cNvPr id="72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B0E7A64C-61A9-4811-A5A2-CA7B4436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8EB9C1C1-6D36-4842-A686-9F4E3FBF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3E5C78"/>
                </a:solidFill>
              </a:defRPr>
            </a:pPr>
            <a:r>
              <a:rPr sz="5100" b="1">
                <a:solidFill>
                  <a:srgbClr val="3E5C78"/>
                </a:solidFill>
              </a:rPr>
              <a:t>1,240</a:t>
            </a:r>
          </a:p>
        </p:txBody>
      </p:sp>
      <p:sp>
        <p:nvSpPr>
          <p:cNvPr id="74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FDC134FB-DF76-4C72-8C53-9174584F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synthetic profiles</a:t>
            </a:r>
          </a:p>
        </p:txBody>
      </p:sp>
      <p:sp>
        <p:nvSpPr>
          <p:cNvPr id="75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7E0ABF3A-3B36-41C3-AD0F-3A9425FD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87AA1"/>
                </a:solidFill>
              </a:defRPr>
            </a:pPr>
            <a:r>
              <a:rPr sz="5100" b="1">
                <a:solidFill>
                  <a:srgbClr val="487AA1"/>
                </a:solidFill>
              </a:rPr>
              <a:t>12</a:t>
            </a:r>
          </a:p>
        </p:txBody>
      </p:sp>
      <p:sp>
        <p:nvSpPr>
          <p:cNvPr id="76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C82BA336-C05D-48C7-8036-A65BE656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anonymous model features</a:t>
            </a:r>
          </a:p>
        </p:txBody>
      </p:sp>
      <p:sp>
        <p:nvSpPr>
          <p:cNvPr id="77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0928CAD9-99E9-42A2-957B-802C39D2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5BC6C"/>
                </a:solidFill>
              </a:defRPr>
            </a:pPr>
            <a:r>
              <a:rPr sz="5100" b="1">
                <a:solidFill>
                  <a:srgbClr val="E5BC6C"/>
                </a:solidFill>
              </a:rPr>
              <a:t>4</a:t>
            </a:r>
          </a:p>
        </p:txBody>
      </p:sp>
      <p:sp>
        <p:nvSpPr>
          <p:cNvPr id="78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7B518ED8-2FBD-4C98-A401-3D540C5E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deterministic cohort simulations</a:t>
            </a:r>
          </a:p>
        </p:txBody>
      </p:sp>
      <p:sp>
        <p:nvSpPr>
          <p:cNvPr id="79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24B00260-3DF4-4A47-97C0-6D244B8F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Communication test</a:t>
            </a:r>
          </a:p>
        </p:txBody>
      </p:sp>
      <p:sp>
        <p:nvSpPr>
          <p:cNvPr id="80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E18711A1-78D9-476E-8217-84C956C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FC5F6337-DBF8-491C-8B96-238DC6DC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82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1B1E953B-15D1-43D1-B75A-28964D1E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Abstract and Introduction, pp. 1-2</a:t>
            </a:r>
          </a:p>
        </p:txBody>
      </p:sp>
      <p:sp>
        <p:nvSpPr>
          <p:cNvPr id="83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CA85E465-803D-492E-A6C5-35DE32D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Deterministic workflow</a:t>
            </a:r>
          </a:p>
        </p:txBody>
      </p:sp>
      <p:sp>
        <p:nvSpPr>
          <p:cNvPr id="84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2C31BD8B-7A81-47A8-BBFE-6E342E7E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EE9A19B6-6BFB-4ADA-B37E-54672832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F7D74C09-82EE-41D1-BD8C-28DB63CB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1</a:t>
            </a:r>
          </a:p>
        </p:txBody>
      </p:sp>
      <p:sp>
        <p:nvSpPr>
          <p:cNvPr id="87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CFBE5830-C00F-4F7A-A446-A2681413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Fixed seed generated 1,240 profiles</a:t>
            </a:r>
          </a:p>
        </p:txBody>
      </p:sp>
      <p:sp>
        <p:nvSpPr>
          <p:cNvPr id="88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FA9A0474-F360-490F-AFA0-D7893655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8119E071-06B8-4169-BB34-BC391D9B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2</a:t>
            </a:r>
          </a:p>
        </p:txBody>
      </p:sp>
      <p:sp>
        <p:nvSpPr>
          <p:cNvPr id="90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B08ABE97-5FD2-4A41-BF1E-7C3019A5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480 anonymous transcript-like features</a:t>
            </a:r>
          </a:p>
        </p:txBody>
      </p:sp>
      <p:sp>
        <p:nvSpPr>
          <p:cNvPr id="91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EE2D183E-0FC1-4C9D-BFAD-2F0C934B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FFE5A71D-1DBC-4FB9-9DFC-42B5F132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3</a:t>
            </a:r>
          </a:p>
        </p:txBody>
      </p:sp>
      <p:sp>
        <p:nvSpPr>
          <p:cNvPr id="93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4EF65BC9-24DE-4B2A-B804-6575A70D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Nested elastic-net selection</a:t>
            </a:r>
          </a:p>
        </p:txBody>
      </p:sp>
      <p:sp>
        <p:nvSpPr>
          <p:cNvPr id="94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2A98EC96-8855-4369-8932-3843BF50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53B09956-693E-42B1-85D9-8E1E5707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4</a:t>
            </a:r>
          </a:p>
        </p:txBody>
      </p:sp>
      <p:sp>
        <p:nvSpPr>
          <p:cNvPr id="96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4E7E866C-0090-43D1-988B-1BDD1424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12-feature score and shift testing</a:t>
            </a:r>
          </a:p>
        </p:txBody>
      </p:sp>
      <p:sp>
        <p:nvSpPr>
          <p:cNvPr id="97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7E79DD38-BAD0-4250-AA95-F3FC67D6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98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B5B4C57A-2654-4341-9513-3EA7EF11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3E5C78"/>
                </a:solidFill>
              </a:defRPr>
            </a:pPr>
            <a:r>
              <a:rPr sz="2175" b="1">
                <a:solidFill>
                  <a:srgbClr val="3E5C78"/>
                </a:solidFill>
              </a:rPr>
              <a:t>FOUR SYNTHETIC COHORTS</a:t>
            </a:r>
          </a:p>
        </p:txBody>
      </p:sp>
      <p:sp>
        <p:nvSpPr>
          <p:cNvPr id="99" name="dataset-lead">
            <a:extLst xmlns:a="http://schemas.openxmlformats.org/drawingml/2006/main">
              <a:ext uri="{FF2B5EF4-FFF2-40B4-BE49-F238E27FC236}">
                <a16:creationId xmlns:a16="http://schemas.microsoft.com/office/drawing/2014/main" id="{375D62A1-7EDF-44BD-95EC-ACD144F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3F55"/>
                </a:solidFill>
              </a:defRPr>
            </a:pPr>
            <a:r>
              <a:rPr sz="2850" b="1">
                <a:solidFill>
                  <a:srgbClr val="293F55"/>
                </a:solidFill>
              </a:rPr>
              <a:t>Four deterministic synthetic cohorts</a:t>
            </a:r>
          </a:p>
        </p:txBody>
      </p:sp>
      <p:sp>
        <p:nvSpPr>
          <p:cNvPr id="100" name="datasets">
            <a:extLst xmlns:a="http://schemas.openxmlformats.org/drawingml/2006/main">
              <a:ext uri="{FF2B5EF4-FFF2-40B4-BE49-F238E27FC236}">
                <a16:creationId xmlns:a16="http://schemas.microsoft.com/office/drawing/2014/main" id="{28382849-78D8-4834-8F5C-46EEE117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820900"/>
            <a:ext cx="110871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Discovery n=620 · Internal validation n=310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External A n=186 · External B n=124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No participants, specimens or external datasets</a:t>
            </a:r>
          </a:p>
        </p:txBody>
      </p:sp>
      <p:sp>
        <p:nvSpPr>
          <p:cNvPr id="101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51A900B8-62C5-418A-8126-98337A58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Abstract and Methods, pp. 1-2</a:t>
            </a:r>
          </a:p>
        </p:txBody>
      </p:sp>
      <p:sp>
        <p:nvSpPr>
          <p:cNvPr id="102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49B1B524-8F6A-472F-B7F3-04182F67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Generation to validation</a:t>
            </a:r>
          </a:p>
        </p:txBody>
      </p:sp>
      <p:sp>
        <p:nvSpPr>
          <p:cNvPr id="103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D7BB8902-DAC4-4C8B-A7B7-E014D2B4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4CEEC73C-7F96-49EF-9DF1-AED4BB8A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2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9f9cd2b894da7">
            <a:extLst>
              <a:ext uri="{96DAC541-7B7A-43D3-8B79-37D633B846F1}">
                <asvg:svgBlip xmlns:asvg="http://schemas.microsoft.com/office/drawing/2016/SVG/main" r:embed="Rca10a8d789c647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ect">
            <a:avLst/>
          </a:prstGeom>
        </p:spPr>
      </p:pic>
      <p:sp>
        <p:nvSpPr>
          <p:cNvPr id="106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293F1333-977F-4ABF-BE41-87663523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1 · Deterministic generation and validation workflow</a:t>
            </a:r>
          </a:p>
        </p:txBody>
      </p:sp>
      <p:sp>
        <p:nvSpPr>
          <p:cNvPr id="107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F5605650-A694-4769-BE0E-A0F7FD44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84425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Authored synthetic fixture · manuscript p. 2</a:t>
            </a:r>
          </a:p>
        </p:txBody>
      </p:sp>
      <p:sp>
        <p:nvSpPr>
          <p:cNvPr id="108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AA9E5AD9-7481-4291-96CC-F08D127D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takeaway-cape-gradient-1">
            <a:extLst xmlns:a="http://schemas.openxmlformats.org/drawingml/2006/main">
              <a:ext uri="{FF2B5EF4-FFF2-40B4-BE49-F238E27FC236}">
                <a16:creationId xmlns:a16="http://schemas.microsoft.com/office/drawing/2014/main" id="{EBA92C2B-4198-4D28-A9DD-2A948A6E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takeaway-cape-gradient-2">
            <a:extLst xmlns:a="http://schemas.openxmlformats.org/drawingml/2006/main">
              <a:ext uri="{FF2B5EF4-FFF2-40B4-BE49-F238E27FC236}">
                <a16:creationId xmlns:a16="http://schemas.microsoft.com/office/drawing/2014/main" id="{47764C10-2145-41D4-9FF9-43C2B6E3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263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takeaway-cape-gradient-3">
            <a:extLst xmlns:a="http://schemas.openxmlformats.org/drawingml/2006/main">
              <a:ext uri="{FF2B5EF4-FFF2-40B4-BE49-F238E27FC236}">
                <a16:creationId xmlns:a16="http://schemas.microsoft.com/office/drawing/2014/main" id="{D9150526-2717-4CF7-8C5C-2ED96B10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9773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takeaway-cape-gradient-4">
            <a:extLst xmlns:a="http://schemas.openxmlformats.org/drawingml/2006/main">
              <a:ext uri="{FF2B5EF4-FFF2-40B4-BE49-F238E27FC236}">
                <a16:creationId xmlns:a16="http://schemas.microsoft.com/office/drawing/2014/main" id="{519A849C-1707-409B-AB29-82BA75CD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691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takeaway-cape-gradient-5">
            <a:extLst xmlns:a="http://schemas.openxmlformats.org/drawingml/2006/main">
              <a:ext uri="{FF2B5EF4-FFF2-40B4-BE49-F238E27FC236}">
                <a16:creationId xmlns:a16="http://schemas.microsoft.com/office/drawing/2014/main" id="{7A186F1E-3DAA-4BDC-9F98-78062672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404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takeaway-cape-gradient-6">
            <a:extLst xmlns:a="http://schemas.openxmlformats.org/drawingml/2006/main">
              <a:ext uri="{FF2B5EF4-FFF2-40B4-BE49-F238E27FC236}">
                <a16:creationId xmlns:a16="http://schemas.microsoft.com/office/drawing/2014/main" id="{1DBFB771-B859-4690-B808-C790E1D2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118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takeaway-cape-gradient-7">
            <a:extLst xmlns:a="http://schemas.openxmlformats.org/drawingml/2006/main">
              <a:ext uri="{FF2B5EF4-FFF2-40B4-BE49-F238E27FC236}">
                <a16:creationId xmlns:a16="http://schemas.microsoft.com/office/drawing/2014/main" id="{CF895D0E-A305-4C1B-B26B-0D777CB1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832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akeaway-cape-gradient-8">
            <a:extLst xmlns:a="http://schemas.openxmlformats.org/drawingml/2006/main">
              <a:ext uri="{FF2B5EF4-FFF2-40B4-BE49-F238E27FC236}">
                <a16:creationId xmlns:a16="http://schemas.microsoft.com/office/drawing/2014/main" id="{37358817-D3BD-495A-B5C9-53E4E020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545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akeaway-cape-gradient-9">
            <a:extLst xmlns:a="http://schemas.openxmlformats.org/drawingml/2006/main">
              <a:ext uri="{FF2B5EF4-FFF2-40B4-BE49-F238E27FC236}">
                <a16:creationId xmlns:a16="http://schemas.microsoft.com/office/drawing/2014/main" id="{50D36738-E528-450F-9DAB-5F3A7DF9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259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takeaway-cape-gradient-10">
            <a:extLst xmlns:a="http://schemas.openxmlformats.org/drawingml/2006/main">
              <a:ext uri="{FF2B5EF4-FFF2-40B4-BE49-F238E27FC236}">
                <a16:creationId xmlns:a16="http://schemas.microsoft.com/office/drawing/2014/main" id="{D2B4EE89-DA44-4F03-93B0-FD0D00FA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69730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takeaway-cape-gradient-11">
            <a:extLst xmlns:a="http://schemas.openxmlformats.org/drawingml/2006/main">
              <a:ext uri="{FF2B5EF4-FFF2-40B4-BE49-F238E27FC236}">
                <a16:creationId xmlns:a16="http://schemas.microsoft.com/office/drawing/2014/main" id="{13D04594-C7DB-4006-9EE4-113368FD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9686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takeaway-cape-gradient-12">
            <a:extLst xmlns:a="http://schemas.openxmlformats.org/drawingml/2006/main">
              <a:ext uri="{FF2B5EF4-FFF2-40B4-BE49-F238E27FC236}">
                <a16:creationId xmlns:a16="http://schemas.microsoft.com/office/drawing/2014/main" id="{9698C3EB-0228-45CB-BE77-F34A9CCF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00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takeaway-cape-gradient-13">
            <a:extLst xmlns:a="http://schemas.openxmlformats.org/drawingml/2006/main">
              <a:ext uri="{FF2B5EF4-FFF2-40B4-BE49-F238E27FC236}">
                <a16:creationId xmlns:a16="http://schemas.microsoft.com/office/drawing/2014/main" id="{83EF503B-558B-4D7D-BD16-A8CAD2D7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114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takeaway-cape-gradient-14">
            <a:extLst xmlns:a="http://schemas.openxmlformats.org/drawingml/2006/main">
              <a:ext uri="{FF2B5EF4-FFF2-40B4-BE49-F238E27FC236}">
                <a16:creationId xmlns:a16="http://schemas.microsoft.com/office/drawing/2014/main" id="{F3C67E6A-5B6C-456C-A636-793168F8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8277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takeaway-cape-gradient-15">
            <a:extLst xmlns:a="http://schemas.openxmlformats.org/drawingml/2006/main">
              <a:ext uri="{FF2B5EF4-FFF2-40B4-BE49-F238E27FC236}">
                <a16:creationId xmlns:a16="http://schemas.microsoft.com/office/drawing/2014/main" id="{BE698A4D-C88C-4724-B093-DD47D716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541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takeaway-cape-gradient-16">
            <a:extLst xmlns:a="http://schemas.openxmlformats.org/drawingml/2006/main">
              <a:ext uri="{FF2B5EF4-FFF2-40B4-BE49-F238E27FC236}">
                <a16:creationId xmlns:a16="http://schemas.microsoft.com/office/drawing/2014/main" id="{A65FD11C-BE9A-4EB1-A40E-147BEAD9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255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takeaway-cape-gradient-17">
            <a:extLst xmlns:a="http://schemas.openxmlformats.org/drawingml/2006/main">
              <a:ext uri="{FF2B5EF4-FFF2-40B4-BE49-F238E27FC236}">
                <a16:creationId xmlns:a16="http://schemas.microsoft.com/office/drawing/2014/main" id="{6D2E31E8-9E54-4748-9361-82CFB8C6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968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takeaway-cape-gradient-18">
            <a:extLst xmlns:a="http://schemas.openxmlformats.org/drawingml/2006/main">
              <a:ext uri="{FF2B5EF4-FFF2-40B4-BE49-F238E27FC236}">
                <a16:creationId xmlns:a16="http://schemas.microsoft.com/office/drawing/2014/main" id="{E2BC3223-6677-46AE-BC60-83B76873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682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takeaway-cape-gradient-19">
            <a:extLst xmlns:a="http://schemas.openxmlformats.org/drawingml/2006/main">
              <a:ext uri="{FF2B5EF4-FFF2-40B4-BE49-F238E27FC236}">
                <a16:creationId xmlns:a16="http://schemas.microsoft.com/office/drawing/2014/main" id="{18C758AC-5549-4CA4-BB87-7F7EC666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396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takeaway-cape-gradient-20">
            <a:extLst xmlns:a="http://schemas.openxmlformats.org/drawingml/2006/main">
              <a:ext uri="{FF2B5EF4-FFF2-40B4-BE49-F238E27FC236}">
                <a16:creationId xmlns:a16="http://schemas.microsoft.com/office/drawing/2014/main" id="{5C9759F9-6FA9-4099-BAE5-00833AFB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4109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akeaway-cape-gradient-21">
            <a:extLst xmlns:a="http://schemas.openxmlformats.org/drawingml/2006/main">
              <a:ext uri="{FF2B5EF4-FFF2-40B4-BE49-F238E27FC236}">
                <a16:creationId xmlns:a16="http://schemas.microsoft.com/office/drawing/2014/main" id="{903EB530-3FB9-4984-836B-F71F062F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8234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takeaway-cape-gradient-22">
            <a:extLst xmlns:a="http://schemas.openxmlformats.org/drawingml/2006/main">
              <a:ext uri="{FF2B5EF4-FFF2-40B4-BE49-F238E27FC236}">
                <a16:creationId xmlns:a16="http://schemas.microsoft.com/office/drawing/2014/main" id="{5F2A29B9-CC32-4A66-A2B9-CA744ED7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537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takeaway-cape-gradient-23">
            <a:extLst xmlns:a="http://schemas.openxmlformats.org/drawingml/2006/main">
              <a:ext uri="{FF2B5EF4-FFF2-40B4-BE49-F238E27FC236}">
                <a16:creationId xmlns:a16="http://schemas.microsoft.com/office/drawing/2014/main" id="{1B2D99F6-E1DD-4D8C-BC3B-3F06F81E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250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takeaway-cape-gradient-24">
            <a:extLst xmlns:a="http://schemas.openxmlformats.org/drawingml/2006/main">
              <a:ext uri="{FF2B5EF4-FFF2-40B4-BE49-F238E27FC236}">
                <a16:creationId xmlns:a16="http://schemas.microsoft.com/office/drawing/2014/main" id="{9FFCE16B-7C11-4C82-A89C-6E823F76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964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takeaway-cape-gradient-25">
            <a:extLst xmlns:a="http://schemas.openxmlformats.org/drawingml/2006/main">
              <a:ext uri="{FF2B5EF4-FFF2-40B4-BE49-F238E27FC236}">
                <a16:creationId xmlns:a16="http://schemas.microsoft.com/office/drawing/2014/main" id="{84AB1C2C-DE84-469E-9D32-7FA12C38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678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takeaway-cape-gradient-26">
            <a:extLst xmlns:a="http://schemas.openxmlformats.org/drawingml/2006/main">
              <a:ext uri="{FF2B5EF4-FFF2-40B4-BE49-F238E27FC236}">
                <a16:creationId xmlns:a16="http://schemas.microsoft.com/office/drawing/2014/main" id="{F3D648BA-F1D5-4DE3-AE56-8228F453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391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takeaway-cape-gradient-27">
            <a:extLst xmlns:a="http://schemas.openxmlformats.org/drawingml/2006/main">
              <a:ext uri="{FF2B5EF4-FFF2-40B4-BE49-F238E27FC236}">
                <a16:creationId xmlns:a16="http://schemas.microsoft.com/office/drawing/2014/main" id="{8FC92A0E-2102-48EF-B0A0-02C6278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105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takeaway-cape-gradient-28">
            <a:extLst xmlns:a="http://schemas.openxmlformats.org/drawingml/2006/main">
              <a:ext uri="{FF2B5EF4-FFF2-40B4-BE49-F238E27FC236}">
                <a16:creationId xmlns:a16="http://schemas.microsoft.com/office/drawing/2014/main" id="{B3727A73-229B-412D-B600-3726BF7B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8191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takeaway-cape-gradient-29">
            <a:extLst xmlns:a="http://schemas.openxmlformats.org/drawingml/2006/main">
              <a:ext uri="{FF2B5EF4-FFF2-40B4-BE49-F238E27FC236}">
                <a16:creationId xmlns:a16="http://schemas.microsoft.com/office/drawing/2014/main" id="{E442962F-DE55-4A62-A3C0-2CC72A64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532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takeaway-cape-gradient-30">
            <a:extLst xmlns:a="http://schemas.openxmlformats.org/drawingml/2006/main">
              <a:ext uri="{FF2B5EF4-FFF2-40B4-BE49-F238E27FC236}">
                <a16:creationId xmlns:a16="http://schemas.microsoft.com/office/drawing/2014/main" id="{7D126A50-9FE9-4606-8429-12560C4F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2465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takeaway-cape-gradient-31">
            <a:extLst xmlns:a="http://schemas.openxmlformats.org/drawingml/2006/main">
              <a:ext uri="{FF2B5EF4-FFF2-40B4-BE49-F238E27FC236}">
                <a16:creationId xmlns:a16="http://schemas.microsoft.com/office/drawing/2014/main" id="{B7B6A2BF-826F-43DC-8150-83E8AAAF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9602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takeaway-cape-gradient-32">
            <a:extLst xmlns:a="http://schemas.openxmlformats.org/drawingml/2006/main">
              <a:ext uri="{FF2B5EF4-FFF2-40B4-BE49-F238E27FC236}">
                <a16:creationId xmlns:a16="http://schemas.microsoft.com/office/drawing/2014/main" id="{819CC95F-5735-4E26-91F1-87158795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6738" y="5619750"/>
            <a:ext cx="436662" cy="190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3D3C15B0-AD78-4148-93FD-306BC0EC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293F55"/>
                </a:solidFill>
              </a:defRPr>
            </a:pPr>
            <a:r>
              <a:rPr sz="4125" b="1">
                <a:solidFill>
                  <a:srgbClr val="293F55"/>
                </a:solidFill>
              </a:rPr>
              <a:t>External C-indices remained 0.75 and 0.74</a:t>
            </a:r>
          </a:p>
        </p:txBody>
      </p:sp>
      <p:sp>
        <p:nvSpPr>
          <p:cNvPr id="142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7FEB0192-FD90-49FB-B98F-009681CB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93F55"/>
                </a:solidFill>
              </a:defRPr>
            </a:pPr>
            <a:r>
              <a:rPr sz="2400" b="1">
                <a:solidFill>
                  <a:srgbClr val="293F55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143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D025CD0D-4072-4F71-9625-21254A56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Results, pp. 1 and 3; Figure 2</a:t>
            </a:r>
          </a:p>
        </p:txBody>
      </p:sp>
      <p:sp>
        <p:nvSpPr>
          <p:cNvPr id="144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8E335C51-74D9-4BA1-BAC9-40784C23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Discrimination across shifts</a:t>
            </a:r>
          </a:p>
        </p:txBody>
      </p:sp>
      <p:sp>
        <p:nvSpPr>
          <p:cNvPr id="145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7F56FCFF-DB6D-4076-8105-5779D90F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86AB90A4-99DB-4964-86C9-113167DF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9e0703354312">
            <a:extLst>
              <a:ext uri="{96DAC541-7B7A-43D3-8B79-37D633B846F1}">
                <asvg:svgBlip xmlns:asvg="http://schemas.microsoft.com/office/drawing/2016/SVG/main" r:embed="Re268e951e3fb40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ect">
            <a:avLst/>
          </a:prstGeom>
        </p:spPr>
      </p:pic>
      <p:sp>
        <p:nvSpPr>
          <p:cNvPr id="148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2B26FE84-9147-4881-AE31-287703FF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2 · Authored discrimination values across cohort shifts</a:t>
            </a:r>
          </a:p>
        </p:txBody>
      </p:sp>
      <p:sp>
        <p:nvSpPr>
          <p:cNvPr id="149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9E233BE2-73FA-472D-B019-0A95EFD3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31300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Authored synthetic fixture · manuscript p. 3</a:t>
            </a:r>
          </a:p>
        </p:txBody>
      </p:sp>
      <p:sp>
        <p:nvSpPr>
          <p:cNvPr id="150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0BD37C7C-B334-40ED-80CE-4725B34A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Calibration and stress boundary</a:t>
            </a:r>
          </a:p>
        </p:txBody>
      </p:sp>
      <p:sp>
        <p:nvSpPr>
          <p:cNvPr id="151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EAEAC061-92D4-4A11-955B-B5055B88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7BB46C79-96E4-429F-9FC5-AA5D0F5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153" name="validation">
            <a:extLst xmlns:a="http://schemas.openxmlformats.org/drawingml/2006/main">
              <a:ext uri="{FF2B5EF4-FFF2-40B4-BE49-F238E27FC236}">
                <a16:creationId xmlns:a16="http://schemas.microsoft.com/office/drawing/2014/main" id="{AEAF5C8B-2265-4817-8824-A977C7F2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The most severe pre-specified shift reduced C-index by 0.04.</a:t>
            </a:r>
          </a:p>
        </p:txBody>
      </p:sp>
      <p:sp>
        <p:nvSpPr>
          <p:cNvPr id="154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32554DA1-C59C-4E7A-A80F-7D8B4E47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Results, pp. 1, 3-4; Figures 3-4</a:t>
            </a:r>
          </a:p>
        </p:txBody>
      </p:sp>
      <p:sp>
        <p:nvSpPr>
          <p:cNvPr id="155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0EC58D7C-7B0D-4D06-ACF9-4E67635E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25B69F8D-D812-43AF-A19D-CB248BC7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External validation retained discrimination: C-index 0.75 / 0.74</a:t>
            </a:r>
          </a:p>
        </p:txBody>
      </p:sp>
      <p:sp>
        <p:nvSpPr>
          <p:cNvPr id="157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B371EF9A-F649-4C07-90F5-F24D226D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Calibration &amp; stability</a:t>
            </a:r>
          </a:p>
        </p:txBody>
      </p:sp>
      <p:sp>
        <p:nvSpPr>
          <p:cNvPr id="158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C02B98C2-6B85-45AD-A81E-2FC2B110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4B6E580E-B00E-4BDD-9FC5-CE40D01A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3E5C78"/>
                </a:solidFill>
              </a:defRPr>
            </a:pPr>
            <a:r>
              <a:rPr sz="5100" b="1">
                <a:solidFill>
                  <a:srgbClr val="3E5C78"/>
                </a:solidFill>
              </a:rPr>
              <a:t>92%</a:t>
            </a:r>
          </a:p>
        </p:txBody>
      </p:sp>
      <p:sp>
        <p:nvSpPr>
          <p:cNvPr id="160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04AB8E0A-0986-4341-B5D8-D917FD7D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coefficient-sign stability</a:t>
            </a:r>
          </a:p>
        </p:txBody>
      </p:sp>
      <p:sp>
        <p:nvSpPr>
          <p:cNvPr id="161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62961BC4-4A07-4810-89F2-9E6186A0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87AA1"/>
                </a:solidFill>
              </a:defRPr>
            </a:pPr>
            <a:r>
              <a:rPr sz="5100" b="1">
                <a:solidFill>
                  <a:srgbClr val="487AA1"/>
                </a:solidFill>
              </a:rPr>
              <a:t>0.97 / 0.95</a:t>
            </a:r>
          </a:p>
        </p:txBody>
      </p:sp>
      <p:sp>
        <p:nvSpPr>
          <p:cNvPr id="162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F0AA0473-6F0F-4EBC-A8ED-E2390620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external calibration slopes</a:t>
            </a:r>
          </a:p>
        </p:txBody>
      </p:sp>
      <p:sp>
        <p:nvSpPr>
          <p:cNvPr id="163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8F94AEA2-81CD-4CAA-A585-3C4A32F0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E5BC6C"/>
                </a:solidFill>
              </a:defRPr>
            </a:pPr>
            <a:r>
              <a:rPr sz="4125" b="1">
                <a:solidFill>
                  <a:srgbClr val="E5BC6C"/>
                </a:solidFill>
              </a:rPr>
              <a:t>0.031 / 0.038</a:t>
            </a:r>
          </a:p>
        </p:txBody>
      </p:sp>
      <p:sp>
        <p:nvSpPr>
          <p:cNvPr id="164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A26206D3-40AE-4E93-8F51-C4B71E8E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93F55"/>
                </a:solidFill>
              </a:defRPr>
            </a:pPr>
            <a:r>
              <a:rPr sz="2325" b="1">
                <a:solidFill>
                  <a:srgbClr val="293F55"/>
                </a:solidFill>
              </a:rPr>
              <a:t>external absolute errors</a:t>
            </a:r>
          </a:p>
        </p:txBody>
      </p:sp>
      <p:sp>
        <p:nvSpPr>
          <p:cNvPr id="165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C3D23A27-5E18-4E3E-A5C4-D19F5B7B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Stability and calibration, p. 4</a:t>
            </a:r>
          </a:p>
        </p:txBody>
      </p:sp>
      <p:sp>
        <p:nvSpPr>
          <p:cNvPr id="166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58335C6E-8146-452A-913D-9510F5D6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8fedfd1074d15">
            <a:extLst>
              <a:ext uri="{96DAC541-7B7A-43D3-8B79-37D633B846F1}">
                <asvg:svgBlip xmlns:asvg="http://schemas.microsoft.com/office/drawing/2016/SVG/main" r:embed="Rceabe35bf7254b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ect">
            <a:avLst/>
          </a:prstGeom>
        </p:spPr>
      </p:pic>
      <p:sp>
        <p:nvSpPr>
          <p:cNvPr id="168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EC1BA52C-9824-4D25-9C1D-E9E153BA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3 · Calibration and coefficient-sign stability</a:t>
            </a:r>
          </a:p>
        </p:txBody>
      </p:sp>
      <p:sp>
        <p:nvSpPr>
          <p:cNvPr id="169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2F01F7E9-6259-4ADA-947F-9CEB872E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8767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0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9868FDE0-8CC4-4460-917B-71C9F771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Pre-specified stress test</a:t>
            </a:r>
          </a:p>
        </p:txBody>
      </p:sp>
      <p:sp>
        <p:nvSpPr>
          <p:cNvPr id="171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3920315E-86E9-4CBF-A67E-284706D0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F706D24C-CFD5-4E7A-A360-0E283BC2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pic>
        <p:nvPicPr>
          <p:cNvPr id="3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c0ab85d6a14af5">
            <a:extLst>
              <a:ext uri="{96DAC541-7B7A-43D3-8B79-37D633B846F1}">
                <asvg:svgBlip xmlns:asvg="http://schemas.microsoft.com/office/drawing/2016/SVG/main" r:embed="R9aa5ac09baae43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ect">
            <a:avLst/>
          </a:prstGeom>
        </p:spPr>
      </p:pic>
      <p:sp>
        <p:nvSpPr>
          <p:cNvPr id="174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39D36905-A389-4439-979E-FD5542B8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93F55"/>
                </a:solidFill>
              </a:defRPr>
            </a:pPr>
            <a:r>
              <a:rPr sz="2250" b="1">
                <a:solidFill>
                  <a:srgbClr val="293F55"/>
                </a:solidFill>
              </a:rPr>
              <a:t>Figure 4 · Stress-test boundary under increasing shift</a:t>
            </a:r>
          </a:p>
        </p:txBody>
      </p:sp>
      <p:sp>
        <p:nvSpPr>
          <p:cNvPr id="175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3A55F737-02BD-462E-B70C-E91FD4DE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6492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6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DF616378-21A6-4BB8-90FF-81D9B326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E5C78"/>
                </a:solidFill>
              </a:defRPr>
            </a:pPr>
            <a:r>
              <a:rPr sz="3600" b="1">
                <a:solidFill>
                  <a:srgbClr val="3E5C78"/>
                </a:solidFill>
              </a:rPr>
              <a:t>Supported conclusion</a:t>
            </a:r>
          </a:p>
        </p:txBody>
      </p:sp>
      <p:sp>
        <p:nvSpPr>
          <p:cNvPr id="177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9A3AB7DA-6D2F-4C30-8DF9-B8655981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11EC0962-E669-4350-A4FF-CA335331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DE5E7"/>
            </a:solidFill>
            <a:prstDash val="solid"/>
          </a:ln>
        </p:spPr>
      </p:sp>
      <p:sp>
        <p:nvSpPr>
          <p:cNvPr id="179" name="conclusion-lead">
            <a:extLst xmlns:a="http://schemas.openxmlformats.org/drawingml/2006/main">
              <a:ext uri="{FF2B5EF4-FFF2-40B4-BE49-F238E27FC236}">
                <a16:creationId xmlns:a16="http://schemas.microsoft.com/office/drawing/2014/main" id="{28512C19-1B02-4140-BFCF-43AF59E5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93F55"/>
                </a:solidFill>
              </a:defRPr>
            </a:pPr>
            <a:r>
              <a:rPr sz="3000" b="1">
                <a:solidFill>
                  <a:srgbClr val="293F55"/>
                </a:solidFill>
              </a:rPr>
              <a:t>A rights-safe methodological test fixture</a:t>
            </a:r>
          </a:p>
        </p:txBody>
      </p:sp>
      <p:sp>
        <p:nvSpPr>
          <p:cNvPr id="180" name="conclusion">
            <a:extLst xmlns:a="http://schemas.openxmlformats.org/drawingml/2006/main">
              <a:ext uri="{FF2B5EF4-FFF2-40B4-BE49-F238E27FC236}">
                <a16:creationId xmlns:a16="http://schemas.microsoft.com/office/drawing/2014/main" id="{8F4DE494-35F6-4CFC-9AAE-D5A5D33C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860500"/>
            <a:ext cx="130587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No biological, prognostic or clinical inference</a:t>
            </a:r>
          </a:p>
          <a:p xmlns:a="http://schemas.openxmlformats.org/drawingml/2006/main">
            <a:pPr>
              <a:defRPr sz="2850">
                <a:solidFill>
                  <a:srgbClr val="293F55"/>
                </a:solidFill>
              </a:defRPr>
            </a:pPr>
            <a:r>
              <a:rPr sz="2850">
                <a:solidFill>
                  <a:srgbClr val="293F55"/>
                </a:solidFill>
              </a:rPr>
              <a:t>• All cohorts, values and identities are fictional</a:t>
            </a:r>
          </a:p>
        </p:txBody>
      </p:sp>
      <p:sp>
        <p:nvSpPr>
          <p:cNvPr id="181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4A5587E3-0A28-419E-B08B-69EE7E59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87AA1"/>
                </a:solidFill>
              </a:defRPr>
            </a:pPr>
            <a:r>
              <a:rPr sz="1875">
                <a:solidFill>
                  <a:srgbClr val="487AA1"/>
                </a:solidFill>
              </a:rPr>
              <a:t>Evidence: Discussion and Conclusion, p. 5</a:t>
            </a:r>
          </a:p>
        </p:txBody>
      </p:sp>
      <p:sp>
        <p:nvSpPr>
          <p:cNvPr id="182" name="footer-band">
            <a:extLst xmlns:a="http://schemas.openxmlformats.org/drawingml/2006/main">
              <a:ext uri="{FF2B5EF4-FFF2-40B4-BE49-F238E27FC236}">
                <a16:creationId xmlns:a16="http://schemas.microsoft.com/office/drawing/2014/main" id="{D9F05400-C505-495C-BE98-5E8CDE83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13A71479-381E-46A2-9064-83550079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19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184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56946F61-685E-4EA0-85F1-328E6030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5BC6C"/>
                </a:solidFill>
              </a:defRPr>
            </a:pPr>
            <a:r>
              <a:rPr sz="1875" b="1">
                <a:solidFill>
                  <a:srgbClr val="E5BC6C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7666490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2026-08-09T05:01:28.4150000Z</dcterms:created>
  <dcterms:modified xsi:type="dcterms:W3CDTF">2026-08-09T05:01:28.4150000Z</dcterms:modified>
</coreProperties>
</file>