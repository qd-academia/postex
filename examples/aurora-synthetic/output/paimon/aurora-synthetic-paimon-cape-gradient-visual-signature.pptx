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73d61f9b7c4223" /><Relationship Type="http://schemas.openxmlformats.org/officeDocument/2006/relationships/extended-properties" Target="/docProps/app.xml" Id="Rfb6441891d53453f" /><Relationship Type="http://schemas.openxmlformats.org/officeDocument/2006/relationships/officeDocument" Target="/ppt/presentation.xml" Id="Ra93932ed8db04a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b928f598154cd7"/>
  </p:sldMasterIdLst>
  <p:notesMasterIdLst>
    <p:notesMasterId xmlns:r="http://schemas.openxmlformats.org/officeDocument/2006/relationships" r:id="R62d9d5d0a4d944ff"/>
  </p:notesMasterIdLst>
  <p:sldIdLst>
    <p:sldId xmlns:r="http://schemas.openxmlformats.org/officeDocument/2006/relationships" id="256" r:id="R309f7c5b63664b2e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81dfab2dc4683" /><Relationship Type="http://schemas.openxmlformats.org/officeDocument/2006/relationships/slideMaster" Target="/ppt/slideMasters/slideMaster1.xml" Id="R2db928f598154cd7" /><Relationship Type="http://schemas.openxmlformats.org/officeDocument/2006/relationships/notesMaster" Target="/ppt/notesMasters/notesMaster1.xml" Id="R62d9d5d0a4d944ff" /><Relationship Type="http://schemas.openxmlformats.org/officeDocument/2006/relationships/presProps" Target="/ppt/presProps.xml" Id="R787a8771b447454c" /><Relationship Type="http://schemas.openxmlformats.org/officeDocument/2006/relationships/tableStyles" Target="/ppt/tableStyles.xml" Id="R1f403c5a6a13466c" /><Relationship Type="http://schemas.openxmlformats.org/officeDocument/2006/relationships/slide" Target="/ppt/slides/slide1.xml" Id="R309f7c5b63664b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892ab198de4e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04ac932d7d4003" /><Relationship Type="http://schemas.openxmlformats.org/officeDocument/2006/relationships/notesMaster" Target="/ppt/notesMasters/notesMaster1.xml" Id="Re1c48c670f2d42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AURORA-12-synthetic-manuscript.pdf</a:t>
            </a:r>
          </a:p>
          <a:p xmlns:a="http://schemas.openxmlformats.org/drawingml/2006/main">
            <a:r>
              <a:t>- palette approval sha256:c9834f95586be531d5d8667465b8d0525469d9de17a3f361d76c34ad4677c4ca</a:t>
            </a:r>
          </a:p>
          <a:p xmlns:a="http://schemas.openxmlformats.org/drawingml/2006/main">
            <a:r>
              <a:t>- deletion approval sha256:b3bcfd87b6cd4cd79a8feca304aa0ef7040590c30a9ab8a7e1c04c935414a02b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224c06a05247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366804bf024a1d" /><Relationship Type="http://schemas.openxmlformats.org/officeDocument/2006/relationships/slideLayout" Target="/ppt/slideLayouts/slideLayout1.xml" Id="R288c98ee5be34c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8c98ee5be34c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d1fb2b76a48bd" /><Relationship Type="http://schemas.openxmlformats.org/officeDocument/2006/relationships/image" Target="/ppt/media/image.png" Id="Rfb7a8ce4f7804485" /><Relationship Type="http://schemas.openxmlformats.org/officeDocument/2006/relationships/image" Target="/ppt/media/image.svg" Id="Rdba4f05209d244fb" /><Relationship Type="http://schemas.openxmlformats.org/officeDocument/2006/relationships/image" Target="/ppt/media/image2.png" Id="R5328dfb7b357454f" /><Relationship Type="http://schemas.openxmlformats.org/officeDocument/2006/relationships/image" Target="/ppt/media/image2.svg" Id="Rf141f24ab99145b1" /><Relationship Type="http://schemas.openxmlformats.org/officeDocument/2006/relationships/image" Target="/ppt/media/image3.png" Id="Rf70c5df4a6b94f48" /><Relationship Type="http://schemas.openxmlformats.org/officeDocument/2006/relationships/image" Target="/ppt/media/image3.svg" Id="R3f35bbc121a04b83" /><Relationship Type="http://schemas.openxmlformats.org/officeDocument/2006/relationships/image" Target="/ppt/media/image4.png" Id="Rd0475bead5d7445a" /><Relationship Type="http://schemas.openxmlformats.org/officeDocument/2006/relationships/image" Target="/ppt/media/image4.svg" Id="R24e520a63c7f4076" /><Relationship Type="http://schemas.openxmlformats.org/officeDocument/2006/relationships/notesSlide" Target="/ppt/notesSlides/notesSlide1.xml" Id="Rb8a87abbaa1748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2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C6AD8DD-AD9A-4A99-8A78-F7E53167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cape-gradient-1">
            <a:extLst xmlns:a="http://schemas.openxmlformats.org/drawingml/2006/main">
              <a:ext uri="{FF2B5EF4-FFF2-40B4-BE49-F238E27FC236}">
                <a16:creationId xmlns:a16="http://schemas.microsoft.com/office/drawing/2014/main" id="{DCB2B0B7-953D-44C9-8086-F32BCCD2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-cape-gradient-2">
            <a:extLst xmlns:a="http://schemas.openxmlformats.org/drawingml/2006/main">
              <a:ext uri="{FF2B5EF4-FFF2-40B4-BE49-F238E27FC236}">
                <a16:creationId xmlns:a16="http://schemas.microsoft.com/office/drawing/2014/main" id="{6500E9DB-BE45-49C8-9DA1-95D0CB8C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op-cape-gradient-3">
            <a:extLst xmlns:a="http://schemas.openxmlformats.org/drawingml/2006/main">
              <a:ext uri="{FF2B5EF4-FFF2-40B4-BE49-F238E27FC236}">
                <a16:creationId xmlns:a16="http://schemas.microsoft.com/office/drawing/2014/main" id="{56CC57ED-ED7B-486D-A2AA-CD85A77A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op-cape-gradient-4">
            <a:extLst xmlns:a="http://schemas.openxmlformats.org/drawingml/2006/main">
              <a:ext uri="{FF2B5EF4-FFF2-40B4-BE49-F238E27FC236}">
                <a16:creationId xmlns:a16="http://schemas.microsoft.com/office/drawing/2014/main" id="{C86E07C8-80D0-4126-B2EE-6EADFCBB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op-cape-gradient-5">
            <a:extLst xmlns:a="http://schemas.openxmlformats.org/drawingml/2006/main">
              <a:ext uri="{FF2B5EF4-FFF2-40B4-BE49-F238E27FC236}">
                <a16:creationId xmlns:a16="http://schemas.microsoft.com/office/drawing/2014/main" id="{6ADF09AA-CE4B-4527-B79C-DFAECEA0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66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cape-gradient-6">
            <a:extLst xmlns:a="http://schemas.openxmlformats.org/drawingml/2006/main">
              <a:ext uri="{FF2B5EF4-FFF2-40B4-BE49-F238E27FC236}">
                <a16:creationId xmlns:a16="http://schemas.microsoft.com/office/drawing/2014/main" id="{05CB6540-3518-48C1-A020-A87656EE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33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p-cape-gradient-7">
            <a:extLst xmlns:a="http://schemas.openxmlformats.org/drawingml/2006/main">
              <a:ext uri="{FF2B5EF4-FFF2-40B4-BE49-F238E27FC236}">
                <a16:creationId xmlns:a16="http://schemas.microsoft.com/office/drawing/2014/main" id="{446E1D4A-F8B9-4235-A37B-F43BDD48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0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op-cape-gradient-8">
            <a:extLst xmlns:a="http://schemas.openxmlformats.org/drawingml/2006/main">
              <a:ext uri="{FF2B5EF4-FFF2-40B4-BE49-F238E27FC236}">
                <a16:creationId xmlns:a16="http://schemas.microsoft.com/office/drawing/2014/main" id="{E347EBD7-8999-4509-80AA-E722C929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7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op-cape-gradient-9">
            <a:extLst xmlns:a="http://schemas.openxmlformats.org/drawingml/2006/main">
              <a:ext uri="{FF2B5EF4-FFF2-40B4-BE49-F238E27FC236}">
                <a16:creationId xmlns:a16="http://schemas.microsoft.com/office/drawing/2014/main" id="{B7BE8A34-EA70-4D52-A10D-1F06F045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op-cape-gradient-10">
            <a:extLst xmlns:a="http://schemas.openxmlformats.org/drawingml/2006/main">
              <a:ext uri="{FF2B5EF4-FFF2-40B4-BE49-F238E27FC236}">
                <a16:creationId xmlns:a16="http://schemas.microsoft.com/office/drawing/2014/main" id="{2E9081B5-497E-42AE-A834-27D4A883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00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op-cape-gradient-11">
            <a:extLst xmlns:a="http://schemas.openxmlformats.org/drawingml/2006/main">
              <a:ext uri="{FF2B5EF4-FFF2-40B4-BE49-F238E27FC236}">
                <a16:creationId xmlns:a16="http://schemas.microsoft.com/office/drawing/2014/main" id="{9EC1A315-B02A-4992-8257-2C5FB422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op-cape-gradient-12">
            <a:extLst xmlns:a="http://schemas.openxmlformats.org/drawingml/2006/main">
              <a:ext uri="{FF2B5EF4-FFF2-40B4-BE49-F238E27FC236}">
                <a16:creationId xmlns:a16="http://schemas.microsoft.com/office/drawing/2014/main" id="{F58A94EE-9C1F-4DF0-8CE9-7C77CEB4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33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op-cape-gradient-13">
            <a:extLst xmlns:a="http://schemas.openxmlformats.org/drawingml/2006/main">
              <a:ext uri="{FF2B5EF4-FFF2-40B4-BE49-F238E27FC236}">
                <a16:creationId xmlns:a16="http://schemas.microsoft.com/office/drawing/2014/main" id="{AF04112B-FEF4-4416-966F-58A1305A9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00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op-cape-gradient-14">
            <a:extLst xmlns:a="http://schemas.openxmlformats.org/drawingml/2006/main">
              <a:ext uri="{FF2B5EF4-FFF2-40B4-BE49-F238E27FC236}">
                <a16:creationId xmlns:a16="http://schemas.microsoft.com/office/drawing/2014/main" id="{C377BF34-D433-4368-B23B-9C8CD95E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67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op-cape-gradient-15">
            <a:extLst xmlns:a="http://schemas.openxmlformats.org/drawingml/2006/main">
              <a:ext uri="{FF2B5EF4-FFF2-40B4-BE49-F238E27FC236}">
                <a16:creationId xmlns:a16="http://schemas.microsoft.com/office/drawing/2014/main" id="{2B1F10AD-E855-4D4B-B6B5-90840159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734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op-cape-gradient-16">
            <a:extLst xmlns:a="http://schemas.openxmlformats.org/drawingml/2006/main">
              <a:ext uri="{FF2B5EF4-FFF2-40B4-BE49-F238E27FC236}">
                <a16:creationId xmlns:a16="http://schemas.microsoft.com/office/drawing/2014/main" id="{0E8B475A-4F78-4EAF-8ED1-7204CE58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00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op-cape-gradient-17">
            <a:extLst xmlns:a="http://schemas.openxmlformats.org/drawingml/2006/main">
              <a:ext uri="{FF2B5EF4-FFF2-40B4-BE49-F238E27FC236}">
                <a16:creationId xmlns:a16="http://schemas.microsoft.com/office/drawing/2014/main" id="{F046F4EB-0332-47F4-AC21-D7E00C59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7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op-cape-gradient-18">
            <a:extLst xmlns:a="http://schemas.openxmlformats.org/drawingml/2006/main">
              <a:ext uri="{FF2B5EF4-FFF2-40B4-BE49-F238E27FC236}">
                <a16:creationId xmlns:a16="http://schemas.microsoft.com/office/drawing/2014/main" id="{C8C55C2E-99F1-4AE6-83B7-20A84169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342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op-cape-gradient-19">
            <a:extLst xmlns:a="http://schemas.openxmlformats.org/drawingml/2006/main">
              <a:ext uri="{FF2B5EF4-FFF2-40B4-BE49-F238E27FC236}">
                <a16:creationId xmlns:a16="http://schemas.microsoft.com/office/drawing/2014/main" id="{172B05CB-AE33-45BF-B55A-CDA434E1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8009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op-cape-gradient-20">
            <a:extLst xmlns:a="http://schemas.openxmlformats.org/drawingml/2006/main">
              <a:ext uri="{FF2B5EF4-FFF2-40B4-BE49-F238E27FC236}">
                <a16:creationId xmlns:a16="http://schemas.microsoft.com/office/drawing/2014/main" id="{FE8E4841-8255-48D3-B02B-CF81A261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567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op-cape-gradient-21">
            <a:extLst xmlns:a="http://schemas.openxmlformats.org/drawingml/2006/main">
              <a:ext uri="{FF2B5EF4-FFF2-40B4-BE49-F238E27FC236}">
                <a16:creationId xmlns:a16="http://schemas.microsoft.com/office/drawing/2014/main" id="{E4DDA296-85D5-40E3-B69D-73D5212A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op-cape-gradient-22">
            <a:extLst xmlns:a="http://schemas.openxmlformats.org/drawingml/2006/main">
              <a:ext uri="{FF2B5EF4-FFF2-40B4-BE49-F238E27FC236}">
                <a16:creationId xmlns:a16="http://schemas.microsoft.com/office/drawing/2014/main" id="{CC2EF868-568D-4537-ADDC-3614A18C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01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op-cape-gradient-23">
            <a:extLst xmlns:a="http://schemas.openxmlformats.org/drawingml/2006/main">
              <a:ext uri="{FF2B5EF4-FFF2-40B4-BE49-F238E27FC236}">
                <a16:creationId xmlns:a16="http://schemas.microsoft.com/office/drawing/2014/main" id="{217AE96C-DB36-45C0-B134-B62B4F7D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867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op-cape-gradient-24">
            <a:extLst xmlns:a="http://schemas.openxmlformats.org/drawingml/2006/main">
              <a:ext uri="{FF2B5EF4-FFF2-40B4-BE49-F238E27FC236}">
                <a16:creationId xmlns:a16="http://schemas.microsoft.com/office/drawing/2014/main" id="{65CC7CB3-04BF-4AF6-8EB6-904EDB5C8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345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op-cape-gradient-25">
            <a:extLst xmlns:a="http://schemas.openxmlformats.org/drawingml/2006/main">
              <a:ext uri="{FF2B5EF4-FFF2-40B4-BE49-F238E27FC236}">
                <a16:creationId xmlns:a16="http://schemas.microsoft.com/office/drawing/2014/main" id="{BED18F81-1456-4A68-8535-F0FE286B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401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op-cape-gradient-26">
            <a:extLst xmlns:a="http://schemas.openxmlformats.org/drawingml/2006/main">
              <a:ext uri="{FF2B5EF4-FFF2-40B4-BE49-F238E27FC236}">
                <a16:creationId xmlns:a16="http://schemas.microsoft.com/office/drawing/2014/main" id="{22F12C33-C370-4B6F-A0AA-36354660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1680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op-cape-gradient-27">
            <a:extLst xmlns:a="http://schemas.openxmlformats.org/drawingml/2006/main">
              <a:ext uri="{FF2B5EF4-FFF2-40B4-BE49-F238E27FC236}">
                <a16:creationId xmlns:a16="http://schemas.microsoft.com/office/drawing/2014/main" id="{285F680B-B4CF-4AD6-9BA2-08D1E9A1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347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op-cape-gradient-28">
            <a:extLst xmlns:a="http://schemas.openxmlformats.org/drawingml/2006/main">
              <a:ext uri="{FF2B5EF4-FFF2-40B4-BE49-F238E27FC236}">
                <a16:creationId xmlns:a16="http://schemas.microsoft.com/office/drawing/2014/main" id="{45641ED7-74DB-44EA-8E8F-04F286C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7014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op-cape-gradient-29">
            <a:extLst xmlns:a="http://schemas.openxmlformats.org/drawingml/2006/main">
              <a:ext uri="{FF2B5EF4-FFF2-40B4-BE49-F238E27FC236}">
                <a16:creationId xmlns:a16="http://schemas.microsoft.com/office/drawing/2014/main" id="{E41ACED1-19BB-4619-88D1-AD980C8E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4681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op-cape-gradient-30">
            <a:extLst xmlns:a="http://schemas.openxmlformats.org/drawingml/2006/main">
              <a:ext uri="{FF2B5EF4-FFF2-40B4-BE49-F238E27FC236}">
                <a16:creationId xmlns:a16="http://schemas.microsoft.com/office/drawing/2014/main" id="{CE4028EF-8339-4DB2-9389-B77A28AC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348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op-cape-gradient-31">
            <a:extLst xmlns:a="http://schemas.openxmlformats.org/drawingml/2006/main">
              <a:ext uri="{FF2B5EF4-FFF2-40B4-BE49-F238E27FC236}">
                <a16:creationId xmlns:a16="http://schemas.microsoft.com/office/drawing/2014/main" id="{06D9E5B4-3433-42F8-87A8-7242094C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16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op-cape-gradient-32">
            <a:extLst xmlns:a="http://schemas.openxmlformats.org/drawingml/2006/main">
              <a:ext uri="{FF2B5EF4-FFF2-40B4-BE49-F238E27FC236}">
                <a16:creationId xmlns:a16="http://schemas.microsoft.com/office/drawing/2014/main" id="{E9E870EC-662D-450D-9C9E-AAC53464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7683" y="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eader-cape-gradient-1">
            <a:extLst xmlns:a="http://schemas.openxmlformats.org/drawingml/2006/main">
              <a:ext uri="{FF2B5EF4-FFF2-40B4-BE49-F238E27FC236}">
                <a16:creationId xmlns:a16="http://schemas.microsoft.com/office/drawing/2014/main" id="{7B2D8CF4-CE8E-4F15-BA25-7DEB55F1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eader-cape-gradient-2">
            <a:extLst xmlns:a="http://schemas.openxmlformats.org/drawingml/2006/main">
              <a:ext uri="{FF2B5EF4-FFF2-40B4-BE49-F238E27FC236}">
                <a16:creationId xmlns:a16="http://schemas.microsoft.com/office/drawing/2014/main" id="{D00ECC70-61BA-4E36-86EA-3D482A75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eader-cape-gradient-3">
            <a:extLst xmlns:a="http://schemas.openxmlformats.org/drawingml/2006/main">
              <a:ext uri="{FF2B5EF4-FFF2-40B4-BE49-F238E27FC236}">
                <a16:creationId xmlns:a16="http://schemas.microsoft.com/office/drawing/2014/main" id="{4D51871C-241E-43BE-A432-4A6A7617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eader-cape-gradient-4">
            <a:extLst xmlns:a="http://schemas.openxmlformats.org/drawingml/2006/main">
              <a:ext uri="{FF2B5EF4-FFF2-40B4-BE49-F238E27FC236}">
                <a16:creationId xmlns:a16="http://schemas.microsoft.com/office/drawing/2014/main" id="{2AAB61A7-A4A0-487E-8E3A-5B8B026E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eader-cape-gradient-5">
            <a:extLst xmlns:a="http://schemas.openxmlformats.org/drawingml/2006/main">
              <a:ext uri="{FF2B5EF4-FFF2-40B4-BE49-F238E27FC236}">
                <a16:creationId xmlns:a16="http://schemas.microsoft.com/office/drawing/2014/main" id="{77E3CF99-2855-4276-A2E3-7EABA8C40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066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eader-cape-gradient-6">
            <a:extLst xmlns:a="http://schemas.openxmlformats.org/drawingml/2006/main">
              <a:ext uri="{FF2B5EF4-FFF2-40B4-BE49-F238E27FC236}">
                <a16:creationId xmlns:a16="http://schemas.microsoft.com/office/drawing/2014/main" id="{984F7679-CD0A-4E71-9DCF-A50E253C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33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eader-cape-gradient-7">
            <a:extLst xmlns:a="http://schemas.openxmlformats.org/drawingml/2006/main">
              <a:ext uri="{FF2B5EF4-FFF2-40B4-BE49-F238E27FC236}">
                <a16:creationId xmlns:a16="http://schemas.microsoft.com/office/drawing/2014/main" id="{72A8FA59-64EF-4F6F-8A89-BB9E4CFC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00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eader-cape-gradient-8">
            <a:extLst xmlns:a="http://schemas.openxmlformats.org/drawingml/2006/main">
              <a:ext uri="{FF2B5EF4-FFF2-40B4-BE49-F238E27FC236}">
                <a16:creationId xmlns:a16="http://schemas.microsoft.com/office/drawing/2014/main" id="{853CCEB3-D8EF-469E-89B0-B9CEF072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67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eader-cape-gradient-9">
            <a:extLst xmlns:a="http://schemas.openxmlformats.org/drawingml/2006/main">
              <a:ext uri="{FF2B5EF4-FFF2-40B4-BE49-F238E27FC236}">
                <a16:creationId xmlns:a16="http://schemas.microsoft.com/office/drawing/2014/main" id="{46D6BA0B-D06E-4790-B50B-020C3F8F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133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eader-cape-gradient-10">
            <a:extLst xmlns:a="http://schemas.openxmlformats.org/drawingml/2006/main">
              <a:ext uri="{FF2B5EF4-FFF2-40B4-BE49-F238E27FC236}">
                <a16:creationId xmlns:a16="http://schemas.microsoft.com/office/drawing/2014/main" id="{39FF363F-D826-4A89-B39F-3C9FC978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00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eader-cape-gradient-11">
            <a:extLst xmlns:a="http://schemas.openxmlformats.org/drawingml/2006/main">
              <a:ext uri="{FF2B5EF4-FFF2-40B4-BE49-F238E27FC236}">
                <a16:creationId xmlns:a16="http://schemas.microsoft.com/office/drawing/2014/main" id="{C1FC0E99-CDF5-4A59-B369-32BBD153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667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eader-cape-gradient-12">
            <a:extLst xmlns:a="http://schemas.openxmlformats.org/drawingml/2006/main">
              <a:ext uri="{FF2B5EF4-FFF2-40B4-BE49-F238E27FC236}">
                <a16:creationId xmlns:a16="http://schemas.microsoft.com/office/drawing/2014/main" id="{6B7507AD-7D88-4622-BA8E-36F71F5D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33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eader-cape-gradient-13">
            <a:extLst xmlns:a="http://schemas.openxmlformats.org/drawingml/2006/main">
              <a:ext uri="{FF2B5EF4-FFF2-40B4-BE49-F238E27FC236}">
                <a16:creationId xmlns:a16="http://schemas.microsoft.com/office/drawing/2014/main" id="{DD4A23A6-2DFA-4726-8C81-B5B9AA33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200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eader-cape-gradient-14">
            <a:extLst xmlns:a="http://schemas.openxmlformats.org/drawingml/2006/main">
              <a:ext uri="{FF2B5EF4-FFF2-40B4-BE49-F238E27FC236}">
                <a16:creationId xmlns:a16="http://schemas.microsoft.com/office/drawing/2014/main" id="{EC231D7D-A4D4-46E1-969F-6C857C7E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8967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eader-cape-gradient-15">
            <a:extLst xmlns:a="http://schemas.openxmlformats.org/drawingml/2006/main">
              <a:ext uri="{FF2B5EF4-FFF2-40B4-BE49-F238E27FC236}">
                <a16:creationId xmlns:a16="http://schemas.microsoft.com/office/drawing/2014/main" id="{A517E9B1-8F9E-45B1-92BA-CBF64144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2734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eader-cape-gradient-16">
            <a:extLst xmlns:a="http://schemas.openxmlformats.org/drawingml/2006/main">
              <a:ext uri="{FF2B5EF4-FFF2-40B4-BE49-F238E27FC236}">
                <a16:creationId xmlns:a16="http://schemas.microsoft.com/office/drawing/2014/main" id="{5D9EA838-D834-4A80-B864-B458EE24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500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eader-cape-gradient-17">
            <a:extLst xmlns:a="http://schemas.openxmlformats.org/drawingml/2006/main">
              <a:ext uri="{FF2B5EF4-FFF2-40B4-BE49-F238E27FC236}">
                <a16:creationId xmlns:a16="http://schemas.microsoft.com/office/drawing/2014/main" id="{DFCC9258-A40A-451A-A78F-829EB9BC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267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eader-cape-gradient-18">
            <a:extLst xmlns:a="http://schemas.openxmlformats.org/drawingml/2006/main">
              <a:ext uri="{FF2B5EF4-FFF2-40B4-BE49-F238E27FC236}">
                <a16:creationId xmlns:a16="http://schemas.microsoft.com/office/drawing/2014/main" id="{31C247D2-3620-434C-B96C-B32A780D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40342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eader-cape-gradient-19">
            <a:extLst xmlns:a="http://schemas.openxmlformats.org/drawingml/2006/main">
              <a:ext uri="{FF2B5EF4-FFF2-40B4-BE49-F238E27FC236}">
                <a16:creationId xmlns:a16="http://schemas.microsoft.com/office/drawing/2014/main" id="{2AD6DA35-B204-4EAE-972F-5D36E5C9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8009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eader-cape-gradient-20">
            <a:extLst xmlns:a="http://schemas.openxmlformats.org/drawingml/2006/main">
              <a:ext uri="{FF2B5EF4-FFF2-40B4-BE49-F238E27FC236}">
                <a16:creationId xmlns:a16="http://schemas.microsoft.com/office/drawing/2014/main" id="{5A7BF34C-E042-42D9-A9CA-DD82F6A0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567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eader-cape-gradient-21">
            <a:extLst xmlns:a="http://schemas.openxmlformats.org/drawingml/2006/main">
              <a:ext uri="{FF2B5EF4-FFF2-40B4-BE49-F238E27FC236}">
                <a16:creationId xmlns:a16="http://schemas.microsoft.com/office/drawing/2014/main" id="{B3B75033-9B8F-4278-AF79-8E70B8374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334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eader-cape-gradient-22">
            <a:extLst xmlns:a="http://schemas.openxmlformats.org/drawingml/2006/main">
              <a:ext uri="{FF2B5EF4-FFF2-40B4-BE49-F238E27FC236}">
                <a16:creationId xmlns:a16="http://schemas.microsoft.com/office/drawing/2014/main" id="{EF14F13D-22BC-41A9-9805-C2FAE64C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101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eader-cape-gradient-23">
            <a:extLst xmlns:a="http://schemas.openxmlformats.org/drawingml/2006/main">
              <a:ext uri="{FF2B5EF4-FFF2-40B4-BE49-F238E27FC236}">
                <a16:creationId xmlns:a16="http://schemas.microsoft.com/office/drawing/2014/main" id="{785C10EC-165A-4DA6-B4FF-76077467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867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eader-cape-gradient-24">
            <a:extLst xmlns:a="http://schemas.openxmlformats.org/drawingml/2006/main">
              <a:ext uri="{FF2B5EF4-FFF2-40B4-BE49-F238E27FC236}">
                <a16:creationId xmlns:a16="http://schemas.microsoft.com/office/drawing/2014/main" id="{98C69371-6B09-465A-9A7B-F88C3DFD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6345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eader-cape-gradient-25">
            <a:extLst xmlns:a="http://schemas.openxmlformats.org/drawingml/2006/main">
              <a:ext uri="{FF2B5EF4-FFF2-40B4-BE49-F238E27FC236}">
                <a16:creationId xmlns:a16="http://schemas.microsoft.com/office/drawing/2014/main" id="{74F4CD2E-E4D4-4C3A-A25F-509AB6E4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401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eader-cape-gradient-26">
            <a:extLst xmlns:a="http://schemas.openxmlformats.org/drawingml/2006/main">
              <a:ext uri="{FF2B5EF4-FFF2-40B4-BE49-F238E27FC236}">
                <a16:creationId xmlns:a16="http://schemas.microsoft.com/office/drawing/2014/main" id="{917A7BAB-42CA-4837-A20D-FE0DC58A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41680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eader-cape-gradient-27">
            <a:extLst xmlns:a="http://schemas.openxmlformats.org/drawingml/2006/main">
              <a:ext uri="{FF2B5EF4-FFF2-40B4-BE49-F238E27FC236}">
                <a16:creationId xmlns:a16="http://schemas.microsoft.com/office/drawing/2014/main" id="{DC35B9D5-5092-4934-B511-A9504E06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9347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eader-cape-gradient-28">
            <a:extLst xmlns:a="http://schemas.openxmlformats.org/drawingml/2006/main">
              <a:ext uri="{FF2B5EF4-FFF2-40B4-BE49-F238E27FC236}">
                <a16:creationId xmlns:a16="http://schemas.microsoft.com/office/drawing/2014/main" id="{91AA4D36-177A-4E54-A4B8-86819294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7014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eader-cape-gradient-29">
            <a:extLst xmlns:a="http://schemas.openxmlformats.org/drawingml/2006/main">
              <a:ext uri="{FF2B5EF4-FFF2-40B4-BE49-F238E27FC236}">
                <a16:creationId xmlns:a16="http://schemas.microsoft.com/office/drawing/2014/main" id="{B2A71CED-D6B0-40C6-B75F-78D18063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54681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eader-cape-gradient-30">
            <a:extLst xmlns:a="http://schemas.openxmlformats.org/drawingml/2006/main">
              <a:ext uri="{FF2B5EF4-FFF2-40B4-BE49-F238E27FC236}">
                <a16:creationId xmlns:a16="http://schemas.microsoft.com/office/drawing/2014/main" id="{472965D2-DBB0-4E9F-ADB9-585F8E07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92348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eader-cape-gradient-31">
            <a:extLst xmlns:a="http://schemas.openxmlformats.org/drawingml/2006/main">
              <a:ext uri="{FF2B5EF4-FFF2-40B4-BE49-F238E27FC236}">
                <a16:creationId xmlns:a16="http://schemas.microsoft.com/office/drawing/2014/main" id="{02A384B4-7E49-436D-A24A-B9545AE9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0016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eader-cape-gradient-32">
            <a:extLst xmlns:a="http://schemas.openxmlformats.org/drawingml/2006/main">
              <a:ext uri="{FF2B5EF4-FFF2-40B4-BE49-F238E27FC236}">
                <a16:creationId xmlns:a16="http://schemas.microsoft.com/office/drawing/2014/main" id="{DD6E3810-0726-4C47-8F6F-2F477400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67683" y="4667250"/>
            <a:ext cx="1347192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25CB523D-C019-4B67-A5B5-93DDB8D3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AURORA-12</a:t>
            </a:r>
          </a:p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A fully synthetic benchmark for evidence-linked poster generation</a:t>
            </a:r>
          </a:p>
        </p:txBody>
      </p:sp>
      <p:sp>
        <p:nvSpPr>
          <p:cNvPr id="67" name="authors">
            <a:extLst xmlns:a="http://schemas.openxmlformats.org/drawingml/2006/main">
              <a:ext uri="{FF2B5EF4-FFF2-40B4-BE49-F238E27FC236}">
                <a16:creationId xmlns:a16="http://schemas.microsoft.com/office/drawing/2014/main" id="{26B4D3DB-E0B2-4502-9F61-8EC7F47D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PostEx Synthetic Research Collective</a:t>
            </a:r>
          </a:p>
        </p:txBody>
      </p:sp>
      <p:sp>
        <p:nvSpPr>
          <p:cNvPr id="68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41AB7AE2-1FFA-4185-8607-9BD71FD6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2EE"/>
                </a:solidFill>
              </a:defRPr>
            </a:pPr>
            <a:r>
              <a:rPr sz="2175">
                <a:solidFill>
                  <a:srgbClr val="F6F2EE"/>
                </a:solidFill>
              </a:rPr>
              <a:t>Fictional Methods Laboratory · Example Research Campus · no real authors or institutions</a:t>
            </a:r>
          </a:p>
        </p:txBody>
      </p:sp>
      <p:sp>
        <p:nvSpPr>
          <p:cNvPr id="69" name="citation">
            <a:extLst xmlns:a="http://schemas.openxmlformats.org/drawingml/2006/main">
              <a:ext uri="{FF2B5EF4-FFF2-40B4-BE49-F238E27FC236}">
                <a16:creationId xmlns:a16="http://schemas.microsoft.com/office/drawing/2014/main" id="{39EC7AD0-90C2-4304-9BE9-63D5F0D6B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5BC6C"/>
                </a:solidFill>
              </a:defRPr>
            </a:pPr>
            <a:r>
              <a:rPr sz="1950" b="1">
                <a:solidFill>
                  <a:srgbClr val="E5BC6C"/>
                </a:solidFill>
              </a:rPr>
              <a:t>POSTEX-SYNTH-2026-001 · fully synthetic · CC0-1.0 · no DOI</a:t>
            </a:r>
          </a:p>
        </p:txBody>
      </p:sp>
      <p:sp>
        <p:nvSpPr>
          <p:cNvPr id="70" name="logo-slot-fictional-lab-logo">
            <a:extLst xmlns:a="http://schemas.openxmlformats.org/drawingml/2006/main">
              <a:ext uri="{FF2B5EF4-FFF2-40B4-BE49-F238E27FC236}">
                <a16:creationId xmlns:a16="http://schemas.microsoft.com/office/drawing/2014/main" id="{EA469AA8-B504-4531-8320-772A49C1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DE5E7"/>
            </a:solidFill>
            <a:prstDash val="solid"/>
          </a:ln>
        </p:spPr>
      </p:sp>
      <p:sp>
        <p:nvSpPr>
          <p:cNvPr id="71" name="logo-placeholder-fictional-lab-logo">
            <a:extLst xmlns:a="http://schemas.openxmlformats.org/drawingml/2006/main">
              <a:ext uri="{FF2B5EF4-FFF2-40B4-BE49-F238E27FC236}">
                <a16:creationId xmlns:a16="http://schemas.microsoft.com/office/drawing/2014/main" id="{709628CC-2941-4CDA-9482-3435F002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E5C78"/>
                </a:solidFill>
              </a:defRPr>
            </a:pPr>
            <a:r>
              <a:rPr sz="2025" b="1">
                <a:solidFill>
                  <a:srgbClr val="3E5C78"/>
                </a:solidFill>
              </a:rPr>
              <a:t>Fictional lab logo</a:t>
            </a:r>
          </a:p>
        </p:txBody>
      </p:sp>
      <p:sp>
        <p:nvSpPr>
          <p:cNvPr id="72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DDFB5DCB-39BE-40F5-AF24-8C8F21E19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1E28AAB6-9CF9-4509-8031-0E67A9A0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E5C78"/>
                </a:solidFill>
              </a:defRPr>
            </a:pPr>
            <a:r>
              <a:rPr sz="5100" b="1">
                <a:solidFill>
                  <a:srgbClr val="3E5C78"/>
                </a:solidFill>
              </a:rPr>
              <a:t>1,240</a:t>
            </a:r>
          </a:p>
        </p:txBody>
      </p:sp>
      <p:sp>
        <p:nvSpPr>
          <p:cNvPr id="74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978A464E-747F-479D-8729-94C1A514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synthetic profiles</a:t>
            </a:r>
          </a:p>
        </p:txBody>
      </p:sp>
      <p:sp>
        <p:nvSpPr>
          <p:cNvPr id="75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020AA766-851B-443E-9DEF-AC2665F5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487AA1"/>
                </a:solidFill>
              </a:defRPr>
            </a:pPr>
            <a:r>
              <a:rPr sz="5100" b="1">
                <a:solidFill>
                  <a:srgbClr val="487AA1"/>
                </a:solidFill>
              </a:rPr>
              <a:t>12</a:t>
            </a:r>
          </a:p>
        </p:txBody>
      </p:sp>
      <p:sp>
        <p:nvSpPr>
          <p:cNvPr id="76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787F4FA0-CF65-4885-8883-664A139F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anonymous model features</a:t>
            </a:r>
          </a:p>
        </p:txBody>
      </p:sp>
      <p:sp>
        <p:nvSpPr>
          <p:cNvPr id="77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07980263-1D7B-4E08-8963-3EED1F34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5BC6C"/>
                </a:solidFill>
              </a:defRPr>
            </a:pPr>
            <a:r>
              <a:rPr sz="5100" b="1">
                <a:solidFill>
                  <a:srgbClr val="E5BC6C"/>
                </a:solidFill>
              </a:rPr>
              <a:t>4</a:t>
            </a:r>
          </a:p>
        </p:txBody>
      </p:sp>
      <p:sp>
        <p:nvSpPr>
          <p:cNvPr id="78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1E1C8C27-6FA5-4FEB-A5E1-2D6A5FA7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deterministic cohort simulations</a:t>
            </a:r>
          </a:p>
        </p:txBody>
      </p:sp>
      <p:sp>
        <p:nvSpPr>
          <p:cNvPr id="79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4CB49220-9EC9-48ED-BD3C-A5241530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Communication test</a:t>
            </a:r>
          </a:p>
        </p:txBody>
      </p:sp>
      <p:sp>
        <p:nvSpPr>
          <p:cNvPr id="80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F4306CFF-C66E-4C17-8ECB-3CDE706C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EEBEEFA2-E9D3-4165-BC35-643925AE7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Can a realistic multi-cohort manuscript exercise evidence-linked poster generation without redistributing a real paper or implying biomedical evidence?</a:t>
            </a:r>
          </a:p>
        </p:txBody>
      </p:sp>
      <p:sp>
        <p:nvSpPr>
          <p:cNvPr id="82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F164FDD3-B37E-4BAE-835E-D308AF6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Evidence: Abstract and Introduction, pp. 1-2</a:t>
            </a:r>
          </a:p>
        </p:txBody>
      </p:sp>
      <p:sp>
        <p:nvSpPr>
          <p:cNvPr id="83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A3C63E06-F535-4F8B-AC55-FB394206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Deterministic workflow</a:t>
            </a:r>
          </a:p>
        </p:txBody>
      </p:sp>
      <p:sp>
        <p:nvSpPr>
          <p:cNvPr id="84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1EEA1A8E-0926-4EA8-ABEC-A57888DB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D01033A2-AB7C-494A-AD6C-73B229CA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91D8655E-98FC-4222-B3B8-D8B53729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1</a:t>
            </a:r>
          </a:p>
        </p:txBody>
      </p:sp>
      <p:sp>
        <p:nvSpPr>
          <p:cNvPr id="87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4652BA32-5728-4074-8E02-E7C29D7B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Fixed seed generated 1,240 profiles</a:t>
            </a:r>
          </a:p>
        </p:txBody>
      </p:sp>
      <p:sp>
        <p:nvSpPr>
          <p:cNvPr id="88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27FEF669-E6DA-43D6-92BE-53D375E2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783E5E9C-0848-4DDA-9862-826A14BD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2</a:t>
            </a:r>
          </a:p>
        </p:txBody>
      </p:sp>
      <p:sp>
        <p:nvSpPr>
          <p:cNvPr id="90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6AC72E0A-FB60-4ACA-81D2-5E83CC13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480 anonymous transcript-like features</a:t>
            </a:r>
          </a:p>
        </p:txBody>
      </p:sp>
      <p:sp>
        <p:nvSpPr>
          <p:cNvPr id="91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22E78DE1-0D03-4A05-8AFE-9D6B90E4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184827B9-230C-4E6A-8158-1EA2924C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3</a:t>
            </a:r>
          </a:p>
        </p:txBody>
      </p:sp>
      <p:sp>
        <p:nvSpPr>
          <p:cNvPr id="93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F84836ED-2415-47E4-BC43-2D565936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Nested elastic-net selection</a:t>
            </a:r>
          </a:p>
        </p:txBody>
      </p:sp>
      <p:sp>
        <p:nvSpPr>
          <p:cNvPr id="94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7250E9AD-78EE-487C-87D7-D9CA0C20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22069F4A-51F4-4E47-9083-E399A51C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4</a:t>
            </a:r>
          </a:p>
        </p:txBody>
      </p:sp>
      <p:sp>
        <p:nvSpPr>
          <p:cNvPr id="96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64DB6B19-255C-42C3-9334-565ED180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93F55"/>
                </a:solidFill>
              </a:defRPr>
            </a:pPr>
            <a:r>
              <a:rPr sz="2850" b="1">
                <a:solidFill>
                  <a:srgbClr val="293F55"/>
                </a:solidFill>
              </a:rPr>
              <a:t>12-feature score and shift testing</a:t>
            </a:r>
          </a:p>
        </p:txBody>
      </p:sp>
      <p:sp>
        <p:nvSpPr>
          <p:cNvPr id="97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73F32347-F730-49B7-977D-96F78318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98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FBA0AED9-FCCF-4696-8C5F-D397AD03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E5C78"/>
                </a:solidFill>
              </a:defRPr>
            </a:pPr>
            <a:r>
              <a:rPr sz="2175" b="1">
                <a:solidFill>
                  <a:srgbClr val="3E5C78"/>
                </a:solidFill>
              </a:rPr>
              <a:t>FOUR SYNTHETIC COHORTS</a:t>
            </a:r>
          </a:p>
        </p:txBody>
      </p:sp>
      <p:sp>
        <p:nvSpPr>
          <p:cNvPr id="99" name="datasets">
            <a:extLst xmlns:a="http://schemas.openxmlformats.org/drawingml/2006/main">
              <a:ext uri="{FF2B5EF4-FFF2-40B4-BE49-F238E27FC236}">
                <a16:creationId xmlns:a16="http://schemas.microsoft.com/office/drawing/2014/main" id="{675931BE-CBAC-46A9-9AF8-2986BAA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Discovery n=620 · Internal validation n=310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External simulation A n=186 · External simulation B n=124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All values are authored fixtures; no participant, specimen, institution, registry or external dataset exists.</a:t>
            </a:r>
          </a:p>
        </p:txBody>
      </p:sp>
      <p:sp>
        <p:nvSpPr>
          <p:cNvPr id="100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6116922F-55BC-4DB9-9A19-F2F9D47B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Evidence: Abstract and Methods, pp. 1-2</a:t>
            </a:r>
          </a:p>
        </p:txBody>
      </p:sp>
      <p:sp>
        <p:nvSpPr>
          <p:cNvPr id="101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B3D115C5-77FB-4377-AADB-598B6A73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Generation to validation</a:t>
            </a:r>
          </a:p>
        </p:txBody>
      </p:sp>
      <p:sp>
        <p:nvSpPr>
          <p:cNvPr id="102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55E42B3B-E9B4-41E3-BA2F-CF1795B3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7DCEC0B4-245C-4562-804B-E9F19B89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pic>
        <p:nvPicPr>
          <p:cNvPr id="2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a8ce4f7804485">
            <a:extLst>
              <a:ext uri="{96DAC541-7B7A-43D3-8B79-37D633B846F1}">
                <asvg:svgBlip xmlns:asvg="http://schemas.microsoft.com/office/drawing/2016/SVG/main" r:embed="Rdba4f05209d244f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ect">
            <a:avLst/>
          </a:prstGeom>
        </p:spPr>
      </p:pic>
      <p:sp>
        <p:nvSpPr>
          <p:cNvPr id="105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60FB7584-0C9F-4752-B4B6-41DB9745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Figure 1 · Deterministic generation and validation workflow</a:t>
            </a:r>
          </a:p>
        </p:txBody>
      </p:sp>
      <p:sp>
        <p:nvSpPr>
          <p:cNvPr id="106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FE7CDF88-C1EF-479B-8A77-90F30ECE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Authored synthetic fixture · manuscript p. 2</a:t>
            </a:r>
          </a:p>
        </p:txBody>
      </p:sp>
      <p:sp>
        <p:nvSpPr>
          <p:cNvPr id="107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9E2C29AB-3483-41B6-A6DD-9C36B71A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takeaway-cape-gradient-1">
            <a:extLst xmlns:a="http://schemas.openxmlformats.org/drawingml/2006/main">
              <a:ext uri="{FF2B5EF4-FFF2-40B4-BE49-F238E27FC236}">
                <a16:creationId xmlns:a16="http://schemas.microsoft.com/office/drawing/2014/main" id="{BA65FB15-E8F8-4FE8-8C8C-AF8B5273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akeaway-cape-gradient-2">
            <a:extLst xmlns:a="http://schemas.openxmlformats.org/drawingml/2006/main">
              <a:ext uri="{FF2B5EF4-FFF2-40B4-BE49-F238E27FC236}">
                <a16:creationId xmlns:a16="http://schemas.microsoft.com/office/drawing/2014/main" id="{375C0D4C-BC88-45B5-BEED-117826A3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263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B42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takeaway-cape-gradient-3">
            <a:extLst xmlns:a="http://schemas.openxmlformats.org/drawingml/2006/main">
              <a:ext uri="{FF2B5EF4-FFF2-40B4-BE49-F238E27FC236}">
                <a16:creationId xmlns:a16="http://schemas.microsoft.com/office/drawing/2014/main" id="{E8564880-948C-4D5B-87BE-1B2F1A9B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9773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D45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akeaway-cape-gradient-4">
            <a:extLst xmlns:a="http://schemas.openxmlformats.org/drawingml/2006/main">
              <a:ext uri="{FF2B5EF4-FFF2-40B4-BE49-F238E27FC236}">
                <a16:creationId xmlns:a16="http://schemas.microsoft.com/office/drawing/2014/main" id="{3D0C3886-7F55-4248-905A-2ECDBA7C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691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F47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takeaway-cape-gradient-5">
            <a:extLst xmlns:a="http://schemas.openxmlformats.org/drawingml/2006/main">
              <a:ext uri="{FF2B5EF4-FFF2-40B4-BE49-F238E27FC236}">
                <a16:creationId xmlns:a16="http://schemas.microsoft.com/office/drawing/2014/main" id="{FEF4B1B9-2370-4CF0-BD55-0951FCF0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3404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14A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akeaway-cape-gradient-6">
            <a:extLst xmlns:a="http://schemas.openxmlformats.org/drawingml/2006/main">
              <a:ext uri="{FF2B5EF4-FFF2-40B4-BE49-F238E27FC236}">
                <a16:creationId xmlns:a16="http://schemas.microsoft.com/office/drawing/2014/main" id="{6A72903F-CD2F-403C-8194-BF0B4C42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118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34D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takeaway-cape-gradient-7">
            <a:extLst xmlns:a="http://schemas.openxmlformats.org/drawingml/2006/main">
              <a:ext uri="{FF2B5EF4-FFF2-40B4-BE49-F238E27FC236}">
                <a16:creationId xmlns:a16="http://schemas.microsoft.com/office/drawing/2014/main" id="{47523580-6689-4920-8549-AE4F001A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32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550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akeaway-cape-gradient-8">
            <a:extLst xmlns:a="http://schemas.openxmlformats.org/drawingml/2006/main">
              <a:ext uri="{FF2B5EF4-FFF2-40B4-BE49-F238E27FC236}">
                <a16:creationId xmlns:a16="http://schemas.microsoft.com/office/drawing/2014/main" id="{75656BCE-43B2-46E4-9FA7-A809309B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1545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75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takeaway-cape-gradient-9">
            <a:extLst xmlns:a="http://schemas.openxmlformats.org/drawingml/2006/main">
              <a:ext uri="{FF2B5EF4-FFF2-40B4-BE49-F238E27FC236}">
                <a16:creationId xmlns:a16="http://schemas.microsoft.com/office/drawing/2014/main" id="{1B83B228-C53B-40EE-B24E-643F935D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259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955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akeaway-cape-gradient-10">
            <a:extLst xmlns:a="http://schemas.openxmlformats.org/drawingml/2006/main">
              <a:ext uri="{FF2B5EF4-FFF2-40B4-BE49-F238E27FC236}">
                <a16:creationId xmlns:a16="http://schemas.microsoft.com/office/drawing/2014/main" id="{67417977-F2EC-432E-B84E-383267F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9730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B58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akeaway-cape-gradient-11">
            <a:extLst xmlns:a="http://schemas.openxmlformats.org/drawingml/2006/main">
              <a:ext uri="{FF2B5EF4-FFF2-40B4-BE49-F238E27FC236}">
                <a16:creationId xmlns:a16="http://schemas.microsoft.com/office/drawing/2014/main" id="{20E43B08-8722-4011-87FA-152A7390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9686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D5B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akeaway-cape-gradient-12">
            <a:extLst xmlns:a="http://schemas.openxmlformats.org/drawingml/2006/main">
              <a:ext uri="{FF2B5EF4-FFF2-40B4-BE49-F238E27FC236}">
                <a16:creationId xmlns:a16="http://schemas.microsoft.com/office/drawing/2014/main" id="{7287C8EA-B05B-4699-B30C-FE3530EF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2400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3F5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takeaway-cape-gradient-13">
            <a:extLst xmlns:a="http://schemas.openxmlformats.org/drawingml/2006/main">
              <a:ext uri="{FF2B5EF4-FFF2-40B4-BE49-F238E27FC236}">
                <a16:creationId xmlns:a16="http://schemas.microsoft.com/office/drawing/2014/main" id="{63F39E5C-7B5E-4470-9279-3FAFCBC8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5114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061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akeaway-cape-gradient-14">
            <a:extLst xmlns:a="http://schemas.openxmlformats.org/drawingml/2006/main">
              <a:ext uri="{FF2B5EF4-FFF2-40B4-BE49-F238E27FC236}">
                <a16:creationId xmlns:a16="http://schemas.microsoft.com/office/drawing/2014/main" id="{7B8CC637-9890-4DFD-BFDE-0EF589476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8277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1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takeaway-cape-gradient-15">
            <a:extLst xmlns:a="http://schemas.openxmlformats.org/drawingml/2006/main">
              <a:ext uri="{FF2B5EF4-FFF2-40B4-BE49-F238E27FC236}">
                <a16:creationId xmlns:a16="http://schemas.microsoft.com/office/drawing/2014/main" id="{84026E13-0EE8-40FB-BDE9-E746324D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541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26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akeaway-cape-gradient-16">
            <a:extLst xmlns:a="http://schemas.openxmlformats.org/drawingml/2006/main">
              <a:ext uri="{FF2B5EF4-FFF2-40B4-BE49-F238E27FC236}">
                <a16:creationId xmlns:a16="http://schemas.microsoft.com/office/drawing/2014/main" id="{70432698-726F-4634-A100-4BB734C8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3255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A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akeaway-cape-gradient-17">
            <a:extLst xmlns:a="http://schemas.openxmlformats.org/drawingml/2006/main">
              <a:ext uri="{FF2B5EF4-FFF2-40B4-BE49-F238E27FC236}">
                <a16:creationId xmlns:a16="http://schemas.microsoft.com/office/drawing/2014/main" id="{C8C3F27D-5F56-46AA-9305-6F2936FF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5968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3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takeaway-cape-gradient-18">
            <a:extLst xmlns:a="http://schemas.openxmlformats.org/drawingml/2006/main">
              <a:ext uri="{FF2B5EF4-FFF2-40B4-BE49-F238E27FC236}">
                <a16:creationId xmlns:a16="http://schemas.microsoft.com/office/drawing/2014/main" id="{6AA4CFCD-E8D8-459F-B133-28C885EF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682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46F9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akeaway-cape-gradient-19">
            <a:extLst xmlns:a="http://schemas.openxmlformats.org/drawingml/2006/main">
              <a:ext uri="{FF2B5EF4-FFF2-40B4-BE49-F238E27FC236}">
                <a16:creationId xmlns:a16="http://schemas.microsoft.com/office/drawing/2014/main" id="{AD20270A-2528-495E-A3F2-003D072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1396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572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takeaway-cape-gradient-20">
            <a:extLst xmlns:a="http://schemas.openxmlformats.org/drawingml/2006/main">
              <a:ext uri="{FF2B5EF4-FFF2-40B4-BE49-F238E27FC236}">
                <a16:creationId xmlns:a16="http://schemas.microsoft.com/office/drawing/2014/main" id="{256704D3-0ADF-4336-8F94-A0BB1839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4109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675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akeaway-cape-gradient-21">
            <a:extLst xmlns:a="http://schemas.openxmlformats.org/drawingml/2006/main">
              <a:ext uri="{FF2B5EF4-FFF2-40B4-BE49-F238E27FC236}">
                <a16:creationId xmlns:a16="http://schemas.microsoft.com/office/drawing/2014/main" id="{7559E327-DD47-4CC4-8694-A392E1CF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68234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778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takeaway-cape-gradient-22">
            <a:extLst xmlns:a="http://schemas.openxmlformats.org/drawingml/2006/main">
              <a:ext uri="{FF2B5EF4-FFF2-40B4-BE49-F238E27FC236}">
                <a16:creationId xmlns:a16="http://schemas.microsoft.com/office/drawing/2014/main" id="{8A775B41-B421-45BB-BE42-72172829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537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4A7C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takeaway-cape-gradient-23">
            <a:extLst xmlns:a="http://schemas.openxmlformats.org/drawingml/2006/main">
              <a:ext uri="{FF2B5EF4-FFF2-40B4-BE49-F238E27FC236}">
                <a16:creationId xmlns:a16="http://schemas.microsoft.com/office/drawing/2014/main" id="{6A10FECD-23FC-4107-8C8E-20F1F120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2250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082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takeaway-cape-gradient-24">
            <a:extLst xmlns:a="http://schemas.openxmlformats.org/drawingml/2006/main">
              <a:ext uri="{FF2B5EF4-FFF2-40B4-BE49-F238E27FC236}">
                <a16:creationId xmlns:a16="http://schemas.microsoft.com/office/drawing/2014/main" id="{E5AEFE61-1250-4447-B305-ECA9503A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964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788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takeaway-cape-gradient-25">
            <a:extLst xmlns:a="http://schemas.openxmlformats.org/drawingml/2006/main">
              <a:ext uri="{FF2B5EF4-FFF2-40B4-BE49-F238E27FC236}">
                <a16:creationId xmlns:a16="http://schemas.microsoft.com/office/drawing/2014/main" id="{8DD57706-75F2-4E00-8CC8-59E9EBEA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678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5D8E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takeaway-cape-gradient-26">
            <a:extLst xmlns:a="http://schemas.openxmlformats.org/drawingml/2006/main">
              <a:ext uri="{FF2B5EF4-FFF2-40B4-BE49-F238E27FC236}">
                <a16:creationId xmlns:a16="http://schemas.microsoft.com/office/drawing/2014/main" id="{BA0EDA94-DFC8-4206-A27B-F3134D55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0391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394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takeaway-cape-gradient-27">
            <a:extLst xmlns:a="http://schemas.openxmlformats.org/drawingml/2006/main">
              <a:ext uri="{FF2B5EF4-FFF2-40B4-BE49-F238E27FC236}">
                <a16:creationId xmlns:a16="http://schemas.microsoft.com/office/drawing/2014/main" id="{366A7B42-009E-433F-8635-2EB65636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05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6A9A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takeaway-cape-gradient-28">
            <a:extLst xmlns:a="http://schemas.openxmlformats.org/drawingml/2006/main">
              <a:ext uri="{FF2B5EF4-FFF2-40B4-BE49-F238E27FC236}">
                <a16:creationId xmlns:a16="http://schemas.microsoft.com/office/drawing/2014/main" id="{A4BE0E23-2F5B-4C47-83F7-2029E620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8191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0A0B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takeaway-cape-gradient-29">
            <a:extLst xmlns:a="http://schemas.openxmlformats.org/drawingml/2006/main">
              <a:ext uri="{FF2B5EF4-FFF2-40B4-BE49-F238E27FC236}">
                <a16:creationId xmlns:a16="http://schemas.microsoft.com/office/drawing/2014/main" id="{EA97F98F-9078-4BED-A0D6-514BB23E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8532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6A6B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akeaway-cape-gradient-30">
            <a:extLst xmlns:a="http://schemas.openxmlformats.org/drawingml/2006/main">
              <a:ext uri="{FF2B5EF4-FFF2-40B4-BE49-F238E27FC236}">
                <a16:creationId xmlns:a16="http://schemas.microsoft.com/office/drawing/2014/main" id="{4B607ED9-58E7-4306-B12D-2C273B77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12465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7CAC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takeaway-cape-gradient-31">
            <a:extLst xmlns:a="http://schemas.openxmlformats.org/drawingml/2006/main">
              <a:ext uri="{FF2B5EF4-FFF2-40B4-BE49-F238E27FC236}">
                <a16:creationId xmlns:a16="http://schemas.microsoft.com/office/drawing/2014/main" id="{7143A536-A248-4176-B766-2424CCBD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9602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3B2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takeaway-cape-gradient-32">
            <a:extLst xmlns:a="http://schemas.openxmlformats.org/drawingml/2006/main">
              <a:ext uri="{FF2B5EF4-FFF2-40B4-BE49-F238E27FC236}">
                <a16:creationId xmlns:a16="http://schemas.microsoft.com/office/drawing/2014/main" id="{5EE08D3D-2798-401C-B042-1C6F8560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6738" y="5619750"/>
            <a:ext cx="436662" cy="19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89B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01C2C3E3-32B5-4906-9F58-EE57B82B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293F55"/>
                </a:solidFill>
              </a:defRPr>
            </a:pPr>
            <a:r>
              <a:rPr sz="4125" b="1">
                <a:solidFill>
                  <a:srgbClr val="293F55"/>
                </a:solidFill>
              </a:rPr>
              <a:t>External simulations retained C-indices of 0.75 and 0.74</a:t>
            </a:r>
          </a:p>
        </p:txBody>
      </p:sp>
      <p:sp>
        <p:nvSpPr>
          <p:cNvPr id="141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B841B085-71C4-4150-BBCD-9249BCD2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93F55"/>
                </a:solidFill>
              </a:defRPr>
            </a:pPr>
            <a:r>
              <a:rPr sz="2400" b="1">
                <a:solidFill>
                  <a:srgbClr val="293F55"/>
                </a:solidFill>
              </a:rPr>
              <a:t>Synthetic baseline: 0.66 and 0.65 · software fixture, not clinical validation</a:t>
            </a:r>
          </a:p>
        </p:txBody>
      </p:sp>
      <p:sp>
        <p:nvSpPr>
          <p:cNvPr id="142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16F83D67-C626-4501-A0D3-FB0C9586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Evidence: Results, pp. 1 and 3; Figure 2</a:t>
            </a:r>
          </a:p>
        </p:txBody>
      </p:sp>
      <p:sp>
        <p:nvSpPr>
          <p:cNvPr id="143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1C914D85-D189-430D-8A39-29B7BE21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Discrimination across shifts</a:t>
            </a:r>
          </a:p>
        </p:txBody>
      </p:sp>
      <p:sp>
        <p:nvSpPr>
          <p:cNvPr id="144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DA698A3C-57F2-4E43-BEDD-9E529C57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2214F4AB-AC29-4260-8D49-15B9A8A0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8dfb7b357454f">
            <a:extLst>
              <a:ext uri="{96DAC541-7B7A-43D3-8B79-37D633B846F1}">
                <asvg:svgBlip xmlns:asvg="http://schemas.microsoft.com/office/drawing/2016/SVG/main" r:embed="Rf141f24ab99145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ect">
            <a:avLst/>
          </a:prstGeom>
        </p:spPr>
      </p:pic>
      <p:sp>
        <p:nvSpPr>
          <p:cNvPr id="147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6CD16654-E8FB-4569-90D5-D81B3A8A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Figure 2 · Authored discrimination values across cohort shifts</a:t>
            </a:r>
          </a:p>
        </p:txBody>
      </p:sp>
      <p:sp>
        <p:nvSpPr>
          <p:cNvPr id="148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10BCD05C-C684-4344-97AD-0CFAADB5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Authored synthetic fixture · manuscript p. 3</a:t>
            </a:r>
          </a:p>
        </p:txBody>
      </p:sp>
      <p:sp>
        <p:nvSpPr>
          <p:cNvPr id="149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92179E55-F4BF-42AB-B86B-D0A702C3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Calibration and stress boundary</a:t>
            </a:r>
          </a:p>
        </p:txBody>
      </p:sp>
      <p:sp>
        <p:nvSpPr>
          <p:cNvPr id="150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5DE31430-FE20-41D5-A29E-32F4FC2A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B8F7A5D8-F8C3-49DA-9596-1E617532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52" name="validation">
            <a:extLst xmlns:a="http://schemas.openxmlformats.org/drawingml/2006/main">
              <a:ext uri="{FF2B5EF4-FFF2-40B4-BE49-F238E27FC236}">
                <a16:creationId xmlns:a16="http://schemas.microsoft.com/office/drawing/2014/main" id="{0BB92746-2B38-4CFE-B9D7-67EA3DFE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External calibration slopes were 0.97 and 0.95.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External absolute errors were 0.031 and 0.038.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Aggregate coefficient-sign stability was 92% across 500 resamples.</a:t>
            </a:r>
          </a:p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• The most severe pre-specified shift reduced C-index by 0.04.</a:t>
            </a:r>
          </a:p>
        </p:txBody>
      </p:sp>
      <p:sp>
        <p:nvSpPr>
          <p:cNvPr id="153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5C2404A2-FA97-4C42-8C01-3584F28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Evidence: Results, pp. 1, 3-4; Figures 3-4</a:t>
            </a:r>
          </a:p>
        </p:txBody>
      </p:sp>
      <p:sp>
        <p:nvSpPr>
          <p:cNvPr id="154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59A740F3-D439-4F89-9A84-597E9E6E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3E5C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2CDDF371-95B0-453E-8883-BCEA8B5E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AURORA-12 vs baseline C-index · Discovery 0.78 vs 0.68 · Internal 0.76 vs 0.67 · External A 0.75 vs 0.66 · External B 0.74 vs 0.65</a:t>
            </a:r>
          </a:p>
        </p:txBody>
      </p:sp>
      <p:sp>
        <p:nvSpPr>
          <p:cNvPr id="156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CF6FC7BF-28E5-476D-B4E7-E125ECBF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Calibration &amp; stability</a:t>
            </a:r>
          </a:p>
        </p:txBody>
      </p:sp>
      <p:sp>
        <p:nvSpPr>
          <p:cNvPr id="157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13D380CC-2A51-4735-A6AE-D02A45654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D5B663FD-9DF2-46E0-A463-4BBBF1B6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E5C78"/>
                </a:solidFill>
              </a:defRPr>
            </a:pPr>
            <a:r>
              <a:rPr sz="5100" b="1">
                <a:solidFill>
                  <a:srgbClr val="3E5C78"/>
                </a:solidFill>
              </a:rPr>
              <a:t>92%</a:t>
            </a:r>
          </a:p>
        </p:txBody>
      </p:sp>
      <p:sp>
        <p:nvSpPr>
          <p:cNvPr id="159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87836DDC-A9CC-4B70-A60D-C9FDE2C4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coefficient-sign stability</a:t>
            </a:r>
          </a:p>
        </p:txBody>
      </p:sp>
      <p:sp>
        <p:nvSpPr>
          <p:cNvPr id="160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E599B866-7E23-42CD-A82E-93A70AEC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487AA1"/>
                </a:solidFill>
              </a:defRPr>
            </a:pPr>
            <a:r>
              <a:rPr sz="4575" b="1">
                <a:solidFill>
                  <a:srgbClr val="487AA1"/>
                </a:solidFill>
              </a:rPr>
              <a:t>0.97 / 0.95</a:t>
            </a:r>
          </a:p>
        </p:txBody>
      </p:sp>
      <p:sp>
        <p:nvSpPr>
          <p:cNvPr id="161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CCC03D69-7A14-4AB1-B693-3EDC6864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external calibration slopes</a:t>
            </a:r>
          </a:p>
        </p:txBody>
      </p:sp>
      <p:sp>
        <p:nvSpPr>
          <p:cNvPr id="162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C01940A4-502F-40D4-88AF-8142F6DC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E5BC6C"/>
                </a:solidFill>
              </a:defRPr>
            </a:pPr>
            <a:r>
              <a:rPr sz="3900" b="1">
                <a:solidFill>
                  <a:srgbClr val="E5BC6C"/>
                </a:solidFill>
              </a:rPr>
              <a:t>0.031 / 0.038</a:t>
            </a:r>
          </a:p>
        </p:txBody>
      </p:sp>
      <p:sp>
        <p:nvSpPr>
          <p:cNvPr id="163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CBFCE9D9-6B24-4307-B247-590D6043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93F55"/>
                </a:solidFill>
              </a:defRPr>
            </a:pPr>
            <a:r>
              <a:rPr sz="2325" b="1">
                <a:solidFill>
                  <a:srgbClr val="293F55"/>
                </a:solidFill>
              </a:rPr>
              <a:t>external absolute errors</a:t>
            </a:r>
          </a:p>
        </p:txBody>
      </p:sp>
      <p:sp>
        <p:nvSpPr>
          <p:cNvPr id="164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9CD73FFB-6C02-49E1-9006-2CC75B00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Evidence: Stability and calibration, p. 4</a:t>
            </a:r>
          </a:p>
        </p:txBody>
      </p:sp>
      <p:sp>
        <p:nvSpPr>
          <p:cNvPr id="165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5A47A752-9014-4AB3-B048-9E155D39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pic>
        <p:nvPicPr>
          <p:cNvPr id="3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c5df4a6b94f48">
            <a:extLst>
              <a:ext uri="{96DAC541-7B7A-43D3-8B79-37D633B846F1}">
                <asvg:svgBlip xmlns:asvg="http://schemas.microsoft.com/office/drawing/2016/SVG/main" r:embed="R3f35bbc121a04b8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ect">
            <a:avLst/>
          </a:prstGeom>
        </p:spPr>
      </p:pic>
      <p:sp>
        <p:nvSpPr>
          <p:cNvPr id="167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EBF2FADC-AECA-41D9-A907-5FCD9D54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Figure 3 · Calibration and coefficient-sign stability</a:t>
            </a:r>
          </a:p>
        </p:txBody>
      </p:sp>
      <p:sp>
        <p:nvSpPr>
          <p:cNvPr id="168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C3FAE8BE-0FEA-43E9-ABA8-9BD90C9D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Authored synthetic fixture · manuscript p. 4</a:t>
            </a:r>
          </a:p>
        </p:txBody>
      </p:sp>
      <p:sp>
        <p:nvSpPr>
          <p:cNvPr id="169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C9621506-1BB6-45FB-A2D5-F1DEB987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Pre-specified stress test</a:t>
            </a:r>
          </a:p>
        </p:txBody>
      </p:sp>
      <p:sp>
        <p:nvSpPr>
          <p:cNvPr id="170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74A6D677-E124-4DAF-9141-17F7900D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E72A3D60-8863-490F-AF1F-CCFF8727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pic>
        <p:nvPicPr>
          <p:cNvPr id="3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75bead5d7445a">
            <a:extLst>
              <a:ext uri="{96DAC541-7B7A-43D3-8B79-37D633B846F1}">
                <asvg:svgBlip xmlns:asvg="http://schemas.microsoft.com/office/drawing/2016/SVG/main" r:embed="R24e520a63c7f40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ect">
            <a:avLst/>
          </a:prstGeom>
        </p:spPr>
      </p:pic>
      <p:sp>
        <p:nvSpPr>
          <p:cNvPr id="173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4E24F9C1-EDDE-472C-80FD-E25C24762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93F55"/>
                </a:solidFill>
              </a:defRPr>
            </a:pPr>
            <a:r>
              <a:rPr sz="2250" b="1">
                <a:solidFill>
                  <a:srgbClr val="293F55"/>
                </a:solidFill>
              </a:rPr>
              <a:t>Figure 4 · Stress-test boundary under increasing shift</a:t>
            </a:r>
          </a:p>
        </p:txBody>
      </p:sp>
      <p:sp>
        <p:nvSpPr>
          <p:cNvPr id="174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8EAD3D30-7AF8-4A3C-A0D5-019E5512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Authored synthetic fixture · manuscript p. 4</a:t>
            </a:r>
          </a:p>
        </p:txBody>
      </p:sp>
      <p:sp>
        <p:nvSpPr>
          <p:cNvPr id="175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C7DE2409-CAAF-4A34-B8DA-9F4D884D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E5C78"/>
                </a:solidFill>
              </a:defRPr>
            </a:pPr>
            <a:r>
              <a:rPr sz="3600" b="1">
                <a:solidFill>
                  <a:srgbClr val="3E5C78"/>
                </a:solidFill>
              </a:rPr>
              <a:t>Supported conclusion</a:t>
            </a:r>
          </a:p>
        </p:txBody>
      </p:sp>
      <p:sp>
        <p:nvSpPr>
          <p:cNvPr id="176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9B4D4317-FAD3-4FF3-A390-4317ECFC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5B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CC836B3A-47D0-4372-A551-B65FB9B14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DE5E7"/>
            </a:solidFill>
            <a:prstDash val="solid"/>
          </a:ln>
        </p:spPr>
      </p:sp>
      <p:sp>
        <p:nvSpPr>
          <p:cNvPr id="178" name="conclusion">
            <a:extLst xmlns:a="http://schemas.openxmlformats.org/drawingml/2006/main">
              <a:ext uri="{FF2B5EF4-FFF2-40B4-BE49-F238E27FC236}">
                <a16:creationId xmlns:a16="http://schemas.microsoft.com/office/drawing/2014/main" id="{2CA7A6E6-767F-49EE-8CA1-83502605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293F55"/>
                </a:solidFill>
              </a:defRPr>
            </a:pPr>
            <a:r>
              <a:rPr sz="2850">
                <a:solidFill>
                  <a:srgbClr val="293F55"/>
                </a:solidFill>
              </a:rPr>
              <a:t>AURORA-12 is a controlled, rights-safe fixture for testing evidence-linked scientific communication. It supports no inference about real biology, prognosis, treatment or clinical utility. Every number, cohort, feature, author and institution is fictional.</a:t>
            </a:r>
          </a:p>
        </p:txBody>
      </p:sp>
      <p:sp>
        <p:nvSpPr>
          <p:cNvPr id="179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144BBEFB-A225-4801-BD9E-1DF99267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487AA1"/>
                </a:solidFill>
              </a:defRPr>
            </a:pPr>
            <a:r>
              <a:rPr sz="1875" i="1">
                <a:solidFill>
                  <a:srgbClr val="487AA1"/>
                </a:solidFill>
              </a:rPr>
              <a:t>Evidence: Discussion and Conclusion, p. 5</a:t>
            </a:r>
          </a:p>
        </p:txBody>
      </p:sp>
      <p:sp>
        <p:nvSpPr>
          <p:cNvPr id="180" name="footer-band">
            <a:extLst xmlns:a="http://schemas.openxmlformats.org/drawingml/2006/main">
              <a:ext uri="{FF2B5EF4-FFF2-40B4-BE49-F238E27FC236}">
                <a16:creationId xmlns:a16="http://schemas.microsoft.com/office/drawing/2014/main" id="{F5248BC8-8221-4FBA-81C7-0BED0773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93F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089EDCC-AD1E-410D-9286-CF5B57C6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Original synthetic fixture · CC0-1.0 · evidence coverage 100% · local-only processing</a:t>
            </a:r>
          </a:p>
        </p:txBody>
      </p:sp>
      <p:sp>
        <p:nvSpPr>
          <p:cNvPr id="182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B7FF56B6-8A99-4FE7-8670-66C0C662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5BC6C"/>
                </a:solidFill>
              </a:defRPr>
            </a:pPr>
            <a:r>
              <a:rPr sz="1875" b="1">
                <a:solidFill>
                  <a:srgbClr val="E5BC6C"/>
                </a:solidFill>
              </a:rPr>
              <a:t>Approvals current · synthetic boundary locked · editable logo placeholder</a:t>
            </a:r>
          </a:p>
        </p:txBody>
      </p:sp>
    </p:spTree>
    <p:extLst>
      <p:ext uri="{BB962C8B-B14F-4D97-AF65-F5344CB8AC3E}">
        <p14:creationId xmlns:p14="http://schemas.microsoft.com/office/powerpoint/2010/main" val="1664685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2026-08-08T08:52:58.4630000Z</dcterms:created>
  <dcterms:modified xsi:type="dcterms:W3CDTF">2026-08-08T08:52:58.4630000Z</dcterms:modified>
</coreProperties>
</file>