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1249fcdebe43c3" /><Relationship Type="http://schemas.openxmlformats.org/officeDocument/2006/relationships/extended-properties" Target="/docProps/app.xml" Id="R40ca5ab12b444f79" /><Relationship Type="http://schemas.openxmlformats.org/officeDocument/2006/relationships/officeDocument" Target="/ppt/presentation.xml" Id="R2b71a48e5b2f43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11ae00da4f4de7"/>
  </p:sldMasterIdLst>
  <p:notesMasterIdLst>
    <p:notesMasterId xmlns:r="http://schemas.openxmlformats.org/officeDocument/2006/relationships" r:id="R930c5e51a4554f97"/>
  </p:notesMasterIdLst>
  <p:sldIdLst>
    <p:sldId xmlns:r="http://schemas.openxmlformats.org/officeDocument/2006/relationships" id="256" r:id="R88bba57b0b2e470b"/>
  </p:sldIdLst>
  <p:sldSz cx="42805350" cy="302799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56c7b2dd864879" /><Relationship Type="http://schemas.openxmlformats.org/officeDocument/2006/relationships/slideMaster" Target="/ppt/slideMasters/slideMaster1.xml" Id="Re011ae00da4f4de7" /><Relationship Type="http://schemas.openxmlformats.org/officeDocument/2006/relationships/notesMaster" Target="/ppt/notesMasters/notesMaster1.xml" Id="R930c5e51a4554f97" /><Relationship Type="http://schemas.openxmlformats.org/officeDocument/2006/relationships/presProps" Target="/ppt/presProps.xml" Id="Rf9c8954a713f482a" /><Relationship Type="http://schemas.openxmlformats.org/officeDocument/2006/relationships/tableStyles" Target="/ppt/tableStyles.xml" Id="Rc5648cf081cd4429" /><Relationship Type="http://schemas.openxmlformats.org/officeDocument/2006/relationships/slide" Target="/ppt/slides/slide1.xml" Id="R88bba57b0b2e47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b80f70e86845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782c67db90472c" /><Relationship Type="http://schemas.openxmlformats.org/officeDocument/2006/relationships/notesMaster" Target="/ppt/notesMasters/notesMaster1.xml" Id="R29b916b14e0748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AURORA-12-synthetic-manuscript.pdf</a:t>
            </a:r>
          </a:p>
          <a:p xmlns:a="http://schemas.openxmlformats.org/drawingml/2006/main">
            <a:r>
              <a:t>- palette approval sha256:c9834f95586be531d5d8667465b8d0525469d9de17a3f361d76c34ad4677c4ca</a:t>
            </a:r>
          </a:p>
          <a:p xmlns:a="http://schemas.openxmlformats.org/drawingml/2006/main">
            <a:r>
              <a:t>- deletion approval sha256:b3bcfd87b6cd4cd79a8feca304aa0ef7040590c30a9ab8a7e1c04c935414a02b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c45d6847fb4e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3bec7ca836d4dbd" /><Relationship Type="http://schemas.openxmlformats.org/officeDocument/2006/relationships/slideLayout" Target="/ppt/slideLayouts/slideLayout1.xml" Id="R8b62d2dd453648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62d2dd453648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d125f7749041ee" /><Relationship Type="http://schemas.openxmlformats.org/officeDocument/2006/relationships/image" Target="/ppt/media/image.png" Id="R44f2575808024718" /><Relationship Type="http://schemas.openxmlformats.org/officeDocument/2006/relationships/image" Target="/ppt/media/image.svg" Id="R7a8483fd58b94fe4" /><Relationship Type="http://schemas.openxmlformats.org/officeDocument/2006/relationships/image" Target="/ppt/media/image2.png" Id="Re3585a75ec3e42ef" /><Relationship Type="http://schemas.openxmlformats.org/officeDocument/2006/relationships/image" Target="/ppt/media/image2.svg" Id="R7988a5ec379e48c1" /><Relationship Type="http://schemas.openxmlformats.org/officeDocument/2006/relationships/image" Target="/ppt/media/image3.png" Id="R3c9a99e38a7c4642" /><Relationship Type="http://schemas.openxmlformats.org/officeDocument/2006/relationships/image" Target="/ppt/media/image3.svg" Id="R6655df4625334c50" /><Relationship Type="http://schemas.openxmlformats.org/officeDocument/2006/relationships/image" Target="/ppt/media/image4.png" Id="R6086b1b6acc14aff" /><Relationship Type="http://schemas.openxmlformats.org/officeDocument/2006/relationships/image" Target="/ppt/media/image4.svg" Id="R3e4be5976b1541ef" /><Relationship Type="http://schemas.openxmlformats.org/officeDocument/2006/relationships/notesSlide" Target="/ppt/notesSlides/notesSlide1.xml" Id="R2924d20c3d1946a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3" name="header-band">
            <a:extLst xmlns:a="http://schemas.openxmlformats.org/drawingml/2006/main">
              <a:ext uri="{FF2B5EF4-FFF2-40B4-BE49-F238E27FC236}">
                <a16:creationId xmlns:a16="http://schemas.microsoft.com/office/drawing/2014/main" id="{1A5FBB66-7784-4A8D-9E72-0637E812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4953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E5C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cape-gradient-1">
            <a:extLst xmlns:a="http://schemas.openxmlformats.org/drawingml/2006/main">
              <a:ext uri="{FF2B5EF4-FFF2-40B4-BE49-F238E27FC236}">
                <a16:creationId xmlns:a16="http://schemas.microsoft.com/office/drawing/2014/main" id="{6953FC04-A368-4E4A-B4FF-1F92FCB7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op-cape-gradient-2">
            <a:extLst xmlns:a="http://schemas.openxmlformats.org/drawingml/2006/main">
              <a:ext uri="{FF2B5EF4-FFF2-40B4-BE49-F238E27FC236}">
                <a16:creationId xmlns:a16="http://schemas.microsoft.com/office/drawing/2014/main" id="{14E5B94B-CDC8-46CD-872A-4B3B7EB8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667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42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op-cape-gradient-3">
            <a:extLst xmlns:a="http://schemas.openxmlformats.org/drawingml/2006/main">
              <a:ext uri="{FF2B5EF4-FFF2-40B4-BE49-F238E27FC236}">
                <a16:creationId xmlns:a16="http://schemas.microsoft.com/office/drawing/2014/main" id="{822406BE-8E8D-4B7E-94CE-E4DFD48E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5334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D45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op-cape-gradient-4">
            <a:extLst xmlns:a="http://schemas.openxmlformats.org/drawingml/2006/main">
              <a:ext uri="{FF2B5EF4-FFF2-40B4-BE49-F238E27FC236}">
                <a16:creationId xmlns:a16="http://schemas.microsoft.com/office/drawing/2014/main" id="{428C3A5D-977D-4307-A9A3-F0D58EAB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002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F4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op-cape-gradient-5">
            <a:extLst xmlns:a="http://schemas.openxmlformats.org/drawingml/2006/main">
              <a:ext uri="{FF2B5EF4-FFF2-40B4-BE49-F238E27FC236}">
                <a16:creationId xmlns:a16="http://schemas.microsoft.com/office/drawing/2014/main" id="{7B3461D1-0E69-4E6F-9055-C8277A56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0669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14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op-cape-gradient-6">
            <a:extLst xmlns:a="http://schemas.openxmlformats.org/drawingml/2006/main">
              <a:ext uri="{FF2B5EF4-FFF2-40B4-BE49-F238E27FC236}">
                <a16:creationId xmlns:a16="http://schemas.microsoft.com/office/drawing/2014/main" id="{84B0CFCA-CB43-434D-AD7C-14844877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336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34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op-cape-gradient-7">
            <a:extLst xmlns:a="http://schemas.openxmlformats.org/drawingml/2006/main">
              <a:ext uri="{FF2B5EF4-FFF2-40B4-BE49-F238E27FC236}">
                <a16:creationId xmlns:a16="http://schemas.microsoft.com/office/drawing/2014/main" id="{3810274B-3042-4452-93C6-F9143C50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003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550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op-cape-gradient-8">
            <a:extLst xmlns:a="http://schemas.openxmlformats.org/drawingml/2006/main">
              <a:ext uri="{FF2B5EF4-FFF2-40B4-BE49-F238E27FC236}">
                <a16:creationId xmlns:a16="http://schemas.microsoft.com/office/drawing/2014/main" id="{1A3CBD02-2A9C-4303-B6EE-D711499F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670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75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op-cape-gradient-9">
            <a:extLst xmlns:a="http://schemas.openxmlformats.org/drawingml/2006/main">
              <a:ext uri="{FF2B5EF4-FFF2-40B4-BE49-F238E27FC236}">
                <a16:creationId xmlns:a16="http://schemas.microsoft.com/office/drawing/2014/main" id="{E66DBF87-C48D-4796-8BF7-480B52E1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1338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95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op-cape-gradient-10">
            <a:extLst xmlns:a="http://schemas.openxmlformats.org/drawingml/2006/main">
              <a:ext uri="{FF2B5EF4-FFF2-40B4-BE49-F238E27FC236}">
                <a16:creationId xmlns:a16="http://schemas.microsoft.com/office/drawing/2014/main" id="{8F59EEF5-31F8-4D2F-B5DB-83B8BABF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005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B58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op-cape-gradient-11">
            <a:extLst xmlns:a="http://schemas.openxmlformats.org/drawingml/2006/main">
              <a:ext uri="{FF2B5EF4-FFF2-40B4-BE49-F238E27FC236}">
                <a16:creationId xmlns:a16="http://schemas.microsoft.com/office/drawing/2014/main" id="{B3C4D0EB-84DC-47B7-AE69-E26AB6C8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6672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D5B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op-cape-gradient-12">
            <a:extLst xmlns:a="http://schemas.openxmlformats.org/drawingml/2006/main">
              <a:ext uri="{FF2B5EF4-FFF2-40B4-BE49-F238E27FC236}">
                <a16:creationId xmlns:a16="http://schemas.microsoft.com/office/drawing/2014/main" id="{53E20C83-575C-4156-A0E3-FF219377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4339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F5E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op-cape-gradient-13">
            <a:extLst xmlns:a="http://schemas.openxmlformats.org/drawingml/2006/main">
              <a:ext uri="{FF2B5EF4-FFF2-40B4-BE49-F238E27FC236}">
                <a16:creationId xmlns:a16="http://schemas.microsoft.com/office/drawing/2014/main" id="{C2947336-FAA2-45EA-9B75-01A7AF53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52006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061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op-cape-gradient-14">
            <a:extLst xmlns:a="http://schemas.openxmlformats.org/drawingml/2006/main">
              <a:ext uri="{FF2B5EF4-FFF2-40B4-BE49-F238E27FC236}">
                <a16:creationId xmlns:a16="http://schemas.microsoft.com/office/drawing/2014/main" id="{4AE8858C-B51B-424D-B321-DEFB746B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9673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1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op-cape-gradient-15">
            <a:extLst xmlns:a="http://schemas.openxmlformats.org/drawingml/2006/main">
              <a:ext uri="{FF2B5EF4-FFF2-40B4-BE49-F238E27FC236}">
                <a16:creationId xmlns:a16="http://schemas.microsoft.com/office/drawing/2014/main" id="{A49124CE-FD55-4E55-BA6A-8C2264E3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27341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267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op-cape-gradient-16">
            <a:extLst xmlns:a="http://schemas.openxmlformats.org/drawingml/2006/main">
              <a:ext uri="{FF2B5EF4-FFF2-40B4-BE49-F238E27FC236}">
                <a16:creationId xmlns:a16="http://schemas.microsoft.com/office/drawing/2014/main" id="{95643686-A37F-4488-AD72-4833C8A1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5008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A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op-cape-gradient-17">
            <a:extLst xmlns:a="http://schemas.openxmlformats.org/drawingml/2006/main">
              <a:ext uri="{FF2B5EF4-FFF2-40B4-BE49-F238E27FC236}">
                <a16:creationId xmlns:a16="http://schemas.microsoft.com/office/drawing/2014/main" id="{3926EC74-0916-4974-AAA9-CE0FD105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02675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C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op-cape-gradient-18">
            <a:extLst xmlns:a="http://schemas.openxmlformats.org/drawingml/2006/main">
              <a:ext uri="{FF2B5EF4-FFF2-40B4-BE49-F238E27FC236}">
                <a16:creationId xmlns:a16="http://schemas.microsoft.com/office/drawing/2014/main" id="{4046E9E0-3FAF-4BD5-A135-574372CF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40342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46F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op-cape-gradient-19">
            <a:extLst xmlns:a="http://schemas.openxmlformats.org/drawingml/2006/main">
              <a:ext uri="{FF2B5EF4-FFF2-40B4-BE49-F238E27FC236}">
                <a16:creationId xmlns:a16="http://schemas.microsoft.com/office/drawing/2014/main" id="{C92029F3-8B27-4AA2-8FC6-BC37C854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8009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572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op-cape-gradient-20">
            <a:extLst xmlns:a="http://schemas.openxmlformats.org/drawingml/2006/main">
              <a:ext uri="{FF2B5EF4-FFF2-40B4-BE49-F238E27FC236}">
                <a16:creationId xmlns:a16="http://schemas.microsoft.com/office/drawing/2014/main" id="{77577F32-6C13-496D-B3C0-F8642154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15677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67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op-cape-gradient-21">
            <a:extLst xmlns:a="http://schemas.openxmlformats.org/drawingml/2006/main">
              <a:ext uri="{FF2B5EF4-FFF2-40B4-BE49-F238E27FC236}">
                <a16:creationId xmlns:a16="http://schemas.microsoft.com/office/drawing/2014/main" id="{FB6DC64D-03A0-4745-8A74-03BBB299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53344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77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op-cape-gradient-22">
            <a:extLst xmlns:a="http://schemas.openxmlformats.org/drawingml/2006/main">
              <a:ext uri="{FF2B5EF4-FFF2-40B4-BE49-F238E27FC236}">
                <a16:creationId xmlns:a16="http://schemas.microsoft.com/office/drawing/2014/main" id="{7364D6EC-9D78-4F96-AD2E-CC7E4AE0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1011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A7CA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op-cape-gradient-23">
            <a:extLst xmlns:a="http://schemas.openxmlformats.org/drawingml/2006/main">
              <a:ext uri="{FF2B5EF4-FFF2-40B4-BE49-F238E27FC236}">
                <a16:creationId xmlns:a16="http://schemas.microsoft.com/office/drawing/2014/main" id="{C1252DD8-8436-46A2-A7DE-766B25E2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28678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08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op-cape-gradient-24">
            <a:extLst xmlns:a="http://schemas.openxmlformats.org/drawingml/2006/main">
              <a:ext uri="{FF2B5EF4-FFF2-40B4-BE49-F238E27FC236}">
                <a16:creationId xmlns:a16="http://schemas.microsoft.com/office/drawing/2014/main" id="{DA187712-BB0F-4518-9818-A09EF3D6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6345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788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op-cape-gradient-25">
            <a:extLst xmlns:a="http://schemas.openxmlformats.org/drawingml/2006/main">
              <a:ext uri="{FF2B5EF4-FFF2-40B4-BE49-F238E27FC236}">
                <a16:creationId xmlns:a16="http://schemas.microsoft.com/office/drawing/2014/main" id="{27F97747-A387-4C92-9EDA-9E7CB21D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04013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D8E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op-cape-gradient-26">
            <a:extLst xmlns:a="http://schemas.openxmlformats.org/drawingml/2006/main">
              <a:ext uri="{FF2B5EF4-FFF2-40B4-BE49-F238E27FC236}">
                <a16:creationId xmlns:a16="http://schemas.microsoft.com/office/drawing/2014/main" id="{7DD22AE5-BEDC-4E3F-933C-B5088DA2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1680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39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op-cape-gradient-27">
            <a:extLst xmlns:a="http://schemas.openxmlformats.org/drawingml/2006/main">
              <a:ext uri="{FF2B5EF4-FFF2-40B4-BE49-F238E27FC236}">
                <a16:creationId xmlns:a16="http://schemas.microsoft.com/office/drawing/2014/main" id="{8D4C9160-879A-482B-BA81-1014793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9347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A9A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op-cape-gradient-28">
            <a:extLst xmlns:a="http://schemas.openxmlformats.org/drawingml/2006/main">
              <a:ext uri="{FF2B5EF4-FFF2-40B4-BE49-F238E27FC236}">
                <a16:creationId xmlns:a16="http://schemas.microsoft.com/office/drawing/2014/main" id="{D107A68A-26F7-400D-9647-97139D6A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7014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0A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top-cape-gradient-29">
            <a:extLst xmlns:a="http://schemas.openxmlformats.org/drawingml/2006/main">
              <a:ext uri="{FF2B5EF4-FFF2-40B4-BE49-F238E27FC236}">
                <a16:creationId xmlns:a16="http://schemas.microsoft.com/office/drawing/2014/main" id="{6BF17DA7-F928-4961-8E15-CF839C8A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4681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6A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top-cape-gradient-30">
            <a:extLst xmlns:a="http://schemas.openxmlformats.org/drawingml/2006/main">
              <a:ext uri="{FF2B5EF4-FFF2-40B4-BE49-F238E27FC236}">
                <a16:creationId xmlns:a16="http://schemas.microsoft.com/office/drawing/2014/main" id="{D0156F4F-8B98-44CC-9E2E-188092A4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92348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CA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op-cape-gradient-31">
            <a:extLst xmlns:a="http://schemas.openxmlformats.org/drawingml/2006/main">
              <a:ext uri="{FF2B5EF4-FFF2-40B4-BE49-F238E27FC236}">
                <a16:creationId xmlns:a16="http://schemas.microsoft.com/office/drawing/2014/main" id="{ACE0A31A-2C1E-49F7-81A6-8FEF410B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0016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3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top-cape-gradient-32">
            <a:extLst xmlns:a="http://schemas.openxmlformats.org/drawingml/2006/main">
              <a:ext uri="{FF2B5EF4-FFF2-40B4-BE49-F238E27FC236}">
                <a16:creationId xmlns:a16="http://schemas.microsoft.com/office/drawing/2014/main" id="{95D6CBA9-0B1E-4A33-8E30-94DB5B8F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67683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9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eader-cape-gradient-1">
            <a:extLst xmlns:a="http://schemas.openxmlformats.org/drawingml/2006/main">
              <a:ext uri="{FF2B5EF4-FFF2-40B4-BE49-F238E27FC236}">
                <a16:creationId xmlns:a16="http://schemas.microsoft.com/office/drawing/2014/main" id="{76568BA0-E7C0-4955-8B4E-FB7A6FB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eader-cape-gradient-2">
            <a:extLst xmlns:a="http://schemas.openxmlformats.org/drawingml/2006/main">
              <a:ext uri="{FF2B5EF4-FFF2-40B4-BE49-F238E27FC236}">
                <a16:creationId xmlns:a16="http://schemas.microsoft.com/office/drawing/2014/main" id="{BB1BB8E2-0EAA-4703-8D3D-DF23129A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667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42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eader-cape-gradient-3">
            <a:extLst xmlns:a="http://schemas.openxmlformats.org/drawingml/2006/main">
              <a:ext uri="{FF2B5EF4-FFF2-40B4-BE49-F238E27FC236}">
                <a16:creationId xmlns:a16="http://schemas.microsoft.com/office/drawing/2014/main" id="{C5D28011-51C5-49FC-BAF6-7F4CF791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5334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D45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eader-cape-gradient-4">
            <a:extLst xmlns:a="http://schemas.openxmlformats.org/drawingml/2006/main">
              <a:ext uri="{FF2B5EF4-FFF2-40B4-BE49-F238E27FC236}">
                <a16:creationId xmlns:a16="http://schemas.microsoft.com/office/drawing/2014/main" id="{60F9C4D6-DEF6-4084-B5A9-FD124D35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002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F4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eader-cape-gradient-5">
            <a:extLst xmlns:a="http://schemas.openxmlformats.org/drawingml/2006/main">
              <a:ext uri="{FF2B5EF4-FFF2-40B4-BE49-F238E27FC236}">
                <a16:creationId xmlns:a16="http://schemas.microsoft.com/office/drawing/2014/main" id="{FD306699-2D9F-4F15-AD64-6C81F4B2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0669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14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eader-cape-gradient-6">
            <a:extLst xmlns:a="http://schemas.openxmlformats.org/drawingml/2006/main">
              <a:ext uri="{FF2B5EF4-FFF2-40B4-BE49-F238E27FC236}">
                <a16:creationId xmlns:a16="http://schemas.microsoft.com/office/drawing/2014/main" id="{6BA3D00A-E473-4340-B13B-6D65607B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336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34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eader-cape-gradient-7">
            <a:extLst xmlns:a="http://schemas.openxmlformats.org/drawingml/2006/main">
              <a:ext uri="{FF2B5EF4-FFF2-40B4-BE49-F238E27FC236}">
                <a16:creationId xmlns:a16="http://schemas.microsoft.com/office/drawing/2014/main" id="{C3EE2A3C-7BEB-4A5A-B6AE-F4F0D6D3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003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550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eader-cape-gradient-8">
            <a:extLst xmlns:a="http://schemas.openxmlformats.org/drawingml/2006/main">
              <a:ext uri="{FF2B5EF4-FFF2-40B4-BE49-F238E27FC236}">
                <a16:creationId xmlns:a16="http://schemas.microsoft.com/office/drawing/2014/main" id="{06BB1947-3364-4B70-BB04-F7493607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670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75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eader-cape-gradient-9">
            <a:extLst xmlns:a="http://schemas.openxmlformats.org/drawingml/2006/main">
              <a:ext uri="{FF2B5EF4-FFF2-40B4-BE49-F238E27FC236}">
                <a16:creationId xmlns:a16="http://schemas.microsoft.com/office/drawing/2014/main" id="{E778593E-EF5B-4C29-9D8B-6BF48637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1338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95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eader-cape-gradient-10">
            <a:extLst xmlns:a="http://schemas.openxmlformats.org/drawingml/2006/main">
              <a:ext uri="{FF2B5EF4-FFF2-40B4-BE49-F238E27FC236}">
                <a16:creationId xmlns:a16="http://schemas.microsoft.com/office/drawing/2014/main" id="{E51B4314-2741-4D74-93B4-D93C924D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005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B58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eader-cape-gradient-11">
            <a:extLst xmlns:a="http://schemas.openxmlformats.org/drawingml/2006/main">
              <a:ext uri="{FF2B5EF4-FFF2-40B4-BE49-F238E27FC236}">
                <a16:creationId xmlns:a16="http://schemas.microsoft.com/office/drawing/2014/main" id="{6F2E2A98-5BFC-4C8A-8114-3329C173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6672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D5B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eader-cape-gradient-12">
            <a:extLst xmlns:a="http://schemas.openxmlformats.org/drawingml/2006/main">
              <a:ext uri="{FF2B5EF4-FFF2-40B4-BE49-F238E27FC236}">
                <a16:creationId xmlns:a16="http://schemas.microsoft.com/office/drawing/2014/main" id="{8E6E63C3-FEC9-47B1-9AB2-643A4F38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4339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F5E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eader-cape-gradient-13">
            <a:extLst xmlns:a="http://schemas.openxmlformats.org/drawingml/2006/main">
              <a:ext uri="{FF2B5EF4-FFF2-40B4-BE49-F238E27FC236}">
                <a16:creationId xmlns:a16="http://schemas.microsoft.com/office/drawing/2014/main" id="{DECB3A82-3634-4E1B-9B50-7C668805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52006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061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eader-cape-gradient-14">
            <a:extLst xmlns:a="http://schemas.openxmlformats.org/drawingml/2006/main">
              <a:ext uri="{FF2B5EF4-FFF2-40B4-BE49-F238E27FC236}">
                <a16:creationId xmlns:a16="http://schemas.microsoft.com/office/drawing/2014/main" id="{5C4C13DD-9E6C-4DC5-BFDE-AFC4F532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9673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1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eader-cape-gradient-15">
            <a:extLst xmlns:a="http://schemas.openxmlformats.org/drawingml/2006/main">
              <a:ext uri="{FF2B5EF4-FFF2-40B4-BE49-F238E27FC236}">
                <a16:creationId xmlns:a16="http://schemas.microsoft.com/office/drawing/2014/main" id="{8B9CECC7-6537-45D2-A8D5-A9258F52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27341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267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eader-cape-gradient-16">
            <a:extLst xmlns:a="http://schemas.openxmlformats.org/drawingml/2006/main">
              <a:ext uri="{FF2B5EF4-FFF2-40B4-BE49-F238E27FC236}">
                <a16:creationId xmlns:a16="http://schemas.microsoft.com/office/drawing/2014/main" id="{66EBDA19-7487-415E-9657-C888160B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5008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A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eader-cape-gradient-17">
            <a:extLst xmlns:a="http://schemas.openxmlformats.org/drawingml/2006/main">
              <a:ext uri="{FF2B5EF4-FFF2-40B4-BE49-F238E27FC236}">
                <a16:creationId xmlns:a16="http://schemas.microsoft.com/office/drawing/2014/main" id="{4E9BF867-769C-4579-85AA-BC684819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02675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C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eader-cape-gradient-18">
            <a:extLst xmlns:a="http://schemas.openxmlformats.org/drawingml/2006/main">
              <a:ext uri="{FF2B5EF4-FFF2-40B4-BE49-F238E27FC236}">
                <a16:creationId xmlns:a16="http://schemas.microsoft.com/office/drawing/2014/main" id="{55B77965-32FC-44F3-8E92-B63FB9C2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40342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46F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eader-cape-gradient-19">
            <a:extLst xmlns:a="http://schemas.openxmlformats.org/drawingml/2006/main">
              <a:ext uri="{FF2B5EF4-FFF2-40B4-BE49-F238E27FC236}">
                <a16:creationId xmlns:a16="http://schemas.microsoft.com/office/drawing/2014/main" id="{F496C8EA-DF6F-4BE4-82C3-F80F3A38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8009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572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eader-cape-gradient-20">
            <a:extLst xmlns:a="http://schemas.openxmlformats.org/drawingml/2006/main">
              <a:ext uri="{FF2B5EF4-FFF2-40B4-BE49-F238E27FC236}">
                <a16:creationId xmlns:a16="http://schemas.microsoft.com/office/drawing/2014/main" id="{9B2C24B9-3E4B-4E2E-98D7-07278219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15677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67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eader-cape-gradient-21">
            <a:extLst xmlns:a="http://schemas.openxmlformats.org/drawingml/2006/main">
              <a:ext uri="{FF2B5EF4-FFF2-40B4-BE49-F238E27FC236}">
                <a16:creationId xmlns:a16="http://schemas.microsoft.com/office/drawing/2014/main" id="{8373C4D0-ED91-42B7-9CE1-65F1453D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53344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77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eader-cape-gradient-22">
            <a:extLst xmlns:a="http://schemas.openxmlformats.org/drawingml/2006/main">
              <a:ext uri="{FF2B5EF4-FFF2-40B4-BE49-F238E27FC236}">
                <a16:creationId xmlns:a16="http://schemas.microsoft.com/office/drawing/2014/main" id="{C4FE851F-BB6B-4CB9-B7C5-EF45B7EE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1011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A7CA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eader-cape-gradient-23">
            <a:extLst xmlns:a="http://schemas.openxmlformats.org/drawingml/2006/main">
              <a:ext uri="{FF2B5EF4-FFF2-40B4-BE49-F238E27FC236}">
                <a16:creationId xmlns:a16="http://schemas.microsoft.com/office/drawing/2014/main" id="{260B657D-D6DB-456F-8CB4-B57BD796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28678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08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eader-cape-gradient-24">
            <a:extLst xmlns:a="http://schemas.openxmlformats.org/drawingml/2006/main">
              <a:ext uri="{FF2B5EF4-FFF2-40B4-BE49-F238E27FC236}">
                <a16:creationId xmlns:a16="http://schemas.microsoft.com/office/drawing/2014/main" id="{D524FD5C-3769-432B-924E-D1065F6C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6345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788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eader-cape-gradient-25">
            <a:extLst xmlns:a="http://schemas.openxmlformats.org/drawingml/2006/main">
              <a:ext uri="{FF2B5EF4-FFF2-40B4-BE49-F238E27FC236}">
                <a16:creationId xmlns:a16="http://schemas.microsoft.com/office/drawing/2014/main" id="{6A3AE94A-6A3D-4D51-9EF8-DEE8D6E9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04013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D8E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eader-cape-gradient-26">
            <a:extLst xmlns:a="http://schemas.openxmlformats.org/drawingml/2006/main">
              <a:ext uri="{FF2B5EF4-FFF2-40B4-BE49-F238E27FC236}">
                <a16:creationId xmlns:a16="http://schemas.microsoft.com/office/drawing/2014/main" id="{C281C931-F2CD-4701-9DA0-4FE6573F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1680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39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eader-cape-gradient-27">
            <a:extLst xmlns:a="http://schemas.openxmlformats.org/drawingml/2006/main">
              <a:ext uri="{FF2B5EF4-FFF2-40B4-BE49-F238E27FC236}">
                <a16:creationId xmlns:a16="http://schemas.microsoft.com/office/drawing/2014/main" id="{51641786-81E0-4BDB-9442-584107B4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9347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A9A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eader-cape-gradient-28">
            <a:extLst xmlns:a="http://schemas.openxmlformats.org/drawingml/2006/main">
              <a:ext uri="{FF2B5EF4-FFF2-40B4-BE49-F238E27FC236}">
                <a16:creationId xmlns:a16="http://schemas.microsoft.com/office/drawing/2014/main" id="{5FB986AD-7E8B-40E7-80C3-B1702DBC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7014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0A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eader-cape-gradient-29">
            <a:extLst xmlns:a="http://schemas.openxmlformats.org/drawingml/2006/main">
              <a:ext uri="{FF2B5EF4-FFF2-40B4-BE49-F238E27FC236}">
                <a16:creationId xmlns:a16="http://schemas.microsoft.com/office/drawing/2014/main" id="{7113BFD6-B8A8-4A8F-AD1A-FCB8F37B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4681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6A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eader-cape-gradient-30">
            <a:extLst xmlns:a="http://schemas.openxmlformats.org/drawingml/2006/main">
              <a:ext uri="{FF2B5EF4-FFF2-40B4-BE49-F238E27FC236}">
                <a16:creationId xmlns:a16="http://schemas.microsoft.com/office/drawing/2014/main" id="{C1FABAE5-DA05-4860-947C-A81EAA52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92348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CA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eader-cape-gradient-31">
            <a:extLst xmlns:a="http://schemas.openxmlformats.org/drawingml/2006/main">
              <a:ext uri="{FF2B5EF4-FFF2-40B4-BE49-F238E27FC236}">
                <a16:creationId xmlns:a16="http://schemas.microsoft.com/office/drawing/2014/main" id="{DB62E06A-8673-430F-A6EA-E303A527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0016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3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eader-cape-gradient-32">
            <a:extLst xmlns:a="http://schemas.openxmlformats.org/drawingml/2006/main">
              <a:ext uri="{FF2B5EF4-FFF2-40B4-BE49-F238E27FC236}">
                <a16:creationId xmlns:a16="http://schemas.microsoft.com/office/drawing/2014/main" id="{6955EAA5-C7A9-4667-A3CA-9DBDF963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67683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9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6634F986-30EA-4401-809E-2B055849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"/>
            <a:ext cx="2971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AURORA-12</a:t>
            </a:r>
          </a:p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A fully synthetic benchmark for evidence-linked poster generation</a:t>
            </a:r>
          </a:p>
        </p:txBody>
      </p:sp>
      <p:sp>
        <p:nvSpPr>
          <p:cNvPr id="67" name="authors">
            <a:extLst xmlns:a="http://schemas.openxmlformats.org/drawingml/2006/main">
              <a:ext uri="{FF2B5EF4-FFF2-40B4-BE49-F238E27FC236}">
                <a16:creationId xmlns:a16="http://schemas.microsoft.com/office/drawing/2014/main" id="{D4B2BCA4-965C-43C0-B8B7-6F4DA285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14650"/>
            <a:ext cx="2943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PostEx Synthetic Research Collective</a:t>
            </a:r>
          </a:p>
        </p:txBody>
      </p:sp>
      <p:sp>
        <p:nvSpPr>
          <p:cNvPr id="68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37D78F8E-93E0-4A03-BF11-8B9C89FD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943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F6F2EE"/>
                </a:solidFill>
              </a:defRPr>
            </a:pPr>
            <a:r>
              <a:rPr sz="2175">
                <a:solidFill>
                  <a:srgbClr val="F6F2EE"/>
                </a:solidFill>
              </a:rPr>
              <a:t>Fictional Methods Laboratory · Example Research Campus · no real authors or institutions</a:t>
            </a:r>
          </a:p>
        </p:txBody>
      </p:sp>
      <p:sp>
        <p:nvSpPr>
          <p:cNvPr id="69" name="citation">
            <a:extLst xmlns:a="http://schemas.openxmlformats.org/drawingml/2006/main">
              <a:ext uri="{FF2B5EF4-FFF2-40B4-BE49-F238E27FC236}">
                <a16:creationId xmlns:a16="http://schemas.microsoft.com/office/drawing/2014/main" id="{B4D7E468-A4AF-4B3B-8718-A939471A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38625"/>
            <a:ext cx="2428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5BC6C"/>
                </a:solidFill>
              </a:defRPr>
            </a:pPr>
            <a:r>
              <a:rPr sz="1950" b="1">
                <a:solidFill>
                  <a:srgbClr val="E5BC6C"/>
                </a:solidFill>
              </a:rPr>
              <a:t>POSTEX-SYNTH-2026-001 · fully synthetic · CC0-1.0 · no DOI</a:t>
            </a:r>
          </a:p>
        </p:txBody>
      </p:sp>
      <p:sp>
        <p:nvSpPr>
          <p:cNvPr id="70" name="logo-slot-fictional-lab-logo">
            <a:extLst xmlns:a="http://schemas.openxmlformats.org/drawingml/2006/main">
              <a:ext uri="{FF2B5EF4-FFF2-40B4-BE49-F238E27FC236}">
                <a16:creationId xmlns:a16="http://schemas.microsoft.com/office/drawing/2014/main" id="{A5AC57DE-3791-4077-A0BA-A91B8314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552450"/>
            <a:ext cx="933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DE5E7"/>
            </a:solidFill>
            <a:prstDash val="solid"/>
          </a:ln>
        </p:spPr>
      </p:sp>
      <p:sp>
        <p:nvSpPr>
          <p:cNvPr id="71" name="logo-placeholder-fictional-lab-logo">
            <a:extLst xmlns:a="http://schemas.openxmlformats.org/drawingml/2006/main">
              <a:ext uri="{FF2B5EF4-FFF2-40B4-BE49-F238E27FC236}">
                <a16:creationId xmlns:a16="http://schemas.microsoft.com/office/drawing/2014/main" id="{DDA64AD0-9529-4733-9764-B6153364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3550" y="914400"/>
            <a:ext cx="910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3E5C78"/>
                </a:solidFill>
              </a:defRPr>
            </a:pPr>
            <a:r>
              <a:rPr sz="2025" b="1">
                <a:solidFill>
                  <a:srgbClr val="3E5C78"/>
                </a:solidFill>
              </a:rPr>
              <a:t>Fictional lab logo</a:t>
            </a:r>
          </a:p>
        </p:txBody>
      </p:sp>
      <p:sp>
        <p:nvSpPr>
          <p:cNvPr id="72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E557AD6C-9809-4BCB-AB72-42F7D8C9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2000250"/>
            <a:ext cx="9334500" cy="2286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7418A818-B677-4423-B64F-DBCAB0B7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3E5C78"/>
                </a:solidFill>
              </a:defRPr>
            </a:pPr>
            <a:r>
              <a:rPr sz="5100" b="1">
                <a:solidFill>
                  <a:srgbClr val="3E5C78"/>
                </a:solidFill>
              </a:rPr>
              <a:t>1,240</a:t>
            </a:r>
          </a:p>
        </p:txBody>
      </p:sp>
      <p:sp>
        <p:nvSpPr>
          <p:cNvPr id="74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A0EADB9C-F8EA-4F68-8DA0-C46FE533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synthetic profiles</a:t>
            </a:r>
          </a:p>
        </p:txBody>
      </p:sp>
      <p:sp>
        <p:nvSpPr>
          <p:cNvPr id="75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E17AFC8B-F258-43DA-ABA7-2E770FA2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487AA1"/>
                </a:solidFill>
              </a:defRPr>
            </a:pPr>
            <a:r>
              <a:rPr sz="5100" b="1">
                <a:solidFill>
                  <a:srgbClr val="487AA1"/>
                </a:solidFill>
              </a:rPr>
              <a:t>12</a:t>
            </a:r>
          </a:p>
        </p:txBody>
      </p:sp>
      <p:sp>
        <p:nvSpPr>
          <p:cNvPr id="76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CFF52072-809A-474D-A6A3-E604BE22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anonymous model features</a:t>
            </a:r>
          </a:p>
        </p:txBody>
      </p:sp>
      <p:sp>
        <p:nvSpPr>
          <p:cNvPr id="77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019472EF-ED39-4FEB-A183-024B807A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5BC6C"/>
                </a:solidFill>
              </a:defRPr>
            </a:pPr>
            <a:r>
              <a:rPr sz="5100" b="1">
                <a:solidFill>
                  <a:srgbClr val="E5BC6C"/>
                </a:solidFill>
              </a:rPr>
              <a:t>4</a:t>
            </a:r>
          </a:p>
        </p:txBody>
      </p:sp>
      <p:sp>
        <p:nvSpPr>
          <p:cNvPr id="78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9EB01270-6289-4824-8857-5AF5FD3C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deterministic cohort simulations</a:t>
            </a:r>
          </a:p>
        </p:txBody>
      </p:sp>
      <p:sp>
        <p:nvSpPr>
          <p:cNvPr id="79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E2D76CBB-815C-446F-A859-6B804AAB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Communication test</a:t>
            </a:r>
          </a:p>
        </p:txBody>
      </p:sp>
      <p:sp>
        <p:nvSpPr>
          <p:cNvPr id="80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23CDFFCE-22F6-4F70-A10A-73171054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18A38E25-AB60-409B-8C0D-804A10D7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96050"/>
            <a:ext cx="11620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Can a realistic multi-cohort manuscript exercise evidence-linked poster generation without redistributing a real paper or implying biomedical evidence?</a:t>
            </a:r>
          </a:p>
        </p:txBody>
      </p:sp>
      <p:sp>
        <p:nvSpPr>
          <p:cNvPr id="82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5F1DC97D-A60D-43E2-B2AB-DA08BFBE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8686800"/>
            <a:ext cx="1162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487AA1"/>
                </a:solidFill>
              </a:defRPr>
            </a:pPr>
            <a:r>
              <a:rPr sz="1875" i="1">
                <a:solidFill>
                  <a:srgbClr val="487AA1"/>
                </a:solidFill>
              </a:rPr>
              <a:t>Evidence: Abstract and Introduction, pp. 1-2</a:t>
            </a:r>
          </a:p>
        </p:txBody>
      </p:sp>
      <p:sp>
        <p:nvSpPr>
          <p:cNvPr id="83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7CA700DD-A012-4AD2-9874-D6AA4BA0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2392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Deterministic workflow</a:t>
            </a:r>
          </a:p>
        </p:txBody>
      </p:sp>
      <p:sp>
        <p:nvSpPr>
          <p:cNvPr id="84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E51A7079-E0A0-4319-A9EE-F7EBF8B5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8774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CB865C69-9BDE-4FC3-8364-808BCB6C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134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2B81A4DA-865D-435D-94E0-62753048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201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1</a:t>
            </a:r>
          </a:p>
        </p:txBody>
      </p:sp>
      <p:sp>
        <p:nvSpPr>
          <p:cNvPr id="87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271F36CF-529E-40A4-8D7D-CC8E898C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172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93F55"/>
                </a:solidFill>
              </a:defRPr>
            </a:pPr>
            <a:r>
              <a:rPr sz="2850" b="1">
                <a:solidFill>
                  <a:srgbClr val="293F55"/>
                </a:solidFill>
              </a:rPr>
              <a:t>Fixed seed generated 1,240 profiles</a:t>
            </a:r>
          </a:p>
        </p:txBody>
      </p:sp>
      <p:sp>
        <p:nvSpPr>
          <p:cNvPr id="88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3091B8C6-C983-4AA6-A25C-DFD10A4F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896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4C60B59C-E0D1-44FC-91A0-1FB38F26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963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2</a:t>
            </a:r>
          </a:p>
        </p:txBody>
      </p:sp>
      <p:sp>
        <p:nvSpPr>
          <p:cNvPr id="90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3B4FC8AF-A76F-48C1-83E1-8495B79C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934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93F55"/>
                </a:solidFill>
              </a:defRPr>
            </a:pPr>
            <a:r>
              <a:rPr sz="2850" b="1">
                <a:solidFill>
                  <a:srgbClr val="293F55"/>
                </a:solidFill>
              </a:rPr>
              <a:t>480 anonymous transcript-like features</a:t>
            </a:r>
          </a:p>
        </p:txBody>
      </p:sp>
      <p:sp>
        <p:nvSpPr>
          <p:cNvPr id="91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55951045-9349-457A-B7AC-CB6B2C27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658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2572C78E-DFC0-4B6C-8815-BC84EBF8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725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3</a:t>
            </a:r>
          </a:p>
        </p:txBody>
      </p:sp>
      <p:sp>
        <p:nvSpPr>
          <p:cNvPr id="93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A12DF549-F596-447E-96B3-2551759B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1696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93F55"/>
                </a:solidFill>
              </a:defRPr>
            </a:pPr>
            <a:r>
              <a:rPr sz="2850" b="1">
                <a:solidFill>
                  <a:srgbClr val="293F55"/>
                </a:solidFill>
              </a:rPr>
              <a:t>Nested elastic-net selection</a:t>
            </a:r>
          </a:p>
        </p:txBody>
      </p:sp>
      <p:sp>
        <p:nvSpPr>
          <p:cNvPr id="94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40C331DC-3F4C-45D3-8F02-0F3DA1CF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20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1694FE84-6944-46E1-95D4-06BA7133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87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4</a:t>
            </a:r>
          </a:p>
        </p:txBody>
      </p:sp>
      <p:sp>
        <p:nvSpPr>
          <p:cNvPr id="96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32730EB6-DD76-4CFC-BE9F-884846F4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458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93F55"/>
                </a:solidFill>
              </a:defRPr>
            </a:pPr>
            <a:r>
              <a:rPr sz="2850" b="1">
                <a:solidFill>
                  <a:srgbClr val="293F55"/>
                </a:solidFill>
              </a:rPr>
              <a:t>12-feature score and shift testing</a:t>
            </a:r>
          </a:p>
        </p:txBody>
      </p:sp>
      <p:sp>
        <p:nvSpPr>
          <p:cNvPr id="97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117CEA0C-CED6-4A73-950C-8D187FAC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430250"/>
            <a:ext cx="11620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sp>
        <p:nvSpPr>
          <p:cNvPr id="98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C0A64742-EE3A-4D13-AD9E-A7C15BF8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37160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3E5C78"/>
                </a:solidFill>
              </a:defRPr>
            </a:pPr>
            <a:r>
              <a:rPr sz="2175" b="1">
                <a:solidFill>
                  <a:srgbClr val="3E5C78"/>
                </a:solidFill>
              </a:rPr>
              <a:t>FOUR SYNTHETIC COHORTS</a:t>
            </a:r>
          </a:p>
        </p:txBody>
      </p:sp>
      <p:sp>
        <p:nvSpPr>
          <p:cNvPr id="99" name="datasets">
            <a:extLst xmlns:a="http://schemas.openxmlformats.org/drawingml/2006/main">
              <a:ext uri="{FF2B5EF4-FFF2-40B4-BE49-F238E27FC236}">
                <a16:creationId xmlns:a16="http://schemas.microsoft.com/office/drawing/2014/main" id="{C3161B6E-424C-41B0-BABD-3C640662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239875"/>
            <a:ext cx="110871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Discovery n=620 · Internal validation n=310</a:t>
            </a:r>
          </a:p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External simulation A n=186 · External simulation B n=124</a:t>
            </a:r>
          </a:p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All values are authored fixtures; no participant, specimen, institution, registry or external dataset exists.</a:t>
            </a:r>
          </a:p>
        </p:txBody>
      </p:sp>
      <p:sp>
        <p:nvSpPr>
          <p:cNvPr id="100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147C52E4-B9DB-4C58-865C-68080A9C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411575"/>
            <a:ext cx="11087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487AA1"/>
                </a:solidFill>
              </a:defRPr>
            </a:pPr>
            <a:r>
              <a:rPr sz="1875" i="1">
                <a:solidFill>
                  <a:srgbClr val="487AA1"/>
                </a:solidFill>
              </a:rPr>
              <a:t>Evidence: Abstract and Methods, pp. 1-2</a:t>
            </a:r>
          </a:p>
        </p:txBody>
      </p:sp>
      <p:sp>
        <p:nvSpPr>
          <p:cNvPr id="101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947587EB-84AD-46DA-9FAA-3DC6EF5F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83125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Generation to validation</a:t>
            </a:r>
          </a:p>
        </p:txBody>
      </p:sp>
      <p:sp>
        <p:nvSpPr>
          <p:cNvPr id="102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2C4B7E28-223A-4FED-B6D5-F48B4B65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02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12F38C90-22FF-4BA5-8D5A-F1F83E74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240375"/>
            <a:ext cx="11620500" cy="9906000"/>
          </a:xfrm>
          <a:prstGeom xmlns:a="http://schemas.openxmlformats.org/drawingml/2006/main" prst="roundRect">
            <a:avLst>
              <a:gd name="adj" fmla="val 1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pic>
        <p:nvPicPr>
          <p:cNvPr id="2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f2575808024718">
            <a:extLst>
              <a:ext uri="{96DAC541-7B7A-43D3-8B79-37D633B846F1}">
                <asvg:svgBlip xmlns:asvg="http://schemas.microsoft.com/office/drawing/2016/SVG/main" r:embed="R7a8483fd58b94f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524000" y="18430875"/>
            <a:ext cx="11239500" cy="8972550"/>
          </a:xfrm>
          <a:prstGeom xmlns:a="http://schemas.openxmlformats.org/drawingml/2006/main" prst="rect">
            <a:avLst/>
          </a:prstGeom>
        </p:spPr>
      </p:pic>
      <p:sp>
        <p:nvSpPr>
          <p:cNvPr id="105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7F094A28-A18B-4DC1-B629-8EF71F08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460575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93F55"/>
                </a:solidFill>
              </a:defRPr>
            </a:pPr>
            <a:r>
              <a:rPr sz="2250" b="1">
                <a:solidFill>
                  <a:srgbClr val="293F55"/>
                </a:solidFill>
              </a:rPr>
              <a:t>Figure 1 · Deterministic generation and validation workflow</a:t>
            </a:r>
          </a:p>
        </p:txBody>
      </p:sp>
      <p:sp>
        <p:nvSpPr>
          <p:cNvPr id="106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8E46A18D-AD11-4C14-850C-1FBD68957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774900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487AA1"/>
                </a:solidFill>
              </a:defRPr>
            </a:pPr>
            <a:r>
              <a:rPr sz="1875" i="1">
                <a:solidFill>
                  <a:srgbClr val="487AA1"/>
                </a:solidFill>
              </a:rPr>
              <a:t>Authored synthetic fixture · manuscript p. 2</a:t>
            </a:r>
          </a:p>
        </p:txBody>
      </p:sp>
      <p:sp>
        <p:nvSpPr>
          <p:cNvPr id="107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C26A5753-E4F6-4856-84A5-CE288D46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619750"/>
            <a:ext cx="13668375" cy="2524125"/>
          </a:xfrm>
          <a:prstGeom xmlns:a="http://schemas.openxmlformats.org/drawingml/2006/main" prst="roundRect">
            <a:avLst>
              <a:gd name="adj" fmla="val 6038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takeaway-cape-gradient-1">
            <a:extLst xmlns:a="http://schemas.openxmlformats.org/drawingml/2006/main">
              <a:ext uri="{FF2B5EF4-FFF2-40B4-BE49-F238E27FC236}">
                <a16:creationId xmlns:a16="http://schemas.microsoft.com/office/drawing/2014/main" id="{D29E0B1A-9498-4BA3-8A05-BE9D6BCC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takeaway-cape-gradient-2">
            <a:extLst xmlns:a="http://schemas.openxmlformats.org/drawingml/2006/main">
              <a:ext uri="{FF2B5EF4-FFF2-40B4-BE49-F238E27FC236}">
                <a16:creationId xmlns:a16="http://schemas.microsoft.com/office/drawing/2014/main" id="{26DCB2B3-E043-4763-9B38-B1B35DE4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2637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42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takeaway-cape-gradient-3">
            <a:extLst xmlns:a="http://schemas.openxmlformats.org/drawingml/2006/main">
              <a:ext uri="{FF2B5EF4-FFF2-40B4-BE49-F238E27FC236}">
                <a16:creationId xmlns:a16="http://schemas.microsoft.com/office/drawing/2014/main" id="{39488243-A4CF-4788-8F31-24593058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79773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D45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takeaway-cape-gradient-4">
            <a:extLst xmlns:a="http://schemas.openxmlformats.org/drawingml/2006/main">
              <a:ext uri="{FF2B5EF4-FFF2-40B4-BE49-F238E27FC236}">
                <a16:creationId xmlns:a16="http://schemas.microsoft.com/office/drawing/2014/main" id="{10770232-E4C3-45E3-8BE4-8D38D3A1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6910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F4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takeaway-cape-gradient-5">
            <a:extLst xmlns:a="http://schemas.openxmlformats.org/drawingml/2006/main">
              <a:ext uri="{FF2B5EF4-FFF2-40B4-BE49-F238E27FC236}">
                <a16:creationId xmlns:a16="http://schemas.microsoft.com/office/drawing/2014/main" id="{1CD0CE72-1BDB-42D5-97D8-CD9A7079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4047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14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takeaway-cape-gradient-6">
            <a:extLst xmlns:a="http://schemas.openxmlformats.org/drawingml/2006/main">
              <a:ext uri="{FF2B5EF4-FFF2-40B4-BE49-F238E27FC236}">
                <a16:creationId xmlns:a16="http://schemas.microsoft.com/office/drawing/2014/main" id="{E7492009-7750-4860-926F-67DC2984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1184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34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takeaway-cape-gradient-7">
            <a:extLst xmlns:a="http://schemas.openxmlformats.org/drawingml/2006/main">
              <a:ext uri="{FF2B5EF4-FFF2-40B4-BE49-F238E27FC236}">
                <a16:creationId xmlns:a16="http://schemas.microsoft.com/office/drawing/2014/main" id="{11AB09E3-30D8-4DFB-8961-C80C2B35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88320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550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takeaway-cape-gradient-8">
            <a:extLst xmlns:a="http://schemas.openxmlformats.org/drawingml/2006/main">
              <a:ext uri="{FF2B5EF4-FFF2-40B4-BE49-F238E27FC236}">
                <a16:creationId xmlns:a16="http://schemas.microsoft.com/office/drawing/2014/main" id="{90C5E2E7-0FA8-4D9D-90FF-7D192813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5457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75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takeaway-cape-gradient-9">
            <a:extLst xmlns:a="http://schemas.openxmlformats.org/drawingml/2006/main">
              <a:ext uri="{FF2B5EF4-FFF2-40B4-BE49-F238E27FC236}">
                <a16:creationId xmlns:a16="http://schemas.microsoft.com/office/drawing/2014/main" id="{CAF9EDFE-1A04-4E9F-B15F-B0927D9B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2594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95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takeaway-cape-gradient-10">
            <a:extLst xmlns:a="http://schemas.openxmlformats.org/drawingml/2006/main">
              <a:ext uri="{FF2B5EF4-FFF2-40B4-BE49-F238E27FC236}">
                <a16:creationId xmlns:a16="http://schemas.microsoft.com/office/drawing/2014/main" id="{74EE29EA-A0F9-43F8-B507-9FD7C461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69730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B58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takeaway-cape-gradient-11">
            <a:extLst xmlns:a="http://schemas.openxmlformats.org/drawingml/2006/main">
              <a:ext uri="{FF2B5EF4-FFF2-40B4-BE49-F238E27FC236}">
                <a16:creationId xmlns:a16="http://schemas.microsoft.com/office/drawing/2014/main" id="{17436FE5-F304-4C9E-919F-D48A2F7E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96867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D5B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takeaway-cape-gradient-12">
            <a:extLst xmlns:a="http://schemas.openxmlformats.org/drawingml/2006/main">
              <a:ext uri="{FF2B5EF4-FFF2-40B4-BE49-F238E27FC236}">
                <a16:creationId xmlns:a16="http://schemas.microsoft.com/office/drawing/2014/main" id="{1A440098-4186-4C14-B633-5182A14D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004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F5E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takeaway-cape-gradient-13">
            <a:extLst xmlns:a="http://schemas.openxmlformats.org/drawingml/2006/main">
              <a:ext uri="{FF2B5EF4-FFF2-40B4-BE49-F238E27FC236}">
                <a16:creationId xmlns:a16="http://schemas.microsoft.com/office/drawing/2014/main" id="{E99B0A07-1F98-4F59-899E-7B88C393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51141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061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takeaway-cape-gradient-14">
            <a:extLst xmlns:a="http://schemas.openxmlformats.org/drawingml/2006/main">
              <a:ext uri="{FF2B5EF4-FFF2-40B4-BE49-F238E27FC236}">
                <a16:creationId xmlns:a16="http://schemas.microsoft.com/office/drawing/2014/main" id="{79F31869-1831-405A-884B-D979361D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8277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1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takeaway-cape-gradient-15">
            <a:extLst xmlns:a="http://schemas.openxmlformats.org/drawingml/2006/main">
              <a:ext uri="{FF2B5EF4-FFF2-40B4-BE49-F238E27FC236}">
                <a16:creationId xmlns:a16="http://schemas.microsoft.com/office/drawing/2014/main" id="{EF4E09B5-F5DA-4AA9-BF03-B2BBEF72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5414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267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takeaway-cape-gradient-16">
            <a:extLst xmlns:a="http://schemas.openxmlformats.org/drawingml/2006/main">
              <a:ext uri="{FF2B5EF4-FFF2-40B4-BE49-F238E27FC236}">
                <a16:creationId xmlns:a16="http://schemas.microsoft.com/office/drawing/2014/main" id="{CF7CA373-C205-4819-BDCF-B4973906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2551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A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takeaway-cape-gradient-17">
            <a:extLst xmlns:a="http://schemas.openxmlformats.org/drawingml/2006/main">
              <a:ext uri="{FF2B5EF4-FFF2-40B4-BE49-F238E27FC236}">
                <a16:creationId xmlns:a16="http://schemas.microsoft.com/office/drawing/2014/main" id="{C93151E8-4112-4F5F-A99D-6E45478D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59688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C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takeaway-cape-gradient-18">
            <a:extLst xmlns:a="http://schemas.openxmlformats.org/drawingml/2006/main">
              <a:ext uri="{FF2B5EF4-FFF2-40B4-BE49-F238E27FC236}">
                <a16:creationId xmlns:a16="http://schemas.microsoft.com/office/drawing/2014/main" id="{40A1F4F4-AB49-4088-9AD9-FA1148371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86824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46F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takeaway-cape-gradient-19">
            <a:extLst xmlns:a="http://schemas.openxmlformats.org/drawingml/2006/main">
              <a:ext uri="{FF2B5EF4-FFF2-40B4-BE49-F238E27FC236}">
                <a16:creationId xmlns:a16="http://schemas.microsoft.com/office/drawing/2014/main" id="{50D18A84-A871-4B19-A89A-DC1487FD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13961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572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takeaway-cape-gradient-20">
            <a:extLst xmlns:a="http://schemas.openxmlformats.org/drawingml/2006/main">
              <a:ext uri="{FF2B5EF4-FFF2-40B4-BE49-F238E27FC236}">
                <a16:creationId xmlns:a16="http://schemas.microsoft.com/office/drawing/2014/main" id="{171F483A-3CD1-4EA5-A19D-B1EE6B7B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41098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67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takeaway-cape-gradient-21">
            <a:extLst xmlns:a="http://schemas.openxmlformats.org/drawingml/2006/main">
              <a:ext uri="{FF2B5EF4-FFF2-40B4-BE49-F238E27FC236}">
                <a16:creationId xmlns:a16="http://schemas.microsoft.com/office/drawing/2014/main" id="{F87AF29F-848B-49C7-8AB2-47C9071B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68234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77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takeaway-cape-gradient-22">
            <a:extLst xmlns:a="http://schemas.openxmlformats.org/drawingml/2006/main">
              <a:ext uri="{FF2B5EF4-FFF2-40B4-BE49-F238E27FC236}">
                <a16:creationId xmlns:a16="http://schemas.microsoft.com/office/drawing/2014/main" id="{F6F9F065-055C-45CC-A27E-D7EEAE72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5371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A7CA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takeaway-cape-gradient-23">
            <a:extLst xmlns:a="http://schemas.openxmlformats.org/drawingml/2006/main">
              <a:ext uri="{FF2B5EF4-FFF2-40B4-BE49-F238E27FC236}">
                <a16:creationId xmlns:a16="http://schemas.microsoft.com/office/drawing/2014/main" id="{F7F1CCED-BE9A-48BA-A927-8BEC9EF6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2508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08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takeaway-cape-gradient-24">
            <a:extLst xmlns:a="http://schemas.openxmlformats.org/drawingml/2006/main">
              <a:ext uri="{FF2B5EF4-FFF2-40B4-BE49-F238E27FC236}">
                <a16:creationId xmlns:a16="http://schemas.microsoft.com/office/drawing/2014/main" id="{8339A974-3C07-416C-BB15-C7DF351D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9645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788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takeaway-cape-gradient-25">
            <a:extLst xmlns:a="http://schemas.openxmlformats.org/drawingml/2006/main">
              <a:ext uri="{FF2B5EF4-FFF2-40B4-BE49-F238E27FC236}">
                <a16:creationId xmlns:a16="http://schemas.microsoft.com/office/drawing/2014/main" id="{91E06424-4A34-4834-9373-50B85931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6781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D8E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takeaway-cape-gradient-26">
            <a:extLst xmlns:a="http://schemas.openxmlformats.org/drawingml/2006/main">
              <a:ext uri="{FF2B5EF4-FFF2-40B4-BE49-F238E27FC236}">
                <a16:creationId xmlns:a16="http://schemas.microsoft.com/office/drawing/2014/main" id="{E120E055-FA0F-46ED-BF28-9FE1E1FB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3918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39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takeaway-cape-gradient-27">
            <a:extLst xmlns:a="http://schemas.openxmlformats.org/drawingml/2006/main">
              <a:ext uri="{FF2B5EF4-FFF2-40B4-BE49-F238E27FC236}">
                <a16:creationId xmlns:a16="http://schemas.microsoft.com/office/drawing/2014/main" id="{D7C1475A-E6D1-46C9-8FD4-D30538F9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31055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A9A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takeaway-cape-gradient-28">
            <a:extLst xmlns:a="http://schemas.openxmlformats.org/drawingml/2006/main">
              <a:ext uri="{FF2B5EF4-FFF2-40B4-BE49-F238E27FC236}">
                <a16:creationId xmlns:a16="http://schemas.microsoft.com/office/drawing/2014/main" id="{6EBC00F3-3DF1-4824-A8EC-431B9277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8191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0A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takeaway-cape-gradient-29">
            <a:extLst xmlns:a="http://schemas.openxmlformats.org/drawingml/2006/main">
              <a:ext uri="{FF2B5EF4-FFF2-40B4-BE49-F238E27FC236}">
                <a16:creationId xmlns:a16="http://schemas.microsoft.com/office/drawing/2014/main" id="{E0E1CD4B-320E-4057-93F2-B32530669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85328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6A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takeaway-cape-gradient-30">
            <a:extLst xmlns:a="http://schemas.openxmlformats.org/drawingml/2006/main">
              <a:ext uri="{FF2B5EF4-FFF2-40B4-BE49-F238E27FC236}">
                <a16:creationId xmlns:a16="http://schemas.microsoft.com/office/drawing/2014/main" id="{6E690075-E619-4C82-B682-3FE0013F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12465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CA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takeaway-cape-gradient-31">
            <a:extLst xmlns:a="http://schemas.openxmlformats.org/drawingml/2006/main">
              <a:ext uri="{FF2B5EF4-FFF2-40B4-BE49-F238E27FC236}">
                <a16:creationId xmlns:a16="http://schemas.microsoft.com/office/drawing/2014/main" id="{05550D2C-9882-4EFD-9656-179ACA54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9602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3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takeaway-cape-gradient-32">
            <a:extLst xmlns:a="http://schemas.openxmlformats.org/drawingml/2006/main">
              <a:ext uri="{FF2B5EF4-FFF2-40B4-BE49-F238E27FC236}">
                <a16:creationId xmlns:a16="http://schemas.microsoft.com/office/drawing/2014/main" id="{9571B662-7D9E-4F66-A17C-676309F8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6738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9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5C7A233F-BAAF-4B3F-B17B-B9A02B5B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5953125"/>
            <a:ext cx="128301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125" b="1">
                <a:solidFill>
                  <a:srgbClr val="293F55"/>
                </a:solidFill>
              </a:defRPr>
            </a:pPr>
            <a:r>
              <a:rPr sz="4125" b="1">
                <a:solidFill>
                  <a:srgbClr val="293F55"/>
                </a:solidFill>
              </a:rPr>
              <a:t>External simulations retained C-indices of 0.75 and 0.74</a:t>
            </a:r>
          </a:p>
        </p:txBody>
      </p:sp>
      <p:sp>
        <p:nvSpPr>
          <p:cNvPr id="141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2C261DFA-C5AA-450B-AFD9-476B1630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7181850"/>
            <a:ext cx="1233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293F55"/>
                </a:solidFill>
              </a:defRPr>
            </a:pPr>
            <a:r>
              <a:rPr sz="2400" b="1">
                <a:solidFill>
                  <a:srgbClr val="293F55"/>
                </a:solidFill>
              </a:rPr>
              <a:t>Synthetic baseline: 0.66 and 0.65 · software fixture, not clinical validation</a:t>
            </a:r>
          </a:p>
        </p:txBody>
      </p:sp>
      <p:sp>
        <p:nvSpPr>
          <p:cNvPr id="142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155BA4FF-906A-40D7-B02C-88F64E1D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7715250"/>
            <a:ext cx="12792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487AA1"/>
                </a:solidFill>
              </a:defRPr>
            </a:pPr>
            <a:r>
              <a:rPr sz="1875" i="1">
                <a:solidFill>
                  <a:srgbClr val="487AA1"/>
                </a:solidFill>
              </a:rPr>
              <a:t>Evidence: Results, pp. 1 and 3; Figure 2</a:t>
            </a:r>
          </a:p>
        </p:txBody>
      </p:sp>
      <p:sp>
        <p:nvSpPr>
          <p:cNvPr id="143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AE60EFC9-800F-4EB8-B95F-5065604F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8620125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Discrimination across shifts</a:t>
            </a:r>
          </a:p>
        </p:txBody>
      </p:sp>
      <p:sp>
        <p:nvSpPr>
          <p:cNvPr id="144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83A82E45-139F-437C-92D1-675B3B2E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258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4CF373AF-15AA-495B-BD8C-8C555A32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477375"/>
            <a:ext cx="13668375" cy="12715875"/>
          </a:xfrm>
          <a:prstGeom xmlns:a="http://schemas.openxmlformats.org/drawingml/2006/main" prst="roundRect">
            <a:avLst>
              <a:gd name="adj" fmla="val 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pic>
        <p:nvPicPr>
          <p:cNvPr id="3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585a75ec3e42ef">
            <a:extLst>
              <a:ext uri="{96DAC541-7B7A-43D3-8B79-37D633B846F1}">
                <asvg:svgBlip xmlns:asvg="http://schemas.microsoft.com/office/drawing/2016/SVG/main" r:embed="R7988a5ec379e48c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3716000" y="9667875"/>
            <a:ext cx="13287375" cy="11782425"/>
          </a:xfrm>
          <a:prstGeom xmlns:a="http://schemas.openxmlformats.org/drawingml/2006/main" prst="rect">
            <a:avLst/>
          </a:prstGeom>
        </p:spPr>
      </p:pic>
      <p:sp>
        <p:nvSpPr>
          <p:cNvPr id="147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E2FB0565-3095-444F-BE3B-EC36CA8B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507450"/>
            <a:ext cx="13211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93F55"/>
                </a:solidFill>
              </a:defRPr>
            </a:pPr>
            <a:r>
              <a:rPr sz="2250" b="1">
                <a:solidFill>
                  <a:srgbClr val="293F55"/>
                </a:solidFill>
              </a:rPr>
              <a:t>Figure 2 · Authored discrimination values across cohort shifts</a:t>
            </a:r>
          </a:p>
        </p:txBody>
      </p:sp>
      <p:sp>
        <p:nvSpPr>
          <p:cNvPr id="148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91352035-CD49-4AC9-8DF0-4CA2C1F5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821775"/>
            <a:ext cx="13211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487AA1"/>
                </a:solidFill>
              </a:defRPr>
            </a:pPr>
            <a:r>
              <a:rPr sz="1875" i="1">
                <a:solidFill>
                  <a:srgbClr val="487AA1"/>
                </a:solidFill>
              </a:rPr>
              <a:t>Authored synthetic fixture · manuscript p. 3</a:t>
            </a:r>
          </a:p>
        </p:txBody>
      </p:sp>
      <p:sp>
        <p:nvSpPr>
          <p:cNvPr id="149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9F5385F5-9336-453E-9F6A-013F8686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2669500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Calibration and stress boundary</a:t>
            </a:r>
          </a:p>
        </p:txBody>
      </p:sp>
      <p:sp>
        <p:nvSpPr>
          <p:cNvPr id="150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BE39415A-F2CB-479A-85A6-31B3B12C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30767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60F48BFC-27AF-4155-850A-DEBAA691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526750"/>
            <a:ext cx="13668375" cy="4048125"/>
          </a:xfrm>
          <a:prstGeom xmlns:a="http://schemas.openxmlformats.org/drawingml/2006/main" prst="roundRect">
            <a:avLst>
              <a:gd name="adj" fmla="val 2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sp>
        <p:nvSpPr>
          <p:cNvPr id="152" name="validation">
            <a:extLst xmlns:a="http://schemas.openxmlformats.org/drawingml/2006/main">
              <a:ext uri="{FF2B5EF4-FFF2-40B4-BE49-F238E27FC236}">
                <a16:creationId xmlns:a16="http://schemas.microsoft.com/office/drawing/2014/main" id="{8B67E589-257B-4994-8020-0E8EDA33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3841075"/>
            <a:ext cx="129825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• External calibration slopes were 0.97 and 0.95.</a:t>
            </a:r>
          </a:p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• External absolute errors were 0.031 and 0.038.</a:t>
            </a:r>
          </a:p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• Aggregate coefficient-sign stability was 92% across 500 resamples.</a:t>
            </a:r>
          </a:p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• The most severe pre-specified shift reduced C-index by 0.04.</a:t>
            </a:r>
          </a:p>
        </p:txBody>
      </p:sp>
      <p:sp>
        <p:nvSpPr>
          <p:cNvPr id="153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5A19BFE3-F389-4C37-90C0-2F69E291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7117675"/>
            <a:ext cx="12982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487AA1"/>
                </a:solidFill>
              </a:defRPr>
            </a:pPr>
            <a:r>
              <a:rPr sz="1875" i="1">
                <a:solidFill>
                  <a:srgbClr val="487AA1"/>
                </a:solidFill>
              </a:rPr>
              <a:t>Evidence: Results, pp. 1, 3-4; Figures 3-4</a:t>
            </a:r>
          </a:p>
        </p:txBody>
      </p:sp>
      <p:sp>
        <p:nvSpPr>
          <p:cNvPr id="154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E6B24676-F695-4E5C-9890-5ABAE994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908250"/>
            <a:ext cx="13668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3E5C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08474570-D1CD-413D-B49C-014A5E53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9350" y="28194000"/>
            <a:ext cx="1302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AURORA-12 vs baseline C-index · Discovery 0.78 vs 0.68 · Internal 0.76 vs 0.67 · External A 0.75 vs 0.66 · External B 0.74 vs 0.65</a:t>
            </a:r>
          </a:p>
        </p:txBody>
      </p:sp>
      <p:sp>
        <p:nvSpPr>
          <p:cNvPr id="156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FA79540D-58B0-43AC-A3BF-B5A65D11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5619750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Calibration &amp; stability</a:t>
            </a:r>
          </a:p>
        </p:txBody>
      </p:sp>
      <p:sp>
        <p:nvSpPr>
          <p:cNvPr id="157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B8F74E0F-4FEA-4557-BB62-5D21A680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DD386C8B-8F04-4A94-8408-F4AA7052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3E5C78"/>
                </a:solidFill>
              </a:defRPr>
            </a:pPr>
            <a:r>
              <a:rPr sz="5100" b="1">
                <a:solidFill>
                  <a:srgbClr val="3E5C78"/>
                </a:solidFill>
              </a:rPr>
              <a:t>92%</a:t>
            </a:r>
          </a:p>
        </p:txBody>
      </p:sp>
      <p:sp>
        <p:nvSpPr>
          <p:cNvPr id="159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96FD8ACC-42AA-4A68-9638-3CB5BEAB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coefficient-sign stability</a:t>
            </a:r>
          </a:p>
        </p:txBody>
      </p:sp>
      <p:sp>
        <p:nvSpPr>
          <p:cNvPr id="160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CBF3BE5F-D06E-48C7-A53D-1BC071C31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487AA1"/>
                </a:solidFill>
              </a:defRPr>
            </a:pPr>
            <a:r>
              <a:rPr sz="5100" b="1">
                <a:solidFill>
                  <a:srgbClr val="487AA1"/>
                </a:solidFill>
              </a:rPr>
              <a:t>0.97 / 0.95</a:t>
            </a:r>
          </a:p>
        </p:txBody>
      </p:sp>
      <p:sp>
        <p:nvSpPr>
          <p:cNvPr id="161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133AE209-C1E9-48F6-8109-82B29397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external calibration slopes</a:t>
            </a:r>
          </a:p>
        </p:txBody>
      </p:sp>
      <p:sp>
        <p:nvSpPr>
          <p:cNvPr id="162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FFD8454F-FDD2-4728-BD94-ADBDFDF5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5BC6C"/>
                </a:solidFill>
              </a:defRPr>
            </a:pPr>
            <a:r>
              <a:rPr sz="5100" b="1">
                <a:solidFill>
                  <a:srgbClr val="E5BC6C"/>
                </a:solidFill>
              </a:rPr>
              <a:t>0.031 / 0.038</a:t>
            </a:r>
          </a:p>
        </p:txBody>
      </p:sp>
      <p:sp>
        <p:nvSpPr>
          <p:cNvPr id="163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A920086D-539B-4C03-A32C-6D782CEB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external absolute errors</a:t>
            </a:r>
          </a:p>
        </p:txBody>
      </p:sp>
      <p:sp>
        <p:nvSpPr>
          <p:cNvPr id="164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90E0A10F-C7AD-45E9-8661-F0CFBE3C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8477250"/>
            <a:ext cx="13706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487AA1"/>
                </a:solidFill>
              </a:defRPr>
            </a:pPr>
            <a:r>
              <a:rPr sz="1875" i="1">
                <a:solidFill>
                  <a:srgbClr val="487AA1"/>
                </a:solidFill>
              </a:rPr>
              <a:t>Evidence: Stability and calibration, p. 4</a:t>
            </a:r>
          </a:p>
        </p:txBody>
      </p:sp>
      <p:sp>
        <p:nvSpPr>
          <p:cNvPr id="165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0B01A05D-D4E3-40A7-86E2-C9945870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9191625"/>
            <a:ext cx="13706475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pic>
        <p:nvPicPr>
          <p:cNvPr id="3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9a99e38a7c4642">
            <a:extLst>
              <a:ext uri="{96DAC541-7B7A-43D3-8B79-37D633B846F1}">
                <asvg:svgBlip xmlns:asvg="http://schemas.microsoft.com/office/drawing/2016/SVG/main" r:embed="R6655df4625334c5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7955875" y="9382125"/>
            <a:ext cx="13325475" cy="5924550"/>
          </a:xfrm>
          <a:prstGeom xmlns:a="http://schemas.openxmlformats.org/drawingml/2006/main" prst="rect">
            <a:avLst/>
          </a:prstGeom>
        </p:spPr>
      </p:pic>
      <p:sp>
        <p:nvSpPr>
          <p:cNvPr id="167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7E1DCF51-58C0-4D7D-8D9F-004EF5AB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36382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93F55"/>
                </a:solidFill>
              </a:defRPr>
            </a:pPr>
            <a:r>
              <a:rPr sz="2250" b="1">
                <a:solidFill>
                  <a:srgbClr val="293F55"/>
                </a:solidFill>
              </a:rPr>
              <a:t>Figure 3 · Calibration and coefficient-sign stability</a:t>
            </a:r>
          </a:p>
        </p:txBody>
      </p:sp>
      <p:sp>
        <p:nvSpPr>
          <p:cNvPr id="168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485113A8-97C2-4BAB-A045-946F6EA9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67815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487AA1"/>
                </a:solidFill>
              </a:defRPr>
            </a:pPr>
            <a:r>
              <a:rPr sz="1875" i="1">
                <a:solidFill>
                  <a:srgbClr val="487AA1"/>
                </a:solidFill>
              </a:rPr>
              <a:t>Authored synthetic fixture · manuscript p. 4</a:t>
            </a:r>
          </a:p>
        </p:txBody>
      </p:sp>
      <p:sp>
        <p:nvSpPr>
          <p:cNvPr id="169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08A78365-BAF2-4530-862B-D5326EDA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652587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Pre-specified stress test</a:t>
            </a:r>
          </a:p>
        </p:txBody>
      </p:sp>
      <p:sp>
        <p:nvSpPr>
          <p:cNvPr id="170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6D376D75-4BDC-4FD7-AEAB-F0D9DF05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16405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2BEC978C-B2B4-48F1-804A-D26A0F3D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383125"/>
            <a:ext cx="13706475" cy="714375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pic>
        <p:nvPicPr>
          <p:cNvPr id="3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6b1b6acc14aff">
            <a:extLst>
              <a:ext uri="{96DAC541-7B7A-43D3-8B79-37D633B846F1}">
                <asvg:svgBlip xmlns:asvg="http://schemas.microsoft.com/office/drawing/2016/SVG/main" r:embed="R3e4be5976b1541e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7955875" y="17573625"/>
            <a:ext cx="13325475" cy="6210300"/>
          </a:xfrm>
          <a:prstGeom xmlns:a="http://schemas.openxmlformats.org/drawingml/2006/main" prst="rect">
            <a:avLst/>
          </a:prstGeom>
        </p:spPr>
      </p:pic>
      <p:sp>
        <p:nvSpPr>
          <p:cNvPr id="173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C7BD4317-5E4A-4CA0-8B18-435C2403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384107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93F55"/>
                </a:solidFill>
              </a:defRPr>
            </a:pPr>
            <a:r>
              <a:rPr sz="2250" b="1">
                <a:solidFill>
                  <a:srgbClr val="293F55"/>
                </a:solidFill>
              </a:rPr>
              <a:t>Figure 4 · Stress-test boundary under increasing shift</a:t>
            </a:r>
          </a:p>
        </p:txBody>
      </p:sp>
      <p:sp>
        <p:nvSpPr>
          <p:cNvPr id="174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A766C20B-9516-41A5-A403-A66FC76B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415540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487AA1"/>
                </a:solidFill>
              </a:defRPr>
            </a:pPr>
            <a:r>
              <a:rPr sz="1875" i="1">
                <a:solidFill>
                  <a:srgbClr val="487AA1"/>
                </a:solidFill>
              </a:rPr>
              <a:t>Authored synthetic fixture · manuscript p. 4</a:t>
            </a:r>
          </a:p>
        </p:txBody>
      </p:sp>
      <p:sp>
        <p:nvSpPr>
          <p:cNvPr id="175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831AB2B9-6E14-4E6E-8C68-1EC654FE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00312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Supported conclusion</a:t>
            </a:r>
          </a:p>
        </p:txBody>
      </p:sp>
      <p:sp>
        <p:nvSpPr>
          <p:cNvPr id="176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DC305F54-8DD2-4EE5-A60F-96BCE6AD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64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C8B71D4D-D068-49F5-ABD8-638E96ED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860375"/>
            <a:ext cx="137064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sp>
        <p:nvSpPr>
          <p:cNvPr id="178" name="conclusion">
            <a:extLst xmlns:a="http://schemas.openxmlformats.org/drawingml/2006/main">
              <a:ext uri="{FF2B5EF4-FFF2-40B4-BE49-F238E27FC236}">
                <a16:creationId xmlns:a16="http://schemas.microsoft.com/office/drawing/2014/main" id="{C29E4E65-969C-4445-9CCE-C32DABD8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174700"/>
            <a:ext cx="130587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AURORA-12 is a controlled, rights-safe fixture for testing evidence-linked scientific communication. It supports no inference about real biology, prognosis, treatment or clinical utility. Every number, cohort, feature, author and institution is fictional.</a:t>
            </a:r>
          </a:p>
        </p:txBody>
      </p:sp>
      <p:sp>
        <p:nvSpPr>
          <p:cNvPr id="179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65D87D2F-D76E-462E-9543-8E327A6E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8498800"/>
            <a:ext cx="13058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487AA1"/>
                </a:solidFill>
              </a:defRPr>
            </a:pPr>
            <a:r>
              <a:rPr sz="1875" i="1">
                <a:solidFill>
                  <a:srgbClr val="487AA1"/>
                </a:solidFill>
              </a:rPr>
              <a:t>Evidence: Discussion and Conclusion, p. 5</a:t>
            </a:r>
          </a:p>
        </p:txBody>
      </p:sp>
      <p:sp>
        <p:nvSpPr>
          <p:cNvPr id="180" name="footer-band">
            <a:extLst xmlns:a="http://schemas.openxmlformats.org/drawingml/2006/main">
              <a:ext uri="{FF2B5EF4-FFF2-40B4-BE49-F238E27FC236}">
                <a16:creationId xmlns:a16="http://schemas.microsoft.com/office/drawing/2014/main" id="{5F0E9D3A-60CB-43F7-9E56-8B2039B1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337000"/>
            <a:ext cx="42805350" cy="94297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7C649F33-E20A-4117-80CD-9313C5DE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594175"/>
            <a:ext cx="2857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</a:defRPr>
            </a:pPr>
            <a:r>
              <a:rPr sz="1950">
                <a:solidFill>
                  <a:srgbClr val="FFFFFF"/>
                </a:solidFill>
              </a:rPr>
              <a:t>Original synthetic fixture · CC0-1.0 · evidence coverage 100% · local-only processing</a:t>
            </a:r>
          </a:p>
        </p:txBody>
      </p:sp>
      <p:sp>
        <p:nvSpPr>
          <p:cNvPr id="182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A0779615-D79F-416D-A374-DB95682E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0" y="29594175"/>
            <a:ext cx="1171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E5BC6C"/>
                </a:solidFill>
              </a:defRPr>
            </a:pPr>
            <a:r>
              <a:rPr sz="1875" b="1">
                <a:solidFill>
                  <a:srgbClr val="E5BC6C"/>
                </a:solidFill>
              </a:rPr>
              <a:t>Approvals current · synthetic boundary locked · editable logo placeholder</a:t>
            </a:r>
          </a:p>
        </p:txBody>
      </p:sp>
    </p:spTree>
    <p:extLst>
      <p:ext uri="{BB962C8B-B14F-4D97-AF65-F5344CB8AC3E}">
        <p14:creationId xmlns:p14="http://schemas.microsoft.com/office/powerpoint/2010/main" val="5938145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2026-08-08T08:08:36.9580000Z</dcterms:created>
  <dcterms:modified xsi:type="dcterms:W3CDTF">2026-08-08T08:08:36.9580000Z</dcterms:modified>
</coreProperties>
</file>