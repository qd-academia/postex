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6bb976af194104" /><Relationship Type="http://schemas.openxmlformats.org/officeDocument/2006/relationships/extended-properties" Target="/docProps/app.xml" Id="Reefa71fc471b40bd" /><Relationship Type="http://schemas.openxmlformats.org/officeDocument/2006/relationships/officeDocument" Target="/ppt/presentation.xml" Id="Rb32d5101d67b46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1fce167efc4ee6"/>
  </p:sldMasterIdLst>
  <p:notesMasterIdLst>
    <p:notesMasterId xmlns:r="http://schemas.openxmlformats.org/officeDocument/2006/relationships" r:id="R7d82fa76937640ab"/>
  </p:notesMasterIdLst>
  <p:sldIdLst>
    <p:sldId xmlns:r="http://schemas.openxmlformats.org/officeDocument/2006/relationships" id="256" r:id="R577c8fc58d0d406b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ad9b7299784265" /><Relationship Type="http://schemas.openxmlformats.org/officeDocument/2006/relationships/slideMaster" Target="/ppt/slideMasters/slideMaster1.xml" Id="R821fce167efc4ee6" /><Relationship Type="http://schemas.openxmlformats.org/officeDocument/2006/relationships/notesMaster" Target="/ppt/notesMasters/notesMaster1.xml" Id="R7d82fa76937640ab" /><Relationship Type="http://schemas.openxmlformats.org/officeDocument/2006/relationships/presProps" Target="/ppt/presProps.xml" Id="R89292c1a7a9846b3" /><Relationship Type="http://schemas.openxmlformats.org/officeDocument/2006/relationships/tableStyles" Target="/ppt/tableStyles.xml" Id="R4a8214b6665440f0" /><Relationship Type="http://schemas.openxmlformats.org/officeDocument/2006/relationships/slide" Target="/ppt/slides/slide1.xml" Id="R577c8fc58d0d40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37dff5bcd048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b6c8568e8f4eef" /><Relationship Type="http://schemas.openxmlformats.org/officeDocument/2006/relationships/notesMaster" Target="/ppt/notesMasters/notesMaster1.xml" Id="R1c1bd6cf56f644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sha256:c9834f95586be531d5d8667465b8d0525469d9de17a3f361d76c34ad4677c4ca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721eda7e847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d1578cd1574911" /><Relationship Type="http://schemas.openxmlformats.org/officeDocument/2006/relationships/slideLayout" Target="/ppt/slideLayouts/slideLayout1.xml" Id="R504a840a995e40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4a840a995e40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1a3ea81d4ecb" /><Relationship Type="http://schemas.openxmlformats.org/officeDocument/2006/relationships/image" Target="/ppt/media/image.png" Id="R57359ee687d24694" /><Relationship Type="http://schemas.openxmlformats.org/officeDocument/2006/relationships/image" Target="/ppt/media/image.svg" Id="Rdaa9baafe7a740f2" /><Relationship Type="http://schemas.openxmlformats.org/officeDocument/2006/relationships/image" Target="/ppt/media/image2.png" Id="R7dfcfbaa680e401d" /><Relationship Type="http://schemas.openxmlformats.org/officeDocument/2006/relationships/image" Target="/ppt/media/image2.svg" Id="R0bce24d9bb634c62" /><Relationship Type="http://schemas.openxmlformats.org/officeDocument/2006/relationships/image" Target="/ppt/media/image3.png" Id="R8dd62cb475d04c92" /><Relationship Type="http://schemas.openxmlformats.org/officeDocument/2006/relationships/image" Target="/ppt/media/image3.svg" Id="Red4afc0a5093463e" /><Relationship Type="http://schemas.openxmlformats.org/officeDocument/2006/relationships/image" Target="/ppt/media/image4.png" Id="R56a01167b0cd48d2" /><Relationship Type="http://schemas.openxmlformats.org/officeDocument/2006/relationships/image" Target="/ppt/media/image4.svg" Id="R67dd161e3e214039" /><Relationship Type="http://schemas.openxmlformats.org/officeDocument/2006/relationships/notesSlide" Target="/ppt/notesSlides/notesSlide1.xml" Id="R4ea7cc7130ea41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54B29EB-8BE2-40F0-84F6-D0EE6E87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38457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cape-gradient-1">
            <a:extLst xmlns:a="http://schemas.openxmlformats.org/drawingml/2006/main">
              <a:ext uri="{FF2B5EF4-FFF2-40B4-BE49-F238E27FC236}">
                <a16:creationId xmlns:a16="http://schemas.microsoft.com/office/drawing/2014/main" id="{5E338B15-6798-4E8E-9AFF-D2B54964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cape-gradient-2">
            <a:extLst xmlns:a="http://schemas.openxmlformats.org/drawingml/2006/main">
              <a:ext uri="{FF2B5EF4-FFF2-40B4-BE49-F238E27FC236}">
                <a16:creationId xmlns:a16="http://schemas.microsoft.com/office/drawing/2014/main" id="{0ACED37D-E6F2-48AF-96D4-900EED44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op-cape-gradient-3">
            <a:extLst xmlns:a="http://schemas.openxmlformats.org/drawingml/2006/main">
              <a:ext uri="{FF2B5EF4-FFF2-40B4-BE49-F238E27FC236}">
                <a16:creationId xmlns:a16="http://schemas.microsoft.com/office/drawing/2014/main" id="{A7C60B16-18C2-4555-B37F-B33CB42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op-cape-gradient-4">
            <a:extLst xmlns:a="http://schemas.openxmlformats.org/drawingml/2006/main">
              <a:ext uri="{FF2B5EF4-FFF2-40B4-BE49-F238E27FC236}">
                <a16:creationId xmlns:a16="http://schemas.microsoft.com/office/drawing/2014/main" id="{996300B4-DEB5-43C3-83EF-A5E3E9E8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op-cape-gradient-5">
            <a:extLst xmlns:a="http://schemas.openxmlformats.org/drawingml/2006/main">
              <a:ext uri="{FF2B5EF4-FFF2-40B4-BE49-F238E27FC236}">
                <a16:creationId xmlns:a16="http://schemas.microsoft.com/office/drawing/2014/main" id="{C24DBE8D-3525-4156-8271-5ED01B9D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cape-gradient-6">
            <a:extLst xmlns:a="http://schemas.openxmlformats.org/drawingml/2006/main">
              <a:ext uri="{FF2B5EF4-FFF2-40B4-BE49-F238E27FC236}">
                <a16:creationId xmlns:a16="http://schemas.microsoft.com/office/drawing/2014/main" id="{C07B0D72-BE1A-46CE-A6A0-B90835FE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p-cape-gradient-7">
            <a:extLst xmlns:a="http://schemas.openxmlformats.org/drawingml/2006/main">
              <a:ext uri="{FF2B5EF4-FFF2-40B4-BE49-F238E27FC236}">
                <a16:creationId xmlns:a16="http://schemas.microsoft.com/office/drawing/2014/main" id="{0A56D24E-3BC4-4023-938E-5623D322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op-cape-gradient-8">
            <a:extLst xmlns:a="http://schemas.openxmlformats.org/drawingml/2006/main">
              <a:ext uri="{FF2B5EF4-FFF2-40B4-BE49-F238E27FC236}">
                <a16:creationId xmlns:a16="http://schemas.microsoft.com/office/drawing/2014/main" id="{F8E46AEE-FCCB-48CD-8A4A-6F5762B8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op-cape-gradient-9">
            <a:extLst xmlns:a="http://schemas.openxmlformats.org/drawingml/2006/main">
              <a:ext uri="{FF2B5EF4-FFF2-40B4-BE49-F238E27FC236}">
                <a16:creationId xmlns:a16="http://schemas.microsoft.com/office/drawing/2014/main" id="{DD4BC43A-511C-4F1E-9739-AEE60F2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op-cape-gradient-10">
            <a:extLst xmlns:a="http://schemas.openxmlformats.org/drawingml/2006/main">
              <a:ext uri="{FF2B5EF4-FFF2-40B4-BE49-F238E27FC236}">
                <a16:creationId xmlns:a16="http://schemas.microsoft.com/office/drawing/2014/main" id="{A90B7357-705D-45FC-B0C6-93446D7D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p-cape-gradient-11">
            <a:extLst xmlns:a="http://schemas.openxmlformats.org/drawingml/2006/main">
              <a:ext uri="{FF2B5EF4-FFF2-40B4-BE49-F238E27FC236}">
                <a16:creationId xmlns:a16="http://schemas.microsoft.com/office/drawing/2014/main" id="{69B7DFFD-E94A-482D-AEEC-7D537DE5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p-cape-gradient-12">
            <a:extLst xmlns:a="http://schemas.openxmlformats.org/drawingml/2006/main">
              <a:ext uri="{FF2B5EF4-FFF2-40B4-BE49-F238E27FC236}">
                <a16:creationId xmlns:a16="http://schemas.microsoft.com/office/drawing/2014/main" id="{2B66DB97-9891-4913-B1F6-355E4486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op-cape-gradient-13">
            <a:extLst xmlns:a="http://schemas.openxmlformats.org/drawingml/2006/main">
              <a:ext uri="{FF2B5EF4-FFF2-40B4-BE49-F238E27FC236}">
                <a16:creationId xmlns:a16="http://schemas.microsoft.com/office/drawing/2014/main" id="{EDE3E85F-8D97-41FE-8C23-0305F38D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p-cape-gradient-14">
            <a:extLst xmlns:a="http://schemas.openxmlformats.org/drawingml/2006/main">
              <a:ext uri="{FF2B5EF4-FFF2-40B4-BE49-F238E27FC236}">
                <a16:creationId xmlns:a16="http://schemas.microsoft.com/office/drawing/2014/main" id="{2404E397-C6C8-49EC-96CB-6CEA8144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op-cape-gradient-15">
            <a:extLst xmlns:a="http://schemas.openxmlformats.org/drawingml/2006/main">
              <a:ext uri="{FF2B5EF4-FFF2-40B4-BE49-F238E27FC236}">
                <a16:creationId xmlns:a16="http://schemas.microsoft.com/office/drawing/2014/main" id="{9BCF17BF-FC4B-4791-9FEE-9DC1643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p-cape-gradient-16">
            <a:extLst xmlns:a="http://schemas.openxmlformats.org/drawingml/2006/main">
              <a:ext uri="{FF2B5EF4-FFF2-40B4-BE49-F238E27FC236}">
                <a16:creationId xmlns:a16="http://schemas.microsoft.com/office/drawing/2014/main" id="{F9EFA670-E94B-43FC-84A3-757AC6DE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op-cape-gradient-17">
            <a:extLst xmlns:a="http://schemas.openxmlformats.org/drawingml/2006/main">
              <a:ext uri="{FF2B5EF4-FFF2-40B4-BE49-F238E27FC236}">
                <a16:creationId xmlns:a16="http://schemas.microsoft.com/office/drawing/2014/main" id="{25F91DBB-9741-4C10-B4F5-A428B680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op-cape-gradient-18">
            <a:extLst xmlns:a="http://schemas.openxmlformats.org/drawingml/2006/main">
              <a:ext uri="{FF2B5EF4-FFF2-40B4-BE49-F238E27FC236}">
                <a16:creationId xmlns:a16="http://schemas.microsoft.com/office/drawing/2014/main" id="{4473E7AE-1A87-4C83-8B70-839FCB0E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op-cape-gradient-19">
            <a:extLst xmlns:a="http://schemas.openxmlformats.org/drawingml/2006/main">
              <a:ext uri="{FF2B5EF4-FFF2-40B4-BE49-F238E27FC236}">
                <a16:creationId xmlns:a16="http://schemas.microsoft.com/office/drawing/2014/main" id="{3341A5F8-7DBF-455F-9DFA-36132C0E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op-cape-gradient-20">
            <a:extLst xmlns:a="http://schemas.openxmlformats.org/drawingml/2006/main">
              <a:ext uri="{FF2B5EF4-FFF2-40B4-BE49-F238E27FC236}">
                <a16:creationId xmlns:a16="http://schemas.microsoft.com/office/drawing/2014/main" id="{8E571786-EB08-46F2-B4AC-812D6733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op-cape-gradient-21">
            <a:extLst xmlns:a="http://schemas.openxmlformats.org/drawingml/2006/main">
              <a:ext uri="{FF2B5EF4-FFF2-40B4-BE49-F238E27FC236}">
                <a16:creationId xmlns:a16="http://schemas.microsoft.com/office/drawing/2014/main" id="{7DC905E7-71A7-4EA0-B824-00064406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p-cape-gradient-22">
            <a:extLst xmlns:a="http://schemas.openxmlformats.org/drawingml/2006/main">
              <a:ext uri="{FF2B5EF4-FFF2-40B4-BE49-F238E27FC236}">
                <a16:creationId xmlns:a16="http://schemas.microsoft.com/office/drawing/2014/main" id="{0DD8ABDE-841C-4B81-8330-11FE9873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p-cape-gradient-23">
            <a:extLst xmlns:a="http://schemas.openxmlformats.org/drawingml/2006/main">
              <a:ext uri="{FF2B5EF4-FFF2-40B4-BE49-F238E27FC236}">
                <a16:creationId xmlns:a16="http://schemas.microsoft.com/office/drawing/2014/main" id="{184816BD-5134-48D0-AB7E-02C0FECE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op-cape-gradient-24">
            <a:extLst xmlns:a="http://schemas.openxmlformats.org/drawingml/2006/main">
              <a:ext uri="{FF2B5EF4-FFF2-40B4-BE49-F238E27FC236}">
                <a16:creationId xmlns:a16="http://schemas.microsoft.com/office/drawing/2014/main" id="{0F45DCFC-F910-4D24-80E7-6650EE80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p-cape-gradient-25">
            <a:extLst xmlns:a="http://schemas.openxmlformats.org/drawingml/2006/main">
              <a:ext uri="{FF2B5EF4-FFF2-40B4-BE49-F238E27FC236}">
                <a16:creationId xmlns:a16="http://schemas.microsoft.com/office/drawing/2014/main" id="{87B5B670-9BA2-4269-AA19-6D8C08F1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op-cape-gradient-26">
            <a:extLst xmlns:a="http://schemas.openxmlformats.org/drawingml/2006/main">
              <a:ext uri="{FF2B5EF4-FFF2-40B4-BE49-F238E27FC236}">
                <a16:creationId xmlns:a16="http://schemas.microsoft.com/office/drawing/2014/main" id="{CBC32F7D-3639-4F56-9D7F-F0F15867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p-cape-gradient-27">
            <a:extLst xmlns:a="http://schemas.openxmlformats.org/drawingml/2006/main">
              <a:ext uri="{FF2B5EF4-FFF2-40B4-BE49-F238E27FC236}">
                <a16:creationId xmlns:a16="http://schemas.microsoft.com/office/drawing/2014/main" id="{9CB4572C-2421-4DC4-B156-BDABD799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op-cape-gradient-28">
            <a:extLst xmlns:a="http://schemas.openxmlformats.org/drawingml/2006/main">
              <a:ext uri="{FF2B5EF4-FFF2-40B4-BE49-F238E27FC236}">
                <a16:creationId xmlns:a16="http://schemas.microsoft.com/office/drawing/2014/main" id="{2F0D335E-F6C8-41A1-874B-095E68F7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op-cape-gradient-29">
            <a:extLst xmlns:a="http://schemas.openxmlformats.org/drawingml/2006/main">
              <a:ext uri="{FF2B5EF4-FFF2-40B4-BE49-F238E27FC236}">
                <a16:creationId xmlns:a16="http://schemas.microsoft.com/office/drawing/2014/main" id="{5B0E19EF-C75A-4BFE-BF6E-D1CBA9FE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op-cape-gradient-30">
            <a:extLst xmlns:a="http://schemas.openxmlformats.org/drawingml/2006/main">
              <a:ext uri="{FF2B5EF4-FFF2-40B4-BE49-F238E27FC236}">
                <a16:creationId xmlns:a16="http://schemas.microsoft.com/office/drawing/2014/main" id="{C4746EF6-4959-4919-9DC0-228A4C82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op-cape-gradient-31">
            <a:extLst xmlns:a="http://schemas.openxmlformats.org/drawingml/2006/main">
              <a:ext uri="{FF2B5EF4-FFF2-40B4-BE49-F238E27FC236}">
                <a16:creationId xmlns:a16="http://schemas.microsoft.com/office/drawing/2014/main" id="{1682BAE2-B645-42CB-AB59-FBCE191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op-cape-gradient-32">
            <a:extLst xmlns:a="http://schemas.openxmlformats.org/drawingml/2006/main">
              <a:ext uri="{FF2B5EF4-FFF2-40B4-BE49-F238E27FC236}">
                <a16:creationId xmlns:a16="http://schemas.microsoft.com/office/drawing/2014/main" id="{817CA08F-3886-4009-9385-FDA34D16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0" y="0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eader-cape-gradient-1">
            <a:extLst xmlns:a="http://schemas.openxmlformats.org/drawingml/2006/main">
              <a:ext uri="{FF2B5EF4-FFF2-40B4-BE49-F238E27FC236}">
                <a16:creationId xmlns:a16="http://schemas.microsoft.com/office/drawing/2014/main" id="{040CD65F-CD06-4F85-B8EE-A602BBC0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eader-cape-gradient-2">
            <a:extLst xmlns:a="http://schemas.openxmlformats.org/drawingml/2006/main">
              <a:ext uri="{FF2B5EF4-FFF2-40B4-BE49-F238E27FC236}">
                <a16:creationId xmlns:a16="http://schemas.microsoft.com/office/drawing/2014/main" id="{053EE2DC-6425-4DD1-9D49-9C3A107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eader-cape-gradient-3">
            <a:extLst xmlns:a="http://schemas.openxmlformats.org/drawingml/2006/main">
              <a:ext uri="{FF2B5EF4-FFF2-40B4-BE49-F238E27FC236}">
                <a16:creationId xmlns:a16="http://schemas.microsoft.com/office/drawing/2014/main" id="{049223F8-9B8B-4C71-A3A1-7E21681D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eader-cape-gradient-4">
            <a:extLst xmlns:a="http://schemas.openxmlformats.org/drawingml/2006/main">
              <a:ext uri="{FF2B5EF4-FFF2-40B4-BE49-F238E27FC236}">
                <a16:creationId xmlns:a16="http://schemas.microsoft.com/office/drawing/2014/main" id="{B3D441E0-F565-43DF-B200-D958E952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eader-cape-gradient-5">
            <a:extLst xmlns:a="http://schemas.openxmlformats.org/drawingml/2006/main">
              <a:ext uri="{FF2B5EF4-FFF2-40B4-BE49-F238E27FC236}">
                <a16:creationId xmlns:a16="http://schemas.microsoft.com/office/drawing/2014/main" id="{AA7AA9D0-CF76-42B6-9A9B-1F5856FF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ader-cape-gradient-6">
            <a:extLst xmlns:a="http://schemas.openxmlformats.org/drawingml/2006/main">
              <a:ext uri="{FF2B5EF4-FFF2-40B4-BE49-F238E27FC236}">
                <a16:creationId xmlns:a16="http://schemas.microsoft.com/office/drawing/2014/main" id="{51A37B43-8C3A-4E08-9FE4-94A90673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eader-cape-gradient-7">
            <a:extLst xmlns:a="http://schemas.openxmlformats.org/drawingml/2006/main">
              <a:ext uri="{FF2B5EF4-FFF2-40B4-BE49-F238E27FC236}">
                <a16:creationId xmlns:a16="http://schemas.microsoft.com/office/drawing/2014/main" id="{4844092B-1039-4DC1-8C27-A4A50749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eader-cape-gradient-8">
            <a:extLst xmlns:a="http://schemas.openxmlformats.org/drawingml/2006/main">
              <a:ext uri="{FF2B5EF4-FFF2-40B4-BE49-F238E27FC236}">
                <a16:creationId xmlns:a16="http://schemas.microsoft.com/office/drawing/2014/main" id="{6DBC9A14-0E53-4782-A081-1A0FEE59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eader-cape-gradient-9">
            <a:extLst xmlns:a="http://schemas.openxmlformats.org/drawingml/2006/main">
              <a:ext uri="{FF2B5EF4-FFF2-40B4-BE49-F238E27FC236}">
                <a16:creationId xmlns:a16="http://schemas.microsoft.com/office/drawing/2014/main" id="{93FEED8F-9EEF-4A6D-9956-365C8D70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eader-cape-gradient-10">
            <a:extLst xmlns:a="http://schemas.openxmlformats.org/drawingml/2006/main">
              <a:ext uri="{FF2B5EF4-FFF2-40B4-BE49-F238E27FC236}">
                <a16:creationId xmlns:a16="http://schemas.microsoft.com/office/drawing/2014/main" id="{728CBFB9-2C7B-4D15-BE30-E0597DFF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eader-cape-gradient-11">
            <a:extLst xmlns:a="http://schemas.openxmlformats.org/drawingml/2006/main">
              <a:ext uri="{FF2B5EF4-FFF2-40B4-BE49-F238E27FC236}">
                <a16:creationId xmlns:a16="http://schemas.microsoft.com/office/drawing/2014/main" id="{0536930E-37AD-42D3-8B3B-0CBAD892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eader-cape-gradient-12">
            <a:extLst xmlns:a="http://schemas.openxmlformats.org/drawingml/2006/main">
              <a:ext uri="{FF2B5EF4-FFF2-40B4-BE49-F238E27FC236}">
                <a16:creationId xmlns:a16="http://schemas.microsoft.com/office/drawing/2014/main" id="{49663E39-A4C8-49E3-8623-F1E0829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eader-cape-gradient-13">
            <a:extLst xmlns:a="http://schemas.openxmlformats.org/drawingml/2006/main">
              <a:ext uri="{FF2B5EF4-FFF2-40B4-BE49-F238E27FC236}">
                <a16:creationId xmlns:a16="http://schemas.microsoft.com/office/drawing/2014/main" id="{1BE011DD-CEDD-46FB-ADD7-7BCB6954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eader-cape-gradient-14">
            <a:extLst xmlns:a="http://schemas.openxmlformats.org/drawingml/2006/main">
              <a:ext uri="{FF2B5EF4-FFF2-40B4-BE49-F238E27FC236}">
                <a16:creationId xmlns:a16="http://schemas.microsoft.com/office/drawing/2014/main" id="{CC5E326E-6109-4D9F-B080-51E6C5C5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eader-cape-gradient-15">
            <a:extLst xmlns:a="http://schemas.openxmlformats.org/drawingml/2006/main">
              <a:ext uri="{FF2B5EF4-FFF2-40B4-BE49-F238E27FC236}">
                <a16:creationId xmlns:a16="http://schemas.microsoft.com/office/drawing/2014/main" id="{5550CFD7-D717-41D5-88EA-7DDBDFD3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eader-cape-gradient-16">
            <a:extLst xmlns:a="http://schemas.openxmlformats.org/drawingml/2006/main">
              <a:ext uri="{FF2B5EF4-FFF2-40B4-BE49-F238E27FC236}">
                <a16:creationId xmlns:a16="http://schemas.microsoft.com/office/drawing/2014/main" id="{FCE35718-514C-4A2A-B15C-00866C44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eader-cape-gradient-17">
            <a:extLst xmlns:a="http://schemas.openxmlformats.org/drawingml/2006/main">
              <a:ext uri="{FF2B5EF4-FFF2-40B4-BE49-F238E27FC236}">
                <a16:creationId xmlns:a16="http://schemas.microsoft.com/office/drawing/2014/main" id="{EC8A09ED-5A54-4A75-B53C-A123B122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eader-cape-gradient-18">
            <a:extLst xmlns:a="http://schemas.openxmlformats.org/drawingml/2006/main">
              <a:ext uri="{FF2B5EF4-FFF2-40B4-BE49-F238E27FC236}">
                <a16:creationId xmlns:a16="http://schemas.microsoft.com/office/drawing/2014/main" id="{CA8ECF48-1CFE-43E5-A93E-00DBF5F1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eader-cape-gradient-19">
            <a:extLst xmlns:a="http://schemas.openxmlformats.org/drawingml/2006/main">
              <a:ext uri="{FF2B5EF4-FFF2-40B4-BE49-F238E27FC236}">
                <a16:creationId xmlns:a16="http://schemas.microsoft.com/office/drawing/2014/main" id="{3245D9AC-609C-4B6B-94C1-645B9C61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eader-cape-gradient-20">
            <a:extLst xmlns:a="http://schemas.openxmlformats.org/drawingml/2006/main">
              <a:ext uri="{FF2B5EF4-FFF2-40B4-BE49-F238E27FC236}">
                <a16:creationId xmlns:a16="http://schemas.microsoft.com/office/drawing/2014/main" id="{0488E61C-C65F-43D4-98C8-AFFEC7F4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eader-cape-gradient-21">
            <a:extLst xmlns:a="http://schemas.openxmlformats.org/drawingml/2006/main">
              <a:ext uri="{FF2B5EF4-FFF2-40B4-BE49-F238E27FC236}">
                <a16:creationId xmlns:a16="http://schemas.microsoft.com/office/drawing/2014/main" id="{0BE6C038-C42F-4B61-8E69-3FC67D62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eader-cape-gradient-22">
            <a:extLst xmlns:a="http://schemas.openxmlformats.org/drawingml/2006/main">
              <a:ext uri="{FF2B5EF4-FFF2-40B4-BE49-F238E27FC236}">
                <a16:creationId xmlns:a16="http://schemas.microsoft.com/office/drawing/2014/main" id="{ED9E609B-BCDC-48C3-B568-2F4097B8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eader-cape-gradient-23">
            <a:extLst xmlns:a="http://schemas.openxmlformats.org/drawingml/2006/main">
              <a:ext uri="{FF2B5EF4-FFF2-40B4-BE49-F238E27FC236}">
                <a16:creationId xmlns:a16="http://schemas.microsoft.com/office/drawing/2014/main" id="{07DA332B-C330-496F-A055-98E025B6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eader-cape-gradient-24">
            <a:extLst xmlns:a="http://schemas.openxmlformats.org/drawingml/2006/main">
              <a:ext uri="{FF2B5EF4-FFF2-40B4-BE49-F238E27FC236}">
                <a16:creationId xmlns:a16="http://schemas.microsoft.com/office/drawing/2014/main" id="{D0B9CF39-B677-4480-9625-60EFBBEF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eader-cape-gradient-25">
            <a:extLst xmlns:a="http://schemas.openxmlformats.org/drawingml/2006/main">
              <a:ext uri="{FF2B5EF4-FFF2-40B4-BE49-F238E27FC236}">
                <a16:creationId xmlns:a16="http://schemas.microsoft.com/office/drawing/2014/main" id="{1657F820-7D2D-4900-9888-3DEECBAB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eader-cape-gradient-26">
            <a:extLst xmlns:a="http://schemas.openxmlformats.org/drawingml/2006/main">
              <a:ext uri="{FF2B5EF4-FFF2-40B4-BE49-F238E27FC236}">
                <a16:creationId xmlns:a16="http://schemas.microsoft.com/office/drawing/2014/main" id="{AF493B8E-6551-4F0C-AA7A-378AF299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eader-cape-gradient-27">
            <a:extLst xmlns:a="http://schemas.openxmlformats.org/drawingml/2006/main">
              <a:ext uri="{FF2B5EF4-FFF2-40B4-BE49-F238E27FC236}">
                <a16:creationId xmlns:a16="http://schemas.microsoft.com/office/drawing/2014/main" id="{3671330E-EC9C-4896-8E80-4AB00788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eader-cape-gradient-28">
            <a:extLst xmlns:a="http://schemas.openxmlformats.org/drawingml/2006/main">
              <a:ext uri="{FF2B5EF4-FFF2-40B4-BE49-F238E27FC236}">
                <a16:creationId xmlns:a16="http://schemas.microsoft.com/office/drawing/2014/main" id="{CF3267F0-7F0F-4A5D-ADB5-8B4172A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eader-cape-gradient-29">
            <a:extLst xmlns:a="http://schemas.openxmlformats.org/drawingml/2006/main">
              <a:ext uri="{FF2B5EF4-FFF2-40B4-BE49-F238E27FC236}">
                <a16:creationId xmlns:a16="http://schemas.microsoft.com/office/drawing/2014/main" id="{93DF4A34-F075-4C48-85F0-6245836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eader-cape-gradient-30">
            <a:extLst xmlns:a="http://schemas.openxmlformats.org/drawingml/2006/main">
              <a:ext uri="{FF2B5EF4-FFF2-40B4-BE49-F238E27FC236}">
                <a16:creationId xmlns:a16="http://schemas.microsoft.com/office/drawing/2014/main" id="{47D3176F-E018-422A-B58B-1DC6879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eader-cape-gradient-31">
            <a:extLst xmlns:a="http://schemas.openxmlformats.org/drawingml/2006/main">
              <a:ext uri="{FF2B5EF4-FFF2-40B4-BE49-F238E27FC236}">
                <a16:creationId xmlns:a16="http://schemas.microsoft.com/office/drawing/2014/main" id="{8BE86224-526E-4045-81CE-19962E68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eader-cape-gradient-32">
            <a:extLst xmlns:a="http://schemas.openxmlformats.org/drawingml/2006/main">
              <a:ext uri="{FF2B5EF4-FFF2-40B4-BE49-F238E27FC236}">
                <a16:creationId xmlns:a16="http://schemas.microsoft.com/office/drawing/2014/main" id="{95E2D35A-1943-4E41-B7A8-2BA43ADD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0" y="5073928"/>
            <a:ext cx="1381367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A8EDF088-BD66-4FF0-A593-D40C6477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42007"/>
            <a:ext cx="30471861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67" name="authors">
            <a:extLst xmlns:a="http://schemas.openxmlformats.org/drawingml/2006/main">
              <a:ext uri="{FF2B5EF4-FFF2-40B4-BE49-F238E27FC236}">
                <a16:creationId xmlns:a16="http://schemas.microsoft.com/office/drawing/2014/main" id="{39CF8C86-4CCB-4A3F-A8C8-A94B2B10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168616"/>
            <a:ext cx="30178862" cy="68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45" b="1">
                <a:solidFill>
                  <a:srgbClr val="FFFFFF"/>
                </a:solidFill>
              </a:defRPr>
            </a:pPr>
            <a:r>
              <a:rPr sz="284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68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3631AAE4-3482-4142-A067-FB227BF5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955593"/>
            <a:ext cx="3017886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>
                <a:solidFill>
                  <a:srgbClr val="F6F2EE"/>
                </a:solidFill>
              </a:defRPr>
            </a:pPr>
            <a:r>
              <a:rPr sz="2230">
                <a:solidFill>
                  <a:srgbClr val="F6F2EE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9" name="citation">
            <a:extLst xmlns:a="http://schemas.openxmlformats.org/drawingml/2006/main">
              <a:ext uri="{FF2B5EF4-FFF2-40B4-BE49-F238E27FC236}">
                <a16:creationId xmlns:a16="http://schemas.microsoft.com/office/drawing/2014/main" id="{375CB9A3-F654-4250-BA75-32CA46AE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4607955"/>
            <a:ext cx="24904887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 b="1">
                <a:solidFill>
                  <a:srgbClr val="E5BC6C"/>
                </a:solidFill>
              </a:defRPr>
            </a:pPr>
            <a:r>
              <a:rPr sz="1999" b="1">
                <a:solidFill>
                  <a:srgbClr val="E5BC6C"/>
                </a:solidFill>
              </a:rPr>
              <a:t>POSTEX-SYNTH-2026-001 · fully synthetic · CC0-1.0 · no DOI</a:t>
            </a:r>
          </a:p>
        </p:txBody>
      </p:sp>
      <p:sp>
        <p:nvSpPr>
          <p:cNvPr id="70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1071F83C-A7C3-4B0F-BBDD-E3ABB9B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600587"/>
            <a:ext cx="9571290" cy="1346144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533">
            <a:solidFill>
              <a:srgbClr val="DDE5E7"/>
            </a:solidFill>
            <a:prstDash val="solid"/>
          </a:ln>
        </p:spPr>
      </p:sp>
      <p:sp>
        <p:nvSpPr>
          <p:cNvPr id="71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5F1E21C0-31D8-414A-A3B4-0D15D206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0716" y="994076"/>
            <a:ext cx="9336891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76" b="1">
                <a:solidFill>
                  <a:srgbClr val="3E5C78"/>
                </a:solidFill>
              </a:defRPr>
            </a:pPr>
            <a:r>
              <a:rPr sz="2076" b="1">
                <a:solidFill>
                  <a:srgbClr val="3E5C78"/>
                </a:solidFill>
              </a:rPr>
              <a:t>Fictional lab logo</a:t>
            </a:r>
          </a:p>
        </p:txBody>
      </p:sp>
      <p:sp>
        <p:nvSpPr>
          <p:cNvPr id="72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41B1441D-14CA-4B2C-8231-E05FEAA3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2174540"/>
            <a:ext cx="9571290" cy="2485189"/>
          </a:xfrm>
          <a:prstGeom xmlns:a="http://schemas.openxmlformats.org/drawingml/2006/main" prst="roundRect">
            <a:avLst>
              <a:gd name="adj" fmla="val 6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8861E331-BA6E-42B0-9159-C3EDEE03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3E5C78"/>
                </a:solidFill>
              </a:defRPr>
            </a:pPr>
            <a:r>
              <a:rPr sz="5229" b="1">
                <a:solidFill>
                  <a:srgbClr val="3E5C78"/>
                </a:solidFill>
              </a:rPr>
              <a:t>1,240</a:t>
            </a:r>
          </a:p>
        </p:txBody>
      </p:sp>
      <p:sp>
        <p:nvSpPr>
          <p:cNvPr id="74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0EDEA20D-C0D1-4116-9344-4901A0B7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333429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synthetic profiles</a:t>
            </a:r>
          </a:p>
        </p:txBody>
      </p:sp>
      <p:sp>
        <p:nvSpPr>
          <p:cNvPr id="75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A3068D96-1139-49ED-AE81-875F9128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487AA1"/>
                </a:solidFill>
              </a:defRPr>
            </a:pPr>
            <a:r>
              <a:rPr sz="5229" b="1">
                <a:solidFill>
                  <a:srgbClr val="487AA1"/>
                </a:solidFill>
              </a:rPr>
              <a:t>12</a:t>
            </a:r>
          </a:p>
        </p:txBody>
      </p:sp>
      <p:sp>
        <p:nvSpPr>
          <p:cNvPr id="76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46F98610-89EF-4543-BDE7-F665DCBA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333429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anonymous model features</a:t>
            </a:r>
          </a:p>
        </p:txBody>
      </p:sp>
      <p:sp>
        <p:nvSpPr>
          <p:cNvPr id="77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49E04449-AD2C-4369-8AAE-0019384A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5BC6C"/>
                </a:solidFill>
              </a:defRPr>
            </a:pPr>
            <a:r>
              <a:rPr sz="5229" b="1">
                <a:solidFill>
                  <a:srgbClr val="E5BC6C"/>
                </a:solidFill>
              </a:rPr>
              <a:t>4</a:t>
            </a:r>
          </a:p>
        </p:txBody>
      </p:sp>
      <p:sp>
        <p:nvSpPr>
          <p:cNvPr id="78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FBACC97D-1562-4D58-ADD0-39E2F1D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333429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deterministic cohort simulations</a:t>
            </a:r>
          </a:p>
        </p:txBody>
      </p:sp>
      <p:sp>
        <p:nvSpPr>
          <p:cNvPr id="79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18E511D-1850-48D1-900E-25FAA8F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109423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3E5C78"/>
                </a:solidFill>
              </a:defRPr>
            </a:pPr>
            <a:r>
              <a:rPr sz="3691" b="1">
                <a:solidFill>
                  <a:srgbClr val="3E5C78"/>
                </a:solidFill>
              </a:rPr>
              <a:t>Communication test</a:t>
            </a:r>
          </a:p>
        </p:txBody>
      </p:sp>
      <p:sp>
        <p:nvSpPr>
          <p:cNvPr id="80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C7CD4651-9956-4ECA-A335-FDD719F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1A9995E9-0891-49EB-98C5-4553AEBB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7062079"/>
            <a:ext cx="11915279" cy="2433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293F55"/>
                </a:solidFill>
              </a:defRPr>
            </a:pPr>
            <a:r>
              <a:rPr sz="2922">
                <a:solidFill>
                  <a:srgbClr val="293F55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82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ABBB08FA-D675-4698-B5E0-793AA488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9443718"/>
            <a:ext cx="1191527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Evidence: Abstract and Introduction, pp. 1-2</a:t>
            </a:r>
          </a:p>
        </p:txBody>
      </p:sp>
      <p:sp>
        <p:nvSpPr>
          <p:cNvPr id="83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3C6A3F19-80B0-44D0-97EB-E67CEEFF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044306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3E5C78"/>
                </a:solidFill>
              </a:defRPr>
            </a:pPr>
            <a:r>
              <a:rPr sz="3691" b="1">
                <a:solidFill>
                  <a:srgbClr val="3E5C78"/>
                </a:solidFill>
              </a:rPr>
              <a:t>Deterministic workflow</a:t>
            </a:r>
          </a:p>
        </p:txBody>
      </p:sp>
      <p:sp>
        <p:nvSpPr>
          <p:cNvPr id="84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E53354E3-AAD2-4F2E-8F87-2962FBCA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73808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79514483-1547-4647-B656-12D4C9FE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1767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56459AFE-2FDB-4D4F-B2FD-BE6C83E0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90156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1</a:t>
            </a:r>
          </a:p>
        </p:txBody>
      </p:sp>
      <p:sp>
        <p:nvSpPr>
          <p:cNvPr id="87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79CB343F-EE9C-4DE0-90F3-1BDF60A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059091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293F55"/>
                </a:solidFill>
              </a:defRPr>
            </a:pPr>
            <a:r>
              <a:rPr sz="2922" b="1">
                <a:solidFill>
                  <a:srgbClr val="293F55"/>
                </a:solidFill>
              </a:rPr>
              <a:t>Fixed seed generated 1,240 profiles</a:t>
            </a:r>
          </a:p>
        </p:txBody>
      </p:sp>
      <p:sp>
        <p:nvSpPr>
          <p:cNvPr id="88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86CB2F4F-5DA7-4574-A26A-945828B7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846068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443B91B1-2E62-4C1A-A3C4-BAFF28BA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918553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2</a:t>
            </a:r>
          </a:p>
        </p:txBody>
      </p:sp>
      <p:sp>
        <p:nvSpPr>
          <p:cNvPr id="90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4B5912B6-CA4D-4A01-BC17-AD41A1C2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887488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293F55"/>
                </a:solidFill>
              </a:defRPr>
            </a:pPr>
            <a:r>
              <a:rPr sz="2922" b="1">
                <a:solidFill>
                  <a:srgbClr val="293F55"/>
                </a:solidFill>
              </a:rPr>
              <a:t>480 anonymous transcript-like features</a:t>
            </a:r>
          </a:p>
        </p:txBody>
      </p:sp>
      <p:sp>
        <p:nvSpPr>
          <p:cNvPr id="91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0AE22AD8-533E-44FC-96DF-11B6944C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674464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72FF3CF7-475E-4188-967E-5B00024C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746949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3</a:t>
            </a:r>
          </a:p>
        </p:txBody>
      </p:sp>
      <p:sp>
        <p:nvSpPr>
          <p:cNvPr id="93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66FA13AE-E5CF-4C32-935D-E001C6A5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2715884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293F55"/>
                </a:solidFill>
              </a:defRPr>
            </a:pPr>
            <a:r>
              <a:rPr sz="2922" b="1">
                <a:solidFill>
                  <a:srgbClr val="293F55"/>
                </a:solidFill>
              </a:rPr>
              <a:t>Nested elastic-net selection</a:t>
            </a:r>
          </a:p>
        </p:txBody>
      </p:sp>
      <p:sp>
        <p:nvSpPr>
          <p:cNvPr id="94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7E1ABE1F-F524-4A4E-A6B9-F4BA4D75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0286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DCA041C1-55B9-479A-8C19-6C4DAF66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75345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4</a:t>
            </a:r>
          </a:p>
        </p:txBody>
      </p:sp>
      <p:sp>
        <p:nvSpPr>
          <p:cNvPr id="96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3740F172-013E-46AF-8324-C93726CB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3544280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293F55"/>
                </a:solidFill>
              </a:defRPr>
            </a:pPr>
            <a:r>
              <a:rPr sz="2922" b="1">
                <a:solidFill>
                  <a:srgbClr val="293F55"/>
                </a:solidFill>
              </a:rPr>
              <a:t>12-feature score and shift testing</a:t>
            </a:r>
          </a:p>
        </p:txBody>
      </p:sp>
      <p:sp>
        <p:nvSpPr>
          <p:cNvPr id="97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439D0DD0-310B-4D8E-B837-B69C4EE7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4600486"/>
            <a:ext cx="11915279" cy="3727784"/>
          </a:xfrm>
          <a:prstGeom xmlns:a="http://schemas.openxmlformats.org/drawingml/2006/main" prst="roundRect">
            <a:avLst>
              <a:gd name="adj" fmla="val 3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DE5E7"/>
            </a:solidFill>
            <a:prstDash val="solid"/>
          </a:ln>
        </p:spPr>
      </p:sp>
      <p:sp>
        <p:nvSpPr>
          <p:cNvPr id="98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6DB4D789-8229-488E-B1E0-70D01595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4911134"/>
            <a:ext cx="4492646" cy="41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 b="1">
                <a:solidFill>
                  <a:srgbClr val="3E5C78"/>
                </a:solidFill>
              </a:defRPr>
            </a:pPr>
            <a:r>
              <a:rPr sz="2230" b="1">
                <a:solidFill>
                  <a:srgbClr val="3E5C78"/>
                </a:solidFill>
              </a:rPr>
              <a:t>FOUR SYNTHETIC COHORTS</a:t>
            </a:r>
          </a:p>
        </p:txBody>
      </p:sp>
      <p:sp>
        <p:nvSpPr>
          <p:cNvPr id="99" name="datasets">
            <a:extLst xmlns:a="http://schemas.openxmlformats.org/drawingml/2006/main">
              <a:ext uri="{FF2B5EF4-FFF2-40B4-BE49-F238E27FC236}">
                <a16:creationId xmlns:a16="http://schemas.microsoft.com/office/drawing/2014/main" id="{E67985CA-3493-4E7C-B4B3-CFFD34D1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5480657"/>
            <a:ext cx="11368348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293F55"/>
                </a:solidFill>
              </a:defRPr>
            </a:pPr>
            <a:r>
              <a:rPr sz="2922">
                <a:solidFill>
                  <a:srgbClr val="293F55"/>
                </a:solidFill>
              </a:rPr>
              <a:t>Discovery n=620 · Internal validation n=310</a:t>
            </a:r>
          </a:p>
          <a:p xmlns:a="http://schemas.openxmlformats.org/drawingml/2006/main">
            <a:pPr>
              <a:defRPr sz="2922">
                <a:solidFill>
                  <a:srgbClr val="293F55"/>
                </a:solidFill>
              </a:defRPr>
            </a:pPr>
            <a:r>
              <a:rPr sz="2922">
                <a:solidFill>
                  <a:srgbClr val="293F55"/>
                </a:solidFill>
              </a:rPr>
              <a:t>External simulation A n=186 · External simulation B n=124</a:t>
            </a:r>
          </a:p>
          <a:p xmlns:a="http://schemas.openxmlformats.org/drawingml/2006/main">
            <a:pPr>
              <a:defRPr sz="2922">
                <a:solidFill>
                  <a:srgbClr val="293F55"/>
                </a:solidFill>
              </a:defRPr>
            </a:pPr>
            <a:r>
              <a:rPr sz="2922">
                <a:solidFill>
                  <a:srgbClr val="293F55"/>
                </a:solidFill>
              </a:rPr>
              <a:t>All values are authored fixtures; no participant, specimen, institution, registry or external dataset exists.</a:t>
            </a:r>
          </a:p>
        </p:txBody>
      </p:sp>
      <p:sp>
        <p:nvSpPr>
          <p:cNvPr id="100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4A688BC7-9156-4E7B-9770-D7723ED8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7841586"/>
            <a:ext cx="11368348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Evidence: Abstract and Methods, pp. 1-2</a:t>
            </a:r>
          </a:p>
        </p:txBody>
      </p:sp>
      <p:sp>
        <p:nvSpPr>
          <p:cNvPr id="101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780BE44D-0FF3-463A-B5E7-5D34AC8B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8897792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3E5C78"/>
                </a:solidFill>
              </a:defRPr>
            </a:pPr>
            <a:r>
              <a:rPr sz="3691" b="1">
                <a:solidFill>
                  <a:srgbClr val="3E5C78"/>
                </a:solidFill>
              </a:rPr>
              <a:t>Generation to validation</a:t>
            </a:r>
          </a:p>
        </p:txBody>
      </p:sp>
      <p:sp>
        <p:nvSpPr>
          <p:cNvPr id="102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12CCE4D9-A51B-4C95-8B6F-6EFF8A5B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591574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E042F454-F485-4315-8404-56E6DBA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829738"/>
            <a:ext cx="11915279" cy="10769153"/>
          </a:xfrm>
          <a:prstGeom xmlns:a="http://schemas.openxmlformats.org/drawingml/2006/main" prst="roundRect">
            <a:avLst>
              <a:gd name="adj" fmla="val 1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DE5E7"/>
            </a:solidFill>
            <a:prstDash val="solid"/>
          </a:ln>
        </p:spPr>
      </p:sp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59ee687d24694">
            <a:extLst>
              <a:ext uri="{96DAC541-7B7A-43D3-8B79-37D633B846F1}">
                <asvg:svgBlip xmlns:asvg="http://schemas.microsoft.com/office/drawing/2016/SVG/main" r:embed="Rdaa9baafe7a740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62660" y="20036837"/>
            <a:ext cx="11524614" cy="9754367"/>
          </a:xfrm>
          <a:prstGeom xmlns:a="http://schemas.openxmlformats.org/drawingml/2006/main" prst="rect">
            <a:avLst/>
          </a:prstGeom>
        </p:spPr>
      </p:pic>
      <p:sp>
        <p:nvSpPr>
          <p:cNvPr id="105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75B3DAD7-0D49-4C0C-B1A1-029237D6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29853334"/>
            <a:ext cx="1144648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293F55"/>
                </a:solidFill>
              </a:defRPr>
            </a:pPr>
            <a:r>
              <a:rPr sz="2307" b="1">
                <a:solidFill>
                  <a:srgbClr val="293F55"/>
                </a:solidFill>
              </a:rPr>
              <a:t>Figure 1 · Deterministic generation and validation workflow</a:t>
            </a:r>
          </a:p>
        </p:txBody>
      </p:sp>
      <p:sp>
        <p:nvSpPr>
          <p:cNvPr id="106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FE063288-10E2-4DB9-9B5D-082D9DF5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30195047"/>
            <a:ext cx="1144648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Authored synthetic fixture · manuscript p. 2</a:t>
            </a:r>
          </a:p>
        </p:txBody>
      </p:sp>
      <p:sp>
        <p:nvSpPr>
          <p:cNvPr id="107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40C69402-1B3B-4ECD-A44C-43C81033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6109423"/>
            <a:ext cx="14015103" cy="2744063"/>
          </a:xfrm>
          <a:prstGeom xmlns:a="http://schemas.openxmlformats.org/drawingml/2006/main" prst="roundRect">
            <a:avLst>
              <a:gd name="adj" fmla="val 5554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takeaway-cape-gradient-1">
            <a:extLst xmlns:a="http://schemas.openxmlformats.org/drawingml/2006/main">
              <a:ext uri="{FF2B5EF4-FFF2-40B4-BE49-F238E27FC236}">
                <a16:creationId xmlns:a16="http://schemas.microsoft.com/office/drawing/2014/main" id="{B9A7BA90-CF65-40CB-B977-77C61A35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akeaway-cape-gradient-2">
            <a:extLst xmlns:a="http://schemas.openxmlformats.org/drawingml/2006/main">
              <a:ext uri="{FF2B5EF4-FFF2-40B4-BE49-F238E27FC236}">
                <a16:creationId xmlns:a16="http://schemas.microsoft.com/office/drawing/2014/main" id="{1BE0DAB0-AB7E-48A6-95A4-86D71E03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75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takeaway-cape-gradient-3">
            <a:extLst xmlns:a="http://schemas.openxmlformats.org/drawingml/2006/main">
              <a:ext uri="{FF2B5EF4-FFF2-40B4-BE49-F238E27FC236}">
                <a16:creationId xmlns:a16="http://schemas.microsoft.com/office/drawing/2014/main" id="{6D249515-BD30-4E59-9B3C-AE32C70E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547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akeaway-cape-gradient-4">
            <a:extLst xmlns:a="http://schemas.openxmlformats.org/drawingml/2006/main">
              <a:ext uri="{FF2B5EF4-FFF2-40B4-BE49-F238E27FC236}">
                <a16:creationId xmlns:a16="http://schemas.microsoft.com/office/drawing/2014/main" id="{ACB2DC3D-250D-4E79-B118-A3A7AE65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519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takeaway-cape-gradient-5">
            <a:extLst xmlns:a="http://schemas.openxmlformats.org/drawingml/2006/main">
              <a:ext uri="{FF2B5EF4-FFF2-40B4-BE49-F238E27FC236}">
                <a16:creationId xmlns:a16="http://schemas.microsoft.com/office/drawing/2014/main" id="{E5F40FD0-6947-49C6-AE09-1F22017C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91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akeaway-cape-gradient-6">
            <a:extLst xmlns:a="http://schemas.openxmlformats.org/drawingml/2006/main">
              <a:ext uri="{FF2B5EF4-FFF2-40B4-BE49-F238E27FC236}">
                <a16:creationId xmlns:a16="http://schemas.microsoft.com/office/drawing/2014/main" id="{EBD7CC99-CBCE-42AB-83D0-00014E90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8463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takeaway-cape-gradient-7">
            <a:extLst xmlns:a="http://schemas.openxmlformats.org/drawingml/2006/main">
              <a:ext uri="{FF2B5EF4-FFF2-40B4-BE49-F238E27FC236}">
                <a16:creationId xmlns:a16="http://schemas.microsoft.com/office/drawing/2014/main" id="{0E65CBAC-430F-485F-A7D8-BEDEF9D1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6435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akeaway-cape-gradient-8">
            <a:extLst xmlns:a="http://schemas.openxmlformats.org/drawingml/2006/main">
              <a:ext uri="{FF2B5EF4-FFF2-40B4-BE49-F238E27FC236}">
                <a16:creationId xmlns:a16="http://schemas.microsoft.com/office/drawing/2014/main" id="{8A5E7B40-4541-4DAC-9539-F8B76872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4407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takeaway-cape-gradient-9">
            <a:extLst xmlns:a="http://schemas.openxmlformats.org/drawingml/2006/main">
              <a:ext uri="{FF2B5EF4-FFF2-40B4-BE49-F238E27FC236}">
                <a16:creationId xmlns:a16="http://schemas.microsoft.com/office/drawing/2014/main" id="{3D121E39-3F01-4B5F-BF87-0127022E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2379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takeaway-cape-gradient-10">
            <a:extLst xmlns:a="http://schemas.openxmlformats.org/drawingml/2006/main">
              <a:ext uri="{FF2B5EF4-FFF2-40B4-BE49-F238E27FC236}">
                <a16:creationId xmlns:a16="http://schemas.microsoft.com/office/drawing/2014/main" id="{2B3FA3F1-3F59-444C-BCBB-E54224C9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351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takeaway-cape-gradient-11">
            <a:extLst xmlns:a="http://schemas.openxmlformats.org/drawingml/2006/main">
              <a:ext uri="{FF2B5EF4-FFF2-40B4-BE49-F238E27FC236}">
                <a16:creationId xmlns:a16="http://schemas.microsoft.com/office/drawing/2014/main" id="{1667834F-7D40-45C4-8165-38FEA2A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8323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akeaway-cape-gradient-12">
            <a:extLst xmlns:a="http://schemas.openxmlformats.org/drawingml/2006/main">
              <a:ext uri="{FF2B5EF4-FFF2-40B4-BE49-F238E27FC236}">
                <a16:creationId xmlns:a16="http://schemas.microsoft.com/office/drawing/2014/main" id="{B8FF7280-49C4-4C18-B62A-5484AD03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6295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takeaway-cape-gradient-13">
            <a:extLst xmlns:a="http://schemas.openxmlformats.org/drawingml/2006/main">
              <a:ext uri="{FF2B5EF4-FFF2-40B4-BE49-F238E27FC236}">
                <a16:creationId xmlns:a16="http://schemas.microsoft.com/office/drawing/2014/main" id="{5BFF4D9B-4D1C-4E7F-BD2F-E48FD458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4267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takeaway-cape-gradient-14">
            <a:extLst xmlns:a="http://schemas.openxmlformats.org/drawingml/2006/main">
              <a:ext uri="{FF2B5EF4-FFF2-40B4-BE49-F238E27FC236}">
                <a16:creationId xmlns:a16="http://schemas.microsoft.com/office/drawing/2014/main" id="{A18F5BED-2586-4686-8409-3080FBD5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2239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takeaway-cape-gradient-15">
            <a:extLst xmlns:a="http://schemas.openxmlformats.org/drawingml/2006/main">
              <a:ext uri="{FF2B5EF4-FFF2-40B4-BE49-F238E27FC236}">
                <a16:creationId xmlns:a16="http://schemas.microsoft.com/office/drawing/2014/main" id="{1F0FDF09-D5DA-4A10-8AC1-EB189842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0211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akeaway-cape-gradient-16">
            <a:extLst xmlns:a="http://schemas.openxmlformats.org/drawingml/2006/main">
              <a:ext uri="{FF2B5EF4-FFF2-40B4-BE49-F238E27FC236}">
                <a16:creationId xmlns:a16="http://schemas.microsoft.com/office/drawing/2014/main" id="{1F12A1ED-4808-45FC-AAA8-FFDC1814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8183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akeaway-cape-gradient-17">
            <a:extLst xmlns:a="http://schemas.openxmlformats.org/drawingml/2006/main">
              <a:ext uri="{FF2B5EF4-FFF2-40B4-BE49-F238E27FC236}">
                <a16:creationId xmlns:a16="http://schemas.microsoft.com/office/drawing/2014/main" id="{A0957B97-EE0B-4BB2-B1DC-EBFDDA2A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6155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takeaway-cape-gradient-18">
            <a:extLst xmlns:a="http://schemas.openxmlformats.org/drawingml/2006/main">
              <a:ext uri="{FF2B5EF4-FFF2-40B4-BE49-F238E27FC236}">
                <a16:creationId xmlns:a16="http://schemas.microsoft.com/office/drawing/2014/main" id="{F358202F-9932-46A6-8209-5CC4DAE6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4127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takeaway-cape-gradient-19">
            <a:extLst xmlns:a="http://schemas.openxmlformats.org/drawingml/2006/main">
              <a:ext uri="{FF2B5EF4-FFF2-40B4-BE49-F238E27FC236}">
                <a16:creationId xmlns:a16="http://schemas.microsoft.com/office/drawing/2014/main" id="{50696012-5D7A-4817-BDCC-38DFAA8B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2099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takeaway-cape-gradient-20">
            <a:extLst xmlns:a="http://schemas.openxmlformats.org/drawingml/2006/main">
              <a:ext uri="{FF2B5EF4-FFF2-40B4-BE49-F238E27FC236}">
                <a16:creationId xmlns:a16="http://schemas.microsoft.com/office/drawing/2014/main" id="{5A4FFF8A-316B-4109-AA1E-EEA9B034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0071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akeaway-cape-gradient-21">
            <a:extLst xmlns:a="http://schemas.openxmlformats.org/drawingml/2006/main">
              <a:ext uri="{FF2B5EF4-FFF2-40B4-BE49-F238E27FC236}">
                <a16:creationId xmlns:a16="http://schemas.microsoft.com/office/drawing/2014/main" id="{00901352-5440-4355-A83F-BD210435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043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takeaway-cape-gradient-22">
            <a:extLst xmlns:a="http://schemas.openxmlformats.org/drawingml/2006/main">
              <a:ext uri="{FF2B5EF4-FFF2-40B4-BE49-F238E27FC236}">
                <a16:creationId xmlns:a16="http://schemas.microsoft.com/office/drawing/2014/main" id="{FD0AF04C-06D3-48C9-84F7-612B878D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6015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takeaway-cape-gradient-23">
            <a:extLst xmlns:a="http://schemas.openxmlformats.org/drawingml/2006/main">
              <a:ext uri="{FF2B5EF4-FFF2-40B4-BE49-F238E27FC236}">
                <a16:creationId xmlns:a16="http://schemas.microsoft.com/office/drawing/2014/main" id="{ED7710E3-AE6E-4BD6-8E15-70A87E0B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3987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takeaway-cape-gradient-24">
            <a:extLst xmlns:a="http://schemas.openxmlformats.org/drawingml/2006/main">
              <a:ext uri="{FF2B5EF4-FFF2-40B4-BE49-F238E27FC236}">
                <a16:creationId xmlns:a16="http://schemas.microsoft.com/office/drawing/2014/main" id="{87A0B71A-1D05-49C3-A82D-96CC8EC4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1959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takeaway-cape-gradient-25">
            <a:extLst xmlns:a="http://schemas.openxmlformats.org/drawingml/2006/main">
              <a:ext uri="{FF2B5EF4-FFF2-40B4-BE49-F238E27FC236}">
                <a16:creationId xmlns:a16="http://schemas.microsoft.com/office/drawing/2014/main" id="{00A32034-D90F-4468-9B09-626917BA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9931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takeaway-cape-gradient-26">
            <a:extLst xmlns:a="http://schemas.openxmlformats.org/drawingml/2006/main">
              <a:ext uri="{FF2B5EF4-FFF2-40B4-BE49-F238E27FC236}">
                <a16:creationId xmlns:a16="http://schemas.microsoft.com/office/drawing/2014/main" id="{3C9F5EB5-5B27-483C-84C7-3DBEB19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7903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takeaway-cape-gradient-27">
            <a:extLst xmlns:a="http://schemas.openxmlformats.org/drawingml/2006/main">
              <a:ext uri="{FF2B5EF4-FFF2-40B4-BE49-F238E27FC236}">
                <a16:creationId xmlns:a16="http://schemas.microsoft.com/office/drawing/2014/main" id="{4548BB1B-CC4A-4D37-BE52-FC260225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874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takeaway-cape-gradient-28">
            <a:extLst xmlns:a="http://schemas.openxmlformats.org/drawingml/2006/main">
              <a:ext uri="{FF2B5EF4-FFF2-40B4-BE49-F238E27FC236}">
                <a16:creationId xmlns:a16="http://schemas.microsoft.com/office/drawing/2014/main" id="{7075CF74-9448-4AA9-97D6-0BDF0EE1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3846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takeaway-cape-gradient-29">
            <a:extLst xmlns:a="http://schemas.openxmlformats.org/drawingml/2006/main">
              <a:ext uri="{FF2B5EF4-FFF2-40B4-BE49-F238E27FC236}">
                <a16:creationId xmlns:a16="http://schemas.microsoft.com/office/drawing/2014/main" id="{BC61115C-939E-4761-A5D6-A44E9D6D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1818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akeaway-cape-gradient-30">
            <a:extLst xmlns:a="http://schemas.openxmlformats.org/drawingml/2006/main">
              <a:ext uri="{FF2B5EF4-FFF2-40B4-BE49-F238E27FC236}">
                <a16:creationId xmlns:a16="http://schemas.microsoft.com/office/drawing/2014/main" id="{62914CE1-53EC-40C8-8A2B-7EE8B22A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9790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takeaway-cape-gradient-31">
            <a:extLst xmlns:a="http://schemas.openxmlformats.org/drawingml/2006/main">
              <a:ext uri="{FF2B5EF4-FFF2-40B4-BE49-F238E27FC236}">
                <a16:creationId xmlns:a16="http://schemas.microsoft.com/office/drawing/2014/main" id="{368D0B06-5C88-4CE9-967D-81E0ECD9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7762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takeaway-cape-gradient-32">
            <a:extLst xmlns:a="http://schemas.openxmlformats.org/drawingml/2006/main">
              <a:ext uri="{FF2B5EF4-FFF2-40B4-BE49-F238E27FC236}">
                <a16:creationId xmlns:a16="http://schemas.microsoft.com/office/drawing/2014/main" id="{78C79ED0-43F5-465E-8F93-CAA36852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5734" y="6109423"/>
            <a:ext cx="447739" cy="2070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E4E9857B-FEDD-471D-911C-2D60E5BC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335" y="6471846"/>
            <a:ext cx="13155640" cy="1035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30" b="1">
                <a:solidFill>
                  <a:srgbClr val="293F55"/>
                </a:solidFill>
              </a:defRPr>
            </a:pPr>
            <a:r>
              <a:rPr sz="4230" b="1">
                <a:solidFill>
                  <a:srgbClr val="293F55"/>
                </a:solidFill>
              </a:rPr>
              <a:t>External simulations retained C-indices of 0.75 and 0.74</a:t>
            </a:r>
          </a:p>
        </p:txBody>
      </p:sp>
      <p:sp>
        <p:nvSpPr>
          <p:cNvPr id="141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2FB18563-4A67-4BAB-A640-E1C4B791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2267" y="7807636"/>
            <a:ext cx="12647776" cy="497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61" b="1">
                <a:solidFill>
                  <a:srgbClr val="293F55"/>
                </a:solidFill>
              </a:defRPr>
            </a:pPr>
            <a:r>
              <a:rPr sz="2461" b="1">
                <a:solidFill>
                  <a:srgbClr val="293F55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142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B8CECA79-A76C-402D-96EB-1BCF39FE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868" y="8387513"/>
            <a:ext cx="13116574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Evidence: Results, pp. 1 and 3; Figure 2</a:t>
            </a:r>
          </a:p>
        </p:txBody>
      </p:sp>
      <p:sp>
        <p:nvSpPr>
          <p:cNvPr id="143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A313DA0D-FE69-4EE6-9B95-19F560B3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9371234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3E5C78"/>
                </a:solidFill>
              </a:defRPr>
            </a:pPr>
            <a:r>
              <a:rPr sz="3691" b="1">
                <a:solidFill>
                  <a:srgbClr val="3E5C78"/>
                </a:solidFill>
              </a:rPr>
              <a:t>Discrimination across shifts</a:t>
            </a:r>
          </a:p>
        </p:txBody>
      </p:sp>
      <p:sp>
        <p:nvSpPr>
          <p:cNvPr id="144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F2016D1A-8E7D-43EC-8C40-467400D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065016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91A62861-E2E3-4044-8CE8-A1B5FD00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303180"/>
            <a:ext cx="14015103" cy="13823864"/>
          </a:xfrm>
          <a:prstGeom xmlns:a="http://schemas.openxmlformats.org/drawingml/2006/main" prst="roundRect">
            <a:avLst>
              <a:gd name="adj" fmla="val 8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DE5E7"/>
            </a:solidFill>
            <a:prstDash val="solid"/>
          </a:ln>
        </p:spPr>
      </p:sp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cfbaa680e401d">
            <a:extLst>
              <a:ext uri="{96DAC541-7B7A-43D3-8B79-37D633B846F1}">
                <asvg:svgBlip xmlns:asvg="http://schemas.microsoft.com/office/drawing/2016/SVG/main" r:embed="R0bce24d9bb634c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63936" y="10510279"/>
            <a:ext cx="13624438" cy="12809079"/>
          </a:xfrm>
          <a:prstGeom xmlns:a="http://schemas.openxmlformats.org/drawingml/2006/main" prst="rect">
            <a:avLst/>
          </a:prstGeom>
        </p:spPr>
      </p:pic>
      <p:sp>
        <p:nvSpPr>
          <p:cNvPr id="147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ACD367ED-8923-404F-B3B4-45A06C9A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381487"/>
            <a:ext cx="13546305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293F55"/>
                </a:solidFill>
              </a:defRPr>
            </a:pPr>
            <a:r>
              <a:rPr sz="2307" b="1">
                <a:solidFill>
                  <a:srgbClr val="293F55"/>
                </a:solidFill>
              </a:rPr>
              <a:t>Figure 2 · Authored discrimination values across cohort shifts</a:t>
            </a:r>
          </a:p>
        </p:txBody>
      </p:sp>
      <p:sp>
        <p:nvSpPr>
          <p:cNvPr id="148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6816F7A9-39EB-4728-9826-67F52F23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723201"/>
            <a:ext cx="13546305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Authored synthetic fixture · manuscript p. 3</a:t>
            </a:r>
          </a:p>
        </p:txBody>
      </p:sp>
      <p:sp>
        <p:nvSpPr>
          <p:cNvPr id="149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3AB405DE-E08B-4215-A6CC-02543359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4644791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3E5C78"/>
                </a:solidFill>
              </a:defRPr>
            </a:pPr>
            <a:r>
              <a:rPr sz="3691" b="1">
                <a:solidFill>
                  <a:srgbClr val="3E5C78"/>
                </a:solidFill>
              </a:rPr>
              <a:t>Calibration and stress boundary</a:t>
            </a:r>
          </a:p>
        </p:txBody>
      </p:sp>
      <p:sp>
        <p:nvSpPr>
          <p:cNvPr id="150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819E2423-C20A-494B-9520-EA3CAC5A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338573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71F7DF57-A1CA-44DC-9BED-ED9DF0DB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576737"/>
            <a:ext cx="14015103" cy="4400856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DE5E7"/>
            </a:solidFill>
            <a:prstDash val="solid"/>
          </a:ln>
        </p:spPr>
      </p:sp>
      <p:sp>
        <p:nvSpPr>
          <p:cNvPr id="152" name="validation">
            <a:extLst xmlns:a="http://schemas.openxmlformats.org/drawingml/2006/main">
              <a:ext uri="{FF2B5EF4-FFF2-40B4-BE49-F238E27FC236}">
                <a16:creationId xmlns:a16="http://schemas.microsoft.com/office/drawing/2014/main" id="{5AF59059-14B3-4852-A60B-E2B372CF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5918451"/>
            <a:ext cx="13311906" cy="321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293F55"/>
                </a:solidFill>
              </a:defRPr>
            </a:pPr>
            <a:r>
              <a:rPr sz="2922">
                <a:solidFill>
                  <a:srgbClr val="293F55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922">
                <a:solidFill>
                  <a:srgbClr val="293F55"/>
                </a:solidFill>
              </a:defRPr>
            </a:pPr>
            <a:r>
              <a:rPr sz="2922">
                <a:solidFill>
                  <a:srgbClr val="293F55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922">
                <a:solidFill>
                  <a:srgbClr val="293F55"/>
                </a:solidFill>
              </a:defRPr>
            </a:pPr>
            <a:r>
              <a:rPr sz="2922">
                <a:solidFill>
                  <a:srgbClr val="293F55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922">
                <a:solidFill>
                  <a:srgbClr val="293F55"/>
                </a:solidFill>
              </a:defRPr>
            </a:pPr>
            <a:r>
              <a:rPr sz="2922">
                <a:solidFill>
                  <a:srgbClr val="293F55"/>
                </a:solidFill>
              </a:rPr>
              <a:t>• The most severe pre-specified shift reduced C-index by 0.04.</a:t>
            </a:r>
          </a:p>
        </p:txBody>
      </p:sp>
      <p:sp>
        <p:nvSpPr>
          <p:cNvPr id="153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17C7B1C9-52F2-4F05-8D1A-58955D91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9480555"/>
            <a:ext cx="13311906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Evidence: Results, pp. 1, 3-4; Figures 3-4</a:t>
            </a:r>
          </a:p>
        </p:txBody>
      </p:sp>
      <p:sp>
        <p:nvSpPr>
          <p:cNvPr id="154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9596A3F3-AA89-4B61-A608-46A2B1C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30340016"/>
            <a:ext cx="14015103" cy="1190820"/>
          </a:xfrm>
          <a:prstGeom xmlns:a="http://schemas.openxmlformats.org/drawingml/2006/main" prst="roundRect">
            <a:avLst>
              <a:gd name="adj" fmla="val 9598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CC0F2FF7-28B9-4A0D-919E-94FDCD9F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669" y="30650665"/>
            <a:ext cx="1335097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15" b="1">
                <a:solidFill>
                  <a:srgbClr val="FFFFFF"/>
                </a:solidFill>
              </a:defRPr>
            </a:pPr>
            <a:r>
              <a:rPr sz="2615" b="1">
                <a:solidFill>
                  <a:srgbClr val="FFFFFF"/>
                </a:solidFill>
              </a:rPr>
              <a:t>AURORA-12 vs baseline C-index · Discovery 0.78 vs 0.68 · Internal 0.76 vs 0.67 · External A 0.75 vs 0.66 · External B 0.74 vs 0.65</a:t>
            </a:r>
          </a:p>
        </p:txBody>
      </p:sp>
      <p:sp>
        <p:nvSpPr>
          <p:cNvPr id="156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DFE336D6-A99D-44E9-8A01-6B650939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109423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3E5C78"/>
                </a:solidFill>
              </a:defRPr>
            </a:pPr>
            <a:r>
              <a:rPr sz="3691" b="1">
                <a:solidFill>
                  <a:srgbClr val="3E5C78"/>
                </a:solidFill>
              </a:rPr>
              <a:t>Calibration &amp; stability</a:t>
            </a:r>
          </a:p>
        </p:txBody>
      </p:sp>
      <p:sp>
        <p:nvSpPr>
          <p:cNvPr id="157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063F54CF-AD5A-476C-AC86-71D75DD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3C6A302B-A458-40D7-B5D3-04B18547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3E5C78"/>
                </a:solidFill>
              </a:defRPr>
            </a:pPr>
            <a:r>
              <a:rPr sz="5229" b="1">
                <a:solidFill>
                  <a:srgbClr val="3E5C78"/>
                </a:solidFill>
              </a:rPr>
              <a:t>92%</a:t>
            </a:r>
          </a:p>
        </p:txBody>
      </p:sp>
      <p:sp>
        <p:nvSpPr>
          <p:cNvPr id="159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C9340562-D9F1-40CB-A174-77C8C963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99402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coefficient-sign stability</a:t>
            </a:r>
          </a:p>
        </p:txBody>
      </p:sp>
      <p:sp>
        <p:nvSpPr>
          <p:cNvPr id="160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F067AC94-E0D2-42E1-971C-F8CC5987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91" b="1">
                <a:solidFill>
                  <a:srgbClr val="487AA1"/>
                </a:solidFill>
              </a:defRPr>
            </a:pPr>
            <a:r>
              <a:rPr sz="4691" b="1">
                <a:solidFill>
                  <a:srgbClr val="487AA1"/>
                </a:solidFill>
              </a:rPr>
              <a:t>0.97 / 0.95</a:t>
            </a:r>
          </a:p>
        </p:txBody>
      </p:sp>
      <p:sp>
        <p:nvSpPr>
          <p:cNvPr id="161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AC4EF75C-EE2B-4D78-978C-C607A673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99402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external calibration slopes</a:t>
            </a:r>
          </a:p>
        </p:txBody>
      </p:sp>
      <p:sp>
        <p:nvSpPr>
          <p:cNvPr id="162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297A2B1D-2E93-4837-9551-7DDF1747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99" b="1">
                <a:solidFill>
                  <a:srgbClr val="E5BC6C"/>
                </a:solidFill>
              </a:defRPr>
            </a:pPr>
            <a:r>
              <a:rPr sz="3999" b="1">
                <a:solidFill>
                  <a:srgbClr val="E5BC6C"/>
                </a:solidFill>
              </a:rPr>
              <a:t>0.031 / 0.038</a:t>
            </a:r>
          </a:p>
        </p:txBody>
      </p:sp>
      <p:sp>
        <p:nvSpPr>
          <p:cNvPr id="163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D052C56E-D30B-44EE-96B5-C8BCBA02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99402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293F55"/>
                </a:solidFill>
              </a:defRPr>
            </a:pPr>
            <a:r>
              <a:rPr sz="2384" b="1">
                <a:solidFill>
                  <a:srgbClr val="293F55"/>
                </a:solidFill>
              </a:rPr>
              <a:t>external absolute errors</a:t>
            </a:r>
          </a:p>
        </p:txBody>
      </p:sp>
      <p:sp>
        <p:nvSpPr>
          <p:cNvPr id="164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5BF8412D-0521-43CE-8AEB-58DE1365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215909"/>
            <a:ext cx="1405416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Evidence: Stability and calibration, p. 4</a:t>
            </a:r>
          </a:p>
        </p:txBody>
      </p:sp>
      <p:sp>
        <p:nvSpPr>
          <p:cNvPr id="165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E34162B2-5D45-4365-8F2C-156174D5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992531"/>
            <a:ext cx="14054169" cy="7455567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DE5E7"/>
            </a:solidFill>
            <a:prstDash val="solid"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62cb475d04c92">
            <a:extLst>
              <a:ext uri="{96DAC541-7B7A-43D3-8B79-37D633B846F1}">
                <asvg:svgBlip xmlns:asvg="http://schemas.microsoft.com/office/drawing/2016/SVG/main" r:embed="Red4afc0a509346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665036" y="10199630"/>
            <a:ext cx="13663504" cy="6440782"/>
          </a:xfrm>
          <a:prstGeom xmlns:a="http://schemas.openxmlformats.org/drawingml/2006/main" prst="rect">
            <a:avLst/>
          </a:prstGeom>
        </p:spPr>
      </p:pic>
      <p:sp>
        <p:nvSpPr>
          <p:cNvPr id="167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BD665F25-6728-435C-A88C-10FB347E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6702541"/>
            <a:ext cx="1358537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293F55"/>
                </a:solidFill>
              </a:defRPr>
            </a:pPr>
            <a:r>
              <a:rPr sz="2307" b="1">
                <a:solidFill>
                  <a:srgbClr val="293F55"/>
                </a:solidFill>
              </a:rPr>
              <a:t>Figure 3 · Calibration and coefficient-sign stability</a:t>
            </a:r>
          </a:p>
        </p:txBody>
      </p:sp>
      <p:sp>
        <p:nvSpPr>
          <p:cNvPr id="168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315B7383-F2EC-4FB7-B1EB-B5AB4635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7044255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Authored synthetic fixture · manuscript p. 4</a:t>
            </a:r>
          </a:p>
        </p:txBody>
      </p:sp>
      <p:sp>
        <p:nvSpPr>
          <p:cNvPr id="169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6CFFEFB8-279A-46AB-9F5A-CC813F4D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7965846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3E5C78"/>
                </a:solidFill>
              </a:defRPr>
            </a:pPr>
            <a:r>
              <a:rPr sz="3691" b="1">
                <a:solidFill>
                  <a:srgbClr val="3E5C78"/>
                </a:solidFill>
              </a:rPr>
              <a:t>Pre-specified stress test</a:t>
            </a:r>
          </a:p>
        </p:txBody>
      </p:sp>
      <p:sp>
        <p:nvSpPr>
          <p:cNvPr id="170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F9B2008F-8DE3-44C8-BD92-4654C01B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65962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71343D5C-E2D2-4107-9EAB-31E0A044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897792"/>
            <a:ext cx="14054169" cy="7766216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DE5E7"/>
            </a:solidFill>
            <a:prstDash val="solid"/>
          </a:ln>
        </p:spPr>
      </p:sp>
      <p:pic>
        <p:nvPicPr>
          <p:cNvPr id="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01167b0cd48d2">
            <a:extLst>
              <a:ext uri="{96DAC541-7B7A-43D3-8B79-37D633B846F1}">
                <asvg:svgBlip xmlns:asvg="http://schemas.microsoft.com/office/drawing/2016/SVG/main" r:embed="R67dd161e3e2140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665036" y="19104891"/>
            <a:ext cx="13663504" cy="6751430"/>
          </a:xfrm>
          <a:prstGeom xmlns:a="http://schemas.openxmlformats.org/drawingml/2006/main" prst="rect">
            <a:avLst/>
          </a:prstGeom>
        </p:spPr>
      </p:pic>
      <p:sp>
        <p:nvSpPr>
          <p:cNvPr id="173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6C3A31DE-77BE-4D38-9D8A-8F344C37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5918451"/>
            <a:ext cx="1358537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293F55"/>
                </a:solidFill>
              </a:defRPr>
            </a:pPr>
            <a:r>
              <a:rPr sz="2307" b="1">
                <a:solidFill>
                  <a:srgbClr val="293F55"/>
                </a:solidFill>
              </a:rPr>
              <a:t>Figure 4 · Stress-test boundary under increasing shift</a:t>
            </a:r>
          </a:p>
        </p:txBody>
      </p:sp>
      <p:sp>
        <p:nvSpPr>
          <p:cNvPr id="174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AC326D04-D8BF-4043-9ACF-9CF23EB9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6260164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Authored synthetic fixture · manuscript p. 4</a:t>
            </a:r>
          </a:p>
        </p:txBody>
      </p:sp>
      <p:sp>
        <p:nvSpPr>
          <p:cNvPr id="175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82956B00-5B95-4DF1-AB5C-90A7EBE2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181755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3E5C78"/>
                </a:solidFill>
              </a:defRPr>
            </a:pPr>
            <a:r>
              <a:rPr sz="3691" b="1">
                <a:solidFill>
                  <a:srgbClr val="3E5C78"/>
                </a:solidFill>
              </a:rPr>
              <a:t>Supported conclusion</a:t>
            </a:r>
          </a:p>
        </p:txBody>
      </p:sp>
      <p:sp>
        <p:nvSpPr>
          <p:cNvPr id="176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006FD4D0-A0A0-4E0A-99EC-9BA3581D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875537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A88B2275-BA6D-4BB5-8FCC-AD29AD0A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8113701"/>
            <a:ext cx="14054169" cy="3417135"/>
          </a:xfrm>
          <a:prstGeom xmlns:a="http://schemas.openxmlformats.org/drawingml/2006/main" prst="roundRect">
            <a:avLst>
              <a:gd name="adj" fmla="val 3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DE5E7"/>
            </a:solidFill>
            <a:prstDash val="solid"/>
          </a:ln>
        </p:spPr>
      </p:sp>
      <p:sp>
        <p:nvSpPr>
          <p:cNvPr id="178" name="conclusion">
            <a:extLst xmlns:a="http://schemas.openxmlformats.org/drawingml/2006/main">
              <a:ext uri="{FF2B5EF4-FFF2-40B4-BE49-F238E27FC236}">
                <a16:creationId xmlns:a16="http://schemas.microsoft.com/office/drawing/2014/main" id="{A8AD3B02-3F47-47BC-B25A-BC5C2CBD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8455415"/>
            <a:ext cx="13390039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293F55"/>
                </a:solidFill>
              </a:defRPr>
            </a:pPr>
            <a:r>
              <a:rPr sz="2922">
                <a:solidFill>
                  <a:srgbClr val="293F55"/>
                </a:solidFill>
              </a:rPr>
              <a:t>AURORA-12 is a controlled, rights-safe fixture for testing evidence-linked scientific communication. It supports no inference about real biology, prognosis, treatment or clinical utility. Every number, cohort, feature, author and institution is fictional.</a:t>
            </a:r>
          </a:p>
        </p:txBody>
      </p:sp>
      <p:sp>
        <p:nvSpPr>
          <p:cNvPr id="179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3EC9806D-2258-4B3C-9DC4-58037A24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30982024"/>
            <a:ext cx="1339003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487AA1"/>
                </a:solidFill>
              </a:defRPr>
            </a:pPr>
            <a:r>
              <a:rPr sz="1923" i="1">
                <a:solidFill>
                  <a:srgbClr val="487AA1"/>
                </a:solidFill>
              </a:rPr>
              <a:t>Evidence: Discussion and Conclusion, p. 5</a:t>
            </a:r>
          </a:p>
        </p:txBody>
      </p:sp>
      <p:sp>
        <p:nvSpPr>
          <p:cNvPr id="180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AD25A24-234F-4453-8268-77629B07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893260"/>
            <a:ext cx="43891200" cy="102514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163C572-0ADC-4DBC-82CD-0FB8DD6A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32172843"/>
            <a:ext cx="29299866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>
                <a:solidFill>
                  <a:srgbClr val="FFFFFF"/>
                </a:solidFill>
              </a:defRPr>
            </a:pPr>
            <a:r>
              <a:rPr sz="1999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182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05F14433-681C-4C6D-909E-39C12967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1861" y="32172843"/>
            <a:ext cx="12012945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23" b="1">
                <a:solidFill>
                  <a:srgbClr val="E5BC6C"/>
                </a:solidFill>
              </a:defRPr>
            </a:pPr>
            <a:r>
              <a:rPr sz="1923" b="1">
                <a:solidFill>
                  <a:srgbClr val="E5BC6C"/>
                </a:solidFill>
              </a:rPr>
              <a:t>Approvals current · synthetic boundary locked · editable logo placeholder</a:t>
            </a:r>
          </a:p>
        </p:txBody>
      </p:sp>
    </p:spTree>
    <p:extLst>
      <p:ext uri="{BB962C8B-B14F-4D97-AF65-F5344CB8AC3E}">
        <p14:creationId xmlns:p14="http://schemas.microsoft.com/office/powerpoint/2010/main" val="736923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2026-08-08T08:54:03.0820000Z</dcterms:created>
  <dcterms:modified xsi:type="dcterms:W3CDTF">2026-08-08T08:54:03.0820000Z</dcterms:modified>
</coreProperties>
</file>