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6dfb8a1b7447b1" /><Relationship Type="http://schemas.openxmlformats.org/officeDocument/2006/relationships/extended-properties" Target="/docProps/app.xml" Id="R6fd3ec048ecd4d9b" /><Relationship Type="http://schemas.openxmlformats.org/officeDocument/2006/relationships/officeDocument" Target="/ppt/presentation.xml" Id="R4266b5d2755940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4045df4fe4455e"/>
  </p:sldMasterIdLst>
  <p:notesMasterIdLst>
    <p:notesMasterId xmlns:r="http://schemas.openxmlformats.org/officeDocument/2006/relationships" r:id="R71e95b2637b54281"/>
  </p:notesMasterIdLst>
  <p:sldIdLst>
    <p:sldId xmlns:r="http://schemas.openxmlformats.org/officeDocument/2006/relationships" id="256" r:id="Rfee42b08d4624615"/>
  </p:sldIdLst>
  <p:sldSz cx="43891200" cy="32918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7eca31b250415a" /><Relationship Type="http://schemas.openxmlformats.org/officeDocument/2006/relationships/slideMaster" Target="/ppt/slideMasters/slideMaster1.xml" Id="Rf74045df4fe4455e" /><Relationship Type="http://schemas.openxmlformats.org/officeDocument/2006/relationships/notesMaster" Target="/ppt/notesMasters/notesMaster1.xml" Id="R71e95b2637b54281" /><Relationship Type="http://schemas.openxmlformats.org/officeDocument/2006/relationships/presProps" Target="/ppt/presProps.xml" Id="R9f61a59b10d04f8d" /><Relationship Type="http://schemas.openxmlformats.org/officeDocument/2006/relationships/tableStyles" Target="/ppt/tableStyles.xml" Id="Rf1106869754949a9" /><Relationship Type="http://schemas.openxmlformats.org/officeDocument/2006/relationships/slide" Target="/ppt/slides/slide1.xml" Id="Rfee42b08d46246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76b178845e4e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b407afcb7647be" /><Relationship Type="http://schemas.openxmlformats.org/officeDocument/2006/relationships/notesMaster" Target="/ppt/notesMasters/notesMaster1.xml" Id="Re9a564df17a34f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AURORA-12-synthetic-manuscript.pdf</a:t>
            </a:r>
          </a:p>
          <a:p xmlns:a="http://schemas.openxmlformats.org/drawingml/2006/main">
            <a:r>
              <a:t>- palette approval sha256:c9834f95586be531d5d8667465b8d0525469d9de17a3f361d76c34ad4677c4ca</a:t>
            </a:r>
          </a:p>
          <a:p xmlns:a="http://schemas.openxmlformats.org/drawingml/2006/main">
            <a:r>
              <a:t>- deletion approval sha256:b3bcfd87b6cd4cd79a8feca304aa0ef7040590c30a9ab8a7e1c04c935414a02b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7ceb3a987d4a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5413cbeedf4e29" /><Relationship Type="http://schemas.openxmlformats.org/officeDocument/2006/relationships/slideLayout" Target="/ppt/slideLayouts/slideLayout1.xml" Id="R1be8764eb91547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e8764eb91547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8a683b0f64385" /><Relationship Type="http://schemas.openxmlformats.org/officeDocument/2006/relationships/image" Target="/ppt/media/image.png" Id="R4c697f8506614021" /><Relationship Type="http://schemas.openxmlformats.org/officeDocument/2006/relationships/image" Target="/ppt/media/image.svg" Id="R9aec24b44e6f4396" /><Relationship Type="http://schemas.openxmlformats.org/officeDocument/2006/relationships/image" Target="/ppt/media/image2.png" Id="R7055edd2b6ab4d1f" /><Relationship Type="http://schemas.openxmlformats.org/officeDocument/2006/relationships/image" Target="/ppt/media/image2.svg" Id="R52053fe2e6e14ac7" /><Relationship Type="http://schemas.openxmlformats.org/officeDocument/2006/relationships/image" Target="/ppt/media/image3.png" Id="R3b1173c973e04bd2" /><Relationship Type="http://schemas.openxmlformats.org/officeDocument/2006/relationships/image" Target="/ppt/media/image3.svg" Id="R4ac69e3926ad4013" /><Relationship Type="http://schemas.openxmlformats.org/officeDocument/2006/relationships/image" Target="/ppt/media/image4.png" Id="Rb0dfd1f03d1a472e" /><Relationship Type="http://schemas.openxmlformats.org/officeDocument/2006/relationships/image" Target="/ppt/media/image4.svg" Id="Rd217372cbbb74f16" /><Relationship Type="http://schemas.openxmlformats.org/officeDocument/2006/relationships/notesSlide" Target="/ppt/notesSlides/notesSlide1.xml" Id="R56796a2033ac42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5" name="header-band">
            <a:extLst xmlns:a="http://schemas.openxmlformats.org/drawingml/2006/main">
              <a:ext uri="{FF2B5EF4-FFF2-40B4-BE49-F238E27FC236}">
                <a16:creationId xmlns:a16="http://schemas.microsoft.com/office/drawing/2014/main" id="{494CE01B-EE0F-4955-8556-A28708EE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91200" cy="5384576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E5C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cape-gradient-1">
            <a:extLst xmlns:a="http://schemas.openxmlformats.org/drawingml/2006/main">
              <a:ext uri="{FF2B5EF4-FFF2-40B4-BE49-F238E27FC236}">
                <a16:creationId xmlns:a16="http://schemas.microsoft.com/office/drawing/2014/main" id="{34029A09-7BE3-4FB2-8206-880696FD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op-cape-gradient-2">
            <a:extLst xmlns:a="http://schemas.openxmlformats.org/drawingml/2006/main">
              <a:ext uri="{FF2B5EF4-FFF2-40B4-BE49-F238E27FC236}">
                <a16:creationId xmlns:a16="http://schemas.microsoft.com/office/drawing/2014/main" id="{C153B96A-7BE3-4F53-B337-CCD15266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42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op-cape-gradient-3">
            <a:extLst xmlns:a="http://schemas.openxmlformats.org/drawingml/2006/main">
              <a:ext uri="{FF2B5EF4-FFF2-40B4-BE49-F238E27FC236}">
                <a16:creationId xmlns:a16="http://schemas.microsoft.com/office/drawing/2014/main" id="{73614D68-F52D-4E71-8C9B-873E3AF3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D45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op-cape-gradient-4">
            <a:extLst xmlns:a="http://schemas.openxmlformats.org/drawingml/2006/main">
              <a:ext uri="{FF2B5EF4-FFF2-40B4-BE49-F238E27FC236}">
                <a16:creationId xmlns:a16="http://schemas.microsoft.com/office/drawing/2014/main" id="{49EEFEF2-88B4-46C9-A03B-669A7BF4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F4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op-cape-gradient-5">
            <a:extLst xmlns:a="http://schemas.openxmlformats.org/drawingml/2006/main">
              <a:ext uri="{FF2B5EF4-FFF2-40B4-BE49-F238E27FC236}">
                <a16:creationId xmlns:a16="http://schemas.microsoft.com/office/drawing/2014/main" id="{7FC823B7-246B-4502-8B45-7B6FCC21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14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op-cape-gradient-6">
            <a:extLst xmlns:a="http://schemas.openxmlformats.org/drawingml/2006/main">
              <a:ext uri="{FF2B5EF4-FFF2-40B4-BE49-F238E27FC236}">
                <a16:creationId xmlns:a16="http://schemas.microsoft.com/office/drawing/2014/main" id="{C0103DEB-E8E5-4BC6-B906-4E046012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34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op-cape-gradient-7">
            <a:extLst xmlns:a="http://schemas.openxmlformats.org/drawingml/2006/main">
              <a:ext uri="{FF2B5EF4-FFF2-40B4-BE49-F238E27FC236}">
                <a16:creationId xmlns:a16="http://schemas.microsoft.com/office/drawing/2014/main" id="{31DC286E-91A4-4D6C-85DC-020C84A3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550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op-cape-gradient-8">
            <a:extLst xmlns:a="http://schemas.openxmlformats.org/drawingml/2006/main">
              <a:ext uri="{FF2B5EF4-FFF2-40B4-BE49-F238E27FC236}">
                <a16:creationId xmlns:a16="http://schemas.microsoft.com/office/drawing/2014/main" id="{887D9E87-A769-4BE6-B5BC-958339D4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75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op-cape-gradient-9">
            <a:extLst xmlns:a="http://schemas.openxmlformats.org/drawingml/2006/main">
              <a:ext uri="{FF2B5EF4-FFF2-40B4-BE49-F238E27FC236}">
                <a16:creationId xmlns:a16="http://schemas.microsoft.com/office/drawing/2014/main" id="{E0EA1066-C30E-49A9-8C1D-45D3F5D8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95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op-cape-gradient-10">
            <a:extLst xmlns:a="http://schemas.openxmlformats.org/drawingml/2006/main">
              <a:ext uri="{FF2B5EF4-FFF2-40B4-BE49-F238E27FC236}">
                <a16:creationId xmlns:a16="http://schemas.microsoft.com/office/drawing/2014/main" id="{A85C7CA1-D033-4CAF-92A1-D66B6125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B5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op-cape-gradient-11">
            <a:extLst xmlns:a="http://schemas.openxmlformats.org/drawingml/2006/main">
              <a:ext uri="{FF2B5EF4-FFF2-40B4-BE49-F238E27FC236}">
                <a16:creationId xmlns:a16="http://schemas.microsoft.com/office/drawing/2014/main" id="{E3E49890-3443-4DC0-84E3-39F6D2D9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D5B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op-cape-gradient-12">
            <a:extLst xmlns:a="http://schemas.openxmlformats.org/drawingml/2006/main">
              <a:ext uri="{FF2B5EF4-FFF2-40B4-BE49-F238E27FC236}">
                <a16:creationId xmlns:a16="http://schemas.microsoft.com/office/drawing/2014/main" id="{0CE7E1D0-1D53-4680-AC5A-00F3610A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F5E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op-cape-gradient-13">
            <a:extLst xmlns:a="http://schemas.openxmlformats.org/drawingml/2006/main">
              <a:ext uri="{FF2B5EF4-FFF2-40B4-BE49-F238E27FC236}">
                <a16:creationId xmlns:a16="http://schemas.microsoft.com/office/drawing/2014/main" id="{820F89DA-F11C-40C3-945D-BE35AABCC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061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op-cape-gradient-14">
            <a:extLst xmlns:a="http://schemas.openxmlformats.org/drawingml/2006/main">
              <a:ext uri="{FF2B5EF4-FFF2-40B4-BE49-F238E27FC236}">
                <a16:creationId xmlns:a16="http://schemas.microsoft.com/office/drawing/2014/main" id="{CE9BDE21-2D81-4926-85EC-859EE00E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1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op-cape-gradient-15">
            <a:extLst xmlns:a="http://schemas.openxmlformats.org/drawingml/2006/main">
              <a:ext uri="{FF2B5EF4-FFF2-40B4-BE49-F238E27FC236}">
                <a16:creationId xmlns:a16="http://schemas.microsoft.com/office/drawing/2014/main" id="{E50000CC-1115-40BC-96E1-946A1175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267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op-cape-gradient-16">
            <a:extLst xmlns:a="http://schemas.openxmlformats.org/drawingml/2006/main">
              <a:ext uri="{FF2B5EF4-FFF2-40B4-BE49-F238E27FC236}">
                <a16:creationId xmlns:a16="http://schemas.microsoft.com/office/drawing/2014/main" id="{4477800E-9B46-4C88-887D-18DBABB5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A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op-cape-gradient-17">
            <a:extLst xmlns:a="http://schemas.openxmlformats.org/drawingml/2006/main">
              <a:ext uri="{FF2B5EF4-FFF2-40B4-BE49-F238E27FC236}">
                <a16:creationId xmlns:a16="http://schemas.microsoft.com/office/drawing/2014/main" id="{F57BD030-CAF9-4A00-BF2F-8927349C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C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op-cape-gradient-18">
            <a:extLst xmlns:a="http://schemas.openxmlformats.org/drawingml/2006/main">
              <a:ext uri="{FF2B5EF4-FFF2-40B4-BE49-F238E27FC236}">
                <a16:creationId xmlns:a16="http://schemas.microsoft.com/office/drawing/2014/main" id="{1C543F37-7EA6-4CBD-990A-DBC17386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46F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op-cape-gradient-19">
            <a:extLst xmlns:a="http://schemas.openxmlformats.org/drawingml/2006/main">
              <a:ext uri="{FF2B5EF4-FFF2-40B4-BE49-F238E27FC236}">
                <a16:creationId xmlns:a16="http://schemas.microsoft.com/office/drawing/2014/main" id="{29C80A20-DA4E-465E-8F0A-02748850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572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op-cape-gradient-20">
            <a:extLst xmlns:a="http://schemas.openxmlformats.org/drawingml/2006/main">
              <a:ext uri="{FF2B5EF4-FFF2-40B4-BE49-F238E27FC236}">
                <a16:creationId xmlns:a16="http://schemas.microsoft.com/office/drawing/2014/main" id="{6D0C46C3-1E73-419B-94DA-CD33E129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67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op-cape-gradient-21">
            <a:extLst xmlns:a="http://schemas.openxmlformats.org/drawingml/2006/main">
              <a:ext uri="{FF2B5EF4-FFF2-40B4-BE49-F238E27FC236}">
                <a16:creationId xmlns:a16="http://schemas.microsoft.com/office/drawing/2014/main" id="{9649BB14-89F4-4414-A7E5-F9902A50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7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op-cape-gradient-22">
            <a:extLst xmlns:a="http://schemas.openxmlformats.org/drawingml/2006/main">
              <a:ext uri="{FF2B5EF4-FFF2-40B4-BE49-F238E27FC236}">
                <a16:creationId xmlns:a16="http://schemas.microsoft.com/office/drawing/2014/main" id="{2147713C-FE8B-4AC4-9E0B-BD238BD29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A7C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op-cape-gradient-23">
            <a:extLst xmlns:a="http://schemas.openxmlformats.org/drawingml/2006/main">
              <a:ext uri="{FF2B5EF4-FFF2-40B4-BE49-F238E27FC236}">
                <a16:creationId xmlns:a16="http://schemas.microsoft.com/office/drawing/2014/main" id="{DAD3AD5A-A27B-4063-87CA-2110B5ED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08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op-cape-gradient-24">
            <a:extLst xmlns:a="http://schemas.openxmlformats.org/drawingml/2006/main">
              <a:ext uri="{FF2B5EF4-FFF2-40B4-BE49-F238E27FC236}">
                <a16:creationId xmlns:a16="http://schemas.microsoft.com/office/drawing/2014/main" id="{73705B9F-E802-4A7D-8C1A-8FFADB38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788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op-cape-gradient-25">
            <a:extLst xmlns:a="http://schemas.openxmlformats.org/drawingml/2006/main">
              <a:ext uri="{FF2B5EF4-FFF2-40B4-BE49-F238E27FC236}">
                <a16:creationId xmlns:a16="http://schemas.microsoft.com/office/drawing/2014/main" id="{212BFC07-EC67-47BC-BC62-C0CCF3E2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D8E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op-cape-gradient-26">
            <a:extLst xmlns:a="http://schemas.openxmlformats.org/drawingml/2006/main">
              <a:ext uri="{FF2B5EF4-FFF2-40B4-BE49-F238E27FC236}">
                <a16:creationId xmlns:a16="http://schemas.microsoft.com/office/drawing/2014/main" id="{543F3AC4-450A-4289-AA56-28C3720F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39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op-cape-gradient-27">
            <a:extLst xmlns:a="http://schemas.openxmlformats.org/drawingml/2006/main">
              <a:ext uri="{FF2B5EF4-FFF2-40B4-BE49-F238E27FC236}">
                <a16:creationId xmlns:a16="http://schemas.microsoft.com/office/drawing/2014/main" id="{CC1A02BC-8A5A-45E8-B31A-C65ED8A9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A9A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op-cape-gradient-28">
            <a:extLst xmlns:a="http://schemas.openxmlformats.org/drawingml/2006/main">
              <a:ext uri="{FF2B5EF4-FFF2-40B4-BE49-F238E27FC236}">
                <a16:creationId xmlns:a16="http://schemas.microsoft.com/office/drawing/2014/main" id="{606C5938-AB85-43E9-AD14-61B27712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0A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top-cape-gradient-29">
            <a:extLst xmlns:a="http://schemas.openxmlformats.org/drawingml/2006/main">
              <a:ext uri="{FF2B5EF4-FFF2-40B4-BE49-F238E27FC236}">
                <a16:creationId xmlns:a16="http://schemas.microsoft.com/office/drawing/2014/main" id="{15FF3EA5-A4D6-41AE-8BC7-57A9A573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6A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top-cape-gradient-30">
            <a:extLst xmlns:a="http://schemas.openxmlformats.org/drawingml/2006/main">
              <a:ext uri="{FF2B5EF4-FFF2-40B4-BE49-F238E27FC236}">
                <a16:creationId xmlns:a16="http://schemas.microsoft.com/office/drawing/2014/main" id="{5AA52F48-B994-4DE1-8230-330105FED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CA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op-cape-gradient-31">
            <a:extLst xmlns:a="http://schemas.openxmlformats.org/drawingml/2006/main">
              <a:ext uri="{FF2B5EF4-FFF2-40B4-BE49-F238E27FC236}">
                <a16:creationId xmlns:a16="http://schemas.microsoft.com/office/drawing/2014/main" id="{81B01FE1-F7F4-4240-BFD8-BC814CC1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3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top-cape-gradient-32">
            <a:extLst xmlns:a="http://schemas.openxmlformats.org/drawingml/2006/main">
              <a:ext uri="{FF2B5EF4-FFF2-40B4-BE49-F238E27FC236}">
                <a16:creationId xmlns:a16="http://schemas.microsoft.com/office/drawing/2014/main" id="{0DDFD2E3-2C3D-45A5-A433-6198FB13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0" y="0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9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header-cape-gradient-1">
            <a:extLst xmlns:a="http://schemas.openxmlformats.org/drawingml/2006/main">
              <a:ext uri="{FF2B5EF4-FFF2-40B4-BE49-F238E27FC236}">
                <a16:creationId xmlns:a16="http://schemas.microsoft.com/office/drawing/2014/main" id="{67027A93-A579-4E56-B9D4-9F30668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header-cape-gradient-2">
            <a:extLst xmlns:a="http://schemas.openxmlformats.org/drawingml/2006/main">
              <a:ext uri="{FF2B5EF4-FFF2-40B4-BE49-F238E27FC236}">
                <a16:creationId xmlns:a16="http://schemas.microsoft.com/office/drawing/2014/main" id="{D44F5BD0-A5A3-468A-BF48-16CF93B9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42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header-cape-gradient-3">
            <a:extLst xmlns:a="http://schemas.openxmlformats.org/drawingml/2006/main">
              <a:ext uri="{FF2B5EF4-FFF2-40B4-BE49-F238E27FC236}">
                <a16:creationId xmlns:a16="http://schemas.microsoft.com/office/drawing/2014/main" id="{EBC2194C-E6C7-4681-84A8-ADD60673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D45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header-cape-gradient-4">
            <a:extLst xmlns:a="http://schemas.openxmlformats.org/drawingml/2006/main">
              <a:ext uri="{FF2B5EF4-FFF2-40B4-BE49-F238E27FC236}">
                <a16:creationId xmlns:a16="http://schemas.microsoft.com/office/drawing/2014/main" id="{8E24E757-FD4F-4E64-9CE6-52E7A490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F4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header-cape-gradient-5">
            <a:extLst xmlns:a="http://schemas.openxmlformats.org/drawingml/2006/main">
              <a:ext uri="{FF2B5EF4-FFF2-40B4-BE49-F238E27FC236}">
                <a16:creationId xmlns:a16="http://schemas.microsoft.com/office/drawing/2014/main" id="{A785195D-C0A5-4FB2-9CEF-0EAD1874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14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header-cape-gradient-6">
            <a:extLst xmlns:a="http://schemas.openxmlformats.org/drawingml/2006/main">
              <a:ext uri="{FF2B5EF4-FFF2-40B4-BE49-F238E27FC236}">
                <a16:creationId xmlns:a16="http://schemas.microsoft.com/office/drawing/2014/main" id="{59259C72-4A08-4203-AB5F-BB718C28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34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header-cape-gradient-7">
            <a:extLst xmlns:a="http://schemas.openxmlformats.org/drawingml/2006/main">
              <a:ext uri="{FF2B5EF4-FFF2-40B4-BE49-F238E27FC236}">
                <a16:creationId xmlns:a16="http://schemas.microsoft.com/office/drawing/2014/main" id="{8080B51A-51ED-4796-82BE-A90A1179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550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header-cape-gradient-8">
            <a:extLst xmlns:a="http://schemas.openxmlformats.org/drawingml/2006/main">
              <a:ext uri="{FF2B5EF4-FFF2-40B4-BE49-F238E27FC236}">
                <a16:creationId xmlns:a16="http://schemas.microsoft.com/office/drawing/2014/main" id="{AE525D22-6A7F-4B65-91BD-30F63E60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75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header-cape-gradient-9">
            <a:extLst xmlns:a="http://schemas.openxmlformats.org/drawingml/2006/main">
              <a:ext uri="{FF2B5EF4-FFF2-40B4-BE49-F238E27FC236}">
                <a16:creationId xmlns:a16="http://schemas.microsoft.com/office/drawing/2014/main" id="{E6B483FA-2630-4CAC-882B-5F0AFA30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95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header-cape-gradient-10">
            <a:extLst xmlns:a="http://schemas.openxmlformats.org/drawingml/2006/main">
              <a:ext uri="{FF2B5EF4-FFF2-40B4-BE49-F238E27FC236}">
                <a16:creationId xmlns:a16="http://schemas.microsoft.com/office/drawing/2014/main" id="{2D00F06B-84A6-4397-A21F-DA8D6569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B5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header-cape-gradient-11">
            <a:extLst xmlns:a="http://schemas.openxmlformats.org/drawingml/2006/main">
              <a:ext uri="{FF2B5EF4-FFF2-40B4-BE49-F238E27FC236}">
                <a16:creationId xmlns:a16="http://schemas.microsoft.com/office/drawing/2014/main" id="{B7277CA5-A15A-4F23-A3BF-F0959DD0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D5B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header-cape-gradient-12">
            <a:extLst xmlns:a="http://schemas.openxmlformats.org/drawingml/2006/main">
              <a:ext uri="{FF2B5EF4-FFF2-40B4-BE49-F238E27FC236}">
                <a16:creationId xmlns:a16="http://schemas.microsoft.com/office/drawing/2014/main" id="{933C32AD-BC75-49EA-9B5F-6A46649D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F5E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header-cape-gradient-13">
            <a:extLst xmlns:a="http://schemas.openxmlformats.org/drawingml/2006/main">
              <a:ext uri="{FF2B5EF4-FFF2-40B4-BE49-F238E27FC236}">
                <a16:creationId xmlns:a16="http://schemas.microsoft.com/office/drawing/2014/main" id="{20764E04-43B4-405D-A114-3246185B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061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header-cape-gradient-14">
            <a:extLst xmlns:a="http://schemas.openxmlformats.org/drawingml/2006/main">
              <a:ext uri="{FF2B5EF4-FFF2-40B4-BE49-F238E27FC236}">
                <a16:creationId xmlns:a16="http://schemas.microsoft.com/office/drawing/2014/main" id="{B44E7C9C-DCF9-4665-8DAC-2C51530F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1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header-cape-gradient-15">
            <a:extLst xmlns:a="http://schemas.openxmlformats.org/drawingml/2006/main">
              <a:ext uri="{FF2B5EF4-FFF2-40B4-BE49-F238E27FC236}">
                <a16:creationId xmlns:a16="http://schemas.microsoft.com/office/drawing/2014/main" id="{63DEAA51-8482-41E9-80A2-E87AB8B1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267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header-cape-gradient-16">
            <a:extLst xmlns:a="http://schemas.openxmlformats.org/drawingml/2006/main">
              <a:ext uri="{FF2B5EF4-FFF2-40B4-BE49-F238E27FC236}">
                <a16:creationId xmlns:a16="http://schemas.microsoft.com/office/drawing/2014/main" id="{64BB8011-02BE-4C3F-9086-017E07D7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A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header-cape-gradient-17">
            <a:extLst xmlns:a="http://schemas.openxmlformats.org/drawingml/2006/main">
              <a:ext uri="{FF2B5EF4-FFF2-40B4-BE49-F238E27FC236}">
                <a16:creationId xmlns:a16="http://schemas.microsoft.com/office/drawing/2014/main" id="{E6426281-C186-4F29-AC86-EA3B1DA1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C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header-cape-gradient-18">
            <a:extLst xmlns:a="http://schemas.openxmlformats.org/drawingml/2006/main">
              <a:ext uri="{FF2B5EF4-FFF2-40B4-BE49-F238E27FC236}">
                <a16:creationId xmlns:a16="http://schemas.microsoft.com/office/drawing/2014/main" id="{F77A9700-4D23-4482-A964-950444DE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46F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header-cape-gradient-19">
            <a:extLst xmlns:a="http://schemas.openxmlformats.org/drawingml/2006/main">
              <a:ext uri="{FF2B5EF4-FFF2-40B4-BE49-F238E27FC236}">
                <a16:creationId xmlns:a16="http://schemas.microsoft.com/office/drawing/2014/main" id="{B34A9ED6-59D0-4B1E-AF43-F45287A6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572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header-cape-gradient-20">
            <a:extLst xmlns:a="http://schemas.openxmlformats.org/drawingml/2006/main">
              <a:ext uri="{FF2B5EF4-FFF2-40B4-BE49-F238E27FC236}">
                <a16:creationId xmlns:a16="http://schemas.microsoft.com/office/drawing/2014/main" id="{D654066E-4E3B-49BC-B169-0E7AB1AA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67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header-cape-gradient-21">
            <a:extLst xmlns:a="http://schemas.openxmlformats.org/drawingml/2006/main">
              <a:ext uri="{FF2B5EF4-FFF2-40B4-BE49-F238E27FC236}">
                <a16:creationId xmlns:a16="http://schemas.microsoft.com/office/drawing/2014/main" id="{52AFDF20-9579-4327-9DF4-CDDA39530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7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header-cape-gradient-22">
            <a:extLst xmlns:a="http://schemas.openxmlformats.org/drawingml/2006/main">
              <a:ext uri="{FF2B5EF4-FFF2-40B4-BE49-F238E27FC236}">
                <a16:creationId xmlns:a16="http://schemas.microsoft.com/office/drawing/2014/main" id="{406BCA56-5153-4321-8C77-3C573332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A7C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header-cape-gradient-23">
            <a:extLst xmlns:a="http://schemas.openxmlformats.org/drawingml/2006/main">
              <a:ext uri="{FF2B5EF4-FFF2-40B4-BE49-F238E27FC236}">
                <a16:creationId xmlns:a16="http://schemas.microsoft.com/office/drawing/2014/main" id="{6A186343-D960-4E93-827F-7B9B2577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08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header-cape-gradient-24">
            <a:extLst xmlns:a="http://schemas.openxmlformats.org/drawingml/2006/main">
              <a:ext uri="{FF2B5EF4-FFF2-40B4-BE49-F238E27FC236}">
                <a16:creationId xmlns:a16="http://schemas.microsoft.com/office/drawing/2014/main" id="{517B60F4-E9BB-4072-B1CB-788FEA4B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788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header-cape-gradient-25">
            <a:extLst xmlns:a="http://schemas.openxmlformats.org/drawingml/2006/main">
              <a:ext uri="{FF2B5EF4-FFF2-40B4-BE49-F238E27FC236}">
                <a16:creationId xmlns:a16="http://schemas.microsoft.com/office/drawing/2014/main" id="{33C81CAC-3AEF-41B7-B234-0AEDE255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D8E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header-cape-gradient-26">
            <a:extLst xmlns:a="http://schemas.openxmlformats.org/drawingml/2006/main">
              <a:ext uri="{FF2B5EF4-FFF2-40B4-BE49-F238E27FC236}">
                <a16:creationId xmlns:a16="http://schemas.microsoft.com/office/drawing/2014/main" id="{6628E5CB-1948-4892-972E-EB102D92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39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header-cape-gradient-27">
            <a:extLst xmlns:a="http://schemas.openxmlformats.org/drawingml/2006/main">
              <a:ext uri="{FF2B5EF4-FFF2-40B4-BE49-F238E27FC236}">
                <a16:creationId xmlns:a16="http://schemas.microsoft.com/office/drawing/2014/main" id="{383A2517-1A40-4E4C-A479-C343E207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A9A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header-cape-gradient-28">
            <a:extLst xmlns:a="http://schemas.openxmlformats.org/drawingml/2006/main">
              <a:ext uri="{FF2B5EF4-FFF2-40B4-BE49-F238E27FC236}">
                <a16:creationId xmlns:a16="http://schemas.microsoft.com/office/drawing/2014/main" id="{BEF81AF2-97C5-4CAF-8DC0-B68EC2CD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0A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header-cape-gradient-29">
            <a:extLst xmlns:a="http://schemas.openxmlformats.org/drawingml/2006/main">
              <a:ext uri="{FF2B5EF4-FFF2-40B4-BE49-F238E27FC236}">
                <a16:creationId xmlns:a16="http://schemas.microsoft.com/office/drawing/2014/main" id="{A5A1E170-ED39-4AED-8EFA-C3EBD9A8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6A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header-cape-gradient-30">
            <a:extLst xmlns:a="http://schemas.openxmlformats.org/drawingml/2006/main">
              <a:ext uri="{FF2B5EF4-FFF2-40B4-BE49-F238E27FC236}">
                <a16:creationId xmlns:a16="http://schemas.microsoft.com/office/drawing/2014/main" id="{4B450EA3-3AF7-44FA-9141-15126C77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CA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header-cape-gradient-31">
            <a:extLst xmlns:a="http://schemas.openxmlformats.org/drawingml/2006/main">
              <a:ext uri="{FF2B5EF4-FFF2-40B4-BE49-F238E27FC236}">
                <a16:creationId xmlns:a16="http://schemas.microsoft.com/office/drawing/2014/main" id="{17133940-8BFF-4343-87BC-77933408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3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header-cape-gradient-32">
            <a:extLst xmlns:a="http://schemas.openxmlformats.org/drawingml/2006/main">
              <a:ext uri="{FF2B5EF4-FFF2-40B4-BE49-F238E27FC236}">
                <a16:creationId xmlns:a16="http://schemas.microsoft.com/office/drawing/2014/main" id="{AB8A5C2C-5502-4E03-B216-B596156A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0" y="5073928"/>
            <a:ext cx="1381367" cy="31064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9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1CD30854-4651-4951-B48E-B73F9188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642007"/>
            <a:ext cx="30471861" cy="2381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36" b="1">
                <a:solidFill>
                  <a:srgbClr val="FFFFFF"/>
                </a:solidFill>
              </a:defRPr>
            </a:pPr>
            <a:r>
              <a:rPr sz="7536" b="1">
                <a:solidFill>
                  <a:srgbClr val="FFFFFF"/>
                </a:solidFill>
              </a:rPr>
              <a:t>AURORA-12</a:t>
            </a:r>
          </a:p>
          <a:p xmlns:a="http://schemas.openxmlformats.org/drawingml/2006/main">
            <a:pPr>
              <a:defRPr sz="7536" b="1">
                <a:solidFill>
                  <a:srgbClr val="FFFFFF"/>
                </a:solidFill>
              </a:defRPr>
            </a:pPr>
            <a:r>
              <a:rPr sz="7536" b="1">
                <a:solidFill>
                  <a:srgbClr val="FFFFFF"/>
                </a:solidFill>
              </a:rPr>
              <a:t>A fully synthetic benchmark for evidence-linked poster generation</a:t>
            </a:r>
          </a:p>
        </p:txBody>
      </p:sp>
      <p:sp>
        <p:nvSpPr>
          <p:cNvPr id="67" name="authors">
            <a:extLst xmlns:a="http://schemas.openxmlformats.org/drawingml/2006/main">
              <a:ext uri="{FF2B5EF4-FFF2-40B4-BE49-F238E27FC236}">
                <a16:creationId xmlns:a16="http://schemas.microsoft.com/office/drawing/2014/main" id="{B94ABEB0-56A2-4983-BAFA-57B001C3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60" y="3168616"/>
            <a:ext cx="30178862" cy="683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45" b="1">
                <a:solidFill>
                  <a:srgbClr val="FFFFFF"/>
                </a:solidFill>
              </a:defRPr>
            </a:pPr>
            <a:r>
              <a:rPr sz="2845" b="1">
                <a:solidFill>
                  <a:srgbClr val="FFFFFF"/>
                </a:solidFill>
              </a:rPr>
              <a:t>PostEx Synthetic Research Collective</a:t>
            </a:r>
          </a:p>
        </p:txBody>
      </p:sp>
      <p:sp>
        <p:nvSpPr>
          <p:cNvPr id="68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CFC99298-BAD2-4EF4-9765-78AE7F25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60" y="3955593"/>
            <a:ext cx="30178862" cy="5384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30">
                <a:solidFill>
                  <a:srgbClr val="F6F2EE"/>
                </a:solidFill>
              </a:defRPr>
            </a:pPr>
            <a:r>
              <a:rPr sz="2230">
                <a:solidFill>
                  <a:srgbClr val="F6F2EE"/>
                </a:solidFill>
              </a:rPr>
              <a:t>Fictional Methods Laboratory · Example Research Campus · no real authors or institutions</a:t>
            </a:r>
          </a:p>
        </p:txBody>
      </p:sp>
      <p:sp>
        <p:nvSpPr>
          <p:cNvPr id="69" name="citation">
            <a:extLst xmlns:a="http://schemas.openxmlformats.org/drawingml/2006/main">
              <a:ext uri="{FF2B5EF4-FFF2-40B4-BE49-F238E27FC236}">
                <a16:creationId xmlns:a16="http://schemas.microsoft.com/office/drawing/2014/main" id="{16AC562E-50EB-4BDE-A919-5C0DB5A3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60" y="4607955"/>
            <a:ext cx="24904887" cy="434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99" b="1">
                <a:solidFill>
                  <a:srgbClr val="E5BC6C"/>
                </a:solidFill>
              </a:defRPr>
            </a:pPr>
            <a:r>
              <a:rPr sz="1999" b="1">
                <a:solidFill>
                  <a:srgbClr val="E5BC6C"/>
                </a:solidFill>
              </a:rPr>
              <a:t>POSTEX-SYNTH-2026-001 · fully synthetic · CC0-1.0 · no DOI</a:t>
            </a:r>
          </a:p>
        </p:txBody>
      </p:sp>
      <p:sp>
        <p:nvSpPr>
          <p:cNvPr id="70" name="logo-slot-fictional-lab-logo">
            <a:extLst xmlns:a="http://schemas.openxmlformats.org/drawingml/2006/main">
              <a:ext uri="{FF2B5EF4-FFF2-40B4-BE49-F238E27FC236}">
                <a16:creationId xmlns:a16="http://schemas.microsoft.com/office/drawing/2014/main" id="{6716C152-3695-4702-8C63-CAA65467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3517" y="600587"/>
            <a:ext cx="9571290" cy="1346144"/>
          </a:xfrm>
          <a:prstGeom xmlns:a="http://schemas.openxmlformats.org/drawingml/2006/main" prst="roundRect">
            <a:avLst>
              <a:gd name="adj" fmla="val 56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533">
            <a:solidFill>
              <a:srgbClr val="DDE5E7"/>
            </a:solidFill>
            <a:prstDash val="solid"/>
          </a:ln>
        </p:spPr>
      </p:sp>
      <p:sp>
        <p:nvSpPr>
          <p:cNvPr id="71" name="logo-placeholder-fictional-lab-logo">
            <a:extLst xmlns:a="http://schemas.openxmlformats.org/drawingml/2006/main">
              <a:ext uri="{FF2B5EF4-FFF2-40B4-BE49-F238E27FC236}">
                <a16:creationId xmlns:a16="http://schemas.microsoft.com/office/drawing/2014/main" id="{E533AAE4-2F2C-488F-AAD2-3333673E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30716" y="994076"/>
            <a:ext cx="9336891" cy="5384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76" b="1">
                <a:solidFill>
                  <a:srgbClr val="3E5C78"/>
                </a:solidFill>
              </a:defRPr>
            </a:pPr>
            <a:r>
              <a:rPr sz="2076" b="1">
                <a:solidFill>
                  <a:srgbClr val="3E5C78"/>
                </a:solidFill>
              </a:rPr>
              <a:t>Fictional lab logo</a:t>
            </a:r>
          </a:p>
        </p:txBody>
      </p:sp>
      <p:sp>
        <p:nvSpPr>
          <p:cNvPr id="72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9A2C4752-3D9C-418F-9731-5B82F200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3517" y="2174540"/>
            <a:ext cx="9571290" cy="2485189"/>
          </a:xfrm>
          <a:prstGeom xmlns:a="http://schemas.openxmlformats.org/drawingml/2006/main" prst="roundRect">
            <a:avLst>
              <a:gd name="adj" fmla="val 61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6CC19E47-D07D-43B7-96C9-E8C4E639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7180" y="2485189"/>
            <a:ext cx="2539322" cy="807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29" b="1">
                <a:solidFill>
                  <a:srgbClr val="3E5C78"/>
                </a:solidFill>
              </a:defRPr>
            </a:pPr>
            <a:r>
              <a:rPr sz="5229" b="1">
                <a:solidFill>
                  <a:srgbClr val="3E5C78"/>
                </a:solidFill>
              </a:rPr>
              <a:t>1,240</a:t>
            </a:r>
          </a:p>
        </p:txBody>
      </p:sp>
      <p:sp>
        <p:nvSpPr>
          <p:cNvPr id="74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2D939071-C0DC-47D0-93C9-D5839D57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7180" y="3292875"/>
            <a:ext cx="2539322" cy="911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84" b="1">
                <a:solidFill>
                  <a:srgbClr val="293F55"/>
                </a:solidFill>
              </a:defRPr>
            </a:pPr>
            <a:r>
              <a:rPr sz="2384" b="1">
                <a:solidFill>
                  <a:srgbClr val="293F55"/>
                </a:solidFill>
              </a:rPr>
              <a:t>synthetic profiles</a:t>
            </a:r>
          </a:p>
        </p:txBody>
      </p:sp>
      <p:sp>
        <p:nvSpPr>
          <p:cNvPr id="75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9876319E-681F-4C42-BEB3-85219D49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27167" y="2485189"/>
            <a:ext cx="2539322" cy="807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29" b="1">
                <a:solidFill>
                  <a:srgbClr val="487AA1"/>
                </a:solidFill>
              </a:defRPr>
            </a:pPr>
            <a:r>
              <a:rPr sz="5229" b="1">
                <a:solidFill>
                  <a:srgbClr val="487AA1"/>
                </a:solidFill>
              </a:rPr>
              <a:t>12</a:t>
            </a:r>
          </a:p>
        </p:txBody>
      </p:sp>
      <p:sp>
        <p:nvSpPr>
          <p:cNvPr id="76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91E02C6B-E456-450E-A289-2AF7BE02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27167" y="3292875"/>
            <a:ext cx="2539322" cy="911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84" b="1">
                <a:solidFill>
                  <a:srgbClr val="293F55"/>
                </a:solidFill>
              </a:defRPr>
            </a:pPr>
            <a:r>
              <a:rPr sz="2384" b="1">
                <a:solidFill>
                  <a:srgbClr val="293F55"/>
                </a:solidFill>
              </a:rPr>
              <a:t>anonymous model features</a:t>
            </a:r>
          </a:p>
        </p:txBody>
      </p:sp>
      <p:sp>
        <p:nvSpPr>
          <p:cNvPr id="77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088ECDCA-0038-4F90-AB3B-A68945B7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7154" y="2485189"/>
            <a:ext cx="2539322" cy="807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29" b="1">
                <a:solidFill>
                  <a:srgbClr val="E5BC6C"/>
                </a:solidFill>
              </a:defRPr>
            </a:pPr>
            <a:r>
              <a:rPr sz="5229" b="1">
                <a:solidFill>
                  <a:srgbClr val="E5BC6C"/>
                </a:solidFill>
              </a:rPr>
              <a:t>4</a:t>
            </a:r>
          </a:p>
        </p:txBody>
      </p:sp>
      <p:sp>
        <p:nvSpPr>
          <p:cNvPr id="78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0D137002-7213-4E39-94CE-F1487028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7154" y="3292875"/>
            <a:ext cx="2539322" cy="911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84" b="1">
                <a:solidFill>
                  <a:srgbClr val="293F55"/>
                </a:solidFill>
              </a:defRPr>
            </a:pPr>
            <a:r>
              <a:rPr sz="2384" b="1">
                <a:solidFill>
                  <a:srgbClr val="293F55"/>
                </a:solidFill>
              </a:rPr>
              <a:t>deterministic cohort simulations</a:t>
            </a:r>
          </a:p>
        </p:txBody>
      </p:sp>
      <p:sp>
        <p:nvSpPr>
          <p:cNvPr id="79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B2EDF248-E03B-4B37-8761-EA540906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6109423"/>
            <a:ext cx="11915279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3E5C78"/>
                </a:solidFill>
              </a:defRPr>
            </a:pPr>
            <a:r>
              <a:rPr sz="3691" b="1">
                <a:solidFill>
                  <a:srgbClr val="3E5C78"/>
                </a:solidFill>
              </a:rPr>
              <a:t>Communication test</a:t>
            </a:r>
          </a:p>
        </p:txBody>
      </p:sp>
      <p:sp>
        <p:nvSpPr>
          <p:cNvPr id="80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0CF0C1DE-4026-4BA4-BEBF-312D9D6D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6803205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2C6BC78F-92CA-4B20-9A85-2AAAF560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7062079"/>
            <a:ext cx="11915279" cy="22780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Can a realistic multi-cohort manuscript exercise evidence-linked poster generation without redistributing a real paper or implying biomedical evidence?</a:t>
            </a:r>
          </a:p>
        </p:txBody>
      </p:sp>
      <p:sp>
        <p:nvSpPr>
          <p:cNvPr id="82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79A51CEA-D51F-45B1-B30C-4BA496DC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9443718"/>
            <a:ext cx="11915279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487AA1"/>
                </a:solidFill>
              </a:defRPr>
            </a:pPr>
            <a:r>
              <a:rPr sz="1923">
                <a:solidFill>
                  <a:srgbClr val="487AA1"/>
                </a:solidFill>
              </a:rPr>
              <a:t>Evidence: Abstract and Introduction, pp. 1-2</a:t>
            </a:r>
          </a:p>
        </p:txBody>
      </p:sp>
      <p:sp>
        <p:nvSpPr>
          <p:cNvPr id="83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75378F75-E355-4F77-98B3-67DB9C21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0044306"/>
            <a:ext cx="11915279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3E5C78"/>
                </a:solidFill>
              </a:defRPr>
            </a:pPr>
            <a:r>
              <a:rPr sz="3691" b="1">
                <a:solidFill>
                  <a:srgbClr val="3E5C78"/>
                </a:solidFill>
              </a:rPr>
              <a:t>Deterministic workflow</a:t>
            </a:r>
          </a:p>
        </p:txBody>
      </p:sp>
      <p:sp>
        <p:nvSpPr>
          <p:cNvPr id="84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42D8DE93-43C0-4CF8-8D5B-962E6504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0738088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E920EA5C-1189-434B-B431-02AD80C9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1017671"/>
            <a:ext cx="605531" cy="642007"/>
          </a:xfrm>
          <a:prstGeom xmlns:a="http://schemas.openxmlformats.org/drawingml/2006/main" prst="roundRect">
            <a:avLst>
              <a:gd name="adj" fmla="val 12584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093B4902-3BEB-4A97-8A4A-60F8C28C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1090156"/>
            <a:ext cx="605531" cy="476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84" b="1">
                <a:solidFill>
                  <a:srgbClr val="293F55"/>
                </a:solidFill>
              </a:defRPr>
            </a:pPr>
            <a:r>
              <a:rPr sz="2384" b="1">
                <a:solidFill>
                  <a:srgbClr val="293F55"/>
                </a:solidFill>
              </a:rPr>
              <a:t>1</a:t>
            </a:r>
          </a:p>
        </p:txBody>
      </p:sp>
      <p:sp>
        <p:nvSpPr>
          <p:cNvPr id="87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0961C710-29DD-442B-8207-25CE1B5C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190" y="11059091"/>
            <a:ext cx="11114416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Fixed seed generated 1,240 profiles</a:t>
            </a:r>
          </a:p>
        </p:txBody>
      </p:sp>
      <p:sp>
        <p:nvSpPr>
          <p:cNvPr id="88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4CB7A61F-A4E2-4F29-B271-2BDBBB40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1846068"/>
            <a:ext cx="605531" cy="642007"/>
          </a:xfrm>
          <a:prstGeom xmlns:a="http://schemas.openxmlformats.org/drawingml/2006/main" prst="roundRect">
            <a:avLst>
              <a:gd name="adj" fmla="val 12584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F34DADB7-8DEE-415F-AF25-124ADF65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1918553"/>
            <a:ext cx="605531" cy="476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84" b="1">
                <a:solidFill>
                  <a:srgbClr val="293F55"/>
                </a:solidFill>
              </a:defRPr>
            </a:pPr>
            <a:r>
              <a:rPr sz="2384" b="1">
                <a:solidFill>
                  <a:srgbClr val="293F55"/>
                </a:solidFill>
              </a:rPr>
              <a:t>2</a:t>
            </a:r>
          </a:p>
        </p:txBody>
      </p:sp>
      <p:sp>
        <p:nvSpPr>
          <p:cNvPr id="90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B5C65381-4CE8-4700-8B8B-5AABE548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190" y="11887488"/>
            <a:ext cx="11114416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480 anonymous transcript-like features</a:t>
            </a:r>
          </a:p>
        </p:txBody>
      </p:sp>
      <p:sp>
        <p:nvSpPr>
          <p:cNvPr id="91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A1414BB4-B526-43E6-953C-F59C00C1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2674464"/>
            <a:ext cx="605531" cy="642007"/>
          </a:xfrm>
          <a:prstGeom xmlns:a="http://schemas.openxmlformats.org/drawingml/2006/main" prst="roundRect">
            <a:avLst>
              <a:gd name="adj" fmla="val 12584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0989D30B-780D-4F8D-9F6D-0A2E69B6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2746949"/>
            <a:ext cx="605531" cy="476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84" b="1">
                <a:solidFill>
                  <a:srgbClr val="293F55"/>
                </a:solidFill>
              </a:defRPr>
            </a:pPr>
            <a:r>
              <a:rPr sz="2384" b="1">
                <a:solidFill>
                  <a:srgbClr val="293F55"/>
                </a:solidFill>
              </a:rPr>
              <a:t>3</a:t>
            </a:r>
          </a:p>
        </p:txBody>
      </p:sp>
      <p:sp>
        <p:nvSpPr>
          <p:cNvPr id="93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CEF45360-E186-4C58-970A-51059BFF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190" y="12715884"/>
            <a:ext cx="11114416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Nested elastic-net selection</a:t>
            </a:r>
          </a:p>
        </p:txBody>
      </p:sp>
      <p:sp>
        <p:nvSpPr>
          <p:cNvPr id="94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AE2E8EAD-3179-4B12-AE92-748443582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3502861"/>
            <a:ext cx="605531" cy="642007"/>
          </a:xfrm>
          <a:prstGeom xmlns:a="http://schemas.openxmlformats.org/drawingml/2006/main" prst="roundRect">
            <a:avLst>
              <a:gd name="adj" fmla="val 12584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FC72C1D6-CC94-4A85-9FD0-100ABC67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3575345"/>
            <a:ext cx="605531" cy="476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84" b="1">
                <a:solidFill>
                  <a:srgbClr val="293F55"/>
                </a:solidFill>
              </a:defRPr>
            </a:pPr>
            <a:r>
              <a:rPr sz="2384" b="1">
                <a:solidFill>
                  <a:srgbClr val="293F55"/>
                </a:solidFill>
              </a:rPr>
              <a:t>4</a:t>
            </a:r>
          </a:p>
        </p:txBody>
      </p:sp>
      <p:sp>
        <p:nvSpPr>
          <p:cNvPr id="96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D272B059-F8F6-4A7E-8BB2-31B4E551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190" y="13544280"/>
            <a:ext cx="11114416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12-feature score and shift testing</a:t>
            </a:r>
          </a:p>
        </p:txBody>
      </p:sp>
      <p:sp>
        <p:nvSpPr>
          <p:cNvPr id="97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B91DF533-D4EA-44E3-A0B6-B6E766EA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4600486"/>
            <a:ext cx="11915279" cy="3727784"/>
          </a:xfrm>
          <a:prstGeom xmlns:a="http://schemas.openxmlformats.org/drawingml/2006/main" prst="roundRect">
            <a:avLst>
              <a:gd name="adj" fmla="val 30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DE5E7"/>
            </a:solidFill>
            <a:prstDash val="solid"/>
          </a:ln>
        </p:spPr>
      </p:sp>
      <p:sp>
        <p:nvSpPr>
          <p:cNvPr id="98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ED16777C-A7D4-4B56-BA40-AE63BCA56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793" y="14911134"/>
            <a:ext cx="4492646" cy="4141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30" b="1">
                <a:solidFill>
                  <a:srgbClr val="3E5C78"/>
                </a:solidFill>
              </a:defRPr>
            </a:pPr>
            <a:r>
              <a:rPr sz="2230" b="1">
                <a:solidFill>
                  <a:srgbClr val="3E5C78"/>
                </a:solidFill>
              </a:rPr>
              <a:t>FOUR SYNTHETIC COHORTS</a:t>
            </a:r>
          </a:p>
        </p:txBody>
      </p:sp>
      <p:sp>
        <p:nvSpPr>
          <p:cNvPr id="99" name="dataset-lead">
            <a:extLst xmlns:a="http://schemas.openxmlformats.org/drawingml/2006/main">
              <a:ext uri="{FF2B5EF4-FFF2-40B4-BE49-F238E27FC236}">
                <a16:creationId xmlns:a16="http://schemas.microsoft.com/office/drawing/2014/main" id="{564E0063-FEFA-46FA-BC29-A222EFF6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793" y="15480657"/>
            <a:ext cx="11368348" cy="559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 b="1">
                <a:solidFill>
                  <a:srgbClr val="293F55"/>
                </a:solidFill>
              </a:defRPr>
            </a:pPr>
            <a:r>
              <a:rPr sz="2922" b="1">
                <a:solidFill>
                  <a:srgbClr val="293F55"/>
                </a:solidFill>
              </a:rPr>
              <a:t>Four deterministic synthetic cohorts</a:t>
            </a:r>
          </a:p>
        </p:txBody>
      </p:sp>
      <p:sp>
        <p:nvSpPr>
          <p:cNvPr id="100" name="datasets">
            <a:extLst xmlns:a="http://schemas.openxmlformats.org/drawingml/2006/main">
              <a:ext uri="{FF2B5EF4-FFF2-40B4-BE49-F238E27FC236}">
                <a16:creationId xmlns:a16="http://schemas.microsoft.com/office/drawing/2014/main" id="{FE2365D5-7C6C-4F08-AC80-A60CA65D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793" y="16112309"/>
            <a:ext cx="11368348" cy="16050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• Discovery n=620 · Internal validation n=310</a:t>
            </a:r>
          </a:p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• External A n=186 · External B n=124</a:t>
            </a:r>
          </a:p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• No participants, specimens or external datasets</a:t>
            </a:r>
          </a:p>
        </p:txBody>
      </p:sp>
      <p:sp>
        <p:nvSpPr>
          <p:cNvPr id="101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64EF8C78-2D08-4435-99F0-0E2E27DA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793" y="17841586"/>
            <a:ext cx="11368348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487AA1"/>
                </a:solidFill>
              </a:defRPr>
            </a:pPr>
            <a:r>
              <a:rPr sz="1923">
                <a:solidFill>
                  <a:srgbClr val="487AA1"/>
                </a:solidFill>
              </a:rPr>
              <a:t>Evidence: Abstract and Methods, pp. 1-2</a:t>
            </a:r>
          </a:p>
        </p:txBody>
      </p:sp>
      <p:sp>
        <p:nvSpPr>
          <p:cNvPr id="102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D60D2329-EC32-418D-83D2-A939D22C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8897792"/>
            <a:ext cx="11915279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3E5C78"/>
                </a:solidFill>
              </a:defRPr>
            </a:pPr>
            <a:r>
              <a:rPr sz="3691" b="1">
                <a:solidFill>
                  <a:srgbClr val="3E5C78"/>
                </a:solidFill>
              </a:rPr>
              <a:t>Generation to validation</a:t>
            </a:r>
          </a:p>
        </p:txBody>
      </p:sp>
      <p:sp>
        <p:nvSpPr>
          <p:cNvPr id="103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AED3F7BB-3147-46FE-968F-71DC6ED5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9591574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4DB861D5-1DC7-4AE5-928E-7900C2C1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19829738"/>
            <a:ext cx="11915279" cy="10769153"/>
          </a:xfrm>
          <a:prstGeom xmlns:a="http://schemas.openxmlformats.org/drawingml/2006/main" prst="roundRect">
            <a:avLst>
              <a:gd name="adj" fmla="val 1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DE5E7"/>
            </a:solidFill>
            <a:prstDash val="solid"/>
          </a:ln>
        </p:spPr>
      </p:sp>
      <p:pic>
        <p:nvPicPr>
          <p:cNvPr id="2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697f8506614021">
            <a:extLst>
              <a:ext uri="{96DAC541-7B7A-43D3-8B79-37D633B846F1}">
                <asvg:svgBlip xmlns:asvg="http://schemas.microsoft.com/office/drawing/2016/SVG/main" r:embed="R9aec24b44e6f439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562660" y="20036837"/>
            <a:ext cx="11524614" cy="9754367"/>
          </a:xfrm>
          <a:prstGeom xmlns:a="http://schemas.openxmlformats.org/drawingml/2006/main" prst="rect">
            <a:avLst/>
          </a:prstGeom>
        </p:spPr>
      </p:pic>
      <p:sp>
        <p:nvSpPr>
          <p:cNvPr id="106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78E5B254-41B3-4858-BAA5-AB5A7B43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726" y="29853334"/>
            <a:ext cx="11446481" cy="341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07" b="1">
                <a:solidFill>
                  <a:srgbClr val="293F55"/>
                </a:solidFill>
              </a:defRPr>
            </a:pPr>
            <a:r>
              <a:rPr sz="2307" b="1">
                <a:solidFill>
                  <a:srgbClr val="293F55"/>
                </a:solidFill>
              </a:rPr>
              <a:t>Figure 1 · Deterministic generation and validation workflow</a:t>
            </a:r>
          </a:p>
        </p:txBody>
      </p:sp>
      <p:sp>
        <p:nvSpPr>
          <p:cNvPr id="107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446E60F0-CEE7-45F7-B8DA-316CAB36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726" y="30205402"/>
            <a:ext cx="11446481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487AA1"/>
                </a:solidFill>
              </a:defRPr>
            </a:pPr>
            <a:r>
              <a:rPr sz="1923">
                <a:solidFill>
                  <a:srgbClr val="487AA1"/>
                </a:solidFill>
              </a:rPr>
              <a:t>Authored synthetic fixture · manuscript p. 2</a:t>
            </a:r>
          </a:p>
        </p:txBody>
      </p:sp>
      <p:sp>
        <p:nvSpPr>
          <p:cNvPr id="108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8A810CD1-3F85-47F6-AE55-3A63F1D2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6109423"/>
            <a:ext cx="14015103" cy="2744063"/>
          </a:xfrm>
          <a:prstGeom xmlns:a="http://schemas.openxmlformats.org/drawingml/2006/main" prst="roundRect">
            <a:avLst>
              <a:gd name="adj" fmla="val 5554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takeaway-cape-gradient-1">
            <a:extLst xmlns:a="http://schemas.openxmlformats.org/drawingml/2006/main">
              <a:ext uri="{FF2B5EF4-FFF2-40B4-BE49-F238E27FC236}">
                <a16:creationId xmlns:a16="http://schemas.microsoft.com/office/drawing/2014/main" id="{DB2DAEE7-5F17-461D-B532-FB59AE6B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takeaway-cape-gradient-2">
            <a:extLst xmlns:a="http://schemas.openxmlformats.org/drawingml/2006/main">
              <a:ext uri="{FF2B5EF4-FFF2-40B4-BE49-F238E27FC236}">
                <a16:creationId xmlns:a16="http://schemas.microsoft.com/office/drawing/2014/main" id="{0AE4C28B-ADBF-4A7F-95C0-FD5C5512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75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B42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takeaway-cape-gradient-3">
            <a:extLst xmlns:a="http://schemas.openxmlformats.org/drawingml/2006/main">
              <a:ext uri="{FF2B5EF4-FFF2-40B4-BE49-F238E27FC236}">
                <a16:creationId xmlns:a16="http://schemas.microsoft.com/office/drawing/2014/main" id="{E954376E-B94F-422F-9D23-F6F079A5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44547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D45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takeaway-cape-gradient-4">
            <a:extLst xmlns:a="http://schemas.openxmlformats.org/drawingml/2006/main">
              <a:ext uri="{FF2B5EF4-FFF2-40B4-BE49-F238E27FC236}">
                <a16:creationId xmlns:a16="http://schemas.microsoft.com/office/drawing/2014/main" id="{CE14D012-D96F-45EA-A9BD-D1692CA6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2519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F47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takeaway-cape-gradient-5">
            <a:extLst xmlns:a="http://schemas.openxmlformats.org/drawingml/2006/main">
              <a:ext uri="{FF2B5EF4-FFF2-40B4-BE49-F238E27FC236}">
                <a16:creationId xmlns:a16="http://schemas.microsoft.com/office/drawing/2014/main" id="{BF8A6236-1EEC-48CC-B756-60A5A58D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0491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14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takeaway-cape-gradient-6">
            <a:extLst xmlns:a="http://schemas.openxmlformats.org/drawingml/2006/main">
              <a:ext uri="{FF2B5EF4-FFF2-40B4-BE49-F238E27FC236}">
                <a16:creationId xmlns:a16="http://schemas.microsoft.com/office/drawing/2014/main" id="{1B15302A-E593-47A6-BA69-12E1D149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58463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34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takeaway-cape-gradient-7">
            <a:extLst xmlns:a="http://schemas.openxmlformats.org/drawingml/2006/main">
              <a:ext uri="{FF2B5EF4-FFF2-40B4-BE49-F238E27FC236}">
                <a16:creationId xmlns:a16="http://schemas.microsoft.com/office/drawing/2014/main" id="{CB559FC3-8A94-459C-875C-E378EDD1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6435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550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takeaway-cape-gradient-8">
            <a:extLst xmlns:a="http://schemas.openxmlformats.org/drawingml/2006/main">
              <a:ext uri="{FF2B5EF4-FFF2-40B4-BE49-F238E27FC236}">
                <a16:creationId xmlns:a16="http://schemas.microsoft.com/office/drawing/2014/main" id="{32BACD7C-BA1E-474C-9DFE-811C35D0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34407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75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takeaway-cape-gradient-9">
            <a:extLst xmlns:a="http://schemas.openxmlformats.org/drawingml/2006/main">
              <a:ext uri="{FF2B5EF4-FFF2-40B4-BE49-F238E27FC236}">
                <a16:creationId xmlns:a16="http://schemas.microsoft.com/office/drawing/2014/main" id="{6DC8332C-7833-4220-8D97-784DAAEB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2379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955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takeaway-cape-gradient-10">
            <a:extLst xmlns:a="http://schemas.openxmlformats.org/drawingml/2006/main">
              <a:ext uri="{FF2B5EF4-FFF2-40B4-BE49-F238E27FC236}">
                <a16:creationId xmlns:a16="http://schemas.microsoft.com/office/drawing/2014/main" id="{EAD3A555-03EF-4967-B101-F7116CAF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0351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B5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takeaway-cape-gradient-11">
            <a:extLst xmlns:a="http://schemas.openxmlformats.org/drawingml/2006/main">
              <a:ext uri="{FF2B5EF4-FFF2-40B4-BE49-F238E27FC236}">
                <a16:creationId xmlns:a16="http://schemas.microsoft.com/office/drawing/2014/main" id="{58032E8E-8650-4F59-909B-7DECB6C2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48323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D5B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takeaway-cape-gradient-12">
            <a:extLst xmlns:a="http://schemas.openxmlformats.org/drawingml/2006/main">
              <a:ext uri="{FF2B5EF4-FFF2-40B4-BE49-F238E27FC236}">
                <a16:creationId xmlns:a16="http://schemas.microsoft.com/office/drawing/2014/main" id="{D4068B1C-662D-4E2A-AC2D-D38B1B88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86295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3F5E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takeaway-cape-gradient-13">
            <a:extLst xmlns:a="http://schemas.openxmlformats.org/drawingml/2006/main">
              <a:ext uri="{FF2B5EF4-FFF2-40B4-BE49-F238E27FC236}">
                <a16:creationId xmlns:a16="http://schemas.microsoft.com/office/drawing/2014/main" id="{2F460A2E-5D0A-45B1-A642-9AF315A0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24267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061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takeaway-cape-gradient-14">
            <a:extLst xmlns:a="http://schemas.openxmlformats.org/drawingml/2006/main">
              <a:ext uri="{FF2B5EF4-FFF2-40B4-BE49-F238E27FC236}">
                <a16:creationId xmlns:a16="http://schemas.microsoft.com/office/drawing/2014/main" id="{17DD6C70-BFE3-445F-A918-26349C00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2239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164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takeaway-cape-gradient-15">
            <a:extLst xmlns:a="http://schemas.openxmlformats.org/drawingml/2006/main">
              <a:ext uri="{FF2B5EF4-FFF2-40B4-BE49-F238E27FC236}">
                <a16:creationId xmlns:a16="http://schemas.microsoft.com/office/drawing/2014/main" id="{7B5D8744-CDCE-42A0-A192-6D2E90A1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0211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267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takeaway-cape-gradient-16">
            <a:extLst xmlns:a="http://schemas.openxmlformats.org/drawingml/2006/main">
              <a:ext uri="{FF2B5EF4-FFF2-40B4-BE49-F238E27FC236}">
                <a16:creationId xmlns:a16="http://schemas.microsoft.com/office/drawing/2014/main" id="{B748CB42-BF4F-4387-A8D5-373FAC64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38183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A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takeaway-cape-gradient-17">
            <a:extLst xmlns:a="http://schemas.openxmlformats.org/drawingml/2006/main">
              <a:ext uri="{FF2B5EF4-FFF2-40B4-BE49-F238E27FC236}">
                <a16:creationId xmlns:a16="http://schemas.microsoft.com/office/drawing/2014/main" id="{84AA8D0F-5D1C-4E9C-877F-33DDE70D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76155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36C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takeaway-cape-gradient-18">
            <a:extLst xmlns:a="http://schemas.openxmlformats.org/drawingml/2006/main">
              <a:ext uri="{FF2B5EF4-FFF2-40B4-BE49-F238E27FC236}">
                <a16:creationId xmlns:a16="http://schemas.microsoft.com/office/drawing/2014/main" id="{2D09447C-44AA-415B-B8AD-A9726D8D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14127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46F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takeaway-cape-gradient-19">
            <a:extLst xmlns:a="http://schemas.openxmlformats.org/drawingml/2006/main">
              <a:ext uri="{FF2B5EF4-FFF2-40B4-BE49-F238E27FC236}">
                <a16:creationId xmlns:a16="http://schemas.microsoft.com/office/drawing/2014/main" id="{BBC7EBA4-7E4F-460B-AAAF-EB67840A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52099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5729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takeaway-cape-gradient-20">
            <a:extLst xmlns:a="http://schemas.openxmlformats.org/drawingml/2006/main">
              <a:ext uri="{FF2B5EF4-FFF2-40B4-BE49-F238E27FC236}">
                <a16:creationId xmlns:a16="http://schemas.microsoft.com/office/drawing/2014/main" id="{C36ECA0A-098E-4189-83B3-60F910F8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0071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67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takeaway-cape-gradient-21">
            <a:extLst xmlns:a="http://schemas.openxmlformats.org/drawingml/2006/main">
              <a:ext uri="{FF2B5EF4-FFF2-40B4-BE49-F238E27FC236}">
                <a16:creationId xmlns:a16="http://schemas.microsoft.com/office/drawing/2014/main" id="{901EDA86-F654-4BE6-AE0E-F831004D5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28043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778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takeaway-cape-gradient-22">
            <a:extLst xmlns:a="http://schemas.openxmlformats.org/drawingml/2006/main">
              <a:ext uri="{FF2B5EF4-FFF2-40B4-BE49-F238E27FC236}">
                <a16:creationId xmlns:a16="http://schemas.microsoft.com/office/drawing/2014/main" id="{F091716A-AAA1-451C-8F19-17015793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66015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4A7C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takeaway-cape-gradient-23">
            <a:extLst xmlns:a="http://schemas.openxmlformats.org/drawingml/2006/main">
              <a:ext uri="{FF2B5EF4-FFF2-40B4-BE49-F238E27FC236}">
                <a16:creationId xmlns:a16="http://schemas.microsoft.com/office/drawing/2014/main" id="{23F558A4-30A4-4BB4-A506-DB671B7F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3987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08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takeaway-cape-gradient-24">
            <a:extLst xmlns:a="http://schemas.openxmlformats.org/drawingml/2006/main">
              <a:ext uri="{FF2B5EF4-FFF2-40B4-BE49-F238E27FC236}">
                <a16:creationId xmlns:a16="http://schemas.microsoft.com/office/drawing/2014/main" id="{DBBAA715-27FB-4F0C-9E97-30B32582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1959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788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takeaway-cape-gradient-25">
            <a:extLst xmlns:a="http://schemas.openxmlformats.org/drawingml/2006/main">
              <a:ext uri="{FF2B5EF4-FFF2-40B4-BE49-F238E27FC236}">
                <a16:creationId xmlns:a16="http://schemas.microsoft.com/office/drawing/2014/main" id="{3F8A4BA3-4B37-44FC-978F-FFCC0280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9931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5D8E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takeaway-cape-gradient-26">
            <a:extLst xmlns:a="http://schemas.openxmlformats.org/drawingml/2006/main">
              <a:ext uri="{FF2B5EF4-FFF2-40B4-BE49-F238E27FC236}">
                <a16:creationId xmlns:a16="http://schemas.microsoft.com/office/drawing/2014/main" id="{41481A61-D1F2-4D9C-90A0-B3A26D11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17903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39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takeaway-cape-gradient-27">
            <a:extLst xmlns:a="http://schemas.openxmlformats.org/drawingml/2006/main">
              <a:ext uri="{FF2B5EF4-FFF2-40B4-BE49-F238E27FC236}">
                <a16:creationId xmlns:a16="http://schemas.microsoft.com/office/drawing/2014/main" id="{B62B35F3-8614-4D3E-BF5B-DA98720C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55874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6A9A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takeaway-cape-gradient-28">
            <a:extLst xmlns:a="http://schemas.openxmlformats.org/drawingml/2006/main">
              <a:ext uri="{FF2B5EF4-FFF2-40B4-BE49-F238E27FC236}">
                <a16:creationId xmlns:a16="http://schemas.microsoft.com/office/drawing/2014/main" id="{14AD6C67-01A8-44FF-AEF3-94A63FF8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3846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0A0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takeaway-cape-gradient-29">
            <a:extLst xmlns:a="http://schemas.openxmlformats.org/drawingml/2006/main">
              <a:ext uri="{FF2B5EF4-FFF2-40B4-BE49-F238E27FC236}">
                <a16:creationId xmlns:a16="http://schemas.microsoft.com/office/drawing/2014/main" id="{EA2DAA6C-7F08-4D27-88D1-D8D9BED7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31818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6A6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takeaway-cape-gradient-30">
            <a:extLst xmlns:a="http://schemas.openxmlformats.org/drawingml/2006/main">
              <a:ext uri="{FF2B5EF4-FFF2-40B4-BE49-F238E27FC236}">
                <a16:creationId xmlns:a16="http://schemas.microsoft.com/office/drawing/2014/main" id="{67A466A9-A358-4A28-9E3D-D911AE14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9790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7CA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takeaway-cape-gradient-31">
            <a:extLst xmlns:a="http://schemas.openxmlformats.org/drawingml/2006/main">
              <a:ext uri="{FF2B5EF4-FFF2-40B4-BE49-F238E27FC236}">
                <a16:creationId xmlns:a16="http://schemas.microsoft.com/office/drawing/2014/main" id="{D63AABAC-B754-49CF-87F0-65DB5371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07762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3B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takeaway-cape-gradient-32">
            <a:extLst xmlns:a="http://schemas.openxmlformats.org/drawingml/2006/main">
              <a:ext uri="{FF2B5EF4-FFF2-40B4-BE49-F238E27FC236}">
                <a16:creationId xmlns:a16="http://schemas.microsoft.com/office/drawing/2014/main" id="{D1326E4F-2FAE-4126-A988-BCB243B5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45734" y="6109423"/>
            <a:ext cx="447739" cy="207099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89B8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7D7BD7CA-050B-4615-A958-6D1DAB11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98335" y="6471846"/>
            <a:ext cx="13155640" cy="10354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230" b="1">
                <a:solidFill>
                  <a:srgbClr val="293F55"/>
                </a:solidFill>
              </a:defRPr>
            </a:pPr>
            <a:r>
              <a:rPr sz="4230" b="1">
                <a:solidFill>
                  <a:srgbClr val="293F55"/>
                </a:solidFill>
              </a:rPr>
              <a:t>External C-indices remained 0.75 and 0.74</a:t>
            </a:r>
          </a:p>
        </p:txBody>
      </p:sp>
      <p:sp>
        <p:nvSpPr>
          <p:cNvPr id="142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5B33DA0E-9D4B-4431-BEED-7101F216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2267" y="7807636"/>
            <a:ext cx="12647776" cy="497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61" b="1">
                <a:solidFill>
                  <a:srgbClr val="293F55"/>
                </a:solidFill>
              </a:defRPr>
            </a:pPr>
            <a:r>
              <a:rPr sz="2461" b="1">
                <a:solidFill>
                  <a:srgbClr val="293F55"/>
                </a:solidFill>
              </a:rPr>
              <a:t>Synthetic baseline: 0.66 and 0.65 · software fixture, not clinical validation</a:t>
            </a:r>
          </a:p>
        </p:txBody>
      </p:sp>
      <p:sp>
        <p:nvSpPr>
          <p:cNvPr id="143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1247BB90-DD5F-46AB-9766-38138379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17868" y="8387513"/>
            <a:ext cx="13116574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487AA1"/>
                </a:solidFill>
              </a:defRPr>
            </a:pPr>
            <a:r>
              <a:rPr sz="1923">
                <a:solidFill>
                  <a:srgbClr val="487AA1"/>
                </a:solidFill>
              </a:rPr>
              <a:t>Evidence: Results, pp. 1 and 3; Figure 2</a:t>
            </a:r>
          </a:p>
        </p:txBody>
      </p:sp>
      <p:sp>
        <p:nvSpPr>
          <p:cNvPr id="144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4B3BF115-9A55-4546-B590-B20E6F0F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9371234"/>
            <a:ext cx="14015103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3E5C78"/>
                </a:solidFill>
              </a:defRPr>
            </a:pPr>
            <a:r>
              <a:rPr sz="3691" b="1">
                <a:solidFill>
                  <a:srgbClr val="3E5C78"/>
                </a:solidFill>
              </a:rPr>
              <a:t>Discrimination across shifts</a:t>
            </a:r>
          </a:p>
        </p:txBody>
      </p:sp>
      <p:sp>
        <p:nvSpPr>
          <p:cNvPr id="145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365CE749-D096-4049-B35A-3E2A1459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10065016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52B990D0-5B42-42CD-8845-F8F8DD94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10303180"/>
            <a:ext cx="14015103" cy="13823864"/>
          </a:xfrm>
          <a:prstGeom xmlns:a="http://schemas.openxmlformats.org/drawingml/2006/main" prst="roundRect">
            <a:avLst>
              <a:gd name="adj" fmla="val 8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DE5E7"/>
            </a:solidFill>
            <a:prstDash val="solid"/>
          </a:ln>
        </p:spPr>
      </p:sp>
      <p:pic>
        <p:nvPicPr>
          <p:cNvPr id="3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55edd2b6ab4d1f">
            <a:extLst>
              <a:ext uri="{96DAC541-7B7A-43D3-8B79-37D633B846F1}">
                <asvg:svgBlip xmlns:asvg="http://schemas.microsoft.com/office/drawing/2016/SVG/main" r:embed="R52053fe2e6e14a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4063936" y="10510279"/>
            <a:ext cx="13624438" cy="12809079"/>
          </a:xfrm>
          <a:prstGeom xmlns:a="http://schemas.openxmlformats.org/drawingml/2006/main" prst="rect">
            <a:avLst/>
          </a:prstGeom>
        </p:spPr>
      </p:pic>
      <p:sp>
        <p:nvSpPr>
          <p:cNvPr id="148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5C4734A5-A6F2-43FC-AA8E-5BA33ACC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3002" y="23381487"/>
            <a:ext cx="13546305" cy="341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07" b="1">
                <a:solidFill>
                  <a:srgbClr val="293F55"/>
                </a:solidFill>
              </a:defRPr>
            </a:pPr>
            <a:r>
              <a:rPr sz="2307" b="1">
                <a:solidFill>
                  <a:srgbClr val="293F55"/>
                </a:solidFill>
              </a:rPr>
              <a:t>Figure 2 · Authored discrimination values across cohort shifts</a:t>
            </a:r>
          </a:p>
        </p:txBody>
      </p:sp>
      <p:sp>
        <p:nvSpPr>
          <p:cNvPr id="149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3A0682A8-447B-4781-B07F-645CA809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3002" y="23733555"/>
            <a:ext cx="13546305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487AA1"/>
                </a:solidFill>
              </a:defRPr>
            </a:pPr>
            <a:r>
              <a:rPr sz="1923">
                <a:solidFill>
                  <a:srgbClr val="487AA1"/>
                </a:solidFill>
              </a:rPr>
              <a:t>Authored synthetic fixture · manuscript p. 3</a:t>
            </a:r>
          </a:p>
        </p:txBody>
      </p:sp>
      <p:sp>
        <p:nvSpPr>
          <p:cNvPr id="150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2ED1A7FC-BCDE-4F52-8935-88F26351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24644791"/>
            <a:ext cx="14015103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3E5C78"/>
                </a:solidFill>
              </a:defRPr>
            </a:pPr>
            <a:r>
              <a:rPr sz="3691" b="1">
                <a:solidFill>
                  <a:srgbClr val="3E5C78"/>
                </a:solidFill>
              </a:rPr>
              <a:t>Calibration and stress boundary</a:t>
            </a:r>
          </a:p>
        </p:txBody>
      </p:sp>
      <p:sp>
        <p:nvSpPr>
          <p:cNvPr id="151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68B8B789-BCF3-45AA-B4BC-862EF1B1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25338573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F631F594-6958-4632-B6B9-F1759DC2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25576737"/>
            <a:ext cx="14015103" cy="4400856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DE5E7"/>
            </a:solidFill>
            <a:prstDash val="solid"/>
          </a:ln>
        </p:spPr>
      </p:sp>
      <p:sp>
        <p:nvSpPr>
          <p:cNvPr id="153" name="validation">
            <a:extLst xmlns:a="http://schemas.openxmlformats.org/drawingml/2006/main">
              <a:ext uri="{FF2B5EF4-FFF2-40B4-BE49-F238E27FC236}">
                <a16:creationId xmlns:a16="http://schemas.microsoft.com/office/drawing/2014/main" id="{42D7F164-B1F1-4D3C-9E27-559A7849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0202" y="25918451"/>
            <a:ext cx="13311906" cy="321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• External calibration slopes were 0.97 and 0.95.</a:t>
            </a:r>
          </a:p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• External absolute errors were 0.031 and 0.038.</a:t>
            </a:r>
          </a:p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• Aggregate coefficient-sign stability was 92% across 500 resamples.</a:t>
            </a:r>
          </a:p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• The most severe pre-specified shift reduced C-index by 0.04.</a:t>
            </a:r>
          </a:p>
        </p:txBody>
      </p:sp>
      <p:sp>
        <p:nvSpPr>
          <p:cNvPr id="154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452BC24A-3282-4912-9219-0301F42B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0202" y="29480555"/>
            <a:ext cx="13311906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487AA1"/>
                </a:solidFill>
              </a:defRPr>
            </a:pPr>
            <a:r>
              <a:rPr sz="1923">
                <a:solidFill>
                  <a:srgbClr val="487AA1"/>
                </a:solidFill>
              </a:rPr>
              <a:t>Evidence: Results, pp. 1, 3-4; Figures 3-4</a:t>
            </a:r>
          </a:p>
        </p:txBody>
      </p:sp>
      <p:sp>
        <p:nvSpPr>
          <p:cNvPr id="155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B32029A8-1C23-4FC1-AE87-4382EA3A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603" y="30340016"/>
            <a:ext cx="14015103" cy="1190820"/>
          </a:xfrm>
          <a:prstGeom xmlns:a="http://schemas.openxmlformats.org/drawingml/2006/main" prst="roundRect">
            <a:avLst>
              <a:gd name="adj" fmla="val 9598"/>
            </a:avLst>
          </a:prstGeom>
          <a:solidFill xmlns:a="http://schemas.openxmlformats.org/drawingml/2006/main">
            <a:srgbClr val="3E5C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3ED7DE8B-CE1D-4B6D-A810-85E200E6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00669" y="30650665"/>
            <a:ext cx="13350972" cy="5384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615" b="1">
                <a:solidFill>
                  <a:srgbClr val="FFFFFF"/>
                </a:solidFill>
              </a:defRPr>
            </a:pPr>
            <a:r>
              <a:rPr sz="2615" b="1">
                <a:solidFill>
                  <a:srgbClr val="FFFFFF"/>
                </a:solidFill>
              </a:rPr>
              <a:t>External validation retained discrimination: C-index 0.75 / 0.74</a:t>
            </a:r>
          </a:p>
        </p:txBody>
      </p:sp>
      <p:sp>
        <p:nvSpPr>
          <p:cNvPr id="157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24A35D63-73DC-4720-BC32-DF0E6548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6109423"/>
            <a:ext cx="14054169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3E5C78"/>
                </a:solidFill>
              </a:defRPr>
            </a:pPr>
            <a:r>
              <a:rPr sz="3691" b="1">
                <a:solidFill>
                  <a:srgbClr val="3E5C78"/>
                </a:solidFill>
              </a:rPr>
              <a:t>Calibration &amp; stability</a:t>
            </a:r>
          </a:p>
        </p:txBody>
      </p:sp>
      <p:sp>
        <p:nvSpPr>
          <p:cNvPr id="158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1EE2DB8C-DDF5-4487-9791-83723DDD2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6803205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165BDAB7-19D6-4868-8A68-F4D41D4B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7144919"/>
            <a:ext cx="4101981" cy="807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29" b="1">
                <a:solidFill>
                  <a:srgbClr val="3E5C78"/>
                </a:solidFill>
              </a:defRPr>
            </a:pPr>
            <a:r>
              <a:rPr sz="5229" b="1">
                <a:solidFill>
                  <a:srgbClr val="3E5C78"/>
                </a:solidFill>
              </a:rPr>
              <a:t>92%</a:t>
            </a:r>
          </a:p>
        </p:txBody>
      </p:sp>
      <p:sp>
        <p:nvSpPr>
          <p:cNvPr id="160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E2FF9BDB-B9FE-4EF3-8D2A-E74AE6D1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7952605"/>
            <a:ext cx="4101981" cy="911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84" b="1">
                <a:solidFill>
                  <a:srgbClr val="293F55"/>
                </a:solidFill>
              </a:defRPr>
            </a:pPr>
            <a:r>
              <a:rPr sz="2384" b="1">
                <a:solidFill>
                  <a:srgbClr val="293F55"/>
                </a:solidFill>
              </a:rPr>
              <a:t>coefficient-sign stability</a:t>
            </a:r>
          </a:p>
        </p:txBody>
      </p:sp>
      <p:sp>
        <p:nvSpPr>
          <p:cNvPr id="161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3F76532C-3331-4029-820E-2D9B42DF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8849" y="7144919"/>
            <a:ext cx="4101981" cy="807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229" b="1">
                <a:solidFill>
                  <a:srgbClr val="487AA1"/>
                </a:solidFill>
              </a:defRPr>
            </a:pPr>
            <a:r>
              <a:rPr sz="5229" b="1">
                <a:solidFill>
                  <a:srgbClr val="487AA1"/>
                </a:solidFill>
              </a:rPr>
              <a:t>0.97 / 0.95</a:t>
            </a:r>
          </a:p>
        </p:txBody>
      </p:sp>
      <p:sp>
        <p:nvSpPr>
          <p:cNvPr id="162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C5C3E02B-8ED9-4FEB-80EE-B88BC7C3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8849" y="7952605"/>
            <a:ext cx="4101981" cy="911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84" b="1">
                <a:solidFill>
                  <a:srgbClr val="293F55"/>
                </a:solidFill>
              </a:defRPr>
            </a:pPr>
            <a:r>
              <a:rPr sz="2384" b="1">
                <a:solidFill>
                  <a:srgbClr val="293F55"/>
                </a:solidFill>
              </a:rPr>
              <a:t>external calibration slopes</a:t>
            </a:r>
          </a:p>
        </p:txBody>
      </p:sp>
      <p:sp>
        <p:nvSpPr>
          <p:cNvPr id="163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0F061753-F71D-4A9D-9B75-584D03C9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47995" y="7144919"/>
            <a:ext cx="4101981" cy="807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30" b="1">
                <a:solidFill>
                  <a:srgbClr val="E5BC6C"/>
                </a:solidFill>
              </a:defRPr>
            </a:pPr>
            <a:r>
              <a:rPr sz="4230" b="1">
                <a:solidFill>
                  <a:srgbClr val="E5BC6C"/>
                </a:solidFill>
              </a:rPr>
              <a:t>0.031 / 0.038</a:t>
            </a:r>
          </a:p>
        </p:txBody>
      </p:sp>
      <p:sp>
        <p:nvSpPr>
          <p:cNvPr id="164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46EB6F48-80CD-4742-B49F-A570DBB2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47995" y="7952605"/>
            <a:ext cx="4101981" cy="911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84" b="1">
                <a:solidFill>
                  <a:srgbClr val="293F55"/>
                </a:solidFill>
              </a:defRPr>
            </a:pPr>
            <a:r>
              <a:rPr sz="2384" b="1">
                <a:solidFill>
                  <a:srgbClr val="293F55"/>
                </a:solidFill>
              </a:rPr>
              <a:t>external absolute errors</a:t>
            </a:r>
          </a:p>
        </p:txBody>
      </p:sp>
      <p:sp>
        <p:nvSpPr>
          <p:cNvPr id="165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F166C340-6911-4998-AFCD-C55E7D83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9215909"/>
            <a:ext cx="14054169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487AA1"/>
                </a:solidFill>
              </a:defRPr>
            </a:pPr>
            <a:r>
              <a:rPr sz="1923">
                <a:solidFill>
                  <a:srgbClr val="487AA1"/>
                </a:solidFill>
              </a:rPr>
              <a:t>Evidence: Stability and calibration, p. 4</a:t>
            </a:r>
          </a:p>
        </p:txBody>
      </p:sp>
      <p:sp>
        <p:nvSpPr>
          <p:cNvPr id="166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018253E0-A0C9-47E4-8AF7-A83A1435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9992531"/>
            <a:ext cx="14054169" cy="7455567"/>
          </a:xfrm>
          <a:prstGeom xmlns:a="http://schemas.openxmlformats.org/drawingml/2006/main" prst="roundRect">
            <a:avLst>
              <a:gd name="adj" fmla="val 15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DE5E7"/>
            </a:solidFill>
            <a:prstDash val="solid"/>
          </a:ln>
        </p:spPr>
      </p:sp>
      <p:pic>
        <p:nvPicPr>
          <p:cNvPr id="3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173c973e04bd2">
            <a:extLst>
              <a:ext uri="{96DAC541-7B7A-43D3-8B79-37D633B846F1}">
                <asvg:svgBlip xmlns:asvg="http://schemas.microsoft.com/office/drawing/2016/SVG/main" r:embed="R4ac69e3926ad401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8665036" y="10199630"/>
            <a:ext cx="13663504" cy="6440782"/>
          </a:xfrm>
          <a:prstGeom xmlns:a="http://schemas.openxmlformats.org/drawingml/2006/main" prst="rect">
            <a:avLst/>
          </a:prstGeom>
        </p:spPr>
      </p:pic>
      <p:sp>
        <p:nvSpPr>
          <p:cNvPr id="168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DA8A9831-A4FF-4860-B58B-DA239298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4103" y="16702541"/>
            <a:ext cx="13585371" cy="341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07" b="1">
                <a:solidFill>
                  <a:srgbClr val="293F55"/>
                </a:solidFill>
              </a:defRPr>
            </a:pPr>
            <a:r>
              <a:rPr sz="2307" b="1">
                <a:solidFill>
                  <a:srgbClr val="293F55"/>
                </a:solidFill>
              </a:rPr>
              <a:t>Figure 3 · Calibration and coefficient-sign stability</a:t>
            </a:r>
          </a:p>
        </p:txBody>
      </p:sp>
      <p:sp>
        <p:nvSpPr>
          <p:cNvPr id="169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FAB955FF-02BD-4B5E-8EE0-5855A986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4103" y="17054610"/>
            <a:ext cx="13585371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487AA1"/>
                </a:solidFill>
              </a:defRPr>
            </a:pPr>
            <a:r>
              <a:rPr sz="1923">
                <a:solidFill>
                  <a:srgbClr val="487AA1"/>
                </a:solidFill>
              </a:rPr>
              <a:t>Authored synthetic fixture · manuscript p. 4</a:t>
            </a:r>
          </a:p>
        </p:txBody>
      </p:sp>
      <p:sp>
        <p:nvSpPr>
          <p:cNvPr id="170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A24E48CA-4F8F-4914-8EF1-986BDAB31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17965846"/>
            <a:ext cx="14054169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3E5C78"/>
                </a:solidFill>
              </a:defRPr>
            </a:pPr>
            <a:r>
              <a:rPr sz="3691" b="1">
                <a:solidFill>
                  <a:srgbClr val="3E5C78"/>
                </a:solidFill>
              </a:rPr>
              <a:t>Pre-specified stress test</a:t>
            </a:r>
          </a:p>
        </p:txBody>
      </p:sp>
      <p:sp>
        <p:nvSpPr>
          <p:cNvPr id="171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F1670663-38EF-4BE7-9ECA-6DAD9621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18659628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DF4696BC-FEA8-4628-BDB1-846A285D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18897792"/>
            <a:ext cx="14054169" cy="7766216"/>
          </a:xfrm>
          <a:prstGeom xmlns:a="http://schemas.openxmlformats.org/drawingml/2006/main" prst="roundRect">
            <a:avLst>
              <a:gd name="adj" fmla="val 14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DE5E7"/>
            </a:solidFill>
            <a:prstDash val="solid"/>
          </a:ln>
        </p:spPr>
      </p:sp>
      <p:pic>
        <p:nvPicPr>
          <p:cNvPr id="3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dfd1f03d1a472e">
            <a:extLst>
              <a:ext uri="{96DAC541-7B7A-43D3-8B79-37D633B846F1}">
                <asvg:svgBlip xmlns:asvg="http://schemas.microsoft.com/office/drawing/2016/SVG/main" r:embed="Rd217372cbbb74f1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8665036" y="19104891"/>
            <a:ext cx="13663504" cy="6751430"/>
          </a:xfrm>
          <a:prstGeom xmlns:a="http://schemas.openxmlformats.org/drawingml/2006/main" prst="rect">
            <a:avLst/>
          </a:prstGeom>
        </p:spPr>
      </p:pic>
      <p:sp>
        <p:nvSpPr>
          <p:cNvPr id="174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6D45E772-B45C-45D7-B8C7-B60ED5D9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4103" y="25918451"/>
            <a:ext cx="13585371" cy="341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07" b="1">
                <a:solidFill>
                  <a:srgbClr val="293F55"/>
                </a:solidFill>
              </a:defRPr>
            </a:pPr>
            <a:r>
              <a:rPr sz="2307" b="1">
                <a:solidFill>
                  <a:srgbClr val="293F55"/>
                </a:solidFill>
              </a:rPr>
              <a:t>Figure 4 · Stress-test boundary under increasing shift</a:t>
            </a:r>
          </a:p>
        </p:txBody>
      </p:sp>
      <p:sp>
        <p:nvSpPr>
          <p:cNvPr id="175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EBD7B6A7-2249-4C90-82D2-F95BBFA2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4103" y="26270519"/>
            <a:ext cx="13585371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487AA1"/>
                </a:solidFill>
              </a:defRPr>
            </a:pPr>
            <a:r>
              <a:rPr sz="1923">
                <a:solidFill>
                  <a:srgbClr val="487AA1"/>
                </a:solidFill>
              </a:rPr>
              <a:t>Authored synthetic fixture · manuscript p. 4</a:t>
            </a:r>
          </a:p>
        </p:txBody>
      </p:sp>
      <p:sp>
        <p:nvSpPr>
          <p:cNvPr id="176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D545FDB9-C52E-48CB-8412-7CFFD657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27181755"/>
            <a:ext cx="14054169" cy="60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91" b="1">
                <a:solidFill>
                  <a:srgbClr val="3E5C78"/>
                </a:solidFill>
              </a:defRPr>
            </a:pPr>
            <a:r>
              <a:rPr sz="3691" b="1">
                <a:solidFill>
                  <a:srgbClr val="3E5C78"/>
                </a:solidFill>
              </a:rPr>
              <a:t>Supported conclusion</a:t>
            </a:r>
          </a:p>
        </p:txBody>
      </p:sp>
      <p:sp>
        <p:nvSpPr>
          <p:cNvPr id="177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BAC94C0E-6709-4354-9236-9EB261BB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27875537"/>
            <a:ext cx="3222985" cy="103550"/>
          </a:xfrm>
          <a:prstGeom xmlns:a="http://schemas.openxmlformats.org/drawingml/2006/main" prst="roundRect">
            <a:avLst>
              <a:gd name="adj" fmla="val 18397"/>
            </a:avLst>
          </a:prstGeom>
          <a:solidFill xmlns:a="http://schemas.openxmlformats.org/drawingml/2006/main">
            <a:srgbClr val="E5BC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CE5760E0-3269-40A5-9551-DD02E843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9704" y="28113701"/>
            <a:ext cx="14054169" cy="3417135"/>
          </a:xfrm>
          <a:prstGeom xmlns:a="http://schemas.openxmlformats.org/drawingml/2006/main" prst="roundRect">
            <a:avLst>
              <a:gd name="adj" fmla="val 3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9300">
            <a:solidFill>
              <a:srgbClr val="DDE5E7"/>
            </a:solidFill>
            <a:prstDash val="solid"/>
          </a:ln>
        </p:spPr>
      </p:sp>
      <p:sp>
        <p:nvSpPr>
          <p:cNvPr id="179" name="conclusion-lead">
            <a:extLst xmlns:a="http://schemas.openxmlformats.org/drawingml/2006/main">
              <a:ext uri="{FF2B5EF4-FFF2-40B4-BE49-F238E27FC236}">
                <a16:creationId xmlns:a16="http://schemas.microsoft.com/office/drawing/2014/main" id="{9E62ABEC-3F65-44B9-9380-0F2D455E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1769" y="28455415"/>
            <a:ext cx="13390039" cy="6627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76" b="1">
                <a:solidFill>
                  <a:srgbClr val="293F55"/>
                </a:solidFill>
              </a:defRPr>
            </a:pPr>
            <a:r>
              <a:rPr sz="3076" b="1">
                <a:solidFill>
                  <a:srgbClr val="293F55"/>
                </a:solidFill>
              </a:rPr>
              <a:t>A rights-safe methodological test fixture</a:t>
            </a:r>
          </a:p>
        </p:txBody>
      </p:sp>
      <p:sp>
        <p:nvSpPr>
          <p:cNvPr id="180" name="conclusion">
            <a:extLst xmlns:a="http://schemas.openxmlformats.org/drawingml/2006/main">
              <a:ext uri="{FF2B5EF4-FFF2-40B4-BE49-F238E27FC236}">
                <a16:creationId xmlns:a16="http://schemas.microsoft.com/office/drawing/2014/main" id="{64A78D00-7D3B-49CF-BE8A-B3E59827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1769" y="29200971"/>
            <a:ext cx="13390039" cy="1636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• No biological, prognostic or clinical inference</a:t>
            </a:r>
          </a:p>
          <a:p xmlns:a="http://schemas.openxmlformats.org/drawingml/2006/main">
            <a:pPr>
              <a:defRPr sz="2922">
                <a:solidFill>
                  <a:srgbClr val="293F55"/>
                </a:solidFill>
              </a:defRPr>
            </a:pPr>
            <a:r>
              <a:rPr sz="2922">
                <a:solidFill>
                  <a:srgbClr val="293F55"/>
                </a:solidFill>
              </a:rPr>
              <a:t>• All cohorts, values and identities are fictional</a:t>
            </a:r>
          </a:p>
        </p:txBody>
      </p:sp>
      <p:sp>
        <p:nvSpPr>
          <p:cNvPr id="181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A22F958D-6454-459F-AB0A-5D5E4316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1769" y="30982024"/>
            <a:ext cx="13390039" cy="39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23">
                <a:solidFill>
                  <a:srgbClr val="487AA1"/>
                </a:solidFill>
              </a:defRPr>
            </a:pPr>
            <a:r>
              <a:rPr sz="1923">
                <a:solidFill>
                  <a:srgbClr val="487AA1"/>
                </a:solidFill>
              </a:rPr>
              <a:t>Evidence: Discussion and Conclusion, p. 5</a:t>
            </a:r>
          </a:p>
        </p:txBody>
      </p:sp>
      <p:sp>
        <p:nvSpPr>
          <p:cNvPr id="182" name="footer-band">
            <a:extLst xmlns:a="http://schemas.openxmlformats.org/drawingml/2006/main">
              <a:ext uri="{FF2B5EF4-FFF2-40B4-BE49-F238E27FC236}">
                <a16:creationId xmlns:a16="http://schemas.microsoft.com/office/drawing/2014/main" id="{5FF53EAC-F306-4CAC-A57C-CF9FA14B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893260"/>
            <a:ext cx="43891200" cy="102514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93F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E0E790D7-FE46-4287-AE81-2A3180FA1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327" y="32172843"/>
            <a:ext cx="28909202" cy="434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99">
                <a:solidFill>
                  <a:srgbClr val="FFFFFF"/>
                </a:solidFill>
              </a:defRPr>
            </a:pPr>
            <a:r>
              <a:rPr sz="1999">
                <a:solidFill>
                  <a:srgbClr val="FFFFFF"/>
                </a:solidFill>
              </a:rPr>
              <a:t>Original synthetic fixture · CC0-1.0 · evidence coverage 100% · local-only processing</a:t>
            </a:r>
          </a:p>
        </p:txBody>
      </p:sp>
      <p:sp>
        <p:nvSpPr>
          <p:cNvPr id="184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2F37D169-7F12-4D70-A84A-0914D6EE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1861" y="32172843"/>
            <a:ext cx="12012945" cy="434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923" b="1">
                <a:solidFill>
                  <a:srgbClr val="E5BC6C"/>
                </a:solidFill>
              </a:defRPr>
            </a:pPr>
            <a:r>
              <a:rPr sz="1923" b="1">
                <a:solidFill>
                  <a:srgbClr val="E5BC6C"/>
                </a:solidFill>
              </a:rPr>
              <a:t>Approvals current · synthetic boundary locked · editable logo placeholder</a:t>
            </a:r>
          </a:p>
        </p:txBody>
      </p:sp>
    </p:spTree>
    <p:extLst>
      <p:ext uri="{BB962C8B-B14F-4D97-AF65-F5344CB8AC3E}">
        <p14:creationId xmlns:p14="http://schemas.microsoft.com/office/powerpoint/2010/main" val="1842882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2026-08-09T05:01:28.8070000Z</dcterms:created>
  <dcterms:modified xsi:type="dcterms:W3CDTF">2026-08-09T05:01:28.8070000Z</dcterms:modified>
</coreProperties>
</file>