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9a221cf6ab4957" /><Relationship Type="http://schemas.openxmlformats.org/officeDocument/2006/relationships/extended-properties" Target="/docProps/app.xml" Id="R275e9d92f4a64df4" /><Relationship Type="http://schemas.openxmlformats.org/officeDocument/2006/relationships/officeDocument" Target="/ppt/presentation.xml" Id="R03f7820c4c6542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90daab81cd4a1e"/>
  </p:sldMasterIdLst>
  <p:notesMasterIdLst>
    <p:notesMasterId xmlns:r="http://schemas.openxmlformats.org/officeDocument/2006/relationships" r:id="R47b6f84967964cb6"/>
  </p:notesMasterIdLst>
  <p:sldIdLst>
    <p:sldId xmlns:r="http://schemas.openxmlformats.org/officeDocument/2006/relationships" id="256" r:id="Rb7919b00c31e407a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932defd804765" /><Relationship Type="http://schemas.openxmlformats.org/officeDocument/2006/relationships/slideMaster" Target="/ppt/slideMasters/slideMaster1.xml" Id="R9d90daab81cd4a1e" /><Relationship Type="http://schemas.openxmlformats.org/officeDocument/2006/relationships/notesMaster" Target="/ppt/notesMasters/notesMaster1.xml" Id="R47b6f84967964cb6" /><Relationship Type="http://schemas.openxmlformats.org/officeDocument/2006/relationships/presProps" Target="/ppt/presProps.xml" Id="R9c6bb245322042d0" /><Relationship Type="http://schemas.openxmlformats.org/officeDocument/2006/relationships/tableStyles" Target="/ppt/tableStyles.xml" Id="R3cae56469ff54f97" /><Relationship Type="http://schemas.openxmlformats.org/officeDocument/2006/relationships/slide" Target="/ppt/slides/slide1.xml" Id="Rb7919b00c31e40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c02f95861749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ef499c37144966" /><Relationship Type="http://schemas.openxmlformats.org/officeDocument/2006/relationships/notesMaster" Target="/ppt/notesMasters/notesMaster1.xml" Id="R785b7b1c12e34c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AURORA-12-synthetic-manuscript.pdf</a:t>
            </a:r>
          </a:p>
          <a:p xmlns:a="http://schemas.openxmlformats.org/drawingml/2006/main">
            <a:r>
              <a:t>- palette approval sha256:f3960633b4ea4f9a139d021c7437f8fa2b8a078f64b1b4c07d950d39e1d4be9d</a:t>
            </a:r>
          </a:p>
          <a:p xmlns:a="http://schemas.openxmlformats.org/drawingml/2006/main">
            <a:r>
              <a:t>- deletion approval sha256:b3bcfd87b6cd4cd79a8feca304aa0ef7040590c30a9ab8a7e1c04c935414a02b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8c472bea0541d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71f6308fca43e6" /><Relationship Type="http://schemas.openxmlformats.org/officeDocument/2006/relationships/slideLayout" Target="/ppt/slideLayouts/slideLayout1.xml" Id="R4d5458b7e13649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58b7e13649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e8236076b4e0a" /><Relationship Type="http://schemas.openxmlformats.org/officeDocument/2006/relationships/image" Target="/ppt/media/image.png" Id="Rcb45386aaf3f4c20" /><Relationship Type="http://schemas.openxmlformats.org/officeDocument/2006/relationships/image" Target="/ppt/media/image.svg" Id="Rb476472f416d48ff" /><Relationship Type="http://schemas.openxmlformats.org/officeDocument/2006/relationships/image" Target="/ppt/media/image2.png" Id="R75e94a6dd52f45fc" /><Relationship Type="http://schemas.openxmlformats.org/officeDocument/2006/relationships/image" Target="/ppt/media/image2.svg" Id="R90788e68ded34be4" /><Relationship Type="http://schemas.openxmlformats.org/officeDocument/2006/relationships/image" Target="/ppt/media/image3.png" Id="R64627a5239804d19" /><Relationship Type="http://schemas.openxmlformats.org/officeDocument/2006/relationships/image" Target="/ppt/media/image3.svg" Id="R098207d9ec7340a5" /><Relationship Type="http://schemas.openxmlformats.org/officeDocument/2006/relationships/image" Target="/ppt/media/image4.png" Id="R5781393de80f467c" /><Relationship Type="http://schemas.openxmlformats.org/officeDocument/2006/relationships/image" Target="/ppt/media/image4.svg" Id="R6cbc353da5374cc7" /><Relationship Type="http://schemas.openxmlformats.org/officeDocument/2006/relationships/notesSlide" Target="/ppt/notesSlides/notesSlide1.xml" Id="R44417b0cda5340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1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header-band">
            <a:extLst xmlns:a="http://schemas.openxmlformats.org/drawingml/2006/main">
              <a:ext uri="{FF2B5EF4-FFF2-40B4-BE49-F238E27FC236}">
                <a16:creationId xmlns:a16="http://schemas.microsoft.com/office/drawing/2014/main" id="{DF9D5E45-2D58-4D07-BA0D-480958C7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86F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07C83C8-B7D3-4A23-9A9F-21AB1FE2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A26ED6A7-4588-478D-AB5E-F3BDDAA9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AURORA-12</a:t>
            </a:r>
          </a:p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 fully synthetic benchmark for evidence-linked poster generation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8C930526-5B79-49B3-9BE0-11ED1AF4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PostEx Synthetic Research Collective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EFAF7ADA-8239-4FBA-AB6C-3F861BE4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2F1EC"/>
                </a:solidFill>
              </a:defRPr>
            </a:pPr>
            <a:r>
              <a:rPr sz="2175">
                <a:solidFill>
                  <a:srgbClr val="F2F1EC"/>
                </a:solidFill>
              </a:rPr>
              <a:t>Fictional Methods Laboratory · Example Research Campus · no real authors or institutions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E3E99537-02A8-4EB1-81F8-543B2755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77A70"/>
                </a:solidFill>
              </a:defRPr>
            </a:pPr>
            <a:r>
              <a:rPr sz="1950" b="1">
                <a:solidFill>
                  <a:srgbClr val="D77A70"/>
                </a:solidFill>
              </a:rPr>
              <a:t>POSTEX-SYNTH-2026-001 · fully synthetic · CC0-1.0 · no DOI</a:t>
            </a:r>
          </a:p>
        </p:txBody>
      </p:sp>
      <p:sp>
        <p:nvSpPr>
          <p:cNvPr id="7" name="logo-slot-fictional-lab-logo">
            <a:extLst xmlns:a="http://schemas.openxmlformats.org/drawingml/2006/main">
              <a:ext uri="{FF2B5EF4-FFF2-40B4-BE49-F238E27FC236}">
                <a16:creationId xmlns:a16="http://schemas.microsoft.com/office/drawing/2014/main" id="{99797987-BA3F-4B85-BF1A-BD37A15B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9696"/>
            </a:solidFill>
            <a:prstDash val="solid"/>
          </a:ln>
        </p:spPr>
      </p:sp>
      <p:sp>
        <p:nvSpPr>
          <p:cNvPr id="8" name="logo-placeholder-fictional-lab-logo">
            <a:extLst xmlns:a="http://schemas.openxmlformats.org/drawingml/2006/main">
              <a:ext uri="{FF2B5EF4-FFF2-40B4-BE49-F238E27FC236}">
                <a16:creationId xmlns:a16="http://schemas.microsoft.com/office/drawing/2014/main" id="{BDD5AE8A-2634-4476-82F2-B44D9153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86F67"/>
                </a:solidFill>
              </a:defRPr>
            </a:pPr>
            <a:r>
              <a:rPr sz="2025" b="1">
                <a:solidFill>
                  <a:srgbClr val="286F67"/>
                </a:solidFill>
              </a:rPr>
              <a:t>Fictional lab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C92E0CD1-1597-4D6F-828A-D2B6BB53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86BB8CD0-E99E-46AB-A7AA-EFD75CDA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86F67"/>
                </a:solidFill>
              </a:defRPr>
            </a:pPr>
            <a:r>
              <a:rPr sz="5100" b="1">
                <a:solidFill>
                  <a:srgbClr val="286F67"/>
                </a:solidFill>
              </a:rPr>
              <a:t>1,240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13DA302F-005F-4F64-9AA1-5873CE42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synthetic profiles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CECC9864-FB7F-48BC-AF5D-8D600EE2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4D8FC0"/>
                </a:solidFill>
              </a:defRPr>
            </a:pPr>
            <a:r>
              <a:rPr sz="5100" b="1">
                <a:solidFill>
                  <a:srgbClr val="4D8FC0"/>
                </a:solidFill>
              </a:rPr>
              <a:t>12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9C8291AA-9455-43FD-9314-5BD999A2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anonymous model features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F83B6EB0-663A-4E1B-98CF-31EACDA9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D77A70"/>
                </a:solidFill>
              </a:defRPr>
            </a:pPr>
            <a:r>
              <a:rPr sz="5100" b="1">
                <a:solidFill>
                  <a:srgbClr val="D77A70"/>
                </a:solidFill>
              </a:rPr>
              <a:t>4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33252930-003A-4A1B-BE61-925E1AD1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289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deterministic cohort simulations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56E3993F-2B6D-42D0-BB0A-2DFE987D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Communication test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A9F19DA2-A951-459A-95E0-93244E3B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74288B-5D6B-4E7F-85AC-8F40BE2D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Can a realistic multi-cohort manuscript exercise evidence-linked poster generation without redistributing a real paper or implying biomedical evidence?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AE77F451-5AD8-4A49-8F21-05CBCDA3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Evidence: Abstract and Introduction, pp. 1-2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5AF746B2-ED24-4C9A-B497-3AA0D024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Deterministic workflow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3DE934BE-7ADE-45D2-AA11-1F74423E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5C5103BA-B4BE-4BB3-A8F4-EA0F1AA1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F4C8B533-0FF8-4062-9CAE-4D4C2137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670557DD-CFEE-4CAC-89D7-6645FF71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Fixed seed generated 1,240 profiles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BF8162AF-722F-4AA8-AAA5-ADC41D26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305DC69F-F400-431D-98AC-A952D4F5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D61E2FED-18B2-415E-8AC4-1AB79DD3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480 anonymous transcript-like features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9FDA6ADF-476C-4AD3-BAC6-CF414CDE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2E263673-B5F5-430D-A6A4-A85644E8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D7413A13-3390-462C-813F-C6898D83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Nested elastic-net selection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F51AA791-EE4F-4B14-B216-125D105A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62314713-D91A-42DE-B3DF-08B5F3C2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2C6B33AE-37BB-4D2B-B25F-944F86F6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12-feature score and shift testing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9255059C-D726-4B83-9986-FE00A71C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10A2DEA9-B5F2-4718-88B5-28322689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86F67"/>
                </a:solidFill>
              </a:defRPr>
            </a:pPr>
            <a:r>
              <a:rPr sz="2175" b="1">
                <a:solidFill>
                  <a:srgbClr val="286F67"/>
                </a:solidFill>
              </a:rPr>
              <a:t>FOUR SYNTHETIC COHORTS</a:t>
            </a:r>
          </a:p>
        </p:txBody>
      </p:sp>
      <p:sp>
        <p:nvSpPr>
          <p:cNvPr id="36" name="dataset-lead">
            <a:extLst xmlns:a="http://schemas.openxmlformats.org/drawingml/2006/main">
              <a:ext uri="{FF2B5EF4-FFF2-40B4-BE49-F238E27FC236}">
                <a16:creationId xmlns:a16="http://schemas.microsoft.com/office/drawing/2014/main" id="{52F3B8E1-3154-4B11-9F6B-BB566574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2A3B"/>
                </a:solidFill>
              </a:defRPr>
            </a:pPr>
            <a:r>
              <a:rPr sz="2850" b="1">
                <a:solidFill>
                  <a:srgbClr val="142A3B"/>
                </a:solidFill>
              </a:rPr>
              <a:t>Four deterministic synthetic cohorts</a:t>
            </a:r>
          </a:p>
        </p:txBody>
      </p:sp>
      <p:sp>
        <p:nvSpPr>
          <p:cNvPr id="37" name="datasets">
            <a:extLst xmlns:a="http://schemas.openxmlformats.org/drawingml/2006/main">
              <a:ext uri="{FF2B5EF4-FFF2-40B4-BE49-F238E27FC236}">
                <a16:creationId xmlns:a16="http://schemas.microsoft.com/office/drawing/2014/main" id="{EF5F3B73-D5A5-42A7-A765-EB9BF064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820900"/>
            <a:ext cx="110871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Discovery n=620 · Internal validation n=310</a:t>
            </a:r>
          </a:p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External A n=186 · External B n=124</a:t>
            </a:r>
          </a:p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No participants, specimens or external datasets</a:t>
            </a:r>
          </a:p>
        </p:txBody>
      </p:sp>
      <p:sp>
        <p:nvSpPr>
          <p:cNvPr id="38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25768952-59E6-44DF-B644-F31E7138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Evidence: Abstract and Methods, pp. 1-2</a:t>
            </a:r>
          </a:p>
        </p:txBody>
      </p:sp>
      <p:sp>
        <p:nvSpPr>
          <p:cNvPr id="39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97B553C0-77E6-451A-A8E6-24E99F22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Generation to validation</a:t>
            </a:r>
          </a:p>
        </p:txBody>
      </p:sp>
      <p:sp>
        <p:nvSpPr>
          <p:cNvPr id="40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DBFDC793-C456-48D3-A649-789EF7EA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D1227100-B431-4106-81ED-F9D04362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pic>
        <p:nvPicPr>
          <p:cNvPr id="1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5386aaf3f4c20">
            <a:extLst>
              <a:ext uri="{96DAC541-7B7A-43D3-8B79-37D633B846F1}">
                <asvg:svgBlip xmlns:asvg="http://schemas.microsoft.com/office/drawing/2016/SVG/main" r:embed="Rb476472f416d48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ect">
            <a:avLst/>
          </a:prstGeom>
        </p:spPr>
      </p:pic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E51C7E73-239E-47EB-8067-AA81493C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</a:defRPr>
            </a:pPr>
            <a:r>
              <a:rPr sz="2250" b="1">
                <a:solidFill>
                  <a:srgbClr val="142A3B"/>
                </a:solidFill>
              </a:rPr>
              <a:t>Figure 1 · Deterministic generation and validation workflow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C57165DC-9FC0-480B-A060-B70481C0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84425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Authored synthetic fixture · manuscript p. 2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2C6DCF16-27BA-41BF-8A47-4A73C389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936A081D-C3FB-4E85-90F6-039A3295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42A3B"/>
                </a:solidFill>
              </a:defRPr>
            </a:pPr>
            <a:r>
              <a:rPr sz="4125" b="1">
                <a:solidFill>
                  <a:srgbClr val="142A3B"/>
                </a:solidFill>
              </a:rPr>
              <a:t>External C-indices remained 0.75 and 0.74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E8171DCE-7AC3-4DD6-BAA6-3B15049D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42A3B"/>
                </a:solidFill>
              </a:defRPr>
            </a:pPr>
            <a:r>
              <a:rPr sz="2400" b="1">
                <a:solidFill>
                  <a:srgbClr val="142A3B"/>
                </a:solidFill>
              </a:rPr>
              <a:t>Synthetic baseline: 0.66 and 0.65 · software fixture, not clinical validation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AD83978F-F47E-4189-AD39-9B05CD00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Evidence: Results, pp. 1 and 3; Figure 2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5AA794B6-9030-4ACE-8260-37C29F82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Discrimination across shifts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E1822E3F-5BCA-4836-855C-D708BC41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FD86C108-A558-4E21-9563-D0C6B4ED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pic>
        <p:nvPicPr>
          <p:cNvPr id="1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e94a6dd52f45fc">
            <a:extLst>
              <a:ext uri="{96DAC541-7B7A-43D3-8B79-37D633B846F1}">
                <asvg:svgBlip xmlns:asvg="http://schemas.microsoft.com/office/drawing/2016/SVG/main" r:embed="R90788e68ded34b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ect">
            <a:avLst/>
          </a:prstGeom>
        </p:spPr>
      </p:pic>
      <p:sp>
        <p:nvSpPr>
          <p:cNvPr id="53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42DC0B43-5898-494A-994A-61F8EF3F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</a:defRPr>
            </a:pPr>
            <a:r>
              <a:rPr sz="2250" b="1">
                <a:solidFill>
                  <a:srgbClr val="142A3B"/>
                </a:solidFill>
              </a:rPr>
              <a:t>Figure 2 · Authored discrimination values across cohort shifts</a:t>
            </a:r>
          </a:p>
        </p:txBody>
      </p:sp>
      <p:sp>
        <p:nvSpPr>
          <p:cNvPr id="54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8769CF03-599A-4F5A-A8E8-F6578845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31300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Authored synthetic fixture · manuscript p. 3</a:t>
            </a:r>
          </a:p>
        </p:txBody>
      </p:sp>
      <p:sp>
        <p:nvSpPr>
          <p:cNvPr id="55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521D920E-4E14-4C0A-8F76-DF9D424D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Calibration and stress boundary</a:t>
            </a:r>
          </a:p>
        </p:txBody>
      </p:sp>
      <p:sp>
        <p:nvSpPr>
          <p:cNvPr id="56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DE5D19DD-8E94-4EB5-BF4A-B7D2DA62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9104FD5A-D768-44B0-BDCE-411CAA25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sp>
        <p:nvSpPr>
          <p:cNvPr id="58" name="validation">
            <a:extLst xmlns:a="http://schemas.openxmlformats.org/drawingml/2006/main">
              <a:ext uri="{FF2B5EF4-FFF2-40B4-BE49-F238E27FC236}">
                <a16:creationId xmlns:a16="http://schemas.microsoft.com/office/drawing/2014/main" id="{4C373D8E-0F6C-477A-AA57-9E650C63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External calibration slopes were 0.97 and 0.95.</a:t>
            </a:r>
          </a:p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External absolute errors were 0.031 and 0.038.</a:t>
            </a:r>
          </a:p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Aggregate coefficient-sign stability was 92% across 500 resamples.</a:t>
            </a:r>
          </a:p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The most severe pre-specified shift reduced C-index by 0.04.</a:t>
            </a:r>
          </a:p>
        </p:txBody>
      </p:sp>
      <p:sp>
        <p:nvSpPr>
          <p:cNvPr id="59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1AE14347-1286-4C3D-BD6A-47832E25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Evidence: Results, pp. 1, 3-4; Figures 3-4</a:t>
            </a:r>
          </a:p>
        </p:txBody>
      </p:sp>
      <p:sp>
        <p:nvSpPr>
          <p:cNvPr id="60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E3EADBF2-E21F-4C43-AFFD-2CB542D9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286F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AF08EBE6-7773-4744-A00B-E2DA05C9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External validation retained discrimination: C-index 0.75 / 0.74</a:t>
            </a:r>
          </a:p>
        </p:txBody>
      </p:sp>
      <p:sp>
        <p:nvSpPr>
          <p:cNvPr id="62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AB904CCA-547C-4579-844C-7E52081B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Calibration &amp; stability</a:t>
            </a:r>
          </a:p>
        </p:txBody>
      </p:sp>
      <p:sp>
        <p:nvSpPr>
          <p:cNvPr id="63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AF537563-8EF5-4406-80F2-F2CC4688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E16F293B-1BE4-4FAA-842F-454C345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86F67"/>
                </a:solidFill>
              </a:defRPr>
            </a:pPr>
            <a:r>
              <a:rPr sz="5100" b="1">
                <a:solidFill>
                  <a:srgbClr val="286F67"/>
                </a:solidFill>
              </a:rPr>
              <a:t>92%</a:t>
            </a:r>
          </a:p>
        </p:txBody>
      </p:sp>
      <p:sp>
        <p:nvSpPr>
          <p:cNvPr id="65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FE1F4DE2-9938-4C6F-A118-7DEEE770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coefficient-sign stability</a:t>
            </a:r>
          </a:p>
        </p:txBody>
      </p:sp>
      <p:sp>
        <p:nvSpPr>
          <p:cNvPr id="66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10472984-C7A1-4220-AB75-3D3E81DB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4D8FC0"/>
                </a:solidFill>
              </a:defRPr>
            </a:pPr>
            <a:r>
              <a:rPr sz="5100" b="1">
                <a:solidFill>
                  <a:srgbClr val="4D8FC0"/>
                </a:solidFill>
              </a:rPr>
              <a:t>0.97 / 0.95</a:t>
            </a:r>
          </a:p>
        </p:txBody>
      </p:sp>
      <p:sp>
        <p:nvSpPr>
          <p:cNvPr id="67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1A557B9D-5272-4E62-B729-4F221ECF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external calibration slopes</a:t>
            </a:r>
          </a:p>
        </p:txBody>
      </p:sp>
      <p:sp>
        <p:nvSpPr>
          <p:cNvPr id="68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7659185F-0EDB-4F58-8B19-49A6E010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D77A70"/>
                </a:solidFill>
              </a:defRPr>
            </a:pPr>
            <a:r>
              <a:rPr sz="4125" b="1">
                <a:solidFill>
                  <a:srgbClr val="D77A70"/>
                </a:solidFill>
              </a:rPr>
              <a:t>0.031 / 0.038</a:t>
            </a:r>
          </a:p>
        </p:txBody>
      </p:sp>
      <p:sp>
        <p:nvSpPr>
          <p:cNvPr id="69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A14DC263-6EA4-486E-A66C-52C88218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152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A3B"/>
                </a:solidFill>
              </a:defRPr>
            </a:pPr>
            <a:r>
              <a:rPr sz="2325" b="1">
                <a:solidFill>
                  <a:srgbClr val="142A3B"/>
                </a:solidFill>
              </a:rPr>
              <a:t>external absolute errors</a:t>
            </a:r>
          </a:p>
        </p:txBody>
      </p:sp>
      <p:sp>
        <p:nvSpPr>
          <p:cNvPr id="70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62325B9F-A83A-47A1-A6DC-F4D03F75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Evidence: Stability and calibration, p. 4</a:t>
            </a:r>
          </a:p>
        </p:txBody>
      </p:sp>
      <p:sp>
        <p:nvSpPr>
          <p:cNvPr id="71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9609AB88-B3DA-41EE-B3A2-ADCE0679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pic>
        <p:nvPicPr>
          <p:cNvPr id="1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27a5239804d19">
            <a:extLst>
              <a:ext uri="{96DAC541-7B7A-43D3-8B79-37D633B846F1}">
                <asvg:svgBlip xmlns:asvg="http://schemas.microsoft.com/office/drawing/2016/SVG/main" r:embed="R098207d9ec7340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ect">
            <a:avLst/>
          </a:prstGeom>
        </p:spPr>
      </p:pic>
      <p:sp>
        <p:nvSpPr>
          <p:cNvPr id="73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3B359D3B-DD3B-4725-83E6-4F49DC6A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</a:defRPr>
            </a:pPr>
            <a:r>
              <a:rPr sz="2250" b="1">
                <a:solidFill>
                  <a:srgbClr val="142A3B"/>
                </a:solidFill>
              </a:rPr>
              <a:t>Figure 3 · Calibration and coefficient-sign stability</a:t>
            </a:r>
          </a:p>
        </p:txBody>
      </p:sp>
      <p:sp>
        <p:nvSpPr>
          <p:cNvPr id="74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CA628EC5-521F-4F0F-89B0-9BDE7507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87675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Authored synthetic fixture · manuscript p. 4</a:t>
            </a:r>
          </a:p>
        </p:txBody>
      </p:sp>
      <p:sp>
        <p:nvSpPr>
          <p:cNvPr id="75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44C56C99-DC65-48D0-BA72-0ADB51C8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Pre-specified stress test</a:t>
            </a:r>
          </a:p>
        </p:txBody>
      </p:sp>
      <p:sp>
        <p:nvSpPr>
          <p:cNvPr id="76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C9075224-2128-47A5-B00B-25A6D5AD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43DB09AF-0D65-4086-B91B-8A83250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pic>
        <p:nvPicPr>
          <p:cNvPr id="1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1393de80f467c">
            <a:extLst>
              <a:ext uri="{96DAC541-7B7A-43D3-8B79-37D633B846F1}">
                <asvg:svgBlip xmlns:asvg="http://schemas.microsoft.com/office/drawing/2016/SVG/main" r:embed="R6cbc353da5374c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ect">
            <a:avLst/>
          </a:prstGeom>
        </p:spPr>
      </p:pic>
      <p:sp>
        <p:nvSpPr>
          <p:cNvPr id="79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C8F0A180-5DCF-41CC-8A85-A2BE47DF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</a:defRPr>
            </a:pPr>
            <a:r>
              <a:rPr sz="2250" b="1">
                <a:solidFill>
                  <a:srgbClr val="142A3B"/>
                </a:solidFill>
              </a:rPr>
              <a:t>Figure 4 · Stress-test boundary under increasing shift</a:t>
            </a:r>
          </a:p>
        </p:txBody>
      </p:sp>
      <p:sp>
        <p:nvSpPr>
          <p:cNvPr id="80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A2AA8939-2A26-47C9-8E10-821359B2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64925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Authored synthetic fixture · manuscript p. 4</a:t>
            </a:r>
          </a:p>
        </p:txBody>
      </p:sp>
      <p:sp>
        <p:nvSpPr>
          <p:cNvPr id="81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C018B0C9-8A37-446F-BB3E-88BB0E5C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86F67"/>
                </a:solidFill>
              </a:defRPr>
            </a:pPr>
            <a:r>
              <a:rPr sz="3600" b="1">
                <a:solidFill>
                  <a:srgbClr val="286F67"/>
                </a:solidFill>
              </a:rPr>
              <a:t>Supported conclusion</a:t>
            </a:r>
          </a:p>
        </p:txBody>
      </p:sp>
      <p:sp>
        <p:nvSpPr>
          <p:cNvPr id="82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39E580BD-CC3D-4658-8E28-A5F3EB15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77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9DF7496A-D107-4027-8714-D1A05F86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8C9696"/>
            </a:solidFill>
            <a:prstDash val="solid"/>
          </a:ln>
        </p:spPr>
      </p:sp>
      <p:sp>
        <p:nvSpPr>
          <p:cNvPr id="84" name="conclusion-lead">
            <a:extLst xmlns:a="http://schemas.openxmlformats.org/drawingml/2006/main">
              <a:ext uri="{FF2B5EF4-FFF2-40B4-BE49-F238E27FC236}">
                <a16:creationId xmlns:a16="http://schemas.microsoft.com/office/drawing/2014/main" id="{A897BE05-AC6F-4943-B8BA-A06E43BC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</a:defRPr>
            </a:pPr>
            <a:r>
              <a:rPr sz="3000" b="1">
                <a:solidFill>
                  <a:srgbClr val="142A3B"/>
                </a:solidFill>
              </a:rPr>
              <a:t>A rights-safe methodological test fixture</a:t>
            </a:r>
          </a:p>
        </p:txBody>
      </p:sp>
      <p:sp>
        <p:nvSpPr>
          <p:cNvPr id="85" name="conclusion">
            <a:extLst xmlns:a="http://schemas.openxmlformats.org/drawingml/2006/main">
              <a:ext uri="{FF2B5EF4-FFF2-40B4-BE49-F238E27FC236}">
                <a16:creationId xmlns:a16="http://schemas.microsoft.com/office/drawing/2014/main" id="{42414983-965B-45D2-ADE9-5E8500D0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860500"/>
            <a:ext cx="130587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No biological, prognostic or clinical inference</a:t>
            </a:r>
          </a:p>
          <a:p xmlns:a="http://schemas.openxmlformats.org/drawingml/2006/main">
            <a:pPr>
              <a:defRPr sz="2850">
                <a:solidFill>
                  <a:srgbClr val="142A3B"/>
                </a:solidFill>
              </a:defRPr>
            </a:pPr>
            <a:r>
              <a:rPr sz="2850">
                <a:solidFill>
                  <a:srgbClr val="142A3B"/>
                </a:solidFill>
              </a:rPr>
              <a:t>• All cohorts, values and identities are fictional</a:t>
            </a:r>
          </a:p>
        </p:txBody>
      </p:sp>
      <p:sp>
        <p:nvSpPr>
          <p:cNvPr id="86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6E27DF87-56BB-46D7-9091-FBCBAE0C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D8FC0"/>
                </a:solidFill>
              </a:defRPr>
            </a:pPr>
            <a:r>
              <a:rPr sz="1875">
                <a:solidFill>
                  <a:srgbClr val="4D8FC0"/>
                </a:solidFill>
              </a:rPr>
              <a:t>Evidence: Discussion and Conclusion, p. 5</a:t>
            </a:r>
          </a:p>
        </p:txBody>
      </p:sp>
      <p:sp>
        <p:nvSpPr>
          <p:cNvPr id="87" name="footer-band">
            <a:extLst xmlns:a="http://schemas.openxmlformats.org/drawingml/2006/main">
              <a:ext uri="{FF2B5EF4-FFF2-40B4-BE49-F238E27FC236}">
                <a16:creationId xmlns:a16="http://schemas.microsoft.com/office/drawing/2014/main" id="{6260E177-CE4E-4E3F-9142-28881802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42A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1B1F4DC6-4B0F-44AE-890D-3112410B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19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Original synthetic fixture · CC0-1.0 · evidence coverage 100% · local-only processing</a:t>
            </a:r>
          </a:p>
        </p:txBody>
      </p:sp>
      <p:sp>
        <p:nvSpPr>
          <p:cNvPr id="89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3CFD2303-763D-489D-8C5A-E52811E1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D77A70"/>
                </a:solidFill>
              </a:defRPr>
            </a:pPr>
            <a:r>
              <a:rPr sz="1875" b="1">
                <a:solidFill>
                  <a:srgbClr val="D77A70"/>
                </a:solidFill>
              </a:rPr>
              <a:t>Approvals current · synthetic boundary locked · editable logo placeholder</a:t>
            </a:r>
          </a:p>
        </p:txBody>
      </p:sp>
    </p:spTree>
    <p:extLst>
      <p:ext uri="{BB962C8B-B14F-4D97-AF65-F5344CB8AC3E}">
        <p14:creationId xmlns:p14="http://schemas.microsoft.com/office/powerpoint/2010/main" val="10068269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2026-08-09T05:01:27.9400000Z</dcterms:created>
  <dcterms:modified xsi:type="dcterms:W3CDTF">2026-08-09T05:01:27.9400000Z</dcterms:modified>
</coreProperties>
</file>