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svg" ContentType="image/svg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ffe80aa5bd4c4673" /><Relationship Type="http://schemas.openxmlformats.org/officeDocument/2006/relationships/extended-properties" Target="/docProps/app.xml" Id="Rbdb005e332754926" /><Relationship Type="http://schemas.openxmlformats.org/officeDocument/2006/relationships/officeDocument" Target="/ppt/presentation.xml" Id="R22b9ae8da1b24b3d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e57bf861c6bf47ef"/>
  </p:sldMasterIdLst>
  <p:notesMasterIdLst>
    <p:notesMasterId xmlns:r="http://schemas.openxmlformats.org/officeDocument/2006/relationships" r:id="Rbf8f1e30a8a24bfc"/>
  </p:notesMasterIdLst>
  <p:sldIdLst>
    <p:sldId xmlns:r="http://schemas.openxmlformats.org/officeDocument/2006/relationships" id="256" r:id="Rbe62ed06ba064eb5"/>
  </p:sldIdLst>
  <p:sldSz cx="42805350" cy="30279975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7816eb1b751e455a" /><Relationship Type="http://schemas.openxmlformats.org/officeDocument/2006/relationships/slideMaster" Target="/ppt/slideMasters/slideMaster1.xml" Id="Re57bf861c6bf47ef" /><Relationship Type="http://schemas.openxmlformats.org/officeDocument/2006/relationships/notesMaster" Target="/ppt/notesMasters/notesMaster1.xml" Id="Rbf8f1e30a8a24bfc" /><Relationship Type="http://schemas.openxmlformats.org/officeDocument/2006/relationships/presProps" Target="/ppt/presProps.xml" Id="Ra9e285acf81b46ba" /><Relationship Type="http://schemas.openxmlformats.org/officeDocument/2006/relationships/tableStyles" Target="/ppt/tableStyles.xml" Id="Rdaf1280622f34479" /><Relationship Type="http://schemas.openxmlformats.org/officeDocument/2006/relationships/slide" Target="/ppt/slides/slide1.xml" Id="Rbe62ed06ba064eb5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26554a4e69ac4d54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263598a4d3704503" /><Relationship Type="http://schemas.openxmlformats.org/officeDocument/2006/relationships/notesMaster" Target="/ppt/notesMasters/notesMaster1.xml" Id="Rd2722ced223c4250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AURORA-12-synthetic-manuscript.pdf</a:t>
            </a:r>
          </a:p>
          <a:p xmlns:a="http://schemas.openxmlformats.org/drawingml/2006/main">
            <a:r>
              <a:t>- palette approval sha256:f3960633b4ea4f9a139d021c7437f8fa2b8a078f64b1b4c07d950d39e1d4be9d</a:t>
            </a:r>
          </a:p>
          <a:p xmlns:a="http://schemas.openxmlformats.org/drawingml/2006/main">
            <a:r>
              <a:t>- deletion approval sha256:b3bcfd87b6cd4cd79a8feca304aa0ef7040590c30a9ab8a7e1c04c935414a02b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2541b2cf703402e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0af3da6465394615" /><Relationship Type="http://schemas.openxmlformats.org/officeDocument/2006/relationships/slideLayout" Target="/ppt/slideLayouts/slideLayout1.xml" Id="Rf6983721046d4771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f6983721046d4771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71b5c78dc674b18" /><Relationship Type="http://schemas.openxmlformats.org/officeDocument/2006/relationships/image" Target="/ppt/media/image.png" Id="R73b90a0785354ac5" /><Relationship Type="http://schemas.openxmlformats.org/officeDocument/2006/relationships/image" Target="/ppt/media/image.svg" Id="R7942f37f9c504936" /><Relationship Type="http://schemas.openxmlformats.org/officeDocument/2006/relationships/image" Target="/ppt/media/image2.png" Id="R9cc061dad54a405a" /><Relationship Type="http://schemas.openxmlformats.org/officeDocument/2006/relationships/image" Target="/ppt/media/image2.svg" Id="R54e8b5bd8a124d18" /><Relationship Type="http://schemas.openxmlformats.org/officeDocument/2006/relationships/image" Target="/ppt/media/image3.png" Id="R7f287c44190e4a57" /><Relationship Type="http://schemas.openxmlformats.org/officeDocument/2006/relationships/image" Target="/ppt/media/image3.svg" Id="R6820284fd1ca42a1" /><Relationship Type="http://schemas.openxmlformats.org/officeDocument/2006/relationships/image" Target="/ppt/media/image4.png" Id="R49801d64e0ee44d3" /><Relationship Type="http://schemas.openxmlformats.org/officeDocument/2006/relationships/image" Target="/ppt/media/image4.svg" Id="R7d24754a04f84156" /><Relationship Type="http://schemas.openxmlformats.org/officeDocument/2006/relationships/notesSlide" Target="/ppt/notesSlides/notesSlide1.xml" Id="Rdb4bb1d7b2124ab9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2F1E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8" name="header-band">
            <a:extLst xmlns:a="http://schemas.openxmlformats.org/drawingml/2006/main">
              <a:ext uri="{FF2B5EF4-FFF2-40B4-BE49-F238E27FC236}">
                <a16:creationId xmlns:a16="http://schemas.microsoft.com/office/drawing/2014/main" id="{A7D59D4E-522A-4EC9-B540-4651449893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42805350" cy="49530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286F6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top-accent">
            <a:extLst xmlns:a="http://schemas.openxmlformats.org/drawingml/2006/main">
              <a:ext uri="{FF2B5EF4-FFF2-40B4-BE49-F238E27FC236}">
                <a16:creationId xmlns:a16="http://schemas.microsoft.com/office/drawing/2014/main" id="{26AF0CE8-66C0-439E-BE77-0C2C0870CB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42805350" cy="28575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D77A7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poster-title">
            <a:extLst xmlns:a="http://schemas.openxmlformats.org/drawingml/2006/main">
              <a:ext uri="{FF2B5EF4-FFF2-40B4-BE49-F238E27FC236}">
                <a16:creationId xmlns:a16="http://schemas.microsoft.com/office/drawing/2014/main" id="{40950CE3-31AF-4BE5-9BA0-7D7E303412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590550"/>
            <a:ext cx="29718000" cy="2190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350" b="1">
                <a:solidFill>
                  <a:srgbClr val="FFFFFF"/>
                </a:solidFill>
              </a:defRPr>
            </a:pPr>
            <a:r>
              <a:rPr sz="7350" b="1">
                <a:solidFill>
                  <a:srgbClr val="FFFFFF"/>
                </a:solidFill>
              </a:rPr>
              <a:t>AURORA-12</a:t>
            </a:r>
          </a:p>
          <a:p xmlns:a="http://schemas.openxmlformats.org/drawingml/2006/main">
            <a:pPr>
              <a:defRPr sz="7350" b="1">
                <a:solidFill>
                  <a:srgbClr val="FFFFFF"/>
                </a:solidFill>
              </a:defRPr>
            </a:pPr>
            <a:r>
              <a:rPr sz="7350" b="1">
                <a:solidFill>
                  <a:srgbClr val="FFFFFF"/>
                </a:solidFill>
              </a:rPr>
              <a:t>A fully synthetic benchmark for evidence-linked poster generation</a:t>
            </a:r>
          </a:p>
        </p:txBody>
      </p:sp>
      <p:sp>
        <p:nvSpPr>
          <p:cNvPr id="4" name="authors">
            <a:extLst xmlns:a="http://schemas.openxmlformats.org/drawingml/2006/main">
              <a:ext uri="{FF2B5EF4-FFF2-40B4-BE49-F238E27FC236}">
                <a16:creationId xmlns:a16="http://schemas.microsoft.com/office/drawing/2014/main" id="{AB036C59-7554-489B-91FD-4218D0658D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2914650"/>
            <a:ext cx="294322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775" b="1">
                <a:solidFill>
                  <a:srgbClr val="FFFFFF"/>
                </a:solidFill>
              </a:defRPr>
            </a:pPr>
            <a:r>
              <a:rPr sz="2775" b="1">
                <a:solidFill>
                  <a:srgbClr val="FFFFFF"/>
                </a:solidFill>
              </a:rPr>
              <a:t>PostEx Synthetic Research Collective</a:t>
            </a:r>
          </a:p>
        </p:txBody>
      </p:sp>
      <p:sp>
        <p:nvSpPr>
          <p:cNvPr id="5" name="affiliations">
            <a:extLst xmlns:a="http://schemas.openxmlformats.org/drawingml/2006/main">
              <a:ext uri="{FF2B5EF4-FFF2-40B4-BE49-F238E27FC236}">
                <a16:creationId xmlns:a16="http://schemas.microsoft.com/office/drawing/2014/main" id="{CA966FCD-FECA-4E7B-8D54-8516CED12F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3638550"/>
            <a:ext cx="294322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175">
                <a:solidFill>
                  <a:srgbClr val="F2F1EC"/>
                </a:solidFill>
              </a:defRPr>
            </a:pPr>
            <a:r>
              <a:rPr sz="2175">
                <a:solidFill>
                  <a:srgbClr val="F2F1EC"/>
                </a:solidFill>
              </a:rPr>
              <a:t>Fictional Methods Laboratory · Example Research Campus · no real authors or institutions</a:t>
            </a:r>
          </a:p>
        </p:txBody>
      </p:sp>
      <p:sp>
        <p:nvSpPr>
          <p:cNvPr id="6" name="citation">
            <a:extLst xmlns:a="http://schemas.openxmlformats.org/drawingml/2006/main">
              <a:ext uri="{FF2B5EF4-FFF2-40B4-BE49-F238E27FC236}">
                <a16:creationId xmlns:a16="http://schemas.microsoft.com/office/drawing/2014/main" id="{F3F92832-3EEC-45B9-89C5-D18C419BBC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4238625"/>
            <a:ext cx="24288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D77A70"/>
                </a:solidFill>
              </a:defRPr>
            </a:pPr>
            <a:r>
              <a:rPr sz="1950" b="1">
                <a:solidFill>
                  <a:srgbClr val="D77A70"/>
                </a:solidFill>
              </a:rPr>
              <a:t>POSTEX-SYNTH-2026-001 · fully synthetic · CC0-1.0 · no DOI</a:t>
            </a:r>
          </a:p>
        </p:txBody>
      </p:sp>
      <p:sp>
        <p:nvSpPr>
          <p:cNvPr id="7" name="logo-slot-fictional-lab-logo">
            <a:extLst xmlns:a="http://schemas.openxmlformats.org/drawingml/2006/main">
              <a:ext uri="{FF2B5EF4-FFF2-40B4-BE49-F238E27FC236}">
                <a16:creationId xmlns:a16="http://schemas.microsoft.com/office/drawing/2014/main" id="{43F806D8-661A-4353-BB1B-F87B6CC423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99250" y="552450"/>
            <a:ext cx="9334500" cy="1238250"/>
          </a:xfrm>
          <a:prstGeom xmlns:a="http://schemas.openxmlformats.org/drawingml/2006/main" prst="roundRect">
            <a:avLst>
              <a:gd name="adj" fmla="val 615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8C9696"/>
            </a:solidFill>
            <a:prstDash val="solid"/>
          </a:ln>
        </p:spPr>
      </p:sp>
      <p:sp>
        <p:nvSpPr>
          <p:cNvPr id="8" name="logo-placeholder-fictional-lab-logo">
            <a:extLst xmlns:a="http://schemas.openxmlformats.org/drawingml/2006/main">
              <a:ext uri="{FF2B5EF4-FFF2-40B4-BE49-F238E27FC236}">
                <a16:creationId xmlns:a16="http://schemas.microsoft.com/office/drawing/2014/main" id="{80F67072-C89F-420D-A3B5-4CD08EBC66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213550" y="914400"/>
            <a:ext cx="91059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025" b="1">
                <a:solidFill>
                  <a:srgbClr val="286F67"/>
                </a:solidFill>
              </a:defRPr>
            </a:pPr>
            <a:r>
              <a:rPr sz="2025" b="1">
                <a:solidFill>
                  <a:srgbClr val="286F67"/>
                </a:solidFill>
              </a:rPr>
              <a:t>Fictional lab logo</a:t>
            </a:r>
          </a:p>
        </p:txBody>
      </p:sp>
      <p:sp>
        <p:nvSpPr>
          <p:cNvPr id="9" name="header-summary">
            <a:extLst xmlns:a="http://schemas.openxmlformats.org/drawingml/2006/main">
              <a:ext uri="{FF2B5EF4-FFF2-40B4-BE49-F238E27FC236}">
                <a16:creationId xmlns:a16="http://schemas.microsoft.com/office/drawing/2014/main" id="{B2812025-5F3C-430A-8342-B3FA388FEB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99250" y="2000250"/>
            <a:ext cx="9334500" cy="2286000"/>
          </a:xfrm>
          <a:prstGeom xmlns:a="http://schemas.openxmlformats.org/drawingml/2006/main" prst="roundRect">
            <a:avLst>
              <a:gd name="adj" fmla="val 666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header-metric-1-value">
            <a:extLst xmlns:a="http://schemas.openxmlformats.org/drawingml/2006/main">
              <a:ext uri="{FF2B5EF4-FFF2-40B4-BE49-F238E27FC236}">
                <a16:creationId xmlns:a16="http://schemas.microsoft.com/office/drawing/2014/main" id="{6CB753B4-108B-4163-A53C-EA86695E25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766000" y="2286000"/>
            <a:ext cx="24765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5100" b="1">
                <a:solidFill>
                  <a:srgbClr val="286F67"/>
                </a:solidFill>
              </a:defRPr>
            </a:pPr>
            <a:r>
              <a:rPr sz="5100" b="1">
                <a:solidFill>
                  <a:srgbClr val="286F67"/>
                </a:solidFill>
              </a:rPr>
              <a:t>1,240</a:t>
            </a:r>
          </a:p>
        </p:txBody>
      </p:sp>
      <p:sp>
        <p:nvSpPr>
          <p:cNvPr id="11" name="header-metric-1-label">
            <a:extLst xmlns:a="http://schemas.openxmlformats.org/drawingml/2006/main">
              <a:ext uri="{FF2B5EF4-FFF2-40B4-BE49-F238E27FC236}">
                <a16:creationId xmlns:a16="http://schemas.microsoft.com/office/drawing/2014/main" id="{11F3E17E-8152-40E3-AB04-5EBFCC9607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766000" y="3067050"/>
            <a:ext cx="24765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325" b="1">
                <a:solidFill>
                  <a:srgbClr val="142A3B"/>
                </a:solidFill>
              </a:defRPr>
            </a:pPr>
            <a:r>
              <a:rPr sz="2325" b="1">
                <a:solidFill>
                  <a:srgbClr val="142A3B"/>
                </a:solidFill>
              </a:rPr>
              <a:t>synthetic profiles</a:t>
            </a:r>
          </a:p>
        </p:txBody>
      </p:sp>
      <p:sp>
        <p:nvSpPr>
          <p:cNvPr id="12" name="header-metric-2-value">
            <a:extLst xmlns:a="http://schemas.openxmlformats.org/drawingml/2006/main">
              <a:ext uri="{FF2B5EF4-FFF2-40B4-BE49-F238E27FC236}">
                <a16:creationId xmlns:a16="http://schemas.microsoft.com/office/drawing/2014/main" id="{61D5D63F-367C-42AE-A14D-D40BCADCC5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23500" y="2286000"/>
            <a:ext cx="24765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5100" b="1">
                <a:solidFill>
                  <a:srgbClr val="4D8FC0"/>
                </a:solidFill>
              </a:defRPr>
            </a:pPr>
            <a:r>
              <a:rPr sz="5100" b="1">
                <a:solidFill>
                  <a:srgbClr val="4D8FC0"/>
                </a:solidFill>
              </a:rPr>
              <a:t>12</a:t>
            </a:r>
          </a:p>
        </p:txBody>
      </p:sp>
      <p:sp>
        <p:nvSpPr>
          <p:cNvPr id="13" name="header-metric-2-label">
            <a:extLst xmlns:a="http://schemas.openxmlformats.org/drawingml/2006/main">
              <a:ext uri="{FF2B5EF4-FFF2-40B4-BE49-F238E27FC236}">
                <a16:creationId xmlns:a16="http://schemas.microsoft.com/office/drawing/2014/main" id="{C63D2639-0458-4B77-B01F-40C0B1FFAA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23500" y="3067050"/>
            <a:ext cx="24765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325" b="1">
                <a:solidFill>
                  <a:srgbClr val="142A3B"/>
                </a:solidFill>
              </a:defRPr>
            </a:pPr>
            <a:r>
              <a:rPr sz="2325" b="1">
                <a:solidFill>
                  <a:srgbClr val="142A3B"/>
                </a:solidFill>
              </a:rPr>
              <a:t>anonymous model features</a:t>
            </a:r>
          </a:p>
        </p:txBody>
      </p:sp>
      <p:sp>
        <p:nvSpPr>
          <p:cNvPr id="14" name="header-metric-3-value">
            <a:extLst xmlns:a="http://schemas.openxmlformats.org/drawingml/2006/main">
              <a:ext uri="{FF2B5EF4-FFF2-40B4-BE49-F238E27FC236}">
                <a16:creationId xmlns:a16="http://schemas.microsoft.com/office/drawing/2014/main" id="{3DD4E195-617B-4567-89EB-AF0AE0C445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481000" y="2286000"/>
            <a:ext cx="24765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5100" b="1">
                <a:solidFill>
                  <a:srgbClr val="D77A70"/>
                </a:solidFill>
              </a:defRPr>
            </a:pPr>
            <a:r>
              <a:rPr sz="5100" b="1">
                <a:solidFill>
                  <a:srgbClr val="D77A70"/>
                </a:solidFill>
              </a:rPr>
              <a:t>4</a:t>
            </a:r>
          </a:p>
        </p:txBody>
      </p:sp>
      <p:sp>
        <p:nvSpPr>
          <p:cNvPr id="15" name="header-metric-3-label">
            <a:extLst xmlns:a="http://schemas.openxmlformats.org/drawingml/2006/main">
              <a:ext uri="{FF2B5EF4-FFF2-40B4-BE49-F238E27FC236}">
                <a16:creationId xmlns:a16="http://schemas.microsoft.com/office/drawing/2014/main" id="{75B421C6-A685-4C69-B02F-5671890741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481000" y="3067050"/>
            <a:ext cx="24765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325" b="1">
                <a:solidFill>
                  <a:srgbClr val="142A3B"/>
                </a:solidFill>
              </a:defRPr>
            </a:pPr>
            <a:r>
              <a:rPr sz="2325" b="1">
                <a:solidFill>
                  <a:srgbClr val="142A3B"/>
                </a:solidFill>
              </a:rPr>
              <a:t>deterministic cohort simulations</a:t>
            </a:r>
          </a:p>
        </p:txBody>
      </p:sp>
      <p:sp>
        <p:nvSpPr>
          <p:cNvPr id="16" name="question-title">
            <a:extLst xmlns:a="http://schemas.openxmlformats.org/drawingml/2006/main">
              <a:ext uri="{FF2B5EF4-FFF2-40B4-BE49-F238E27FC236}">
                <a16:creationId xmlns:a16="http://schemas.microsoft.com/office/drawing/2014/main" id="{32DEF339-3135-4F83-92E9-4297EAF5CA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5619750"/>
            <a:ext cx="11620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600" b="1">
                <a:solidFill>
                  <a:srgbClr val="286F67"/>
                </a:solidFill>
              </a:defRPr>
            </a:pPr>
            <a:r>
              <a:rPr sz="3600" b="1">
                <a:solidFill>
                  <a:srgbClr val="286F67"/>
                </a:solidFill>
              </a:rPr>
              <a:t>Communication test</a:t>
            </a:r>
          </a:p>
        </p:txBody>
      </p:sp>
      <p:sp>
        <p:nvSpPr>
          <p:cNvPr id="17" name="question-rule">
            <a:extLst xmlns:a="http://schemas.openxmlformats.org/drawingml/2006/main">
              <a:ext uri="{FF2B5EF4-FFF2-40B4-BE49-F238E27FC236}">
                <a16:creationId xmlns:a16="http://schemas.microsoft.com/office/drawing/2014/main" id="{B091A08D-6B98-4D4A-9727-E713C8E4D0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6257925"/>
            <a:ext cx="3143250" cy="95250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rgbClr val="D77A7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research-question">
            <a:extLst xmlns:a="http://schemas.openxmlformats.org/drawingml/2006/main">
              <a:ext uri="{FF2B5EF4-FFF2-40B4-BE49-F238E27FC236}">
                <a16:creationId xmlns:a16="http://schemas.microsoft.com/office/drawing/2014/main" id="{9D60CE00-5EC5-4B2B-AF27-38382C19BD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6496050"/>
            <a:ext cx="11620500" cy="2238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850">
                <a:solidFill>
                  <a:srgbClr val="142A3B"/>
                </a:solidFill>
              </a:defRPr>
            </a:pPr>
            <a:r>
              <a:rPr sz="2850">
                <a:solidFill>
                  <a:srgbClr val="142A3B"/>
                </a:solidFill>
              </a:rPr>
              <a:t>Can a realistic multi-cohort manuscript exercise evidence-linked poster generation without redistributing a real paper or implying biomedical evidence?</a:t>
            </a:r>
          </a:p>
        </p:txBody>
      </p:sp>
      <p:sp>
        <p:nvSpPr>
          <p:cNvPr id="19" name="question-evidence">
            <a:extLst xmlns:a="http://schemas.openxmlformats.org/drawingml/2006/main">
              <a:ext uri="{FF2B5EF4-FFF2-40B4-BE49-F238E27FC236}">
                <a16:creationId xmlns:a16="http://schemas.microsoft.com/office/drawing/2014/main" id="{4C7BD170-4B5C-46AC-B13F-1BF9244CA8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8686800"/>
            <a:ext cx="11620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75" i="1">
                <a:solidFill>
                  <a:srgbClr val="4D8FC0"/>
                </a:solidFill>
              </a:defRPr>
            </a:pPr>
            <a:r>
              <a:rPr sz="1875" i="1">
                <a:solidFill>
                  <a:srgbClr val="4D8FC0"/>
                </a:solidFill>
              </a:rPr>
              <a:t>Evidence: Abstract and Introduction, pp. 1-2</a:t>
            </a:r>
          </a:p>
        </p:txBody>
      </p:sp>
      <p:sp>
        <p:nvSpPr>
          <p:cNvPr id="20" name="pipeline-title">
            <a:extLst xmlns:a="http://schemas.openxmlformats.org/drawingml/2006/main">
              <a:ext uri="{FF2B5EF4-FFF2-40B4-BE49-F238E27FC236}">
                <a16:creationId xmlns:a16="http://schemas.microsoft.com/office/drawing/2014/main" id="{FD5CDC3A-D76E-4174-99E8-55A6464F6B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9239250"/>
            <a:ext cx="11620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600" b="1">
                <a:solidFill>
                  <a:srgbClr val="286F67"/>
                </a:solidFill>
              </a:defRPr>
            </a:pPr>
            <a:r>
              <a:rPr sz="3600" b="1">
                <a:solidFill>
                  <a:srgbClr val="286F67"/>
                </a:solidFill>
              </a:rPr>
              <a:t>Deterministic workflow</a:t>
            </a:r>
          </a:p>
        </p:txBody>
      </p:sp>
      <p:sp>
        <p:nvSpPr>
          <p:cNvPr id="21" name="pipeline-rule">
            <a:extLst xmlns:a="http://schemas.openxmlformats.org/drawingml/2006/main">
              <a:ext uri="{FF2B5EF4-FFF2-40B4-BE49-F238E27FC236}">
                <a16:creationId xmlns:a16="http://schemas.microsoft.com/office/drawing/2014/main" id="{6ADDF734-174B-4B68-872D-2DFE70582F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9877425"/>
            <a:ext cx="3143250" cy="95250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rgbClr val="D77A7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pipeline-1-number-bg">
            <a:extLst xmlns:a="http://schemas.openxmlformats.org/drawingml/2006/main">
              <a:ext uri="{FF2B5EF4-FFF2-40B4-BE49-F238E27FC236}">
                <a16:creationId xmlns:a16="http://schemas.microsoft.com/office/drawing/2014/main" id="{C9EA334F-7771-4F85-B1A3-07CD2CB1E0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10134600"/>
            <a:ext cx="590550" cy="5905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D77A7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pipeline-1-number">
            <a:extLst xmlns:a="http://schemas.openxmlformats.org/drawingml/2006/main">
              <a:ext uri="{FF2B5EF4-FFF2-40B4-BE49-F238E27FC236}">
                <a16:creationId xmlns:a16="http://schemas.microsoft.com/office/drawing/2014/main" id="{E2D0B55C-CFAE-48DA-8E6D-764AFE83EC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10201275"/>
            <a:ext cx="5905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325" b="1">
                <a:solidFill>
                  <a:srgbClr val="142A3B"/>
                </a:solidFill>
              </a:defRPr>
            </a:pPr>
            <a:r>
              <a:rPr sz="2325" b="1">
                <a:solidFill>
                  <a:srgbClr val="142A3B"/>
                </a:solidFill>
              </a:rPr>
              <a:t>1</a:t>
            </a:r>
          </a:p>
        </p:txBody>
      </p:sp>
      <p:sp>
        <p:nvSpPr>
          <p:cNvPr id="24" name="pipeline-1-text">
            <a:extLst xmlns:a="http://schemas.openxmlformats.org/drawingml/2006/main">
              <a:ext uri="{FF2B5EF4-FFF2-40B4-BE49-F238E27FC236}">
                <a16:creationId xmlns:a16="http://schemas.microsoft.com/office/drawing/2014/main" id="{FFF950FB-7560-4A60-8832-B985BD58F1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14550" y="10172700"/>
            <a:ext cx="108394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850" b="1">
                <a:solidFill>
                  <a:srgbClr val="142A3B"/>
                </a:solidFill>
              </a:defRPr>
            </a:pPr>
            <a:r>
              <a:rPr sz="2850" b="1">
                <a:solidFill>
                  <a:srgbClr val="142A3B"/>
                </a:solidFill>
              </a:rPr>
              <a:t>Fixed seed generated 1,240 profiles</a:t>
            </a:r>
          </a:p>
        </p:txBody>
      </p:sp>
      <p:sp>
        <p:nvSpPr>
          <p:cNvPr id="25" name="pipeline-2-number-bg">
            <a:extLst xmlns:a="http://schemas.openxmlformats.org/drawingml/2006/main">
              <a:ext uri="{FF2B5EF4-FFF2-40B4-BE49-F238E27FC236}">
                <a16:creationId xmlns:a16="http://schemas.microsoft.com/office/drawing/2014/main" id="{AE9AB45A-3D9E-4BAA-9251-87DACE1D95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10896600"/>
            <a:ext cx="590550" cy="5905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D77A7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" name="pipeline-2-number">
            <a:extLst xmlns:a="http://schemas.openxmlformats.org/drawingml/2006/main">
              <a:ext uri="{FF2B5EF4-FFF2-40B4-BE49-F238E27FC236}">
                <a16:creationId xmlns:a16="http://schemas.microsoft.com/office/drawing/2014/main" id="{DE480AA1-ACE7-43CA-B476-E274803530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10963275"/>
            <a:ext cx="5905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325" b="1">
                <a:solidFill>
                  <a:srgbClr val="142A3B"/>
                </a:solidFill>
              </a:defRPr>
            </a:pPr>
            <a:r>
              <a:rPr sz="2325" b="1">
                <a:solidFill>
                  <a:srgbClr val="142A3B"/>
                </a:solidFill>
              </a:rPr>
              <a:t>2</a:t>
            </a:r>
          </a:p>
        </p:txBody>
      </p:sp>
      <p:sp>
        <p:nvSpPr>
          <p:cNvPr id="27" name="pipeline-2-text">
            <a:extLst xmlns:a="http://schemas.openxmlformats.org/drawingml/2006/main">
              <a:ext uri="{FF2B5EF4-FFF2-40B4-BE49-F238E27FC236}">
                <a16:creationId xmlns:a16="http://schemas.microsoft.com/office/drawing/2014/main" id="{EF7C1BC0-16C5-4511-BEB1-13EE9BC97B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14550" y="10934700"/>
            <a:ext cx="108394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850" b="1">
                <a:solidFill>
                  <a:srgbClr val="142A3B"/>
                </a:solidFill>
              </a:defRPr>
            </a:pPr>
            <a:r>
              <a:rPr sz="2850" b="1">
                <a:solidFill>
                  <a:srgbClr val="142A3B"/>
                </a:solidFill>
              </a:rPr>
              <a:t>480 anonymous transcript-like features</a:t>
            </a:r>
          </a:p>
        </p:txBody>
      </p:sp>
      <p:sp>
        <p:nvSpPr>
          <p:cNvPr id="28" name="pipeline-3-number-bg">
            <a:extLst xmlns:a="http://schemas.openxmlformats.org/drawingml/2006/main">
              <a:ext uri="{FF2B5EF4-FFF2-40B4-BE49-F238E27FC236}">
                <a16:creationId xmlns:a16="http://schemas.microsoft.com/office/drawing/2014/main" id="{E4CC9846-209C-4BCB-92B1-46FC87F5F6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11658600"/>
            <a:ext cx="590550" cy="5905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D77A7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9" name="pipeline-3-number">
            <a:extLst xmlns:a="http://schemas.openxmlformats.org/drawingml/2006/main">
              <a:ext uri="{FF2B5EF4-FFF2-40B4-BE49-F238E27FC236}">
                <a16:creationId xmlns:a16="http://schemas.microsoft.com/office/drawing/2014/main" id="{F1B6C9CE-07BF-43B8-B6A2-4A27F78B87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11725275"/>
            <a:ext cx="5905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325" b="1">
                <a:solidFill>
                  <a:srgbClr val="142A3B"/>
                </a:solidFill>
              </a:defRPr>
            </a:pPr>
            <a:r>
              <a:rPr sz="2325" b="1">
                <a:solidFill>
                  <a:srgbClr val="142A3B"/>
                </a:solidFill>
              </a:rPr>
              <a:t>3</a:t>
            </a:r>
          </a:p>
        </p:txBody>
      </p:sp>
      <p:sp>
        <p:nvSpPr>
          <p:cNvPr id="30" name="pipeline-3-text">
            <a:extLst xmlns:a="http://schemas.openxmlformats.org/drawingml/2006/main">
              <a:ext uri="{FF2B5EF4-FFF2-40B4-BE49-F238E27FC236}">
                <a16:creationId xmlns:a16="http://schemas.microsoft.com/office/drawing/2014/main" id="{C8F317A5-623E-448F-8323-99F4C3915A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14550" y="11696700"/>
            <a:ext cx="108394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850" b="1">
                <a:solidFill>
                  <a:srgbClr val="142A3B"/>
                </a:solidFill>
              </a:defRPr>
            </a:pPr>
            <a:r>
              <a:rPr sz="2850" b="1">
                <a:solidFill>
                  <a:srgbClr val="142A3B"/>
                </a:solidFill>
              </a:rPr>
              <a:t>Nested elastic-net selection</a:t>
            </a:r>
          </a:p>
        </p:txBody>
      </p:sp>
      <p:sp>
        <p:nvSpPr>
          <p:cNvPr id="31" name="pipeline-4-number-bg">
            <a:extLst xmlns:a="http://schemas.openxmlformats.org/drawingml/2006/main">
              <a:ext uri="{FF2B5EF4-FFF2-40B4-BE49-F238E27FC236}">
                <a16:creationId xmlns:a16="http://schemas.microsoft.com/office/drawing/2014/main" id="{EC7E0AE0-2CFD-488E-9F38-0CFB4B9711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12420600"/>
            <a:ext cx="590550" cy="5905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D77A7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2" name="pipeline-4-number">
            <a:extLst xmlns:a="http://schemas.openxmlformats.org/drawingml/2006/main">
              <a:ext uri="{FF2B5EF4-FFF2-40B4-BE49-F238E27FC236}">
                <a16:creationId xmlns:a16="http://schemas.microsoft.com/office/drawing/2014/main" id="{054B64C0-6D07-4598-B31E-BB1D3E25DA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12487275"/>
            <a:ext cx="5905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325" b="1">
                <a:solidFill>
                  <a:srgbClr val="142A3B"/>
                </a:solidFill>
              </a:defRPr>
            </a:pPr>
            <a:r>
              <a:rPr sz="2325" b="1">
                <a:solidFill>
                  <a:srgbClr val="142A3B"/>
                </a:solidFill>
              </a:rPr>
              <a:t>4</a:t>
            </a:r>
          </a:p>
        </p:txBody>
      </p:sp>
      <p:sp>
        <p:nvSpPr>
          <p:cNvPr id="33" name="pipeline-4-text">
            <a:extLst xmlns:a="http://schemas.openxmlformats.org/drawingml/2006/main">
              <a:ext uri="{FF2B5EF4-FFF2-40B4-BE49-F238E27FC236}">
                <a16:creationId xmlns:a16="http://schemas.microsoft.com/office/drawing/2014/main" id="{B0E0A4B1-A2F4-4A83-87C1-831A59EC07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14550" y="12458700"/>
            <a:ext cx="108394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850" b="1">
                <a:solidFill>
                  <a:srgbClr val="142A3B"/>
                </a:solidFill>
              </a:defRPr>
            </a:pPr>
            <a:r>
              <a:rPr sz="2850" b="1">
                <a:solidFill>
                  <a:srgbClr val="142A3B"/>
                </a:solidFill>
              </a:rPr>
              <a:t>12-feature score and shift testing</a:t>
            </a:r>
          </a:p>
        </p:txBody>
      </p:sp>
      <p:sp>
        <p:nvSpPr>
          <p:cNvPr id="34" name="dataset-panel">
            <a:extLst xmlns:a="http://schemas.openxmlformats.org/drawingml/2006/main">
              <a:ext uri="{FF2B5EF4-FFF2-40B4-BE49-F238E27FC236}">
                <a16:creationId xmlns:a16="http://schemas.microsoft.com/office/drawing/2014/main" id="{13934A55-39BC-41AF-9E5B-90A4930A96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13430250"/>
            <a:ext cx="11620500" cy="3429000"/>
          </a:xfrm>
          <a:prstGeom xmlns:a="http://schemas.openxmlformats.org/drawingml/2006/main" prst="roundRect">
            <a:avLst>
              <a:gd name="adj" fmla="val 333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28575">
            <a:solidFill>
              <a:srgbClr val="8C9696"/>
            </a:solidFill>
            <a:prstDash val="solid"/>
          </a:ln>
        </p:spPr>
      </p:sp>
      <p:sp>
        <p:nvSpPr>
          <p:cNvPr id="35" name="dataset-kicker">
            <a:extLst xmlns:a="http://schemas.openxmlformats.org/drawingml/2006/main">
              <a:ext uri="{FF2B5EF4-FFF2-40B4-BE49-F238E27FC236}">
                <a16:creationId xmlns:a16="http://schemas.microsoft.com/office/drawing/2014/main" id="{058983E5-6A25-4A05-9BA6-2636037659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0200" y="13716000"/>
            <a:ext cx="4381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175" b="1">
                <a:solidFill>
                  <a:srgbClr val="286F67"/>
                </a:solidFill>
              </a:defRPr>
            </a:pPr>
            <a:r>
              <a:rPr sz="2175" b="1">
                <a:solidFill>
                  <a:srgbClr val="286F67"/>
                </a:solidFill>
              </a:rPr>
              <a:t>FOUR SYNTHETIC COHORTS</a:t>
            </a:r>
          </a:p>
        </p:txBody>
      </p:sp>
      <p:sp>
        <p:nvSpPr>
          <p:cNvPr id="36" name="datasets">
            <a:extLst xmlns:a="http://schemas.openxmlformats.org/drawingml/2006/main">
              <a:ext uri="{FF2B5EF4-FFF2-40B4-BE49-F238E27FC236}">
                <a16:creationId xmlns:a16="http://schemas.microsoft.com/office/drawing/2014/main" id="{701AAA6D-2E0C-4D9A-813E-98FDD03B24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0200" y="14239875"/>
            <a:ext cx="11087100" cy="2190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850">
                <a:solidFill>
                  <a:srgbClr val="142A3B"/>
                </a:solidFill>
              </a:defRPr>
            </a:pPr>
            <a:r>
              <a:rPr sz="2850">
                <a:solidFill>
                  <a:srgbClr val="142A3B"/>
                </a:solidFill>
              </a:rPr>
              <a:t>Discovery n=620 · Internal validation n=310</a:t>
            </a:r>
          </a:p>
          <a:p xmlns:a="http://schemas.openxmlformats.org/drawingml/2006/main">
            <a:pPr>
              <a:defRPr sz="2850">
                <a:solidFill>
                  <a:srgbClr val="142A3B"/>
                </a:solidFill>
              </a:defRPr>
            </a:pPr>
            <a:r>
              <a:rPr sz="2850">
                <a:solidFill>
                  <a:srgbClr val="142A3B"/>
                </a:solidFill>
              </a:rPr>
              <a:t>External simulation A n=186 · External simulation B n=124</a:t>
            </a:r>
          </a:p>
          <a:p xmlns:a="http://schemas.openxmlformats.org/drawingml/2006/main">
            <a:pPr>
              <a:defRPr sz="2850">
                <a:solidFill>
                  <a:srgbClr val="142A3B"/>
                </a:solidFill>
              </a:defRPr>
            </a:pPr>
            <a:r>
              <a:rPr sz="2850">
                <a:solidFill>
                  <a:srgbClr val="142A3B"/>
                </a:solidFill>
              </a:rPr>
              <a:t>All values are authored fixtures; no participant, specimen, institution, registry or external dataset exists.</a:t>
            </a:r>
          </a:p>
        </p:txBody>
      </p:sp>
      <p:sp>
        <p:nvSpPr>
          <p:cNvPr id="37" name="dataset-evidence">
            <a:extLst xmlns:a="http://schemas.openxmlformats.org/drawingml/2006/main">
              <a:ext uri="{FF2B5EF4-FFF2-40B4-BE49-F238E27FC236}">
                <a16:creationId xmlns:a16="http://schemas.microsoft.com/office/drawing/2014/main" id="{C8DB8990-0D94-4B5C-858F-8C9BAFD0BF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0200" y="16411575"/>
            <a:ext cx="110871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75" i="1">
                <a:solidFill>
                  <a:srgbClr val="4D8FC0"/>
                </a:solidFill>
              </a:defRPr>
            </a:pPr>
            <a:r>
              <a:rPr sz="1875" i="1">
                <a:solidFill>
                  <a:srgbClr val="4D8FC0"/>
                </a:solidFill>
              </a:rPr>
              <a:t>Evidence: Abstract and Methods, pp. 1-2</a:t>
            </a:r>
          </a:p>
        </p:txBody>
      </p:sp>
      <p:sp>
        <p:nvSpPr>
          <p:cNvPr id="38" name="figure-one-heading-title">
            <a:extLst xmlns:a="http://schemas.openxmlformats.org/drawingml/2006/main">
              <a:ext uri="{FF2B5EF4-FFF2-40B4-BE49-F238E27FC236}">
                <a16:creationId xmlns:a16="http://schemas.microsoft.com/office/drawing/2014/main" id="{F71E7731-E311-41DF-A70C-91F808769C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17383125"/>
            <a:ext cx="11620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600" b="1">
                <a:solidFill>
                  <a:srgbClr val="286F67"/>
                </a:solidFill>
              </a:defRPr>
            </a:pPr>
            <a:r>
              <a:rPr sz="3600" b="1">
                <a:solidFill>
                  <a:srgbClr val="286F67"/>
                </a:solidFill>
              </a:rPr>
              <a:t>Generation to validation</a:t>
            </a:r>
          </a:p>
        </p:txBody>
      </p:sp>
      <p:sp>
        <p:nvSpPr>
          <p:cNvPr id="39" name="figure-one-heading-rule">
            <a:extLst xmlns:a="http://schemas.openxmlformats.org/drawingml/2006/main">
              <a:ext uri="{FF2B5EF4-FFF2-40B4-BE49-F238E27FC236}">
                <a16:creationId xmlns:a16="http://schemas.microsoft.com/office/drawing/2014/main" id="{B61004FB-ECF7-43E5-8A8E-8C384D5C86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18021300"/>
            <a:ext cx="3143250" cy="95250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rgbClr val="D77A7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0" name="figure-one-frame">
            <a:extLst xmlns:a="http://schemas.openxmlformats.org/drawingml/2006/main">
              <a:ext uri="{FF2B5EF4-FFF2-40B4-BE49-F238E27FC236}">
                <a16:creationId xmlns:a16="http://schemas.microsoft.com/office/drawing/2014/main" id="{F4F8A325-5CBE-43BE-95D8-96384F5C52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18240375"/>
            <a:ext cx="11620500" cy="9906000"/>
          </a:xfrm>
          <a:prstGeom xmlns:a="http://schemas.openxmlformats.org/drawingml/2006/main" prst="roundRect">
            <a:avLst>
              <a:gd name="adj" fmla="val 115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28575">
            <a:solidFill>
              <a:srgbClr val="8C9696"/>
            </a:solidFill>
            <a:prstDash val="solid"/>
          </a:ln>
        </p:spPr>
      </p:sp>
      <p:pic>
        <p:nvPicPr>
          <p:cNvPr id="12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3b90a0785354ac5">
            <a:extLst>
              <a:ext uri="{96DAC541-7B7A-43D3-8B79-37D633B846F1}">
                <asvg:svgBlip xmlns:asvg="http://schemas.microsoft.com/office/drawing/2016/SVG/main" r:embed="R7942f37f9c504936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1524000" y="18430875"/>
            <a:ext cx="11239500" cy="8972550"/>
          </a:xfrm>
          <a:prstGeom xmlns:a="http://schemas.openxmlformats.org/drawingml/2006/main" prst="rect">
            <a:avLst/>
          </a:prstGeom>
        </p:spPr>
      </p:pic>
      <p:sp>
        <p:nvSpPr>
          <p:cNvPr id="42" name="figure-one-caption">
            <a:extLst xmlns:a="http://schemas.openxmlformats.org/drawingml/2006/main">
              <a:ext uri="{FF2B5EF4-FFF2-40B4-BE49-F238E27FC236}">
                <a16:creationId xmlns:a16="http://schemas.microsoft.com/office/drawing/2014/main" id="{B062BCF0-7AC0-42BA-AC4F-1DD8948E04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27460575"/>
            <a:ext cx="111633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142A3B"/>
                </a:solidFill>
              </a:defRPr>
            </a:pPr>
            <a:r>
              <a:rPr sz="2250" b="1">
                <a:solidFill>
                  <a:srgbClr val="142A3B"/>
                </a:solidFill>
              </a:rPr>
              <a:t>Figure 1 · Deterministic generation and validation workflow</a:t>
            </a:r>
          </a:p>
        </p:txBody>
      </p:sp>
      <p:sp>
        <p:nvSpPr>
          <p:cNvPr id="43" name="figure-one-source">
            <a:extLst xmlns:a="http://schemas.openxmlformats.org/drawingml/2006/main">
              <a:ext uri="{FF2B5EF4-FFF2-40B4-BE49-F238E27FC236}">
                <a16:creationId xmlns:a16="http://schemas.microsoft.com/office/drawing/2014/main" id="{6154AAD9-6500-4D82-895C-8F2E1C9256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27774900"/>
            <a:ext cx="111633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75" i="1">
                <a:solidFill>
                  <a:srgbClr val="4D8FC0"/>
                </a:solidFill>
              </a:defRPr>
            </a:pPr>
            <a:r>
              <a:rPr sz="1875" i="1">
                <a:solidFill>
                  <a:srgbClr val="4D8FC0"/>
                </a:solidFill>
              </a:rPr>
              <a:t>Authored synthetic fixture · manuscript p. 2</a:t>
            </a:r>
          </a:p>
        </p:txBody>
      </p:sp>
      <p:sp>
        <p:nvSpPr>
          <p:cNvPr id="44" name="central-takeaway">
            <a:extLst xmlns:a="http://schemas.openxmlformats.org/drawingml/2006/main">
              <a:ext uri="{FF2B5EF4-FFF2-40B4-BE49-F238E27FC236}">
                <a16:creationId xmlns:a16="http://schemas.microsoft.com/office/drawing/2014/main" id="{A10A1865-73B2-43DD-B2E6-EDA3B19046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0" y="5619750"/>
            <a:ext cx="13668375" cy="2524125"/>
          </a:xfrm>
          <a:prstGeom xmlns:a="http://schemas.openxmlformats.org/drawingml/2006/main" prst="roundRect">
            <a:avLst>
              <a:gd name="adj" fmla="val 6038"/>
            </a:avLst>
          </a:prstGeom>
          <a:solidFill xmlns:a="http://schemas.openxmlformats.org/drawingml/2006/main">
            <a:srgbClr val="D77A7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5" name="central-takeaway-title">
            <a:extLst xmlns:a="http://schemas.openxmlformats.org/drawingml/2006/main">
              <a:ext uri="{FF2B5EF4-FFF2-40B4-BE49-F238E27FC236}">
                <a16:creationId xmlns:a16="http://schemas.microsoft.com/office/drawing/2014/main" id="{26D7232A-D173-4D07-BB26-E032392062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44600" y="5953125"/>
            <a:ext cx="12830175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4125" b="1">
                <a:solidFill>
                  <a:srgbClr val="142A3B"/>
                </a:solidFill>
              </a:defRPr>
            </a:pPr>
            <a:r>
              <a:rPr sz="4125" b="1">
                <a:solidFill>
                  <a:srgbClr val="142A3B"/>
                </a:solidFill>
              </a:rPr>
              <a:t>External simulations retained C-indices of 0.75 and 0.74</a:t>
            </a:r>
          </a:p>
        </p:txBody>
      </p:sp>
      <p:sp>
        <p:nvSpPr>
          <p:cNvPr id="46" name="central-takeaway-subtitle">
            <a:extLst xmlns:a="http://schemas.openxmlformats.org/drawingml/2006/main">
              <a:ext uri="{FF2B5EF4-FFF2-40B4-BE49-F238E27FC236}">
                <a16:creationId xmlns:a16="http://schemas.microsoft.com/office/drawing/2014/main" id="{496E70C7-DD77-49C2-99CB-05492A8039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192250" y="7181850"/>
            <a:ext cx="1233487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400" b="1">
                <a:solidFill>
                  <a:srgbClr val="142A3B"/>
                </a:solidFill>
              </a:defRPr>
            </a:pPr>
            <a:r>
              <a:rPr sz="2400" b="1">
                <a:solidFill>
                  <a:srgbClr val="142A3B"/>
                </a:solidFill>
              </a:rPr>
              <a:t>Synthetic baseline: 0.66 and 0.65 · software fixture, not clinical validation</a:t>
            </a:r>
          </a:p>
        </p:txBody>
      </p:sp>
      <p:sp>
        <p:nvSpPr>
          <p:cNvPr id="47" name="takeaway-evidence">
            <a:extLst xmlns:a="http://schemas.openxmlformats.org/drawingml/2006/main">
              <a:ext uri="{FF2B5EF4-FFF2-40B4-BE49-F238E27FC236}">
                <a16:creationId xmlns:a16="http://schemas.microsoft.com/office/drawing/2014/main" id="{6971BE61-2677-4786-A8C2-EF14F2E084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63650" y="7715250"/>
            <a:ext cx="1279207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75" i="1">
                <a:solidFill>
                  <a:srgbClr val="4D8FC0"/>
                </a:solidFill>
              </a:defRPr>
            </a:pPr>
            <a:r>
              <a:rPr sz="1875" i="1">
                <a:solidFill>
                  <a:srgbClr val="4D8FC0"/>
                </a:solidFill>
              </a:rPr>
              <a:t>Evidence: Results, pp. 1 and 3; Figure 2</a:t>
            </a:r>
          </a:p>
        </p:txBody>
      </p:sp>
      <p:sp>
        <p:nvSpPr>
          <p:cNvPr id="48" name="figure-two-heading-title">
            <a:extLst xmlns:a="http://schemas.openxmlformats.org/drawingml/2006/main">
              <a:ext uri="{FF2B5EF4-FFF2-40B4-BE49-F238E27FC236}">
                <a16:creationId xmlns:a16="http://schemas.microsoft.com/office/drawing/2014/main" id="{B80D3CFC-F1CF-440C-81E5-79AD52765A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0" y="8620125"/>
            <a:ext cx="13668375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600" b="1">
                <a:solidFill>
                  <a:srgbClr val="286F67"/>
                </a:solidFill>
              </a:defRPr>
            </a:pPr>
            <a:r>
              <a:rPr sz="3600" b="1">
                <a:solidFill>
                  <a:srgbClr val="286F67"/>
                </a:solidFill>
              </a:rPr>
              <a:t>Discrimination across shifts</a:t>
            </a:r>
          </a:p>
        </p:txBody>
      </p:sp>
      <p:sp>
        <p:nvSpPr>
          <p:cNvPr id="49" name="figure-two-heading-rule">
            <a:extLst xmlns:a="http://schemas.openxmlformats.org/drawingml/2006/main">
              <a:ext uri="{FF2B5EF4-FFF2-40B4-BE49-F238E27FC236}">
                <a16:creationId xmlns:a16="http://schemas.microsoft.com/office/drawing/2014/main" id="{999D56B0-C745-4966-86D1-222382A22F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0" y="9258300"/>
            <a:ext cx="3143250" cy="95250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rgbClr val="D77A7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0" name="figure-two-frame">
            <a:extLst xmlns:a="http://schemas.openxmlformats.org/drawingml/2006/main">
              <a:ext uri="{FF2B5EF4-FFF2-40B4-BE49-F238E27FC236}">
                <a16:creationId xmlns:a16="http://schemas.microsoft.com/office/drawing/2014/main" id="{84336CF8-898F-4024-8B5E-30D0C643DC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0" y="9477375"/>
            <a:ext cx="13668375" cy="12715875"/>
          </a:xfrm>
          <a:prstGeom xmlns:a="http://schemas.openxmlformats.org/drawingml/2006/main" prst="roundRect">
            <a:avLst>
              <a:gd name="adj" fmla="val 89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28575">
            <a:solidFill>
              <a:srgbClr val="8C9696"/>
            </a:solidFill>
            <a:prstDash val="solid"/>
          </a:ln>
        </p:spPr>
      </p:sp>
      <p:pic>
        <p:nvPicPr>
          <p:cNvPr id="13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cc061dad54a405a">
            <a:extLst>
              <a:ext uri="{96DAC541-7B7A-43D3-8B79-37D633B846F1}">
                <asvg:svgBlip xmlns:asvg="http://schemas.microsoft.com/office/drawing/2016/SVG/main" r:embed="R54e8b5bd8a124d18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13716000" y="9667875"/>
            <a:ext cx="13287375" cy="11782425"/>
          </a:xfrm>
          <a:prstGeom xmlns:a="http://schemas.openxmlformats.org/drawingml/2006/main" prst="rect">
            <a:avLst/>
          </a:prstGeom>
        </p:spPr>
      </p:pic>
      <p:sp>
        <p:nvSpPr>
          <p:cNvPr id="52" name="figure-two-caption">
            <a:extLst xmlns:a="http://schemas.openxmlformats.org/drawingml/2006/main">
              <a:ext uri="{FF2B5EF4-FFF2-40B4-BE49-F238E27FC236}">
                <a16:creationId xmlns:a16="http://schemas.microsoft.com/office/drawing/2014/main" id="{BA2C5790-F03E-48AB-B231-6D0E41A069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54100" y="21507450"/>
            <a:ext cx="1321117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142A3B"/>
                </a:solidFill>
              </a:defRPr>
            </a:pPr>
            <a:r>
              <a:rPr sz="2250" b="1">
                <a:solidFill>
                  <a:srgbClr val="142A3B"/>
                </a:solidFill>
              </a:rPr>
              <a:t>Figure 2 · Authored discrimination values across cohort shifts</a:t>
            </a:r>
          </a:p>
        </p:txBody>
      </p:sp>
      <p:sp>
        <p:nvSpPr>
          <p:cNvPr id="53" name="figure-two-source">
            <a:extLst xmlns:a="http://schemas.openxmlformats.org/drawingml/2006/main">
              <a:ext uri="{FF2B5EF4-FFF2-40B4-BE49-F238E27FC236}">
                <a16:creationId xmlns:a16="http://schemas.microsoft.com/office/drawing/2014/main" id="{F845716B-7930-460E-A742-0D274C52B2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54100" y="21821775"/>
            <a:ext cx="1321117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75" i="1">
                <a:solidFill>
                  <a:srgbClr val="4D8FC0"/>
                </a:solidFill>
              </a:defRPr>
            </a:pPr>
            <a:r>
              <a:rPr sz="1875" i="1">
                <a:solidFill>
                  <a:srgbClr val="4D8FC0"/>
                </a:solidFill>
              </a:rPr>
              <a:t>Authored synthetic fixture · manuscript p. 3</a:t>
            </a:r>
          </a:p>
        </p:txBody>
      </p:sp>
      <p:sp>
        <p:nvSpPr>
          <p:cNvPr id="54" name="validation-heading-title">
            <a:extLst xmlns:a="http://schemas.openxmlformats.org/drawingml/2006/main">
              <a:ext uri="{FF2B5EF4-FFF2-40B4-BE49-F238E27FC236}">
                <a16:creationId xmlns:a16="http://schemas.microsoft.com/office/drawing/2014/main" id="{441B8DE1-6059-41B6-8111-4FEFD0A1D1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0" y="22669500"/>
            <a:ext cx="13668375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600" b="1">
                <a:solidFill>
                  <a:srgbClr val="286F67"/>
                </a:solidFill>
              </a:defRPr>
            </a:pPr>
            <a:r>
              <a:rPr sz="3600" b="1">
                <a:solidFill>
                  <a:srgbClr val="286F67"/>
                </a:solidFill>
              </a:rPr>
              <a:t>Calibration and stress boundary</a:t>
            </a:r>
          </a:p>
        </p:txBody>
      </p:sp>
      <p:sp>
        <p:nvSpPr>
          <p:cNvPr id="55" name="validation-heading-rule">
            <a:extLst xmlns:a="http://schemas.openxmlformats.org/drawingml/2006/main">
              <a:ext uri="{FF2B5EF4-FFF2-40B4-BE49-F238E27FC236}">
                <a16:creationId xmlns:a16="http://schemas.microsoft.com/office/drawing/2014/main" id="{F0D3C483-20D2-4851-A8C1-00718E4189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0" y="23307675"/>
            <a:ext cx="3143250" cy="95250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rgbClr val="D77A7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6" name="validation-panel">
            <a:extLst xmlns:a="http://schemas.openxmlformats.org/drawingml/2006/main">
              <a:ext uri="{FF2B5EF4-FFF2-40B4-BE49-F238E27FC236}">
                <a16:creationId xmlns:a16="http://schemas.microsoft.com/office/drawing/2014/main" id="{0C38EDC1-317E-4DAB-8643-3985329CC8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0" y="23526750"/>
            <a:ext cx="13668375" cy="4048125"/>
          </a:xfrm>
          <a:prstGeom xmlns:a="http://schemas.openxmlformats.org/drawingml/2006/main" prst="roundRect">
            <a:avLst>
              <a:gd name="adj" fmla="val 282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28575">
            <a:solidFill>
              <a:srgbClr val="8C9696"/>
            </a:solidFill>
            <a:prstDash val="solid"/>
          </a:ln>
        </p:spPr>
      </p:sp>
      <p:sp>
        <p:nvSpPr>
          <p:cNvPr id="57" name="validation">
            <a:extLst xmlns:a="http://schemas.openxmlformats.org/drawingml/2006/main">
              <a:ext uri="{FF2B5EF4-FFF2-40B4-BE49-F238E27FC236}">
                <a16:creationId xmlns:a16="http://schemas.microsoft.com/office/drawing/2014/main" id="{20835071-7B6C-4F83-971F-ADC3CA7B40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68400" y="23841075"/>
            <a:ext cx="12982575" cy="2952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850">
                <a:solidFill>
                  <a:srgbClr val="142A3B"/>
                </a:solidFill>
              </a:defRPr>
            </a:pPr>
            <a:r>
              <a:rPr sz="2850">
                <a:solidFill>
                  <a:srgbClr val="142A3B"/>
                </a:solidFill>
              </a:rPr>
              <a:t>• External calibration slopes were 0.97 and 0.95.</a:t>
            </a:r>
          </a:p>
          <a:p xmlns:a="http://schemas.openxmlformats.org/drawingml/2006/main">
            <a:pPr>
              <a:defRPr sz="2850">
                <a:solidFill>
                  <a:srgbClr val="142A3B"/>
                </a:solidFill>
              </a:defRPr>
            </a:pPr>
            <a:r>
              <a:rPr sz="2850">
                <a:solidFill>
                  <a:srgbClr val="142A3B"/>
                </a:solidFill>
              </a:rPr>
              <a:t>• External absolute errors were 0.031 and 0.038.</a:t>
            </a:r>
          </a:p>
          <a:p xmlns:a="http://schemas.openxmlformats.org/drawingml/2006/main">
            <a:pPr>
              <a:defRPr sz="2850">
                <a:solidFill>
                  <a:srgbClr val="142A3B"/>
                </a:solidFill>
              </a:defRPr>
            </a:pPr>
            <a:r>
              <a:rPr sz="2850">
                <a:solidFill>
                  <a:srgbClr val="142A3B"/>
                </a:solidFill>
              </a:rPr>
              <a:t>• Aggregate coefficient-sign stability was 92% across 500 resamples.</a:t>
            </a:r>
          </a:p>
          <a:p xmlns:a="http://schemas.openxmlformats.org/drawingml/2006/main">
            <a:pPr>
              <a:defRPr sz="2850">
                <a:solidFill>
                  <a:srgbClr val="142A3B"/>
                </a:solidFill>
              </a:defRPr>
            </a:pPr>
            <a:r>
              <a:rPr sz="2850">
                <a:solidFill>
                  <a:srgbClr val="142A3B"/>
                </a:solidFill>
              </a:rPr>
              <a:t>• The most severe pre-specified shift reduced C-index by 0.04.</a:t>
            </a:r>
          </a:p>
        </p:txBody>
      </p:sp>
      <p:sp>
        <p:nvSpPr>
          <p:cNvPr id="58" name="validation-evidence">
            <a:extLst xmlns:a="http://schemas.openxmlformats.org/drawingml/2006/main">
              <a:ext uri="{FF2B5EF4-FFF2-40B4-BE49-F238E27FC236}">
                <a16:creationId xmlns:a16="http://schemas.microsoft.com/office/drawing/2014/main" id="{C2211AD4-3568-4FB9-A0A1-FD6963BABE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68400" y="27117675"/>
            <a:ext cx="1298257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75" i="1">
                <a:solidFill>
                  <a:srgbClr val="4D8FC0"/>
                </a:solidFill>
              </a:defRPr>
            </a:pPr>
            <a:r>
              <a:rPr sz="1875" i="1">
                <a:solidFill>
                  <a:srgbClr val="4D8FC0"/>
                </a:solidFill>
              </a:rPr>
              <a:t>Evidence: Results, pp. 1, 3-4; Figures 3-4</a:t>
            </a:r>
          </a:p>
        </p:txBody>
      </p:sp>
      <p:sp>
        <p:nvSpPr>
          <p:cNvPr id="59" name="performance-strip">
            <a:extLst xmlns:a="http://schemas.openxmlformats.org/drawingml/2006/main">
              <a:ext uri="{FF2B5EF4-FFF2-40B4-BE49-F238E27FC236}">
                <a16:creationId xmlns:a16="http://schemas.microsoft.com/office/drawing/2014/main" id="{8B8948AD-5FF4-4B6D-9D96-62A0914A4C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0" y="27908250"/>
            <a:ext cx="13668375" cy="1095375"/>
          </a:xfrm>
          <a:prstGeom xmlns:a="http://schemas.openxmlformats.org/drawingml/2006/main" prst="roundRect">
            <a:avLst>
              <a:gd name="adj" fmla="val 10435"/>
            </a:avLst>
          </a:prstGeom>
          <a:solidFill xmlns:a="http://schemas.openxmlformats.org/drawingml/2006/main">
            <a:srgbClr val="286F6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0" name="performance-strip-text">
            <a:extLst xmlns:a="http://schemas.openxmlformats.org/drawingml/2006/main">
              <a:ext uri="{FF2B5EF4-FFF2-40B4-BE49-F238E27FC236}">
                <a16:creationId xmlns:a16="http://schemas.microsoft.com/office/drawing/2014/main" id="{1FCDA659-B079-4E0C-BB75-CF531DD22A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49350" y="28194000"/>
            <a:ext cx="13020675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550" b="1">
                <a:solidFill>
                  <a:srgbClr val="FFFFFF"/>
                </a:solidFill>
              </a:defRPr>
            </a:pPr>
            <a:r>
              <a:rPr sz="2550" b="1">
                <a:solidFill>
                  <a:srgbClr val="FFFFFF"/>
                </a:solidFill>
              </a:rPr>
              <a:t>AURORA-12 vs baseline C-index · Discovery 0.78 vs 0.68 · Internal 0.76 vs 0.67 · External A 0.75 vs 0.66 · External B 0.74 vs 0.65</a:t>
            </a:r>
          </a:p>
        </p:txBody>
      </p:sp>
      <p:sp>
        <p:nvSpPr>
          <p:cNvPr id="61" name="biology-heading-title">
            <a:extLst xmlns:a="http://schemas.openxmlformats.org/drawingml/2006/main">
              <a:ext uri="{FF2B5EF4-FFF2-40B4-BE49-F238E27FC236}">
                <a16:creationId xmlns:a16="http://schemas.microsoft.com/office/drawing/2014/main" id="{5FD3300F-5E47-4046-8EF2-2E7F388496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765375" y="5619750"/>
            <a:ext cx="13706475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600" b="1">
                <a:solidFill>
                  <a:srgbClr val="286F67"/>
                </a:solidFill>
              </a:defRPr>
            </a:pPr>
            <a:r>
              <a:rPr sz="3600" b="1">
                <a:solidFill>
                  <a:srgbClr val="286F67"/>
                </a:solidFill>
              </a:rPr>
              <a:t>Calibration &amp; stability</a:t>
            </a:r>
          </a:p>
        </p:txBody>
      </p:sp>
      <p:sp>
        <p:nvSpPr>
          <p:cNvPr id="62" name="biology-heading-rule">
            <a:extLst xmlns:a="http://schemas.openxmlformats.org/drawingml/2006/main">
              <a:ext uri="{FF2B5EF4-FFF2-40B4-BE49-F238E27FC236}">
                <a16:creationId xmlns:a16="http://schemas.microsoft.com/office/drawing/2014/main" id="{19672EC9-0ED0-4B39-BC32-461003D571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765375" y="6257925"/>
            <a:ext cx="3143250" cy="95250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rgbClr val="D77A7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3" name="biology-1-value">
            <a:extLst xmlns:a="http://schemas.openxmlformats.org/drawingml/2006/main">
              <a:ext uri="{FF2B5EF4-FFF2-40B4-BE49-F238E27FC236}">
                <a16:creationId xmlns:a16="http://schemas.microsoft.com/office/drawing/2014/main" id="{04F9ED51-FD56-43F1-8493-36F538EC8A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765375" y="6572250"/>
            <a:ext cx="40005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5100" b="1">
                <a:solidFill>
                  <a:srgbClr val="286F67"/>
                </a:solidFill>
              </a:defRPr>
            </a:pPr>
            <a:r>
              <a:rPr sz="5100" b="1">
                <a:solidFill>
                  <a:srgbClr val="286F67"/>
                </a:solidFill>
              </a:rPr>
              <a:t>92%</a:t>
            </a:r>
          </a:p>
        </p:txBody>
      </p:sp>
      <p:sp>
        <p:nvSpPr>
          <p:cNvPr id="64" name="biology-1-label">
            <a:extLst xmlns:a="http://schemas.openxmlformats.org/drawingml/2006/main">
              <a:ext uri="{FF2B5EF4-FFF2-40B4-BE49-F238E27FC236}">
                <a16:creationId xmlns:a16="http://schemas.microsoft.com/office/drawing/2014/main" id="{A0212DE4-4100-4519-B31C-B215278B61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765375" y="7353300"/>
            <a:ext cx="40005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325" b="1">
                <a:solidFill>
                  <a:srgbClr val="142A3B"/>
                </a:solidFill>
              </a:defRPr>
            </a:pPr>
            <a:r>
              <a:rPr sz="2325" b="1">
                <a:solidFill>
                  <a:srgbClr val="142A3B"/>
                </a:solidFill>
              </a:rPr>
              <a:t>coefficient-sign stability</a:t>
            </a:r>
          </a:p>
        </p:txBody>
      </p:sp>
      <p:sp>
        <p:nvSpPr>
          <p:cNvPr id="65" name="biology-2-value">
            <a:extLst xmlns:a="http://schemas.openxmlformats.org/drawingml/2006/main">
              <a:ext uri="{FF2B5EF4-FFF2-40B4-BE49-F238E27FC236}">
                <a16:creationId xmlns:a16="http://schemas.microsoft.com/office/drawing/2014/main" id="{2261AFDC-689E-4DEF-B8B8-531F24D5F5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289750" y="6572250"/>
            <a:ext cx="40005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5100" b="1">
                <a:solidFill>
                  <a:srgbClr val="4D8FC0"/>
                </a:solidFill>
              </a:defRPr>
            </a:pPr>
            <a:r>
              <a:rPr sz="5100" b="1">
                <a:solidFill>
                  <a:srgbClr val="4D8FC0"/>
                </a:solidFill>
              </a:rPr>
              <a:t>0.97 / 0.95</a:t>
            </a:r>
          </a:p>
        </p:txBody>
      </p:sp>
      <p:sp>
        <p:nvSpPr>
          <p:cNvPr id="66" name="biology-2-label">
            <a:extLst xmlns:a="http://schemas.openxmlformats.org/drawingml/2006/main">
              <a:ext uri="{FF2B5EF4-FFF2-40B4-BE49-F238E27FC236}">
                <a16:creationId xmlns:a16="http://schemas.microsoft.com/office/drawing/2014/main" id="{6B313940-7E3F-49C3-8D8A-4BA6226184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289750" y="7353300"/>
            <a:ext cx="40005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325" b="1">
                <a:solidFill>
                  <a:srgbClr val="142A3B"/>
                </a:solidFill>
              </a:defRPr>
            </a:pPr>
            <a:r>
              <a:rPr sz="2325" b="1">
                <a:solidFill>
                  <a:srgbClr val="142A3B"/>
                </a:solidFill>
              </a:rPr>
              <a:t>external calibration slopes</a:t>
            </a:r>
          </a:p>
        </p:txBody>
      </p:sp>
      <p:sp>
        <p:nvSpPr>
          <p:cNvPr id="67" name="biology-3-value">
            <a:extLst xmlns:a="http://schemas.openxmlformats.org/drawingml/2006/main">
              <a:ext uri="{FF2B5EF4-FFF2-40B4-BE49-F238E27FC236}">
                <a16:creationId xmlns:a16="http://schemas.microsoft.com/office/drawing/2014/main" id="{3912E674-F6A6-4CE3-91E5-17CB47988E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814125" y="6572250"/>
            <a:ext cx="40005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5100" b="1">
                <a:solidFill>
                  <a:srgbClr val="D77A70"/>
                </a:solidFill>
              </a:defRPr>
            </a:pPr>
            <a:r>
              <a:rPr sz="5100" b="1">
                <a:solidFill>
                  <a:srgbClr val="D77A70"/>
                </a:solidFill>
              </a:rPr>
              <a:t>0.031 / 0.038</a:t>
            </a:r>
          </a:p>
        </p:txBody>
      </p:sp>
      <p:sp>
        <p:nvSpPr>
          <p:cNvPr id="68" name="biology-3-label">
            <a:extLst xmlns:a="http://schemas.openxmlformats.org/drawingml/2006/main">
              <a:ext uri="{FF2B5EF4-FFF2-40B4-BE49-F238E27FC236}">
                <a16:creationId xmlns:a16="http://schemas.microsoft.com/office/drawing/2014/main" id="{8651B5B7-A60A-4258-8512-62DB6AB6B0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814125" y="7353300"/>
            <a:ext cx="40005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325" b="1">
                <a:solidFill>
                  <a:srgbClr val="142A3B"/>
                </a:solidFill>
              </a:defRPr>
            </a:pPr>
            <a:r>
              <a:rPr sz="2325" b="1">
                <a:solidFill>
                  <a:srgbClr val="142A3B"/>
                </a:solidFill>
              </a:rPr>
              <a:t>external absolute errors</a:t>
            </a:r>
          </a:p>
        </p:txBody>
      </p:sp>
      <p:sp>
        <p:nvSpPr>
          <p:cNvPr id="69" name="biology-evidence">
            <a:extLst xmlns:a="http://schemas.openxmlformats.org/drawingml/2006/main">
              <a:ext uri="{FF2B5EF4-FFF2-40B4-BE49-F238E27FC236}">
                <a16:creationId xmlns:a16="http://schemas.microsoft.com/office/drawing/2014/main" id="{5F55A6CB-EFFA-407D-9EA2-4C0BC08684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765375" y="8477250"/>
            <a:ext cx="1370647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75" i="1">
                <a:solidFill>
                  <a:srgbClr val="4D8FC0"/>
                </a:solidFill>
              </a:defRPr>
            </a:pPr>
            <a:r>
              <a:rPr sz="1875" i="1">
                <a:solidFill>
                  <a:srgbClr val="4D8FC0"/>
                </a:solidFill>
              </a:rPr>
              <a:t>Evidence: Stability and calibration, p. 4</a:t>
            </a:r>
          </a:p>
        </p:txBody>
      </p:sp>
      <p:sp>
        <p:nvSpPr>
          <p:cNvPr id="70" name="figure-three-frame">
            <a:extLst xmlns:a="http://schemas.openxmlformats.org/drawingml/2006/main">
              <a:ext uri="{FF2B5EF4-FFF2-40B4-BE49-F238E27FC236}">
                <a16:creationId xmlns:a16="http://schemas.microsoft.com/office/drawing/2014/main" id="{3160B5D0-6B85-4C87-A734-3019E87302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765375" y="9191625"/>
            <a:ext cx="13706475" cy="6858000"/>
          </a:xfrm>
          <a:prstGeom xmlns:a="http://schemas.openxmlformats.org/drawingml/2006/main" prst="roundRect">
            <a:avLst>
              <a:gd name="adj" fmla="val 166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28575">
            <a:solidFill>
              <a:srgbClr val="8C9696"/>
            </a:solidFill>
            <a:prstDash val="solid"/>
          </a:ln>
        </p:spPr>
      </p:sp>
      <p:pic>
        <p:nvPicPr>
          <p:cNvPr id="15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f287c44190e4a57">
            <a:extLst>
              <a:ext uri="{96DAC541-7B7A-43D3-8B79-37D633B846F1}">
                <asvg:svgBlip xmlns:asvg="http://schemas.microsoft.com/office/drawing/2016/SVG/main" r:embed="R6820284fd1ca42a1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27955875" y="9382125"/>
            <a:ext cx="13325475" cy="5924550"/>
          </a:xfrm>
          <a:prstGeom xmlns:a="http://schemas.openxmlformats.org/drawingml/2006/main" prst="rect">
            <a:avLst/>
          </a:prstGeom>
        </p:spPr>
      </p:pic>
      <p:sp>
        <p:nvSpPr>
          <p:cNvPr id="72" name="figure-three-caption">
            <a:extLst xmlns:a="http://schemas.openxmlformats.org/drawingml/2006/main">
              <a:ext uri="{FF2B5EF4-FFF2-40B4-BE49-F238E27FC236}">
                <a16:creationId xmlns:a16="http://schemas.microsoft.com/office/drawing/2014/main" id="{4E45405F-BF1B-41DE-96C1-2E1A295486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993975" y="15363825"/>
            <a:ext cx="1324927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142A3B"/>
                </a:solidFill>
              </a:defRPr>
            </a:pPr>
            <a:r>
              <a:rPr sz="2250" b="1">
                <a:solidFill>
                  <a:srgbClr val="142A3B"/>
                </a:solidFill>
              </a:rPr>
              <a:t>Figure 3 · Calibration and coefficient-sign stability</a:t>
            </a:r>
          </a:p>
        </p:txBody>
      </p:sp>
      <p:sp>
        <p:nvSpPr>
          <p:cNvPr id="73" name="figure-three-source">
            <a:extLst xmlns:a="http://schemas.openxmlformats.org/drawingml/2006/main">
              <a:ext uri="{FF2B5EF4-FFF2-40B4-BE49-F238E27FC236}">
                <a16:creationId xmlns:a16="http://schemas.microsoft.com/office/drawing/2014/main" id="{E32CEFAD-2A0F-4F2A-9C41-8C417B0BEC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993975" y="15678150"/>
            <a:ext cx="1324927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75" i="1">
                <a:solidFill>
                  <a:srgbClr val="4D8FC0"/>
                </a:solidFill>
              </a:defRPr>
            </a:pPr>
            <a:r>
              <a:rPr sz="1875" i="1">
                <a:solidFill>
                  <a:srgbClr val="4D8FC0"/>
                </a:solidFill>
              </a:rPr>
              <a:t>Authored synthetic fixture · manuscript p. 4</a:t>
            </a:r>
          </a:p>
        </p:txBody>
      </p:sp>
      <p:sp>
        <p:nvSpPr>
          <p:cNvPr id="74" name="validation-visual-heading-title">
            <a:extLst xmlns:a="http://schemas.openxmlformats.org/drawingml/2006/main">
              <a:ext uri="{FF2B5EF4-FFF2-40B4-BE49-F238E27FC236}">
                <a16:creationId xmlns:a16="http://schemas.microsoft.com/office/drawing/2014/main" id="{2CA82F6B-362E-45C4-8CA4-1EB86C185B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765375" y="16525875"/>
            <a:ext cx="13706475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600" b="1">
                <a:solidFill>
                  <a:srgbClr val="286F67"/>
                </a:solidFill>
              </a:defRPr>
            </a:pPr>
            <a:r>
              <a:rPr sz="3600" b="1">
                <a:solidFill>
                  <a:srgbClr val="286F67"/>
                </a:solidFill>
              </a:rPr>
              <a:t>Pre-specified stress test</a:t>
            </a:r>
          </a:p>
        </p:txBody>
      </p:sp>
      <p:sp>
        <p:nvSpPr>
          <p:cNvPr id="75" name="validation-visual-heading-rule">
            <a:extLst xmlns:a="http://schemas.openxmlformats.org/drawingml/2006/main">
              <a:ext uri="{FF2B5EF4-FFF2-40B4-BE49-F238E27FC236}">
                <a16:creationId xmlns:a16="http://schemas.microsoft.com/office/drawing/2014/main" id="{6E1CA57D-7E39-4AAF-B0F4-3E3EE87335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765375" y="17164050"/>
            <a:ext cx="3143250" cy="95250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rgbClr val="D77A7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6" name="figure-four-frame">
            <a:extLst xmlns:a="http://schemas.openxmlformats.org/drawingml/2006/main">
              <a:ext uri="{FF2B5EF4-FFF2-40B4-BE49-F238E27FC236}">
                <a16:creationId xmlns:a16="http://schemas.microsoft.com/office/drawing/2014/main" id="{538B4491-04F3-49C9-A56F-126C3E61E2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765375" y="17383125"/>
            <a:ext cx="13706475" cy="7143750"/>
          </a:xfrm>
          <a:prstGeom xmlns:a="http://schemas.openxmlformats.org/drawingml/2006/main" prst="roundRect">
            <a:avLst>
              <a:gd name="adj" fmla="val 16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28575">
            <a:solidFill>
              <a:srgbClr val="8C9696"/>
            </a:solidFill>
            <a:prstDash val="solid"/>
          </a:ln>
        </p:spPr>
      </p:sp>
      <p:pic>
        <p:nvPicPr>
          <p:cNvPr id="16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9801d64e0ee44d3">
            <a:extLst>
              <a:ext uri="{96DAC541-7B7A-43D3-8B79-37D633B846F1}">
                <asvg:svgBlip xmlns:asvg="http://schemas.microsoft.com/office/drawing/2016/SVG/main" r:embed="R7d24754a04f84156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27955875" y="17573625"/>
            <a:ext cx="13325475" cy="6210300"/>
          </a:xfrm>
          <a:prstGeom xmlns:a="http://schemas.openxmlformats.org/drawingml/2006/main" prst="rect">
            <a:avLst/>
          </a:prstGeom>
        </p:spPr>
      </p:pic>
      <p:sp>
        <p:nvSpPr>
          <p:cNvPr id="78" name="figure-four-caption">
            <a:extLst xmlns:a="http://schemas.openxmlformats.org/drawingml/2006/main">
              <a:ext uri="{FF2B5EF4-FFF2-40B4-BE49-F238E27FC236}">
                <a16:creationId xmlns:a16="http://schemas.microsoft.com/office/drawing/2014/main" id="{D50CF886-0D66-4F5E-941C-A790A23A0F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993975" y="23841075"/>
            <a:ext cx="1324927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142A3B"/>
                </a:solidFill>
              </a:defRPr>
            </a:pPr>
            <a:r>
              <a:rPr sz="2250" b="1">
                <a:solidFill>
                  <a:srgbClr val="142A3B"/>
                </a:solidFill>
              </a:rPr>
              <a:t>Figure 4 · Stress-test boundary under increasing shift</a:t>
            </a:r>
          </a:p>
        </p:txBody>
      </p:sp>
      <p:sp>
        <p:nvSpPr>
          <p:cNvPr id="79" name="figure-four-source">
            <a:extLst xmlns:a="http://schemas.openxmlformats.org/drawingml/2006/main">
              <a:ext uri="{FF2B5EF4-FFF2-40B4-BE49-F238E27FC236}">
                <a16:creationId xmlns:a16="http://schemas.microsoft.com/office/drawing/2014/main" id="{928A07FF-050F-4897-9421-D828C21B58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993975" y="24155400"/>
            <a:ext cx="1324927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75" i="1">
                <a:solidFill>
                  <a:srgbClr val="4D8FC0"/>
                </a:solidFill>
              </a:defRPr>
            </a:pPr>
            <a:r>
              <a:rPr sz="1875" i="1">
                <a:solidFill>
                  <a:srgbClr val="4D8FC0"/>
                </a:solidFill>
              </a:rPr>
              <a:t>Authored synthetic fixture · manuscript p. 4</a:t>
            </a:r>
          </a:p>
        </p:txBody>
      </p:sp>
      <p:sp>
        <p:nvSpPr>
          <p:cNvPr id="80" name="conclusion-heading-title">
            <a:extLst xmlns:a="http://schemas.openxmlformats.org/drawingml/2006/main">
              <a:ext uri="{FF2B5EF4-FFF2-40B4-BE49-F238E27FC236}">
                <a16:creationId xmlns:a16="http://schemas.microsoft.com/office/drawing/2014/main" id="{DD14C7B2-5BDA-484C-9209-E7A42229F8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765375" y="25003125"/>
            <a:ext cx="13706475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600" b="1">
                <a:solidFill>
                  <a:srgbClr val="286F67"/>
                </a:solidFill>
              </a:defRPr>
            </a:pPr>
            <a:r>
              <a:rPr sz="3600" b="1">
                <a:solidFill>
                  <a:srgbClr val="286F67"/>
                </a:solidFill>
              </a:rPr>
              <a:t>Supported conclusion</a:t>
            </a:r>
          </a:p>
        </p:txBody>
      </p:sp>
      <p:sp>
        <p:nvSpPr>
          <p:cNvPr id="81" name="conclusion-heading-rule">
            <a:extLst xmlns:a="http://schemas.openxmlformats.org/drawingml/2006/main">
              <a:ext uri="{FF2B5EF4-FFF2-40B4-BE49-F238E27FC236}">
                <a16:creationId xmlns:a16="http://schemas.microsoft.com/office/drawing/2014/main" id="{652E5529-477B-4DEB-AB35-A5724B3BED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765375" y="25641300"/>
            <a:ext cx="3143250" cy="95250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rgbClr val="D77A7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2" name="conclusion-panel">
            <a:extLst xmlns:a="http://schemas.openxmlformats.org/drawingml/2006/main">
              <a:ext uri="{FF2B5EF4-FFF2-40B4-BE49-F238E27FC236}">
                <a16:creationId xmlns:a16="http://schemas.microsoft.com/office/drawing/2014/main" id="{080F0DA0-A4FF-4BC4-BBAD-E255B410B4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765375" y="25860375"/>
            <a:ext cx="13706475" cy="3143250"/>
          </a:xfrm>
          <a:prstGeom xmlns:a="http://schemas.openxmlformats.org/drawingml/2006/main" prst="roundRect">
            <a:avLst>
              <a:gd name="adj" fmla="val 363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28575">
            <a:solidFill>
              <a:srgbClr val="8C9696"/>
            </a:solidFill>
            <a:prstDash val="solid"/>
          </a:ln>
        </p:spPr>
      </p:sp>
      <p:sp>
        <p:nvSpPr>
          <p:cNvPr id="83" name="conclusion">
            <a:extLst xmlns:a="http://schemas.openxmlformats.org/drawingml/2006/main">
              <a:ext uri="{FF2B5EF4-FFF2-40B4-BE49-F238E27FC236}">
                <a16:creationId xmlns:a16="http://schemas.microsoft.com/office/drawing/2014/main" id="{29482A66-25C7-4B7B-B299-0E44F61D55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089225" y="26174700"/>
            <a:ext cx="13058775" cy="2190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850">
                <a:solidFill>
                  <a:srgbClr val="142A3B"/>
                </a:solidFill>
              </a:defRPr>
            </a:pPr>
            <a:r>
              <a:rPr sz="2850">
                <a:solidFill>
                  <a:srgbClr val="142A3B"/>
                </a:solidFill>
              </a:rPr>
              <a:t>AURORA-12 is a controlled, rights-safe fixture for testing evidence-linked scientific communication. It supports no inference about real biology, prognosis, treatment or clinical utility. Every number, cohort, feature, author and institution is fictional.</a:t>
            </a:r>
          </a:p>
        </p:txBody>
      </p:sp>
      <p:sp>
        <p:nvSpPr>
          <p:cNvPr id="84" name="conclusion-evidence">
            <a:extLst xmlns:a="http://schemas.openxmlformats.org/drawingml/2006/main">
              <a:ext uri="{FF2B5EF4-FFF2-40B4-BE49-F238E27FC236}">
                <a16:creationId xmlns:a16="http://schemas.microsoft.com/office/drawing/2014/main" id="{0D4C924E-9C39-4098-93EB-62E7258478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089225" y="28498800"/>
            <a:ext cx="1305877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75" i="1">
                <a:solidFill>
                  <a:srgbClr val="4D8FC0"/>
                </a:solidFill>
              </a:defRPr>
            </a:pPr>
            <a:r>
              <a:rPr sz="1875" i="1">
                <a:solidFill>
                  <a:srgbClr val="4D8FC0"/>
                </a:solidFill>
              </a:rPr>
              <a:t>Evidence: Discussion and Conclusion, p. 5</a:t>
            </a:r>
          </a:p>
        </p:txBody>
      </p:sp>
      <p:sp>
        <p:nvSpPr>
          <p:cNvPr id="85" name="footer-band">
            <a:extLst xmlns:a="http://schemas.openxmlformats.org/drawingml/2006/main">
              <a:ext uri="{FF2B5EF4-FFF2-40B4-BE49-F238E27FC236}">
                <a16:creationId xmlns:a16="http://schemas.microsoft.com/office/drawing/2014/main" id="{7A68FCDB-3F48-427E-8E42-0A724814F7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29337000"/>
            <a:ext cx="42805350" cy="942975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142A3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6" name="footer-source">
            <a:extLst xmlns:a="http://schemas.openxmlformats.org/drawingml/2006/main">
              <a:ext uri="{FF2B5EF4-FFF2-40B4-BE49-F238E27FC236}">
                <a16:creationId xmlns:a16="http://schemas.microsoft.com/office/drawing/2014/main" id="{9B1D2762-A09D-4832-B259-A3FD80E01D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29594175"/>
            <a:ext cx="28575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950">
                <a:solidFill>
                  <a:srgbClr val="FFFFFF"/>
                </a:solidFill>
              </a:defRPr>
            </a:pPr>
            <a:r>
              <a:rPr sz="1950">
                <a:solidFill>
                  <a:srgbClr val="FFFFFF"/>
                </a:solidFill>
              </a:rPr>
              <a:t>Original synthetic fixture · CC0-1.0 · evidence coverage 100% · local-only processing</a:t>
            </a:r>
          </a:p>
        </p:txBody>
      </p:sp>
      <p:sp>
        <p:nvSpPr>
          <p:cNvPr id="87" name="footer-status">
            <a:extLst xmlns:a="http://schemas.openxmlformats.org/drawingml/2006/main">
              <a:ext uri="{FF2B5EF4-FFF2-40B4-BE49-F238E27FC236}">
                <a16:creationId xmlns:a16="http://schemas.microsoft.com/office/drawing/2014/main" id="{545235E4-BDCA-453F-A0E6-0FC51545C2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718000" y="29594175"/>
            <a:ext cx="11715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875" b="1">
                <a:solidFill>
                  <a:srgbClr val="D77A70"/>
                </a:solidFill>
              </a:defRPr>
            </a:pPr>
            <a:r>
              <a:rPr sz="1875" b="1">
                <a:solidFill>
                  <a:srgbClr val="D77A70"/>
                </a:solidFill>
              </a:rPr>
              <a:t>Approvals current · synthetic boundary locked · editable logo placeholder</a:t>
            </a:r>
          </a:p>
        </p:txBody>
      </p:sp>
    </p:spTree>
    <p:extLst>
      <p:ext uri="{BB962C8B-B14F-4D97-AF65-F5344CB8AC3E}">
        <p14:creationId xmlns:p14="http://schemas.microsoft.com/office/powerpoint/2010/main" val="1184628703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2026-08-08T08:08:19.3670000Z</dcterms:created>
  <dcterms:modified xsi:type="dcterms:W3CDTF">2026-08-08T08:08:19.3670000Z</dcterms:modified>
</coreProperties>
</file>