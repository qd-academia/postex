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3cea7b7e50498a" /><Relationship Type="http://schemas.openxmlformats.org/officeDocument/2006/relationships/extended-properties" Target="/docProps/app.xml" Id="R635073dbc976494f" /><Relationship Type="http://schemas.openxmlformats.org/officeDocument/2006/relationships/officeDocument" Target="/ppt/presentation.xml" Id="Ree50a92117c74f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5696ded1a344e2"/>
  </p:sldMasterIdLst>
  <p:notesMasterIdLst>
    <p:notesMasterId xmlns:r="http://schemas.openxmlformats.org/officeDocument/2006/relationships" r:id="Rdf1981b621914229"/>
  </p:notesMasterIdLst>
  <p:sldIdLst>
    <p:sldId xmlns:r="http://schemas.openxmlformats.org/officeDocument/2006/relationships" id="256" r:id="Rce9d0d5a5c974924"/>
  </p:sldIdLst>
  <p:sldSz cx="30279975" cy="213836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9e00c3c6104692" /><Relationship Type="http://schemas.openxmlformats.org/officeDocument/2006/relationships/slideMaster" Target="/ppt/slideMasters/slideMaster1.xml" Id="R805696ded1a344e2" /><Relationship Type="http://schemas.openxmlformats.org/officeDocument/2006/relationships/notesMaster" Target="/ppt/notesMasters/notesMaster1.xml" Id="Rdf1981b621914229" /><Relationship Type="http://schemas.openxmlformats.org/officeDocument/2006/relationships/presProps" Target="/ppt/presProps.xml" Id="R3296793c13b041dc" /><Relationship Type="http://schemas.openxmlformats.org/officeDocument/2006/relationships/tableStyles" Target="/ppt/tableStyles.xml" Id="R8a1f24b6ab8a4122" /><Relationship Type="http://schemas.openxmlformats.org/officeDocument/2006/relationships/slide" Target="/ppt/slides/slide1.xml" Id="Rce9d0d5a5c9749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45f99097c044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3608711fa64a44" /><Relationship Type="http://schemas.openxmlformats.org/officeDocument/2006/relationships/notesMaster" Target="/ppt/notesMasters/notesMaster1.xml" Id="Rc06b3ff3412548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AURORA-12-synthetic-manuscript.pdf</a:t>
            </a:r>
          </a:p>
          <a:p xmlns:a="http://schemas.openxmlformats.org/drawingml/2006/main">
            <a:r>
              <a:t>- palette approval sha256:c9834f95586be531d5d8667465b8d0525469d9de17a3f361d76c34ad4677c4ca</a:t>
            </a:r>
          </a:p>
          <a:p xmlns:a="http://schemas.openxmlformats.org/drawingml/2006/main">
            <a:r>
              <a:t>- deletion approval sha256:b3bcfd87b6cd4cd79a8feca304aa0ef7040590c30a9ab8a7e1c04c935414a02b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c7b4d84cc148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308c5104e14153" /><Relationship Type="http://schemas.openxmlformats.org/officeDocument/2006/relationships/slideLayout" Target="/ppt/slideLayouts/slideLayout1.xml" Id="R7489837318dc49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89837318dc49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32cffface459b" /><Relationship Type="http://schemas.openxmlformats.org/officeDocument/2006/relationships/image" Target="/ppt/media/image.png" Id="R15b06699d7794e9f" /><Relationship Type="http://schemas.openxmlformats.org/officeDocument/2006/relationships/image" Target="/ppt/media/image.svg" Id="Re1987a56f3b24bac" /><Relationship Type="http://schemas.openxmlformats.org/officeDocument/2006/relationships/image" Target="/ppt/media/image2.png" Id="Re520d2bd644d406b" /><Relationship Type="http://schemas.openxmlformats.org/officeDocument/2006/relationships/image" Target="/ppt/media/image2.svg" Id="Rb4daec20550e4e25" /><Relationship Type="http://schemas.openxmlformats.org/officeDocument/2006/relationships/image" Target="/ppt/media/image3.png" Id="R575c7ce3526947c1" /><Relationship Type="http://schemas.openxmlformats.org/officeDocument/2006/relationships/image" Target="/ppt/media/image3.svg" Id="Rbdb3eb846a424065" /><Relationship Type="http://schemas.openxmlformats.org/officeDocument/2006/relationships/image" Target="/ppt/media/image4.png" Id="R5fc966c12cff4ede" /><Relationship Type="http://schemas.openxmlformats.org/officeDocument/2006/relationships/image" Target="/ppt/media/image4.svg" Id="Rb6e6eb742ab34e52" /><Relationship Type="http://schemas.openxmlformats.org/officeDocument/2006/relationships/notesSlide" Target="/ppt/notesSlides/notesSlide1.xml" Id="Raa6704cd264f4d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3" name="header-band">
            <a:extLst xmlns:a="http://schemas.openxmlformats.org/drawingml/2006/main">
              <a:ext uri="{FF2B5EF4-FFF2-40B4-BE49-F238E27FC236}">
                <a16:creationId xmlns:a16="http://schemas.microsoft.com/office/drawing/2014/main" id="{91C87CD6-CF16-48FD-9ED9-0683B234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0279975" cy="3497793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E5C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cape-gradient-1">
            <a:extLst xmlns:a="http://schemas.openxmlformats.org/drawingml/2006/main">
              <a:ext uri="{FF2B5EF4-FFF2-40B4-BE49-F238E27FC236}">
                <a16:creationId xmlns:a16="http://schemas.microsoft.com/office/drawing/2014/main" id="{CCDE704B-CD36-4827-B281-4345BC2B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op-cape-gradient-2">
            <a:extLst xmlns:a="http://schemas.openxmlformats.org/drawingml/2006/main">
              <a:ext uri="{FF2B5EF4-FFF2-40B4-BE49-F238E27FC236}">
                <a16:creationId xmlns:a16="http://schemas.microsoft.com/office/drawing/2014/main" id="{288F5354-3DED-4305-801B-F94C3149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49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op-cape-gradient-3">
            <a:extLst xmlns:a="http://schemas.openxmlformats.org/drawingml/2006/main">
              <a:ext uri="{FF2B5EF4-FFF2-40B4-BE49-F238E27FC236}">
                <a16:creationId xmlns:a16="http://schemas.microsoft.com/office/drawing/2014/main" id="{84302EDF-1360-4086-ABAA-10D6C480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2498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op-cape-gradient-4">
            <a:extLst xmlns:a="http://schemas.openxmlformats.org/drawingml/2006/main">
              <a:ext uri="{FF2B5EF4-FFF2-40B4-BE49-F238E27FC236}">
                <a16:creationId xmlns:a16="http://schemas.microsoft.com/office/drawing/2014/main" id="{7C546D9E-949B-4610-9D0E-EF3DAB9D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748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op-cape-gradient-5">
            <a:extLst xmlns:a="http://schemas.openxmlformats.org/drawingml/2006/main">
              <a:ext uri="{FF2B5EF4-FFF2-40B4-BE49-F238E27FC236}">
                <a16:creationId xmlns:a16="http://schemas.microsoft.com/office/drawing/2014/main" id="{8FD5FD4F-C4A8-4A89-8523-635F884A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997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op-cape-gradient-6">
            <a:extLst xmlns:a="http://schemas.openxmlformats.org/drawingml/2006/main">
              <a:ext uri="{FF2B5EF4-FFF2-40B4-BE49-F238E27FC236}">
                <a16:creationId xmlns:a16="http://schemas.microsoft.com/office/drawing/2014/main" id="{FC08EDFC-6434-4A02-BDF9-69F88147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1246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op-cape-gradient-7">
            <a:extLst xmlns:a="http://schemas.openxmlformats.org/drawingml/2006/main">
              <a:ext uri="{FF2B5EF4-FFF2-40B4-BE49-F238E27FC236}">
                <a16:creationId xmlns:a16="http://schemas.microsoft.com/office/drawing/2014/main" id="{64EA6DFD-5964-4110-85C0-2E98300B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7495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op-cape-gradient-8">
            <a:extLst xmlns:a="http://schemas.openxmlformats.org/drawingml/2006/main">
              <a:ext uri="{FF2B5EF4-FFF2-40B4-BE49-F238E27FC236}">
                <a16:creationId xmlns:a16="http://schemas.microsoft.com/office/drawing/2014/main" id="{44DE0046-F45C-4216-98FC-F0611462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3745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op-cape-gradient-9">
            <a:extLst xmlns:a="http://schemas.openxmlformats.org/drawingml/2006/main">
              <a:ext uri="{FF2B5EF4-FFF2-40B4-BE49-F238E27FC236}">
                <a16:creationId xmlns:a16="http://schemas.microsoft.com/office/drawing/2014/main" id="{294A44D4-E380-440B-BD98-FC21D8A8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9994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op-cape-gradient-10">
            <a:extLst xmlns:a="http://schemas.openxmlformats.org/drawingml/2006/main">
              <a:ext uri="{FF2B5EF4-FFF2-40B4-BE49-F238E27FC236}">
                <a16:creationId xmlns:a16="http://schemas.microsoft.com/office/drawing/2014/main" id="{4649A730-CF53-4E15-A992-E5DA0530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6243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op-cape-gradient-11">
            <a:extLst xmlns:a="http://schemas.openxmlformats.org/drawingml/2006/main">
              <a:ext uri="{FF2B5EF4-FFF2-40B4-BE49-F238E27FC236}">
                <a16:creationId xmlns:a16="http://schemas.microsoft.com/office/drawing/2014/main" id="{4E217235-C993-4D34-BE0F-D043236F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492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op-cape-gradient-12">
            <a:extLst xmlns:a="http://schemas.openxmlformats.org/drawingml/2006/main">
              <a:ext uri="{FF2B5EF4-FFF2-40B4-BE49-F238E27FC236}">
                <a16:creationId xmlns:a16="http://schemas.microsoft.com/office/drawing/2014/main" id="{19E3990F-61D9-425A-8E28-8D72512B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8741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op-cape-gradient-13">
            <a:extLst xmlns:a="http://schemas.openxmlformats.org/drawingml/2006/main">
              <a:ext uri="{FF2B5EF4-FFF2-40B4-BE49-F238E27FC236}">
                <a16:creationId xmlns:a16="http://schemas.microsoft.com/office/drawing/2014/main" id="{06483B26-8681-4675-BE42-387AB57B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991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op-cape-gradient-14">
            <a:extLst xmlns:a="http://schemas.openxmlformats.org/drawingml/2006/main">
              <a:ext uri="{FF2B5EF4-FFF2-40B4-BE49-F238E27FC236}">
                <a16:creationId xmlns:a16="http://schemas.microsoft.com/office/drawing/2014/main" id="{B71CC7D5-25AE-4802-BEEE-20039310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1240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op-cape-gradient-15">
            <a:extLst xmlns:a="http://schemas.openxmlformats.org/drawingml/2006/main">
              <a:ext uri="{FF2B5EF4-FFF2-40B4-BE49-F238E27FC236}">
                <a16:creationId xmlns:a16="http://schemas.microsoft.com/office/drawing/2014/main" id="{562C7BA7-AEA8-4A9B-8406-871CC456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7489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op-cape-gradient-16">
            <a:extLst xmlns:a="http://schemas.openxmlformats.org/drawingml/2006/main">
              <a:ext uri="{FF2B5EF4-FFF2-40B4-BE49-F238E27FC236}">
                <a16:creationId xmlns:a16="http://schemas.microsoft.com/office/drawing/2014/main" id="{1CEE14E2-B976-43D3-825F-2131247E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3738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op-cape-gradient-17">
            <a:extLst xmlns:a="http://schemas.openxmlformats.org/drawingml/2006/main">
              <a:ext uri="{FF2B5EF4-FFF2-40B4-BE49-F238E27FC236}">
                <a16:creationId xmlns:a16="http://schemas.microsoft.com/office/drawing/2014/main" id="{95B9B027-E225-4CA5-9402-5F645330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39988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op-cape-gradient-18">
            <a:extLst xmlns:a="http://schemas.openxmlformats.org/drawingml/2006/main">
              <a:ext uri="{FF2B5EF4-FFF2-40B4-BE49-F238E27FC236}">
                <a16:creationId xmlns:a16="http://schemas.microsoft.com/office/drawing/2014/main" id="{0AB93009-CBA7-4236-B324-136B3FC5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6237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op-cape-gradient-19">
            <a:extLst xmlns:a="http://schemas.openxmlformats.org/drawingml/2006/main">
              <a:ext uri="{FF2B5EF4-FFF2-40B4-BE49-F238E27FC236}">
                <a16:creationId xmlns:a16="http://schemas.microsoft.com/office/drawing/2014/main" id="{6060CFEA-07AE-4D32-AAB1-80F0A11F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2486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op-cape-gradient-20">
            <a:extLst xmlns:a="http://schemas.openxmlformats.org/drawingml/2006/main">
              <a:ext uri="{FF2B5EF4-FFF2-40B4-BE49-F238E27FC236}">
                <a16:creationId xmlns:a16="http://schemas.microsoft.com/office/drawing/2014/main" id="{CC3C2000-FE1B-466D-997C-1C6A3CB8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78735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op-cape-gradient-21">
            <a:extLst xmlns:a="http://schemas.openxmlformats.org/drawingml/2006/main">
              <a:ext uri="{FF2B5EF4-FFF2-40B4-BE49-F238E27FC236}">
                <a16:creationId xmlns:a16="http://schemas.microsoft.com/office/drawing/2014/main" id="{8742EB9A-AC33-4AEC-9A21-CF494403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24984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op-cape-gradient-22">
            <a:extLst xmlns:a="http://schemas.openxmlformats.org/drawingml/2006/main">
              <a:ext uri="{FF2B5EF4-FFF2-40B4-BE49-F238E27FC236}">
                <a16:creationId xmlns:a16="http://schemas.microsoft.com/office/drawing/2014/main" id="{2D0F16AF-E857-4E6B-BB72-A6D03576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1234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op-cape-gradient-23">
            <a:extLst xmlns:a="http://schemas.openxmlformats.org/drawingml/2006/main">
              <a:ext uri="{FF2B5EF4-FFF2-40B4-BE49-F238E27FC236}">
                <a16:creationId xmlns:a16="http://schemas.microsoft.com/office/drawing/2014/main" id="{FB4DDF85-E810-4FBE-984F-3FAF54A7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17483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op-cape-gradient-24">
            <a:extLst xmlns:a="http://schemas.openxmlformats.org/drawingml/2006/main">
              <a:ext uri="{FF2B5EF4-FFF2-40B4-BE49-F238E27FC236}">
                <a16:creationId xmlns:a16="http://schemas.microsoft.com/office/drawing/2014/main" id="{D9F9E3E0-D17D-4CD7-A064-3A9AAAFC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3732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op-cape-gradient-25">
            <a:extLst xmlns:a="http://schemas.openxmlformats.org/drawingml/2006/main">
              <a:ext uri="{FF2B5EF4-FFF2-40B4-BE49-F238E27FC236}">
                <a16:creationId xmlns:a16="http://schemas.microsoft.com/office/drawing/2014/main" id="{3DC02A6B-8F1A-49CD-BC36-86880AA8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9981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op-cape-gradient-26">
            <a:extLst xmlns:a="http://schemas.openxmlformats.org/drawingml/2006/main">
              <a:ext uri="{FF2B5EF4-FFF2-40B4-BE49-F238E27FC236}">
                <a16:creationId xmlns:a16="http://schemas.microsoft.com/office/drawing/2014/main" id="{6554BFD9-7A92-4041-AD7D-EF6D0342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56230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op-cape-gradient-27">
            <a:extLst xmlns:a="http://schemas.openxmlformats.org/drawingml/2006/main">
              <a:ext uri="{FF2B5EF4-FFF2-40B4-BE49-F238E27FC236}">
                <a16:creationId xmlns:a16="http://schemas.microsoft.com/office/drawing/2014/main" id="{4B654739-4367-4F6F-8AEA-FA9F4568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02480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op-cape-gradient-28">
            <a:extLst xmlns:a="http://schemas.openxmlformats.org/drawingml/2006/main">
              <a:ext uri="{FF2B5EF4-FFF2-40B4-BE49-F238E27FC236}">
                <a16:creationId xmlns:a16="http://schemas.microsoft.com/office/drawing/2014/main" id="{E29A428A-9408-4AD5-8924-53806E6A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48729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top-cape-gradient-29">
            <a:extLst xmlns:a="http://schemas.openxmlformats.org/drawingml/2006/main">
              <a:ext uri="{FF2B5EF4-FFF2-40B4-BE49-F238E27FC236}">
                <a16:creationId xmlns:a16="http://schemas.microsoft.com/office/drawing/2014/main" id="{2A403D3A-4E19-4911-9D81-CE991887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94978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top-cape-gradient-30">
            <a:extLst xmlns:a="http://schemas.openxmlformats.org/drawingml/2006/main">
              <a:ext uri="{FF2B5EF4-FFF2-40B4-BE49-F238E27FC236}">
                <a16:creationId xmlns:a16="http://schemas.microsoft.com/office/drawing/2014/main" id="{67973AE0-1E4F-4D6C-97AD-C8B7C808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41227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op-cape-gradient-31">
            <a:extLst xmlns:a="http://schemas.openxmlformats.org/drawingml/2006/main">
              <a:ext uri="{FF2B5EF4-FFF2-40B4-BE49-F238E27FC236}">
                <a16:creationId xmlns:a16="http://schemas.microsoft.com/office/drawing/2014/main" id="{14A2DD61-2FFD-4305-870C-05388633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7477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top-cape-gradient-32">
            <a:extLst xmlns:a="http://schemas.openxmlformats.org/drawingml/2006/main">
              <a:ext uri="{FF2B5EF4-FFF2-40B4-BE49-F238E27FC236}">
                <a16:creationId xmlns:a16="http://schemas.microsoft.com/office/drawing/2014/main" id="{0E4CDB7D-CD52-445E-A5C4-B3953456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3726" y="0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eader-cape-gradient-1">
            <a:extLst xmlns:a="http://schemas.openxmlformats.org/drawingml/2006/main">
              <a:ext uri="{FF2B5EF4-FFF2-40B4-BE49-F238E27FC236}">
                <a16:creationId xmlns:a16="http://schemas.microsoft.com/office/drawing/2014/main" id="{E161B405-DAD7-458A-9A57-7A4136E1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eader-cape-gradient-2">
            <a:extLst xmlns:a="http://schemas.openxmlformats.org/drawingml/2006/main">
              <a:ext uri="{FF2B5EF4-FFF2-40B4-BE49-F238E27FC236}">
                <a16:creationId xmlns:a16="http://schemas.microsoft.com/office/drawing/2014/main" id="{A77711A4-ECCA-4840-8216-4307671C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49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eader-cape-gradient-3">
            <a:extLst xmlns:a="http://schemas.openxmlformats.org/drawingml/2006/main">
              <a:ext uri="{FF2B5EF4-FFF2-40B4-BE49-F238E27FC236}">
                <a16:creationId xmlns:a16="http://schemas.microsoft.com/office/drawing/2014/main" id="{188CD933-8E9D-4881-A953-EADCA101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2498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eader-cape-gradient-4">
            <a:extLst xmlns:a="http://schemas.openxmlformats.org/drawingml/2006/main">
              <a:ext uri="{FF2B5EF4-FFF2-40B4-BE49-F238E27FC236}">
                <a16:creationId xmlns:a16="http://schemas.microsoft.com/office/drawing/2014/main" id="{0D774F1C-E100-4CAC-B5A3-68ABA9D7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748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eader-cape-gradient-5">
            <a:extLst xmlns:a="http://schemas.openxmlformats.org/drawingml/2006/main">
              <a:ext uri="{FF2B5EF4-FFF2-40B4-BE49-F238E27FC236}">
                <a16:creationId xmlns:a16="http://schemas.microsoft.com/office/drawing/2014/main" id="{81DA13B4-909B-4902-80F6-5BC732A4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997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eader-cape-gradient-6">
            <a:extLst xmlns:a="http://schemas.openxmlformats.org/drawingml/2006/main">
              <a:ext uri="{FF2B5EF4-FFF2-40B4-BE49-F238E27FC236}">
                <a16:creationId xmlns:a16="http://schemas.microsoft.com/office/drawing/2014/main" id="{0D309B21-2335-4E3C-9BE7-430FDD16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1246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eader-cape-gradient-7">
            <a:extLst xmlns:a="http://schemas.openxmlformats.org/drawingml/2006/main">
              <a:ext uri="{FF2B5EF4-FFF2-40B4-BE49-F238E27FC236}">
                <a16:creationId xmlns:a16="http://schemas.microsoft.com/office/drawing/2014/main" id="{FCE18146-E43C-41E1-B517-205134BD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7495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eader-cape-gradient-8">
            <a:extLst xmlns:a="http://schemas.openxmlformats.org/drawingml/2006/main">
              <a:ext uri="{FF2B5EF4-FFF2-40B4-BE49-F238E27FC236}">
                <a16:creationId xmlns:a16="http://schemas.microsoft.com/office/drawing/2014/main" id="{86DD7191-3965-467B-A2EC-E07631CD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3745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eader-cape-gradient-9">
            <a:extLst xmlns:a="http://schemas.openxmlformats.org/drawingml/2006/main">
              <a:ext uri="{FF2B5EF4-FFF2-40B4-BE49-F238E27FC236}">
                <a16:creationId xmlns:a16="http://schemas.microsoft.com/office/drawing/2014/main" id="{D67EA4BD-6DBC-4F64-B43B-A933D47E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9994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eader-cape-gradient-10">
            <a:extLst xmlns:a="http://schemas.openxmlformats.org/drawingml/2006/main">
              <a:ext uri="{FF2B5EF4-FFF2-40B4-BE49-F238E27FC236}">
                <a16:creationId xmlns:a16="http://schemas.microsoft.com/office/drawing/2014/main" id="{52A8E573-3C5F-4D29-8B3A-F45F9361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6243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eader-cape-gradient-11">
            <a:extLst xmlns:a="http://schemas.openxmlformats.org/drawingml/2006/main">
              <a:ext uri="{FF2B5EF4-FFF2-40B4-BE49-F238E27FC236}">
                <a16:creationId xmlns:a16="http://schemas.microsoft.com/office/drawing/2014/main" id="{4A6BBF1F-8835-4827-9643-88081C9B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492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eader-cape-gradient-12">
            <a:extLst xmlns:a="http://schemas.openxmlformats.org/drawingml/2006/main">
              <a:ext uri="{FF2B5EF4-FFF2-40B4-BE49-F238E27FC236}">
                <a16:creationId xmlns:a16="http://schemas.microsoft.com/office/drawing/2014/main" id="{4C3D63E1-FF04-42F3-9819-5A8913AC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8741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eader-cape-gradient-13">
            <a:extLst xmlns:a="http://schemas.openxmlformats.org/drawingml/2006/main">
              <a:ext uri="{FF2B5EF4-FFF2-40B4-BE49-F238E27FC236}">
                <a16:creationId xmlns:a16="http://schemas.microsoft.com/office/drawing/2014/main" id="{AB587CE9-1ABB-44E8-A3AB-DEAE40C9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991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eader-cape-gradient-14">
            <a:extLst xmlns:a="http://schemas.openxmlformats.org/drawingml/2006/main">
              <a:ext uri="{FF2B5EF4-FFF2-40B4-BE49-F238E27FC236}">
                <a16:creationId xmlns:a16="http://schemas.microsoft.com/office/drawing/2014/main" id="{4C4423D2-BF0F-43B1-92D2-73D592A6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1240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eader-cape-gradient-15">
            <a:extLst xmlns:a="http://schemas.openxmlformats.org/drawingml/2006/main">
              <a:ext uri="{FF2B5EF4-FFF2-40B4-BE49-F238E27FC236}">
                <a16:creationId xmlns:a16="http://schemas.microsoft.com/office/drawing/2014/main" id="{496AC4E1-DA99-4837-8944-FDDDA2C4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7489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eader-cape-gradient-16">
            <a:extLst xmlns:a="http://schemas.openxmlformats.org/drawingml/2006/main">
              <a:ext uri="{FF2B5EF4-FFF2-40B4-BE49-F238E27FC236}">
                <a16:creationId xmlns:a16="http://schemas.microsoft.com/office/drawing/2014/main" id="{334E6DE7-6148-4951-9416-9609EB26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3738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eader-cape-gradient-17">
            <a:extLst xmlns:a="http://schemas.openxmlformats.org/drawingml/2006/main">
              <a:ext uri="{FF2B5EF4-FFF2-40B4-BE49-F238E27FC236}">
                <a16:creationId xmlns:a16="http://schemas.microsoft.com/office/drawing/2014/main" id="{57BFA031-644B-4910-AE60-4F2BA271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39988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eader-cape-gradient-18">
            <a:extLst xmlns:a="http://schemas.openxmlformats.org/drawingml/2006/main">
              <a:ext uri="{FF2B5EF4-FFF2-40B4-BE49-F238E27FC236}">
                <a16:creationId xmlns:a16="http://schemas.microsoft.com/office/drawing/2014/main" id="{A290D23E-BFDD-442D-B6C8-529EF007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6237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eader-cape-gradient-19">
            <a:extLst xmlns:a="http://schemas.openxmlformats.org/drawingml/2006/main">
              <a:ext uri="{FF2B5EF4-FFF2-40B4-BE49-F238E27FC236}">
                <a16:creationId xmlns:a16="http://schemas.microsoft.com/office/drawing/2014/main" id="{A0D3A98D-C378-4173-AD73-5DB9AF7E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2486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eader-cape-gradient-20">
            <a:extLst xmlns:a="http://schemas.openxmlformats.org/drawingml/2006/main">
              <a:ext uri="{FF2B5EF4-FFF2-40B4-BE49-F238E27FC236}">
                <a16:creationId xmlns:a16="http://schemas.microsoft.com/office/drawing/2014/main" id="{6318A1CF-8616-4D58-BA9C-FD6D87A9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78735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eader-cape-gradient-21">
            <a:extLst xmlns:a="http://schemas.openxmlformats.org/drawingml/2006/main">
              <a:ext uri="{FF2B5EF4-FFF2-40B4-BE49-F238E27FC236}">
                <a16:creationId xmlns:a16="http://schemas.microsoft.com/office/drawing/2014/main" id="{46C4A864-E904-44F7-8001-14BF3980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24984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eader-cape-gradient-22">
            <a:extLst xmlns:a="http://schemas.openxmlformats.org/drawingml/2006/main">
              <a:ext uri="{FF2B5EF4-FFF2-40B4-BE49-F238E27FC236}">
                <a16:creationId xmlns:a16="http://schemas.microsoft.com/office/drawing/2014/main" id="{49EE3E4B-8C08-46DB-8704-FFE3B555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1234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eader-cape-gradient-23">
            <a:extLst xmlns:a="http://schemas.openxmlformats.org/drawingml/2006/main">
              <a:ext uri="{FF2B5EF4-FFF2-40B4-BE49-F238E27FC236}">
                <a16:creationId xmlns:a16="http://schemas.microsoft.com/office/drawing/2014/main" id="{EED66DD2-948C-485D-A5C5-573C3E43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17483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eader-cape-gradient-24">
            <a:extLst xmlns:a="http://schemas.openxmlformats.org/drawingml/2006/main">
              <a:ext uri="{FF2B5EF4-FFF2-40B4-BE49-F238E27FC236}">
                <a16:creationId xmlns:a16="http://schemas.microsoft.com/office/drawing/2014/main" id="{DD022F73-1ABC-46B0-A108-31D479AE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3732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eader-cape-gradient-25">
            <a:extLst xmlns:a="http://schemas.openxmlformats.org/drawingml/2006/main">
              <a:ext uri="{FF2B5EF4-FFF2-40B4-BE49-F238E27FC236}">
                <a16:creationId xmlns:a16="http://schemas.microsoft.com/office/drawing/2014/main" id="{99DF12E0-BD02-4EE9-B5FA-DE7CC4A7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9981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eader-cape-gradient-26">
            <a:extLst xmlns:a="http://schemas.openxmlformats.org/drawingml/2006/main">
              <a:ext uri="{FF2B5EF4-FFF2-40B4-BE49-F238E27FC236}">
                <a16:creationId xmlns:a16="http://schemas.microsoft.com/office/drawing/2014/main" id="{7126889A-7393-4298-8A14-D3FC25EB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56230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eader-cape-gradient-27">
            <a:extLst xmlns:a="http://schemas.openxmlformats.org/drawingml/2006/main">
              <a:ext uri="{FF2B5EF4-FFF2-40B4-BE49-F238E27FC236}">
                <a16:creationId xmlns:a16="http://schemas.microsoft.com/office/drawing/2014/main" id="{BDA36D6A-AE9B-48D5-B8C1-A2634DAA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02480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eader-cape-gradient-28">
            <a:extLst xmlns:a="http://schemas.openxmlformats.org/drawingml/2006/main">
              <a:ext uri="{FF2B5EF4-FFF2-40B4-BE49-F238E27FC236}">
                <a16:creationId xmlns:a16="http://schemas.microsoft.com/office/drawing/2014/main" id="{F715D159-1F37-4682-A5AC-AA2FBB04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48729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eader-cape-gradient-29">
            <a:extLst xmlns:a="http://schemas.openxmlformats.org/drawingml/2006/main">
              <a:ext uri="{FF2B5EF4-FFF2-40B4-BE49-F238E27FC236}">
                <a16:creationId xmlns:a16="http://schemas.microsoft.com/office/drawing/2014/main" id="{E4D3026C-552B-444B-8842-D9CF2F0A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94978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eader-cape-gradient-30">
            <a:extLst xmlns:a="http://schemas.openxmlformats.org/drawingml/2006/main">
              <a:ext uri="{FF2B5EF4-FFF2-40B4-BE49-F238E27FC236}">
                <a16:creationId xmlns:a16="http://schemas.microsoft.com/office/drawing/2014/main" id="{91C0E8A0-423C-4680-B5D1-4E182025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41227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eader-cape-gradient-31">
            <a:extLst xmlns:a="http://schemas.openxmlformats.org/drawingml/2006/main">
              <a:ext uri="{FF2B5EF4-FFF2-40B4-BE49-F238E27FC236}">
                <a16:creationId xmlns:a16="http://schemas.microsoft.com/office/drawing/2014/main" id="{59949E7D-6001-4B43-AD22-84619CFE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7477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eader-cape-gradient-32">
            <a:extLst xmlns:a="http://schemas.openxmlformats.org/drawingml/2006/main">
              <a:ext uri="{FF2B5EF4-FFF2-40B4-BE49-F238E27FC236}">
                <a16:creationId xmlns:a16="http://schemas.microsoft.com/office/drawing/2014/main" id="{E5496AC5-842D-45A5-BC82-ECB799A9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3726" y="3295998"/>
            <a:ext cx="952987" cy="20179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C40B1615-B60F-476A-9C7F-C140D56A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417045"/>
            <a:ext cx="21022146" cy="154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91" b="1">
                <a:solidFill>
                  <a:srgbClr val="FFFFFF"/>
                </a:solidFill>
              </a:defRPr>
            </a:pPr>
            <a:r>
              <a:rPr sz="5191" b="1">
                <a:solidFill>
                  <a:srgbClr val="FFFFFF"/>
                </a:solidFill>
              </a:rPr>
              <a:t>AURORA-12</a:t>
            </a:r>
          </a:p>
          <a:p xmlns:a="http://schemas.openxmlformats.org/drawingml/2006/main">
            <a:pPr>
              <a:defRPr sz="5191" b="1">
                <a:solidFill>
                  <a:srgbClr val="FFFFFF"/>
                </a:solidFill>
              </a:defRPr>
            </a:pPr>
            <a:r>
              <a:rPr sz="5191" b="1">
                <a:solidFill>
                  <a:srgbClr val="FFFFFF"/>
                </a:solidFill>
              </a:rPr>
              <a:t>A fully synthetic benchmark for evidence-linked poster generation</a:t>
            </a:r>
          </a:p>
        </p:txBody>
      </p:sp>
      <p:sp>
        <p:nvSpPr>
          <p:cNvPr id="67" name="authors">
            <a:extLst xmlns:a="http://schemas.openxmlformats.org/drawingml/2006/main">
              <a:ext uri="{FF2B5EF4-FFF2-40B4-BE49-F238E27FC236}">
                <a16:creationId xmlns:a16="http://schemas.microsoft.com/office/drawing/2014/main" id="{BDB96858-44A3-4B89-A101-2C11205B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991" y="2058317"/>
            <a:ext cx="20820010" cy="4439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60" b="1">
                <a:solidFill>
                  <a:srgbClr val="FFFFFF"/>
                </a:solidFill>
              </a:defRPr>
            </a:pPr>
            <a:r>
              <a:rPr sz="1960" b="1">
                <a:solidFill>
                  <a:srgbClr val="FFFFFF"/>
                </a:solidFill>
              </a:rPr>
              <a:t>PostEx Synthetic Research Collective</a:t>
            </a:r>
          </a:p>
        </p:txBody>
      </p:sp>
      <p:sp>
        <p:nvSpPr>
          <p:cNvPr id="68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197E1E56-A115-43F6-84DE-4950564B3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991" y="2569533"/>
            <a:ext cx="20820010" cy="3497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36">
                <a:solidFill>
                  <a:srgbClr val="F6F2EE"/>
                </a:solidFill>
              </a:defRPr>
            </a:pPr>
            <a:r>
              <a:rPr sz="1536">
                <a:solidFill>
                  <a:srgbClr val="F6F2EE"/>
                </a:solidFill>
              </a:rPr>
              <a:t>Fictional Methods Laboratory · Example Research Campus · no real authors or institutions</a:t>
            </a:r>
          </a:p>
        </p:txBody>
      </p:sp>
      <p:sp>
        <p:nvSpPr>
          <p:cNvPr id="69" name="citation">
            <a:extLst xmlns:a="http://schemas.openxmlformats.org/drawingml/2006/main">
              <a:ext uri="{FF2B5EF4-FFF2-40B4-BE49-F238E27FC236}">
                <a16:creationId xmlns:a16="http://schemas.microsoft.com/office/drawing/2014/main" id="{E8071C09-E975-48A6-B25E-E1EBB523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991" y="2993304"/>
            <a:ext cx="17181561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77" b="1">
                <a:solidFill>
                  <a:srgbClr val="E5BC6C"/>
                </a:solidFill>
              </a:defRPr>
            </a:pPr>
            <a:r>
              <a:rPr sz="1377" b="1">
                <a:solidFill>
                  <a:srgbClr val="E5BC6C"/>
                </a:solidFill>
              </a:rPr>
              <a:t>POSTEX-SYNTH-2026-001 · fully synthetic · CC0-1.0 · no DOI</a:t>
            </a:r>
          </a:p>
        </p:txBody>
      </p:sp>
      <p:sp>
        <p:nvSpPr>
          <p:cNvPr id="70" name="logo-slot-fictional-lab-logo">
            <a:extLst xmlns:a="http://schemas.openxmlformats.org/drawingml/2006/main">
              <a:ext uri="{FF2B5EF4-FFF2-40B4-BE49-F238E27FC236}">
                <a16:creationId xmlns:a16="http://schemas.microsoft.com/office/drawing/2014/main" id="{9B14A6EC-FD31-4ED9-9E91-3F9F0A30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6612" y="390138"/>
            <a:ext cx="6603110" cy="874448"/>
          </a:xfrm>
          <a:prstGeom xmlns:a="http://schemas.openxmlformats.org/drawingml/2006/main" prst="roundRect">
            <a:avLst>
              <a:gd name="adj" fmla="val 8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453">
            <a:solidFill>
              <a:srgbClr val="DDE5E7"/>
            </a:solidFill>
            <a:prstDash val="solid"/>
          </a:ln>
        </p:spPr>
      </p:sp>
      <p:sp>
        <p:nvSpPr>
          <p:cNvPr id="71" name="logo-placeholder-fictional-lab-logo">
            <a:extLst xmlns:a="http://schemas.openxmlformats.org/drawingml/2006/main">
              <a:ext uri="{FF2B5EF4-FFF2-40B4-BE49-F238E27FC236}">
                <a16:creationId xmlns:a16="http://schemas.microsoft.com/office/drawing/2014/main" id="{12D002E4-34FB-4719-8A35-D98D2A7C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7467" y="645746"/>
            <a:ext cx="6441401" cy="3497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30" b="1">
                <a:solidFill>
                  <a:srgbClr val="3E5C78"/>
                </a:solidFill>
              </a:defRPr>
            </a:pPr>
            <a:r>
              <a:rPr sz="1430" b="1">
                <a:solidFill>
                  <a:srgbClr val="3E5C78"/>
                </a:solidFill>
              </a:rPr>
              <a:t>Fictional lab logo</a:t>
            </a:r>
          </a:p>
        </p:txBody>
      </p:sp>
      <p:sp>
        <p:nvSpPr>
          <p:cNvPr id="72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DCE5B45A-57B0-40ED-8516-4589C6C1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6612" y="1412570"/>
            <a:ext cx="6603110" cy="1614366"/>
          </a:xfrm>
          <a:prstGeom xmlns:a="http://schemas.openxmlformats.org/drawingml/2006/main" prst="roundRect">
            <a:avLst>
              <a:gd name="adj" fmla="val 94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328821F3-2233-470C-B485-0D3E7687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8263" y="1614366"/>
            <a:ext cx="1751845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2" b="1">
                <a:solidFill>
                  <a:srgbClr val="3E5C78"/>
                </a:solidFill>
              </a:defRPr>
            </a:pPr>
            <a:r>
              <a:rPr sz="3602" b="1">
                <a:solidFill>
                  <a:srgbClr val="3E5C78"/>
                </a:solidFill>
              </a:rPr>
              <a:t>1,240</a:t>
            </a:r>
          </a:p>
        </p:txBody>
      </p:sp>
      <p:sp>
        <p:nvSpPr>
          <p:cNvPr id="74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DBA0AA63-2A93-435D-BC21-3EE4EBFD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8263" y="2165941"/>
            <a:ext cx="1751845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42" b="1">
                <a:solidFill>
                  <a:srgbClr val="293F55"/>
                </a:solidFill>
              </a:defRPr>
            </a:pPr>
            <a:r>
              <a:rPr sz="1642" b="1">
                <a:solidFill>
                  <a:srgbClr val="293F55"/>
                </a:solidFill>
              </a:rPr>
              <a:t>synthetic profiles</a:t>
            </a:r>
          </a:p>
        </p:txBody>
      </p:sp>
      <p:sp>
        <p:nvSpPr>
          <p:cNvPr id="75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048C58EB-06C5-4A95-BE75-7CF94977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9623" y="1614366"/>
            <a:ext cx="1751845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2" b="1">
                <a:solidFill>
                  <a:srgbClr val="487AA1"/>
                </a:solidFill>
              </a:defRPr>
            </a:pPr>
            <a:r>
              <a:rPr sz="3602" b="1">
                <a:solidFill>
                  <a:srgbClr val="487AA1"/>
                </a:solidFill>
              </a:rPr>
              <a:t>12</a:t>
            </a:r>
          </a:p>
        </p:txBody>
      </p:sp>
      <p:sp>
        <p:nvSpPr>
          <p:cNvPr id="76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120586EC-1A07-473B-9501-367B965B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9623" y="2165941"/>
            <a:ext cx="1751845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42" b="1">
                <a:solidFill>
                  <a:srgbClr val="293F55"/>
                </a:solidFill>
              </a:defRPr>
            </a:pPr>
            <a:r>
              <a:rPr sz="1642" b="1">
                <a:solidFill>
                  <a:srgbClr val="293F55"/>
                </a:solidFill>
              </a:rPr>
              <a:t>anonymous model features</a:t>
            </a:r>
          </a:p>
        </p:txBody>
      </p:sp>
      <p:sp>
        <p:nvSpPr>
          <p:cNvPr id="77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F2AABA2B-D9D9-44BD-B70C-4742A197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0983" y="1614366"/>
            <a:ext cx="1751845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2" b="1">
                <a:solidFill>
                  <a:srgbClr val="E5BC6C"/>
                </a:solidFill>
              </a:defRPr>
            </a:pPr>
            <a:r>
              <a:rPr sz="3602" b="1">
                <a:solidFill>
                  <a:srgbClr val="E5BC6C"/>
                </a:solidFill>
              </a:rPr>
              <a:t>4</a:t>
            </a:r>
          </a:p>
        </p:txBody>
      </p:sp>
      <p:sp>
        <p:nvSpPr>
          <p:cNvPr id="78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CF1BBA35-5922-432A-85A4-89E53DA5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0983" y="2165941"/>
            <a:ext cx="1751845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42" b="1">
                <a:solidFill>
                  <a:srgbClr val="293F55"/>
                </a:solidFill>
              </a:defRPr>
            </a:pPr>
            <a:r>
              <a:rPr sz="1642" b="1">
                <a:solidFill>
                  <a:srgbClr val="293F55"/>
                </a:solidFill>
              </a:rPr>
              <a:t>deterministic cohort simulations</a:t>
            </a:r>
          </a:p>
        </p:txBody>
      </p:sp>
      <p:sp>
        <p:nvSpPr>
          <p:cNvPr id="79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1AC923A5-B529-410D-ACC0-DA7DD246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3968650"/>
            <a:ext cx="8220198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42" b="1">
                <a:solidFill>
                  <a:srgbClr val="3E5C78"/>
                </a:solidFill>
              </a:defRPr>
            </a:pPr>
            <a:r>
              <a:rPr sz="2542" b="1">
                <a:solidFill>
                  <a:srgbClr val="3E5C78"/>
                </a:solidFill>
              </a:rPr>
              <a:t>Communication test</a:t>
            </a:r>
          </a:p>
        </p:txBody>
      </p:sp>
      <p:sp>
        <p:nvSpPr>
          <p:cNvPr id="80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E23958F6-CAAC-4C63-8617-D633A322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4419327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362D8766-2761-42F5-9E4C-A29319CB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4587490"/>
            <a:ext cx="8220198" cy="15807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13">
                <a:solidFill>
                  <a:srgbClr val="293F55"/>
                </a:solidFill>
              </a:defRPr>
            </a:pPr>
            <a:r>
              <a:rPr sz="2013">
                <a:solidFill>
                  <a:srgbClr val="293F55"/>
                </a:solidFill>
              </a:rPr>
              <a:t>Can a realistic multi-cohort manuscript exercise evidence-linked poster generation without redistributing a real paper or implying biomedical evidence?</a:t>
            </a:r>
          </a:p>
        </p:txBody>
      </p:sp>
      <p:sp>
        <p:nvSpPr>
          <p:cNvPr id="82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93BC1D2B-528C-4707-9802-5CB635FF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6134591"/>
            <a:ext cx="8220198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24" i="1">
                <a:solidFill>
                  <a:srgbClr val="487AA1"/>
                </a:solidFill>
              </a:defRPr>
            </a:pPr>
            <a:r>
              <a:rPr sz="1324" i="1">
                <a:solidFill>
                  <a:srgbClr val="487AA1"/>
                </a:solidFill>
              </a:rPr>
              <a:t>Evidence: Abstract and Introduction, pp. 1-2</a:t>
            </a:r>
          </a:p>
        </p:txBody>
      </p:sp>
      <p:sp>
        <p:nvSpPr>
          <p:cNvPr id="83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C99BFB04-59E4-4055-B62D-39EC8B64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6524730"/>
            <a:ext cx="8220198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42" b="1">
                <a:solidFill>
                  <a:srgbClr val="3E5C78"/>
                </a:solidFill>
              </a:defRPr>
            </a:pPr>
            <a:r>
              <a:rPr sz="2542" b="1">
                <a:solidFill>
                  <a:srgbClr val="3E5C78"/>
                </a:solidFill>
              </a:rPr>
              <a:t>Deterministic workflow</a:t>
            </a:r>
          </a:p>
        </p:txBody>
      </p:sp>
      <p:sp>
        <p:nvSpPr>
          <p:cNvPr id="84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A732B440-A4BE-4740-B766-92FC399F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6975407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AE251CFF-8448-4F3B-9D2E-D66DF71D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7157023"/>
            <a:ext cx="417748" cy="417045"/>
          </a:xfrm>
          <a:prstGeom xmlns:a="http://schemas.openxmlformats.org/drawingml/2006/main" prst="roundRect">
            <a:avLst>
              <a:gd name="adj" fmla="val 1827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BB2DB423-06DB-4D6D-B497-83394A21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7204109"/>
            <a:ext cx="417748" cy="309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2" b="1">
                <a:solidFill>
                  <a:srgbClr val="293F55"/>
                </a:solidFill>
              </a:defRPr>
            </a:pPr>
            <a:r>
              <a:rPr sz="1642" b="1">
                <a:solidFill>
                  <a:srgbClr val="293F55"/>
                </a:solidFill>
              </a:rPr>
              <a:t>1</a:t>
            </a:r>
          </a:p>
        </p:txBody>
      </p:sp>
      <p:sp>
        <p:nvSpPr>
          <p:cNvPr id="87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67B719EB-AF19-4593-9209-7035D1D2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807" y="7183929"/>
            <a:ext cx="7667693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13" b="1">
                <a:solidFill>
                  <a:srgbClr val="293F55"/>
                </a:solidFill>
              </a:defRPr>
            </a:pPr>
            <a:r>
              <a:rPr sz="2013" b="1">
                <a:solidFill>
                  <a:srgbClr val="293F55"/>
                </a:solidFill>
              </a:rPr>
              <a:t>Fixed seed generated 1,240 profiles</a:t>
            </a:r>
          </a:p>
        </p:txBody>
      </p:sp>
      <p:sp>
        <p:nvSpPr>
          <p:cNvPr id="88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6E3E3187-45F6-4E4D-983D-6158D61D5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7695145"/>
            <a:ext cx="417748" cy="417045"/>
          </a:xfrm>
          <a:prstGeom xmlns:a="http://schemas.openxmlformats.org/drawingml/2006/main" prst="roundRect">
            <a:avLst>
              <a:gd name="adj" fmla="val 1827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B7775F1E-3FE3-473A-8DFF-B7FF9E40F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7742231"/>
            <a:ext cx="417748" cy="309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2" b="1">
                <a:solidFill>
                  <a:srgbClr val="293F55"/>
                </a:solidFill>
              </a:defRPr>
            </a:pPr>
            <a:r>
              <a:rPr sz="1642" b="1">
                <a:solidFill>
                  <a:srgbClr val="293F55"/>
                </a:solidFill>
              </a:rPr>
              <a:t>2</a:t>
            </a:r>
          </a:p>
        </p:txBody>
      </p:sp>
      <p:sp>
        <p:nvSpPr>
          <p:cNvPr id="90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2AD8622D-7208-4106-ACEF-39F3843A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807" y="7722051"/>
            <a:ext cx="7667693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13" b="1">
                <a:solidFill>
                  <a:srgbClr val="293F55"/>
                </a:solidFill>
              </a:defRPr>
            </a:pPr>
            <a:r>
              <a:rPr sz="2013" b="1">
                <a:solidFill>
                  <a:srgbClr val="293F55"/>
                </a:solidFill>
              </a:rPr>
              <a:t>480 anonymous transcript-like features</a:t>
            </a:r>
          </a:p>
        </p:txBody>
      </p:sp>
      <p:sp>
        <p:nvSpPr>
          <p:cNvPr id="91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057D92CF-8C57-46F7-8FB0-B672D1F9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8233267"/>
            <a:ext cx="417748" cy="417045"/>
          </a:xfrm>
          <a:prstGeom xmlns:a="http://schemas.openxmlformats.org/drawingml/2006/main" prst="roundRect">
            <a:avLst>
              <a:gd name="adj" fmla="val 1827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FAAFBA3C-5AE7-4C42-9E6D-D1F82FE6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8280353"/>
            <a:ext cx="417748" cy="309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2" b="1">
                <a:solidFill>
                  <a:srgbClr val="293F55"/>
                </a:solidFill>
              </a:defRPr>
            </a:pPr>
            <a:r>
              <a:rPr sz="1642" b="1">
                <a:solidFill>
                  <a:srgbClr val="293F55"/>
                </a:solidFill>
              </a:rPr>
              <a:t>3</a:t>
            </a:r>
          </a:p>
        </p:txBody>
      </p:sp>
      <p:sp>
        <p:nvSpPr>
          <p:cNvPr id="93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A9047EF2-56D4-4877-A19F-3F8A7374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807" y="8260173"/>
            <a:ext cx="7667693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13" b="1">
                <a:solidFill>
                  <a:srgbClr val="293F55"/>
                </a:solidFill>
              </a:defRPr>
            </a:pPr>
            <a:r>
              <a:rPr sz="2013" b="1">
                <a:solidFill>
                  <a:srgbClr val="293F55"/>
                </a:solidFill>
              </a:rPr>
              <a:t>Nested elastic-net selection</a:t>
            </a:r>
          </a:p>
        </p:txBody>
      </p:sp>
      <p:sp>
        <p:nvSpPr>
          <p:cNvPr id="94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D879B8DE-4BE4-4796-9C10-ADA4E540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8771389"/>
            <a:ext cx="417748" cy="417045"/>
          </a:xfrm>
          <a:prstGeom xmlns:a="http://schemas.openxmlformats.org/drawingml/2006/main" prst="roundRect">
            <a:avLst>
              <a:gd name="adj" fmla="val 1827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26F73394-E7ED-42F2-871A-352AF8A3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8818475"/>
            <a:ext cx="417748" cy="309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2" b="1">
                <a:solidFill>
                  <a:srgbClr val="293F55"/>
                </a:solidFill>
              </a:defRPr>
            </a:pPr>
            <a:r>
              <a:rPr sz="1642" b="1">
                <a:solidFill>
                  <a:srgbClr val="293F55"/>
                </a:solidFill>
              </a:rPr>
              <a:t>4</a:t>
            </a:r>
          </a:p>
        </p:txBody>
      </p:sp>
      <p:sp>
        <p:nvSpPr>
          <p:cNvPr id="96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2A8CB7F5-0472-4F5F-8237-C1ADB63B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807" y="8798296"/>
            <a:ext cx="7667693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13" b="1">
                <a:solidFill>
                  <a:srgbClr val="293F55"/>
                </a:solidFill>
              </a:defRPr>
            </a:pPr>
            <a:r>
              <a:rPr sz="2013" b="1">
                <a:solidFill>
                  <a:srgbClr val="293F55"/>
                </a:solidFill>
              </a:rPr>
              <a:t>12-feature score and shift testing</a:t>
            </a:r>
          </a:p>
        </p:txBody>
      </p:sp>
      <p:sp>
        <p:nvSpPr>
          <p:cNvPr id="97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ADE90F39-CB2F-4FFA-96FE-85274B70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9484401"/>
            <a:ext cx="8220198" cy="2421549"/>
          </a:xfrm>
          <a:prstGeom xmlns:a="http://schemas.openxmlformats.org/drawingml/2006/main" prst="roundRect">
            <a:avLst>
              <a:gd name="adj" fmla="val 47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DE5E7"/>
            </a:solidFill>
            <a:prstDash val="solid"/>
          </a:ln>
        </p:spPr>
      </p:sp>
      <p:sp>
        <p:nvSpPr>
          <p:cNvPr id="98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52A65067-36BC-4A67-B403-31366066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962" y="9686197"/>
            <a:ext cx="3099419" cy="2690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36" b="1">
                <a:solidFill>
                  <a:srgbClr val="3E5C78"/>
                </a:solidFill>
              </a:defRPr>
            </a:pPr>
            <a:r>
              <a:rPr sz="1536" b="1">
                <a:solidFill>
                  <a:srgbClr val="3E5C78"/>
                </a:solidFill>
              </a:rPr>
              <a:t>FOUR SYNTHETIC COHORTS</a:t>
            </a:r>
          </a:p>
        </p:txBody>
      </p:sp>
      <p:sp>
        <p:nvSpPr>
          <p:cNvPr id="99" name="datasets">
            <a:extLst xmlns:a="http://schemas.openxmlformats.org/drawingml/2006/main">
              <a:ext uri="{FF2B5EF4-FFF2-40B4-BE49-F238E27FC236}">
                <a16:creationId xmlns:a16="http://schemas.microsoft.com/office/drawing/2014/main" id="{AF10D96F-E07C-4235-B133-CF083DCB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962" y="10056156"/>
            <a:ext cx="7842877" cy="154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13">
                <a:solidFill>
                  <a:srgbClr val="293F55"/>
                </a:solidFill>
              </a:defRPr>
            </a:pPr>
            <a:r>
              <a:rPr sz="2013">
                <a:solidFill>
                  <a:srgbClr val="293F55"/>
                </a:solidFill>
              </a:rPr>
              <a:t>Discovery n=620 · Internal validation n=310</a:t>
            </a:r>
          </a:p>
          <a:p xmlns:a="http://schemas.openxmlformats.org/drawingml/2006/main">
            <a:pPr>
              <a:defRPr sz="2013">
                <a:solidFill>
                  <a:srgbClr val="293F55"/>
                </a:solidFill>
              </a:defRPr>
            </a:pPr>
            <a:r>
              <a:rPr sz="2013">
                <a:solidFill>
                  <a:srgbClr val="293F55"/>
                </a:solidFill>
              </a:rPr>
              <a:t>External simulation A n=186 · External simulation B n=124</a:t>
            </a:r>
          </a:p>
          <a:p xmlns:a="http://schemas.openxmlformats.org/drawingml/2006/main">
            <a:pPr>
              <a:defRPr sz="2013">
                <a:solidFill>
                  <a:srgbClr val="293F55"/>
                </a:solidFill>
              </a:defRPr>
            </a:pPr>
            <a:r>
              <a:rPr sz="2013">
                <a:solidFill>
                  <a:srgbClr val="293F55"/>
                </a:solidFill>
              </a:rPr>
              <a:t>All values are authored fixtures; no participant, specimen, institution, registry or external dataset exists.</a:t>
            </a:r>
          </a:p>
        </p:txBody>
      </p:sp>
      <p:sp>
        <p:nvSpPr>
          <p:cNvPr id="100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33350469-32AF-4298-9C38-05F95718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962" y="11589804"/>
            <a:ext cx="7842877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24" i="1">
                <a:solidFill>
                  <a:srgbClr val="487AA1"/>
                </a:solidFill>
              </a:defRPr>
            </a:pPr>
            <a:r>
              <a:rPr sz="1324" i="1">
                <a:solidFill>
                  <a:srgbClr val="487AA1"/>
                </a:solidFill>
              </a:rPr>
              <a:t>Evidence: Abstract and Methods, pp. 1-2</a:t>
            </a:r>
          </a:p>
        </p:txBody>
      </p:sp>
      <p:sp>
        <p:nvSpPr>
          <p:cNvPr id="101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110C0330-DD4B-434B-B051-F18B9134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12275909"/>
            <a:ext cx="8220198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42" b="1">
                <a:solidFill>
                  <a:srgbClr val="3E5C78"/>
                </a:solidFill>
              </a:defRPr>
            </a:pPr>
            <a:r>
              <a:rPr sz="2542" b="1">
                <a:solidFill>
                  <a:srgbClr val="3E5C78"/>
                </a:solidFill>
              </a:rPr>
              <a:t>Generation to validation</a:t>
            </a:r>
          </a:p>
        </p:txBody>
      </p:sp>
      <p:sp>
        <p:nvSpPr>
          <p:cNvPr id="102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4B17C5C4-5D40-4209-A0EA-AF131C89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12726587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FE21D68C-CB1F-4ED5-8AF5-EE007CB3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12881297"/>
            <a:ext cx="8220198" cy="6995587"/>
          </a:xfrm>
          <a:prstGeom xmlns:a="http://schemas.openxmlformats.org/drawingml/2006/main" prst="roundRect">
            <a:avLst>
              <a:gd name="adj" fmla="val 1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DE5E7"/>
            </a:solidFill>
            <a:prstDash val="solid"/>
          </a:ln>
        </p:spPr>
      </p:sp>
      <p:pic>
        <p:nvPicPr>
          <p:cNvPr id="2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b06699d7794e9f">
            <a:extLst>
              <a:ext uri="{96DAC541-7B7A-43D3-8B79-37D633B846F1}">
                <asvg:svgBlip xmlns:asvg="http://schemas.microsoft.com/office/drawing/2016/SVG/main" r:embed="Re1987a56f3b24ba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78059" y="13015827"/>
            <a:ext cx="7950683" cy="6336387"/>
          </a:xfrm>
          <a:prstGeom xmlns:a="http://schemas.openxmlformats.org/drawingml/2006/main" prst="rect">
            <a:avLst/>
          </a:prstGeom>
        </p:spPr>
      </p:pic>
      <p:sp>
        <p:nvSpPr>
          <p:cNvPr id="105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94738010-685E-4D86-A058-330D7CE6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010" y="19392573"/>
            <a:ext cx="7896780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89" b="1">
                <a:solidFill>
                  <a:srgbClr val="293F55"/>
                </a:solidFill>
              </a:defRPr>
            </a:pPr>
            <a:r>
              <a:rPr sz="1589" b="1">
                <a:solidFill>
                  <a:srgbClr val="293F55"/>
                </a:solidFill>
              </a:rPr>
              <a:t>Figure 1 · Deterministic generation and validation workflow</a:t>
            </a:r>
          </a:p>
        </p:txBody>
      </p:sp>
      <p:sp>
        <p:nvSpPr>
          <p:cNvPr id="106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7E62FFE0-7532-4287-897D-371C548A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010" y="19614549"/>
            <a:ext cx="7896780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24" i="1">
                <a:solidFill>
                  <a:srgbClr val="487AA1"/>
                </a:solidFill>
              </a:defRPr>
            </a:pPr>
            <a:r>
              <a:rPr sz="1324" i="1">
                <a:solidFill>
                  <a:srgbClr val="487AA1"/>
                </a:solidFill>
              </a:rPr>
              <a:t>Authored synthetic fixture · manuscript p. 2</a:t>
            </a:r>
          </a:p>
        </p:txBody>
      </p:sp>
      <p:sp>
        <p:nvSpPr>
          <p:cNvPr id="107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391B3410-BEFE-4563-9B4B-E49471D2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3968650"/>
            <a:ext cx="9668839" cy="1782529"/>
          </a:xfrm>
          <a:prstGeom xmlns:a="http://schemas.openxmlformats.org/drawingml/2006/main" prst="roundRect">
            <a:avLst>
              <a:gd name="adj" fmla="val 855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takeaway-cape-gradient-1">
            <a:extLst xmlns:a="http://schemas.openxmlformats.org/drawingml/2006/main">
              <a:ext uri="{FF2B5EF4-FFF2-40B4-BE49-F238E27FC236}">
                <a16:creationId xmlns:a16="http://schemas.microsoft.com/office/drawing/2014/main" id="{04CB1D17-789F-412E-8D70-6EE8CB91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takeaway-cape-gradient-2">
            <a:extLst xmlns:a="http://schemas.openxmlformats.org/drawingml/2006/main">
              <a:ext uri="{FF2B5EF4-FFF2-40B4-BE49-F238E27FC236}">
                <a16:creationId xmlns:a16="http://schemas.microsoft.com/office/drawing/2014/main" id="{7EE4570A-CB56-4CED-990E-98D8782F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9923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takeaway-cape-gradient-3">
            <a:extLst xmlns:a="http://schemas.openxmlformats.org/drawingml/2006/main">
              <a:ext uri="{FF2B5EF4-FFF2-40B4-BE49-F238E27FC236}">
                <a16:creationId xmlns:a16="http://schemas.microsoft.com/office/drawing/2014/main" id="{002CFD38-2586-40BE-BB8F-4AA6258C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074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takeaway-cape-gradient-4">
            <a:extLst xmlns:a="http://schemas.openxmlformats.org/drawingml/2006/main">
              <a:ext uri="{FF2B5EF4-FFF2-40B4-BE49-F238E27FC236}">
                <a16:creationId xmlns:a16="http://schemas.microsoft.com/office/drawing/2014/main" id="{C82CAE65-0448-48C1-A196-318C3E38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4225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takeaway-cape-gradient-5">
            <a:extLst xmlns:a="http://schemas.openxmlformats.org/drawingml/2006/main">
              <a:ext uri="{FF2B5EF4-FFF2-40B4-BE49-F238E27FC236}">
                <a16:creationId xmlns:a16="http://schemas.microsoft.com/office/drawing/2014/main" id="{9386A751-687B-4A04-91DB-5E1AB50C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6376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takeaway-cape-gradient-6">
            <a:extLst xmlns:a="http://schemas.openxmlformats.org/drawingml/2006/main">
              <a:ext uri="{FF2B5EF4-FFF2-40B4-BE49-F238E27FC236}">
                <a16:creationId xmlns:a16="http://schemas.microsoft.com/office/drawing/2014/main" id="{2B2FF2EE-E16C-438E-8450-D2414DF1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8528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takeaway-cape-gradient-7">
            <a:extLst xmlns:a="http://schemas.openxmlformats.org/drawingml/2006/main">
              <a:ext uri="{FF2B5EF4-FFF2-40B4-BE49-F238E27FC236}">
                <a16:creationId xmlns:a16="http://schemas.microsoft.com/office/drawing/2014/main" id="{55640D12-FB94-4400-8A35-0C8E4A69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0679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takeaway-cape-gradient-8">
            <a:extLst xmlns:a="http://schemas.openxmlformats.org/drawingml/2006/main">
              <a:ext uri="{FF2B5EF4-FFF2-40B4-BE49-F238E27FC236}">
                <a16:creationId xmlns:a16="http://schemas.microsoft.com/office/drawing/2014/main" id="{EDEC37EF-55CC-4E8A-9789-74D661AD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2830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takeaway-cape-gradient-9">
            <a:extLst xmlns:a="http://schemas.openxmlformats.org/drawingml/2006/main">
              <a:ext uri="{FF2B5EF4-FFF2-40B4-BE49-F238E27FC236}">
                <a16:creationId xmlns:a16="http://schemas.microsoft.com/office/drawing/2014/main" id="{C646B9E0-7922-4323-AD8A-1FC4596E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4981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takeaway-cape-gradient-10">
            <a:extLst xmlns:a="http://schemas.openxmlformats.org/drawingml/2006/main">
              <a:ext uri="{FF2B5EF4-FFF2-40B4-BE49-F238E27FC236}">
                <a16:creationId xmlns:a16="http://schemas.microsoft.com/office/drawing/2014/main" id="{B9FDAF17-4D59-4D2A-8E70-E07A4FBC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132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takeaway-cape-gradient-11">
            <a:extLst xmlns:a="http://schemas.openxmlformats.org/drawingml/2006/main">
              <a:ext uri="{FF2B5EF4-FFF2-40B4-BE49-F238E27FC236}">
                <a16:creationId xmlns:a16="http://schemas.microsoft.com/office/drawing/2014/main" id="{45F60335-627C-4646-9D9A-15D8EF2F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9284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takeaway-cape-gradient-12">
            <a:extLst xmlns:a="http://schemas.openxmlformats.org/drawingml/2006/main">
              <a:ext uri="{FF2B5EF4-FFF2-40B4-BE49-F238E27FC236}">
                <a16:creationId xmlns:a16="http://schemas.microsoft.com/office/drawing/2014/main" id="{709AE1B4-2498-4301-B97A-E31C7A19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1435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takeaway-cape-gradient-13">
            <a:extLst xmlns:a="http://schemas.openxmlformats.org/drawingml/2006/main">
              <a:ext uri="{FF2B5EF4-FFF2-40B4-BE49-F238E27FC236}">
                <a16:creationId xmlns:a16="http://schemas.microsoft.com/office/drawing/2014/main" id="{0A2DA8F9-9E74-4485-80C1-1DAC2D7B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3586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takeaway-cape-gradient-14">
            <a:extLst xmlns:a="http://schemas.openxmlformats.org/drawingml/2006/main">
              <a:ext uri="{FF2B5EF4-FFF2-40B4-BE49-F238E27FC236}">
                <a16:creationId xmlns:a16="http://schemas.microsoft.com/office/drawing/2014/main" id="{AFC5F2D3-AAFA-433D-90DB-7F34AFD3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95737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takeaway-cape-gradient-15">
            <a:extLst xmlns:a="http://schemas.openxmlformats.org/drawingml/2006/main">
              <a:ext uri="{FF2B5EF4-FFF2-40B4-BE49-F238E27FC236}">
                <a16:creationId xmlns:a16="http://schemas.microsoft.com/office/drawing/2014/main" id="{A1D18EE6-FA09-42F0-A283-850159DD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7889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takeaway-cape-gradient-16">
            <a:extLst xmlns:a="http://schemas.openxmlformats.org/drawingml/2006/main">
              <a:ext uri="{FF2B5EF4-FFF2-40B4-BE49-F238E27FC236}">
                <a16:creationId xmlns:a16="http://schemas.microsoft.com/office/drawing/2014/main" id="{19BAA145-F44D-4184-86C0-13DAA552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0040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takeaway-cape-gradient-17">
            <a:extLst xmlns:a="http://schemas.openxmlformats.org/drawingml/2006/main">
              <a:ext uri="{FF2B5EF4-FFF2-40B4-BE49-F238E27FC236}">
                <a16:creationId xmlns:a16="http://schemas.microsoft.com/office/drawing/2014/main" id="{CA785455-1B6E-4179-BE87-BA72F7CF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2191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takeaway-cape-gradient-18">
            <a:extLst xmlns:a="http://schemas.openxmlformats.org/drawingml/2006/main">
              <a:ext uri="{FF2B5EF4-FFF2-40B4-BE49-F238E27FC236}">
                <a16:creationId xmlns:a16="http://schemas.microsoft.com/office/drawing/2014/main" id="{C31EF5BC-96B7-44B1-B70E-095342D9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4342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takeaway-cape-gradient-19">
            <a:extLst xmlns:a="http://schemas.openxmlformats.org/drawingml/2006/main">
              <a:ext uri="{FF2B5EF4-FFF2-40B4-BE49-F238E27FC236}">
                <a16:creationId xmlns:a16="http://schemas.microsoft.com/office/drawing/2014/main" id="{02499C17-9B57-440F-99A3-D5AA1F67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06494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takeaway-cape-gradient-20">
            <a:extLst xmlns:a="http://schemas.openxmlformats.org/drawingml/2006/main">
              <a:ext uri="{FF2B5EF4-FFF2-40B4-BE49-F238E27FC236}">
                <a16:creationId xmlns:a16="http://schemas.microsoft.com/office/drawing/2014/main" id="{C60D0708-B4B6-412E-B15D-4D58F8CE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8645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takeaway-cape-gradient-21">
            <a:extLst xmlns:a="http://schemas.openxmlformats.org/drawingml/2006/main">
              <a:ext uri="{FF2B5EF4-FFF2-40B4-BE49-F238E27FC236}">
                <a16:creationId xmlns:a16="http://schemas.microsoft.com/office/drawing/2014/main" id="{19C62973-A473-4176-82D9-A08CCFC9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796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takeaway-cape-gradient-22">
            <a:extLst xmlns:a="http://schemas.openxmlformats.org/drawingml/2006/main">
              <a:ext uri="{FF2B5EF4-FFF2-40B4-BE49-F238E27FC236}">
                <a16:creationId xmlns:a16="http://schemas.microsoft.com/office/drawing/2014/main" id="{A577E0BA-3207-4436-A30F-7CC821BC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2947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takeaway-cape-gradient-23">
            <a:extLst xmlns:a="http://schemas.openxmlformats.org/drawingml/2006/main">
              <a:ext uri="{FF2B5EF4-FFF2-40B4-BE49-F238E27FC236}">
                <a16:creationId xmlns:a16="http://schemas.microsoft.com/office/drawing/2014/main" id="{22F395EF-2F95-455F-AEF9-80583076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5098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takeaway-cape-gradient-24">
            <a:extLst xmlns:a="http://schemas.openxmlformats.org/drawingml/2006/main">
              <a:ext uri="{FF2B5EF4-FFF2-40B4-BE49-F238E27FC236}">
                <a16:creationId xmlns:a16="http://schemas.microsoft.com/office/drawing/2014/main" id="{743555BE-B746-43B9-9B9E-E89E9FC30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250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takeaway-cape-gradient-25">
            <a:extLst xmlns:a="http://schemas.openxmlformats.org/drawingml/2006/main">
              <a:ext uri="{FF2B5EF4-FFF2-40B4-BE49-F238E27FC236}">
                <a16:creationId xmlns:a16="http://schemas.microsoft.com/office/drawing/2014/main" id="{777907D4-551A-40D5-8772-AE9E674C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9401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takeaway-cape-gradient-26">
            <a:extLst xmlns:a="http://schemas.openxmlformats.org/drawingml/2006/main">
              <a:ext uri="{FF2B5EF4-FFF2-40B4-BE49-F238E27FC236}">
                <a16:creationId xmlns:a16="http://schemas.microsoft.com/office/drawing/2014/main" id="{6C8DF5F6-C84D-4DE6-BF25-AABBB241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21552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takeaway-cape-gradient-27">
            <a:extLst xmlns:a="http://schemas.openxmlformats.org/drawingml/2006/main">
              <a:ext uri="{FF2B5EF4-FFF2-40B4-BE49-F238E27FC236}">
                <a16:creationId xmlns:a16="http://schemas.microsoft.com/office/drawing/2014/main" id="{94277B28-8E30-4B16-BE37-1FACE795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3703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takeaway-cape-gradient-28">
            <a:extLst xmlns:a="http://schemas.openxmlformats.org/drawingml/2006/main">
              <a:ext uri="{FF2B5EF4-FFF2-40B4-BE49-F238E27FC236}">
                <a16:creationId xmlns:a16="http://schemas.microsoft.com/office/drawing/2014/main" id="{ACEB41DA-AF71-419A-A36B-D1D884EC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25855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takeaway-cape-gradient-29">
            <a:extLst xmlns:a="http://schemas.openxmlformats.org/drawingml/2006/main">
              <a:ext uri="{FF2B5EF4-FFF2-40B4-BE49-F238E27FC236}">
                <a16:creationId xmlns:a16="http://schemas.microsoft.com/office/drawing/2014/main" id="{12345636-DE3D-4583-87AE-5142E022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28006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takeaway-cape-gradient-30">
            <a:extLst xmlns:a="http://schemas.openxmlformats.org/drawingml/2006/main">
              <a:ext uri="{FF2B5EF4-FFF2-40B4-BE49-F238E27FC236}">
                <a16:creationId xmlns:a16="http://schemas.microsoft.com/office/drawing/2014/main" id="{7B2A475A-75E4-42A2-A856-3B01CC4E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30157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takeaway-cape-gradient-31">
            <a:extLst xmlns:a="http://schemas.openxmlformats.org/drawingml/2006/main">
              <a:ext uri="{FF2B5EF4-FFF2-40B4-BE49-F238E27FC236}">
                <a16:creationId xmlns:a16="http://schemas.microsoft.com/office/drawing/2014/main" id="{7040686B-DF02-4507-8E76-41DB7100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32308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takeaway-cape-gradient-32">
            <a:extLst xmlns:a="http://schemas.openxmlformats.org/drawingml/2006/main">
              <a:ext uri="{FF2B5EF4-FFF2-40B4-BE49-F238E27FC236}">
                <a16:creationId xmlns:a16="http://schemas.microsoft.com/office/drawing/2014/main" id="{93EDC66E-48E8-4512-9F25-81D5579C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4460" y="3968650"/>
            <a:ext cx="308889" cy="13453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0FB1FBE3-2CAB-47C2-9D57-C659AE9B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4238" y="4204079"/>
            <a:ext cx="9075907" cy="672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913" b="1">
                <a:solidFill>
                  <a:srgbClr val="293F55"/>
                </a:solidFill>
              </a:defRPr>
            </a:pPr>
            <a:r>
              <a:rPr sz="2913" b="1">
                <a:solidFill>
                  <a:srgbClr val="293F55"/>
                </a:solidFill>
              </a:rPr>
              <a:t>External simulations retained C-indices of 0.75 and 0.74</a:t>
            </a:r>
          </a:p>
        </p:txBody>
      </p:sp>
      <p:sp>
        <p:nvSpPr>
          <p:cNvPr id="141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6A89F50F-2EEC-473F-B046-D60DA5A3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422" y="5071800"/>
            <a:ext cx="8725538" cy="3228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95" b="1">
                <a:solidFill>
                  <a:srgbClr val="293F55"/>
                </a:solidFill>
              </a:defRPr>
            </a:pPr>
            <a:r>
              <a:rPr sz="1695" b="1">
                <a:solidFill>
                  <a:srgbClr val="293F55"/>
                </a:solidFill>
              </a:rPr>
              <a:t>Synthetic baseline: 0.66 and 0.65 · software fixture, not clinical validation</a:t>
            </a:r>
          </a:p>
        </p:txBody>
      </p:sp>
      <p:sp>
        <p:nvSpPr>
          <p:cNvPr id="142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1FE6B86A-A82E-4E10-9259-F4DEA822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713" y="5448486"/>
            <a:ext cx="9048956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24" i="1">
                <a:solidFill>
                  <a:srgbClr val="487AA1"/>
                </a:solidFill>
              </a:defRPr>
            </a:pPr>
            <a:r>
              <a:rPr sz="1324" i="1">
                <a:solidFill>
                  <a:srgbClr val="487AA1"/>
                </a:solidFill>
              </a:rPr>
              <a:t>Evidence: Results, pp. 1 and 3; Figure 2</a:t>
            </a:r>
          </a:p>
        </p:txBody>
      </p:sp>
      <p:sp>
        <p:nvSpPr>
          <p:cNvPr id="143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49451D4A-EF15-46A9-B867-E914FC4D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6087506"/>
            <a:ext cx="9668839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42" b="1">
                <a:solidFill>
                  <a:srgbClr val="3E5C78"/>
                </a:solidFill>
              </a:defRPr>
            </a:pPr>
            <a:r>
              <a:rPr sz="2542" b="1">
                <a:solidFill>
                  <a:srgbClr val="3E5C78"/>
                </a:solidFill>
              </a:rPr>
              <a:t>Discrimination across shifts</a:t>
            </a:r>
          </a:p>
        </p:txBody>
      </p:sp>
      <p:sp>
        <p:nvSpPr>
          <p:cNvPr id="144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364B6142-0E18-499B-A8A9-82A3ECEB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6538183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A006D58F-8E35-4546-98C5-8991370E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6692893"/>
            <a:ext cx="9668839" cy="8979912"/>
          </a:xfrm>
          <a:prstGeom xmlns:a="http://schemas.openxmlformats.org/drawingml/2006/main" prst="roundRect">
            <a:avLst>
              <a:gd name="adj" fmla="val 1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DE5E7"/>
            </a:solidFill>
            <a:prstDash val="solid"/>
          </a:ln>
        </p:spPr>
      </p:sp>
      <p:pic>
        <p:nvPicPr>
          <p:cNvPr id="3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20d2bd644d406b">
            <a:extLst>
              <a:ext uri="{96DAC541-7B7A-43D3-8B79-37D633B846F1}">
                <asvg:svgBlip xmlns:asvg="http://schemas.microsoft.com/office/drawing/2016/SVG/main" r:embed="Rb4daec20550e4e2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702529" y="6827424"/>
            <a:ext cx="9399325" cy="8320712"/>
          </a:xfrm>
          <a:prstGeom xmlns:a="http://schemas.openxmlformats.org/drawingml/2006/main" prst="rect">
            <a:avLst/>
          </a:prstGeom>
        </p:spPr>
      </p:pic>
      <p:sp>
        <p:nvSpPr>
          <p:cNvPr id="147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C54FDF30-B7E6-42CB-B6B5-159243A7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480" y="15188495"/>
            <a:ext cx="9345422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89" b="1">
                <a:solidFill>
                  <a:srgbClr val="293F55"/>
                </a:solidFill>
              </a:defRPr>
            </a:pPr>
            <a:r>
              <a:rPr sz="1589" b="1">
                <a:solidFill>
                  <a:srgbClr val="293F55"/>
                </a:solidFill>
              </a:rPr>
              <a:t>Figure 2 · Authored discrimination values across cohort shifts</a:t>
            </a:r>
          </a:p>
        </p:txBody>
      </p:sp>
      <p:sp>
        <p:nvSpPr>
          <p:cNvPr id="148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83956298-8F3B-41DC-84EF-2E8E6C66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480" y="15410470"/>
            <a:ext cx="9345422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24" i="1">
                <a:solidFill>
                  <a:srgbClr val="487AA1"/>
                </a:solidFill>
              </a:defRPr>
            </a:pPr>
            <a:r>
              <a:rPr sz="1324" i="1">
                <a:solidFill>
                  <a:srgbClr val="487AA1"/>
                </a:solidFill>
              </a:rPr>
              <a:t>Authored synthetic fixture · manuscript p. 3</a:t>
            </a:r>
          </a:p>
        </p:txBody>
      </p:sp>
      <p:sp>
        <p:nvSpPr>
          <p:cNvPr id="149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8659E964-6FD9-4307-8B83-E541E09B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16009131"/>
            <a:ext cx="9668839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42" b="1">
                <a:solidFill>
                  <a:srgbClr val="3E5C78"/>
                </a:solidFill>
              </a:defRPr>
            </a:pPr>
            <a:r>
              <a:rPr sz="2542" b="1">
                <a:solidFill>
                  <a:srgbClr val="3E5C78"/>
                </a:solidFill>
              </a:rPr>
              <a:t>Calibration and stress boundary</a:t>
            </a:r>
          </a:p>
        </p:txBody>
      </p:sp>
      <p:sp>
        <p:nvSpPr>
          <p:cNvPr id="150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33382504-7907-4553-B0BA-0261AF1C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16459808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0343B59D-BB47-4EEE-9D14-1F0AA52D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16614518"/>
            <a:ext cx="9668839" cy="2858773"/>
          </a:xfrm>
          <a:prstGeom xmlns:a="http://schemas.openxmlformats.org/drawingml/2006/main" prst="roundRect">
            <a:avLst>
              <a:gd name="adj" fmla="val 39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DE5E7"/>
            </a:solidFill>
            <a:prstDash val="solid"/>
          </a:ln>
        </p:spPr>
      </p:sp>
      <p:sp>
        <p:nvSpPr>
          <p:cNvPr id="152" name="validation">
            <a:extLst xmlns:a="http://schemas.openxmlformats.org/drawingml/2006/main">
              <a:ext uri="{FF2B5EF4-FFF2-40B4-BE49-F238E27FC236}">
                <a16:creationId xmlns:a16="http://schemas.microsoft.com/office/drawing/2014/main" id="{E0F373C6-2947-4A0B-A240-D88E3B23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335" y="16836494"/>
            <a:ext cx="9183713" cy="20852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13">
                <a:solidFill>
                  <a:srgbClr val="293F55"/>
                </a:solidFill>
              </a:defRPr>
            </a:pPr>
            <a:r>
              <a:rPr sz="2013">
                <a:solidFill>
                  <a:srgbClr val="293F55"/>
                </a:solidFill>
              </a:rPr>
              <a:t>• External calibration slopes were 0.97 and 0.95.</a:t>
            </a:r>
          </a:p>
          <a:p xmlns:a="http://schemas.openxmlformats.org/drawingml/2006/main">
            <a:pPr>
              <a:defRPr sz="2013">
                <a:solidFill>
                  <a:srgbClr val="293F55"/>
                </a:solidFill>
              </a:defRPr>
            </a:pPr>
            <a:r>
              <a:rPr sz="2013">
                <a:solidFill>
                  <a:srgbClr val="293F55"/>
                </a:solidFill>
              </a:rPr>
              <a:t>• External absolute errors were 0.031 and 0.038.</a:t>
            </a:r>
          </a:p>
          <a:p xmlns:a="http://schemas.openxmlformats.org/drawingml/2006/main">
            <a:pPr>
              <a:defRPr sz="2013">
                <a:solidFill>
                  <a:srgbClr val="293F55"/>
                </a:solidFill>
              </a:defRPr>
            </a:pPr>
            <a:r>
              <a:rPr sz="2013">
                <a:solidFill>
                  <a:srgbClr val="293F55"/>
                </a:solidFill>
              </a:rPr>
              <a:t>• Aggregate coefficient-sign stability was 92% across 500 resamples.</a:t>
            </a:r>
          </a:p>
          <a:p xmlns:a="http://schemas.openxmlformats.org/drawingml/2006/main">
            <a:pPr>
              <a:defRPr sz="2013">
                <a:solidFill>
                  <a:srgbClr val="293F55"/>
                </a:solidFill>
              </a:defRPr>
            </a:pPr>
            <a:r>
              <a:rPr sz="2013">
                <a:solidFill>
                  <a:srgbClr val="293F55"/>
                </a:solidFill>
              </a:rPr>
              <a:t>• The most severe pre-specified shift reduced C-index by 0.04.</a:t>
            </a:r>
          </a:p>
        </p:txBody>
      </p:sp>
      <p:sp>
        <p:nvSpPr>
          <p:cNvPr id="153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9C9A1CFD-A28C-45D2-9E49-886268AE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335" y="19150418"/>
            <a:ext cx="9183713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24" i="1">
                <a:solidFill>
                  <a:srgbClr val="487AA1"/>
                </a:solidFill>
              </a:defRPr>
            </a:pPr>
            <a:r>
              <a:rPr sz="1324" i="1">
                <a:solidFill>
                  <a:srgbClr val="487AA1"/>
                </a:solidFill>
              </a:rPr>
              <a:t>Evidence: Results, pp. 1, 3-4; Figures 3-4</a:t>
            </a:r>
          </a:p>
        </p:txBody>
      </p:sp>
      <p:sp>
        <p:nvSpPr>
          <p:cNvPr id="154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A710BD32-37F4-451A-8916-F53DD685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771" y="19708720"/>
            <a:ext cx="9668839" cy="773550"/>
          </a:xfrm>
          <a:prstGeom xmlns:a="http://schemas.openxmlformats.org/drawingml/2006/main" prst="roundRect">
            <a:avLst>
              <a:gd name="adj" fmla="val 14776"/>
            </a:avLst>
          </a:prstGeom>
          <a:solidFill xmlns:a="http://schemas.openxmlformats.org/drawingml/2006/main">
            <a:srgbClr val="3E5C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CB5214C1-64F7-4D36-8648-0031A2D0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6859" y="19910516"/>
            <a:ext cx="9210664" cy="3497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1" b="1">
                <a:solidFill>
                  <a:srgbClr val="FFFFFF"/>
                </a:solidFill>
              </a:defRPr>
            </a:pPr>
            <a:r>
              <a:rPr sz="1801" b="1">
                <a:solidFill>
                  <a:srgbClr val="FFFFFF"/>
                </a:solidFill>
              </a:rPr>
              <a:t>AURORA-12 vs baseline C-index · Discovery 0.78 vs 0.68 · Internal 0.76 vs 0.67 · External A 0.75 vs 0.66 · External B 0.74 vs 0.65</a:t>
            </a:r>
          </a:p>
        </p:txBody>
      </p:sp>
      <p:sp>
        <p:nvSpPr>
          <p:cNvPr id="156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84A96EAB-01FA-40B7-9C82-349265FE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3968650"/>
            <a:ext cx="9695791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42" b="1">
                <a:solidFill>
                  <a:srgbClr val="3E5C78"/>
                </a:solidFill>
              </a:defRPr>
            </a:pPr>
            <a:r>
              <a:rPr sz="2542" b="1">
                <a:solidFill>
                  <a:srgbClr val="3E5C78"/>
                </a:solidFill>
              </a:rPr>
              <a:t>Calibration &amp; stability</a:t>
            </a:r>
          </a:p>
        </p:txBody>
      </p:sp>
      <p:sp>
        <p:nvSpPr>
          <p:cNvPr id="157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71AECF77-1DB5-4F36-A5DF-B6EF1ECC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4419327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8A63F413-CEED-4B0F-9EDE-083D8E22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4641303"/>
            <a:ext cx="2829904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2" b="1">
                <a:solidFill>
                  <a:srgbClr val="3E5C78"/>
                </a:solidFill>
              </a:defRPr>
            </a:pPr>
            <a:r>
              <a:rPr sz="3602" b="1">
                <a:solidFill>
                  <a:srgbClr val="3E5C78"/>
                </a:solidFill>
              </a:rPr>
              <a:t>92%</a:t>
            </a:r>
          </a:p>
        </p:txBody>
      </p:sp>
      <p:sp>
        <p:nvSpPr>
          <p:cNvPr id="159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FC021605-832B-4D06-B26F-73387DA2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5192878"/>
            <a:ext cx="2829904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42" b="1">
                <a:solidFill>
                  <a:srgbClr val="293F55"/>
                </a:solidFill>
              </a:defRPr>
            </a:pPr>
            <a:r>
              <a:rPr sz="1642" b="1">
                <a:solidFill>
                  <a:srgbClr val="293F55"/>
                </a:solidFill>
              </a:rPr>
              <a:t>coefficient-sign stability</a:t>
            </a:r>
          </a:p>
        </p:txBody>
      </p:sp>
      <p:sp>
        <p:nvSpPr>
          <p:cNvPr id="160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02E6DF70-2687-4EBD-8F6D-B4D12918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1370" y="4641303"/>
            <a:ext cx="2829904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31" b="1">
                <a:solidFill>
                  <a:srgbClr val="487AA1"/>
                </a:solidFill>
              </a:defRPr>
            </a:pPr>
            <a:r>
              <a:rPr sz="3231" b="1">
                <a:solidFill>
                  <a:srgbClr val="487AA1"/>
                </a:solidFill>
              </a:rPr>
              <a:t>0.97 / 0.95</a:t>
            </a:r>
          </a:p>
        </p:txBody>
      </p:sp>
      <p:sp>
        <p:nvSpPr>
          <p:cNvPr id="161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D76489C4-E389-4523-99C3-0B1401DD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1370" y="5192878"/>
            <a:ext cx="2829904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42" b="1">
                <a:solidFill>
                  <a:srgbClr val="293F55"/>
                </a:solidFill>
              </a:defRPr>
            </a:pPr>
            <a:r>
              <a:rPr sz="1642" b="1">
                <a:solidFill>
                  <a:srgbClr val="293F55"/>
                </a:solidFill>
              </a:rPr>
              <a:t>external calibration slopes</a:t>
            </a:r>
          </a:p>
        </p:txBody>
      </p:sp>
      <p:sp>
        <p:nvSpPr>
          <p:cNvPr id="162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8F333866-13D7-457F-B81C-14BD9C30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41857" y="4641303"/>
            <a:ext cx="2829904" cy="52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54" b="1">
                <a:solidFill>
                  <a:srgbClr val="E5BC6C"/>
                </a:solidFill>
              </a:defRPr>
            </a:pPr>
            <a:r>
              <a:rPr sz="2754" b="1">
                <a:solidFill>
                  <a:srgbClr val="E5BC6C"/>
                </a:solidFill>
              </a:rPr>
              <a:t>0.031 / 0.038</a:t>
            </a:r>
          </a:p>
        </p:txBody>
      </p:sp>
      <p:sp>
        <p:nvSpPr>
          <p:cNvPr id="163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C807D76C-AF19-47F7-AD41-FD8A2CE3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41857" y="5192878"/>
            <a:ext cx="2829904" cy="591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42" b="1">
                <a:solidFill>
                  <a:srgbClr val="293F55"/>
                </a:solidFill>
              </a:defRPr>
            </a:pPr>
            <a:r>
              <a:rPr sz="1642" b="1">
                <a:solidFill>
                  <a:srgbClr val="293F55"/>
                </a:solidFill>
              </a:rPr>
              <a:t>external absolute errors</a:t>
            </a:r>
          </a:p>
        </p:txBody>
      </p:sp>
      <p:sp>
        <p:nvSpPr>
          <p:cNvPr id="164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A2B1489D-E93A-4C78-98A7-4D6D0FC6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5986608"/>
            <a:ext cx="9695791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24" i="1">
                <a:solidFill>
                  <a:srgbClr val="487AA1"/>
                </a:solidFill>
              </a:defRPr>
            </a:pPr>
            <a:r>
              <a:rPr sz="1324" i="1">
                <a:solidFill>
                  <a:srgbClr val="487AA1"/>
                </a:solidFill>
              </a:rPr>
              <a:t>Evidence: Stability and calibration, p. 4</a:t>
            </a:r>
          </a:p>
        </p:txBody>
      </p:sp>
      <p:sp>
        <p:nvSpPr>
          <p:cNvPr id="165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2071BBFF-309C-44E8-8487-F9F9AD1B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6491097"/>
            <a:ext cx="9695791" cy="4843098"/>
          </a:xfrm>
          <a:prstGeom xmlns:a="http://schemas.openxmlformats.org/drawingml/2006/main" prst="roundRect">
            <a:avLst>
              <a:gd name="adj" fmla="val 23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DE5E7"/>
            </a:solidFill>
            <a:prstDash val="solid"/>
          </a:ln>
        </p:spPr>
      </p:sp>
      <p:pic>
        <p:nvPicPr>
          <p:cNvPr id="3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5c7ce3526947c1">
            <a:extLst>
              <a:ext uri="{96DAC541-7B7A-43D3-8B79-37D633B846F1}">
                <asvg:svgBlip xmlns:asvg="http://schemas.microsoft.com/office/drawing/2016/SVG/main" r:embed="Rbdb3eb846a4240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9775640" y="6625628"/>
            <a:ext cx="9426276" cy="4183899"/>
          </a:xfrm>
          <a:prstGeom xmlns:a="http://schemas.openxmlformats.org/drawingml/2006/main" prst="rect">
            <a:avLst/>
          </a:prstGeom>
        </p:spPr>
      </p:pic>
      <p:sp>
        <p:nvSpPr>
          <p:cNvPr id="167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8D093224-6371-4105-9721-1F42AD40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2592" y="10849886"/>
            <a:ext cx="9372373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89" b="1">
                <a:solidFill>
                  <a:srgbClr val="293F55"/>
                </a:solidFill>
              </a:defRPr>
            </a:pPr>
            <a:r>
              <a:rPr sz="1589" b="1">
                <a:solidFill>
                  <a:srgbClr val="293F55"/>
                </a:solidFill>
              </a:rPr>
              <a:t>Figure 3 · Calibration and coefficient-sign stability</a:t>
            </a:r>
          </a:p>
        </p:txBody>
      </p:sp>
      <p:sp>
        <p:nvSpPr>
          <p:cNvPr id="168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5403411C-B10F-4464-B2D6-AFCF1F978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2592" y="11071861"/>
            <a:ext cx="9372373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24" i="1">
                <a:solidFill>
                  <a:srgbClr val="487AA1"/>
                </a:solidFill>
              </a:defRPr>
            </a:pPr>
            <a:r>
              <a:rPr sz="1324" i="1">
                <a:solidFill>
                  <a:srgbClr val="487AA1"/>
                </a:solidFill>
              </a:rPr>
              <a:t>Authored synthetic fixture · manuscript p. 4</a:t>
            </a:r>
          </a:p>
        </p:txBody>
      </p:sp>
      <p:sp>
        <p:nvSpPr>
          <p:cNvPr id="169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EAB314C3-1B83-4CEC-8AE8-424794F5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1670522"/>
            <a:ext cx="9695791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42" b="1">
                <a:solidFill>
                  <a:srgbClr val="3E5C78"/>
                </a:solidFill>
              </a:defRPr>
            </a:pPr>
            <a:r>
              <a:rPr sz="2542" b="1">
                <a:solidFill>
                  <a:srgbClr val="3E5C78"/>
                </a:solidFill>
              </a:rPr>
              <a:t>Pre-specified stress test</a:t>
            </a:r>
          </a:p>
        </p:txBody>
      </p:sp>
      <p:sp>
        <p:nvSpPr>
          <p:cNvPr id="170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31E458B0-CD93-4D1C-A9E5-BE05D468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2121199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119F223E-434E-4B7B-8595-14461BF4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2275909"/>
            <a:ext cx="9695791" cy="5044894"/>
          </a:xfrm>
          <a:prstGeom xmlns:a="http://schemas.openxmlformats.org/drawingml/2006/main" prst="roundRect">
            <a:avLst>
              <a:gd name="adj" fmla="val 22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DE5E7"/>
            </a:solidFill>
            <a:prstDash val="solid"/>
          </a:ln>
        </p:spPr>
      </p:sp>
      <p:pic>
        <p:nvPicPr>
          <p:cNvPr id="3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c966c12cff4ede">
            <a:extLst>
              <a:ext uri="{96DAC541-7B7A-43D3-8B79-37D633B846F1}">
                <asvg:svgBlip xmlns:asvg="http://schemas.microsoft.com/office/drawing/2016/SVG/main" r:embed="Rb6e6eb742ab34e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9775640" y="12410440"/>
            <a:ext cx="9426276" cy="4385695"/>
          </a:xfrm>
          <a:prstGeom xmlns:a="http://schemas.openxmlformats.org/drawingml/2006/main" prst="rect">
            <a:avLst/>
          </a:prstGeom>
        </p:spPr>
      </p:pic>
      <p:sp>
        <p:nvSpPr>
          <p:cNvPr id="173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F4861FB9-B2A3-4674-995F-3F1C969C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2592" y="16836494"/>
            <a:ext cx="9372373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89" b="1">
                <a:solidFill>
                  <a:srgbClr val="293F55"/>
                </a:solidFill>
              </a:defRPr>
            </a:pPr>
            <a:r>
              <a:rPr sz="1589" b="1">
                <a:solidFill>
                  <a:srgbClr val="293F55"/>
                </a:solidFill>
              </a:rPr>
              <a:t>Figure 4 · Stress-test boundary under increasing shift</a:t>
            </a:r>
          </a:p>
        </p:txBody>
      </p:sp>
      <p:sp>
        <p:nvSpPr>
          <p:cNvPr id="174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88F47524-7C2E-454B-9402-D7243582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2592" y="17058469"/>
            <a:ext cx="9372373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24" i="1">
                <a:solidFill>
                  <a:srgbClr val="487AA1"/>
                </a:solidFill>
              </a:defRPr>
            </a:pPr>
            <a:r>
              <a:rPr sz="1324" i="1">
                <a:solidFill>
                  <a:srgbClr val="487AA1"/>
                </a:solidFill>
              </a:rPr>
              <a:t>Authored synthetic fixture · manuscript p. 4</a:t>
            </a:r>
          </a:p>
        </p:txBody>
      </p:sp>
      <p:sp>
        <p:nvSpPr>
          <p:cNvPr id="175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30B9408D-9161-47C0-99BD-2306C55B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7657130"/>
            <a:ext cx="9695791" cy="390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42" b="1">
                <a:solidFill>
                  <a:srgbClr val="3E5C78"/>
                </a:solidFill>
              </a:defRPr>
            </a:pPr>
            <a:r>
              <a:rPr sz="2542" b="1">
                <a:solidFill>
                  <a:srgbClr val="3E5C78"/>
                </a:solidFill>
              </a:rPr>
              <a:t>Supported conclusion</a:t>
            </a:r>
          </a:p>
        </p:txBody>
      </p:sp>
      <p:sp>
        <p:nvSpPr>
          <p:cNvPr id="176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22973C74-5AE9-47C1-AFBA-DF8BEF5E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8107807"/>
            <a:ext cx="2223496" cy="67265"/>
          </a:xfrm>
          <a:prstGeom xmlns:a="http://schemas.openxmlformats.org/drawingml/2006/main" prst="roundRect">
            <a:avLst>
              <a:gd name="adj" fmla="val 28321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802BC679-5E57-42C7-A087-3B592E74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883" y="18262517"/>
            <a:ext cx="9695791" cy="2219753"/>
          </a:xfrm>
          <a:prstGeom xmlns:a="http://schemas.openxmlformats.org/drawingml/2006/main" prst="roundRect">
            <a:avLst>
              <a:gd name="adj" fmla="val 51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0180">
            <a:solidFill>
              <a:srgbClr val="DDE5E7"/>
            </a:solidFill>
            <a:prstDash val="solid"/>
          </a:ln>
        </p:spPr>
      </p:sp>
      <p:sp>
        <p:nvSpPr>
          <p:cNvPr id="178" name="conclusion">
            <a:extLst xmlns:a="http://schemas.openxmlformats.org/drawingml/2006/main">
              <a:ext uri="{FF2B5EF4-FFF2-40B4-BE49-F238E27FC236}">
                <a16:creationId xmlns:a16="http://schemas.microsoft.com/office/drawing/2014/main" id="{CB70AEF9-E241-4D4F-AB30-A81833F1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69970" y="18484492"/>
            <a:ext cx="9237616" cy="1547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13">
                <a:solidFill>
                  <a:srgbClr val="293F55"/>
                </a:solidFill>
              </a:defRPr>
            </a:pPr>
            <a:r>
              <a:rPr sz="2013">
                <a:solidFill>
                  <a:srgbClr val="293F55"/>
                </a:solidFill>
              </a:rPr>
              <a:t>AURORA-12 is a controlled, rights-safe fixture for testing evidence-linked scientific communication. It supports no inference about real biology, prognosis, treatment or clinical utility. Every number, cohort, feature, author and institution is fictional.</a:t>
            </a:r>
          </a:p>
        </p:txBody>
      </p:sp>
      <p:sp>
        <p:nvSpPr>
          <p:cNvPr id="179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964335A6-3D50-4A68-9FDE-00D7F096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69970" y="20125765"/>
            <a:ext cx="9237616" cy="2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24" i="1">
                <a:solidFill>
                  <a:srgbClr val="487AA1"/>
                </a:solidFill>
              </a:defRPr>
            </a:pPr>
            <a:r>
              <a:rPr sz="1324" i="1">
                <a:solidFill>
                  <a:srgbClr val="487AA1"/>
                </a:solidFill>
              </a:rPr>
              <a:t>Evidence: Discussion and Conclusion, p. 5</a:t>
            </a:r>
          </a:p>
        </p:txBody>
      </p:sp>
      <p:sp>
        <p:nvSpPr>
          <p:cNvPr id="180" name="footer-band">
            <a:extLst xmlns:a="http://schemas.openxmlformats.org/drawingml/2006/main">
              <a:ext uri="{FF2B5EF4-FFF2-40B4-BE49-F238E27FC236}">
                <a16:creationId xmlns:a16="http://schemas.microsoft.com/office/drawing/2014/main" id="{759F4529-F3FE-4C8C-A17D-4B3C087A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717699"/>
            <a:ext cx="30279975" cy="66592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80E9FDBC-35BA-48F8-9410-AAD38E1D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1" y="20899315"/>
            <a:ext cx="20213601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77">
                <a:solidFill>
                  <a:srgbClr val="FFFFFF"/>
                </a:solidFill>
              </a:defRPr>
            </a:pPr>
            <a:r>
              <a:rPr sz="1377">
                <a:solidFill>
                  <a:srgbClr val="FFFFFF"/>
                </a:solidFill>
              </a:rPr>
              <a:t>Original synthetic fixture · CC0-1.0 · evidence coverage 100% · local-only processing</a:t>
            </a:r>
          </a:p>
        </p:txBody>
      </p:sp>
      <p:sp>
        <p:nvSpPr>
          <p:cNvPr id="182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F79395B2-312B-4F6D-8CA0-CA3CA579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22146" y="20899315"/>
            <a:ext cx="8287577" cy="28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24" b="1">
                <a:solidFill>
                  <a:srgbClr val="E5BC6C"/>
                </a:solidFill>
              </a:defRPr>
            </a:pPr>
            <a:r>
              <a:rPr sz="1324" b="1">
                <a:solidFill>
                  <a:srgbClr val="E5BC6C"/>
                </a:solidFill>
              </a:rPr>
              <a:t>Approvals current · synthetic boundary locked · editable logo placeholder</a:t>
            </a:r>
          </a:p>
        </p:txBody>
      </p:sp>
    </p:spTree>
    <p:extLst>
      <p:ext uri="{BB962C8B-B14F-4D97-AF65-F5344CB8AC3E}">
        <p14:creationId xmlns:p14="http://schemas.microsoft.com/office/powerpoint/2010/main" val="7064519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2026-08-08T08:53:40.5040000Z</dcterms:created>
  <dcterms:modified xsi:type="dcterms:W3CDTF">2026-08-08T08:53:40.5040000Z</dcterms:modified>
</coreProperties>
</file>