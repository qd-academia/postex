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082530c11443f" /><Relationship Type="http://schemas.openxmlformats.org/officeDocument/2006/relationships/extended-properties" Target="/docProps/app.xml" Id="R17b6cd04f10b4e85" /><Relationship Type="http://schemas.openxmlformats.org/officeDocument/2006/relationships/officeDocument" Target="/ppt/presentation.xml" Id="R0a34186c65af48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3223c92214bb1"/>
  </p:sldMasterIdLst>
  <p:notesMasterIdLst>
    <p:notesMasterId xmlns:r="http://schemas.openxmlformats.org/officeDocument/2006/relationships" r:id="Rf9c328fcccca4f4a"/>
  </p:notesMasterIdLst>
  <p:sldIdLst>
    <p:sldId xmlns:r="http://schemas.openxmlformats.org/officeDocument/2006/relationships" id="256" r:id="R622c2f03a5b040f4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9f6de5a144f70" /><Relationship Type="http://schemas.openxmlformats.org/officeDocument/2006/relationships/slideMaster" Target="/ppt/slideMasters/slideMaster1.xml" Id="Rfec3223c92214bb1" /><Relationship Type="http://schemas.openxmlformats.org/officeDocument/2006/relationships/notesMaster" Target="/ppt/notesMasters/notesMaster1.xml" Id="Rf9c328fcccca4f4a" /><Relationship Type="http://schemas.openxmlformats.org/officeDocument/2006/relationships/presProps" Target="/ppt/presProps.xml" Id="Re6b4d50a6b6e42e1" /><Relationship Type="http://schemas.openxmlformats.org/officeDocument/2006/relationships/tableStyles" Target="/ppt/tableStyles.xml" Id="R2547855e038d40d4" /><Relationship Type="http://schemas.openxmlformats.org/officeDocument/2006/relationships/slide" Target="/ppt/slides/slide1.xml" Id="R622c2f03a5b0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a4fc10c10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a7dc2740b45a0" /><Relationship Type="http://schemas.openxmlformats.org/officeDocument/2006/relationships/notesMaster" Target="/ppt/notesMasters/notesMaster1.xml" Id="R4f4b876907be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sha256:c9834f95586be531d5d8667465b8d0525469d9de17a3f361d76c34ad4677c4ca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2febf7cd14a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56db0e7bc4312" /><Relationship Type="http://schemas.openxmlformats.org/officeDocument/2006/relationships/slideLayout" Target="/ppt/slideLayouts/slideLayout1.xml" Id="R11b0e1cb7f80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0e1cb7f80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0a95507ac480c" /><Relationship Type="http://schemas.openxmlformats.org/officeDocument/2006/relationships/image" Target="/ppt/media/image.png" Id="Rdbcf6dbce3ae4cc6" /><Relationship Type="http://schemas.openxmlformats.org/officeDocument/2006/relationships/image" Target="/ppt/media/image.svg" Id="R83ace09a84c64eae" /><Relationship Type="http://schemas.openxmlformats.org/officeDocument/2006/relationships/image" Target="/ppt/media/image2.png" Id="Rc6f2dd9910ac4a14" /><Relationship Type="http://schemas.openxmlformats.org/officeDocument/2006/relationships/image" Target="/ppt/media/image2.svg" Id="R000bb6c2e97940ed" /><Relationship Type="http://schemas.openxmlformats.org/officeDocument/2006/relationships/image" Target="/ppt/media/image3.png" Id="Rce8294681876486d" /><Relationship Type="http://schemas.openxmlformats.org/officeDocument/2006/relationships/image" Target="/ppt/media/image3.svg" Id="R798c564ec73e49ee" /><Relationship Type="http://schemas.openxmlformats.org/officeDocument/2006/relationships/image" Target="/ppt/media/image4.png" Id="Rb99b67dda1e14bc1" /><Relationship Type="http://schemas.openxmlformats.org/officeDocument/2006/relationships/image" Target="/ppt/media/image4.svg" Id="R2e7300e9fa594663" /><Relationship Type="http://schemas.openxmlformats.org/officeDocument/2006/relationships/notesSlide" Target="/ppt/notesSlides/notesSlide1.xml" Id="R899f72fdfa3d4d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BCFCFFA-D9FB-4BAB-8A00-39E3CE4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cape-gradient-1">
            <a:extLst xmlns:a="http://schemas.openxmlformats.org/drawingml/2006/main">
              <a:ext uri="{FF2B5EF4-FFF2-40B4-BE49-F238E27FC236}">
                <a16:creationId xmlns:a16="http://schemas.microsoft.com/office/drawing/2014/main" id="{8EEAE536-6F06-43DC-88FA-330A5C6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cape-gradient-2">
            <a:extLst xmlns:a="http://schemas.openxmlformats.org/drawingml/2006/main">
              <a:ext uri="{FF2B5EF4-FFF2-40B4-BE49-F238E27FC236}">
                <a16:creationId xmlns:a16="http://schemas.microsoft.com/office/drawing/2014/main" id="{8FEF2BB6-910B-4443-B591-FF49230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49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p-cape-gradient-3">
            <a:extLst xmlns:a="http://schemas.openxmlformats.org/drawingml/2006/main">
              <a:ext uri="{FF2B5EF4-FFF2-40B4-BE49-F238E27FC236}">
                <a16:creationId xmlns:a16="http://schemas.microsoft.com/office/drawing/2014/main" id="{796CF093-720C-4B00-8351-BC4713F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98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cape-gradient-4">
            <a:extLst xmlns:a="http://schemas.openxmlformats.org/drawingml/2006/main">
              <a:ext uri="{FF2B5EF4-FFF2-40B4-BE49-F238E27FC236}">
                <a16:creationId xmlns:a16="http://schemas.microsoft.com/office/drawing/2014/main" id="{BCF4955D-159B-4651-84BD-C2980773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48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p-cape-gradient-5">
            <a:extLst xmlns:a="http://schemas.openxmlformats.org/drawingml/2006/main">
              <a:ext uri="{FF2B5EF4-FFF2-40B4-BE49-F238E27FC236}">
                <a16:creationId xmlns:a16="http://schemas.microsoft.com/office/drawing/2014/main" id="{A61364DF-AF16-4484-9E34-C98AA68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997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cape-gradient-6">
            <a:extLst xmlns:a="http://schemas.openxmlformats.org/drawingml/2006/main">
              <a:ext uri="{FF2B5EF4-FFF2-40B4-BE49-F238E27FC236}">
                <a16:creationId xmlns:a16="http://schemas.microsoft.com/office/drawing/2014/main" id="{57A1797A-DE24-46B3-A7F1-A38645C8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246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cape-gradient-7">
            <a:extLst xmlns:a="http://schemas.openxmlformats.org/drawingml/2006/main">
              <a:ext uri="{FF2B5EF4-FFF2-40B4-BE49-F238E27FC236}">
                <a16:creationId xmlns:a16="http://schemas.microsoft.com/office/drawing/2014/main" id="{A42409EB-5745-446A-AA25-211844B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495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cape-gradient-8">
            <a:extLst xmlns:a="http://schemas.openxmlformats.org/drawingml/2006/main">
              <a:ext uri="{FF2B5EF4-FFF2-40B4-BE49-F238E27FC236}">
                <a16:creationId xmlns:a16="http://schemas.microsoft.com/office/drawing/2014/main" id="{F1DD475C-C762-4F9C-B0F2-C7542723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745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-cape-gradient-9">
            <a:extLst xmlns:a="http://schemas.openxmlformats.org/drawingml/2006/main">
              <a:ext uri="{FF2B5EF4-FFF2-40B4-BE49-F238E27FC236}">
                <a16:creationId xmlns:a16="http://schemas.microsoft.com/office/drawing/2014/main" id="{696A771A-9A63-4BD4-8D26-B886535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94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cape-gradient-10">
            <a:extLst xmlns:a="http://schemas.openxmlformats.org/drawingml/2006/main">
              <a:ext uri="{FF2B5EF4-FFF2-40B4-BE49-F238E27FC236}">
                <a16:creationId xmlns:a16="http://schemas.microsoft.com/office/drawing/2014/main" id="{0E49C73F-070C-48EC-93F7-C7215C7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243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cape-gradient-11">
            <a:extLst xmlns:a="http://schemas.openxmlformats.org/drawingml/2006/main">
              <a:ext uri="{FF2B5EF4-FFF2-40B4-BE49-F238E27FC236}">
                <a16:creationId xmlns:a16="http://schemas.microsoft.com/office/drawing/2014/main" id="{721BC83F-AF74-44EA-BC55-EFE31F1C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492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pe-gradient-12">
            <a:extLst xmlns:a="http://schemas.openxmlformats.org/drawingml/2006/main">
              <a:ext uri="{FF2B5EF4-FFF2-40B4-BE49-F238E27FC236}">
                <a16:creationId xmlns:a16="http://schemas.microsoft.com/office/drawing/2014/main" id="{6EB136B3-6356-46F0-BD69-5854E81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741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-cape-gradient-13">
            <a:extLst xmlns:a="http://schemas.openxmlformats.org/drawingml/2006/main">
              <a:ext uri="{FF2B5EF4-FFF2-40B4-BE49-F238E27FC236}">
                <a16:creationId xmlns:a16="http://schemas.microsoft.com/office/drawing/2014/main" id="{33DFB657-B605-48A6-984D-718FD0E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991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cape-gradient-14">
            <a:extLst xmlns:a="http://schemas.openxmlformats.org/drawingml/2006/main">
              <a:ext uri="{FF2B5EF4-FFF2-40B4-BE49-F238E27FC236}">
                <a16:creationId xmlns:a16="http://schemas.microsoft.com/office/drawing/2014/main" id="{BF868C3C-A6AD-4C03-817F-0E68AD3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240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cape-gradient-15">
            <a:extLst xmlns:a="http://schemas.openxmlformats.org/drawingml/2006/main">
              <a:ext uri="{FF2B5EF4-FFF2-40B4-BE49-F238E27FC236}">
                <a16:creationId xmlns:a16="http://schemas.microsoft.com/office/drawing/2014/main" id="{F297EAA5-C7B7-4A69-965E-5A86716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7489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pe-gradient-16">
            <a:extLst xmlns:a="http://schemas.openxmlformats.org/drawingml/2006/main">
              <a:ext uri="{FF2B5EF4-FFF2-40B4-BE49-F238E27FC236}">
                <a16:creationId xmlns:a16="http://schemas.microsoft.com/office/drawing/2014/main" id="{FDCCB92A-50B5-4496-8C00-B98F469A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738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-cape-gradient-17">
            <a:extLst xmlns:a="http://schemas.openxmlformats.org/drawingml/2006/main">
              <a:ext uri="{FF2B5EF4-FFF2-40B4-BE49-F238E27FC236}">
                <a16:creationId xmlns:a16="http://schemas.microsoft.com/office/drawing/2014/main" id="{B822BED2-46B0-441F-A16B-A76A230E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pe-gradient-18">
            <a:extLst xmlns:a="http://schemas.openxmlformats.org/drawingml/2006/main">
              <a:ext uri="{FF2B5EF4-FFF2-40B4-BE49-F238E27FC236}">
                <a16:creationId xmlns:a16="http://schemas.microsoft.com/office/drawing/2014/main" id="{25D0CC36-0AE5-42F5-8C3E-9D7815F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237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p-cape-gradient-19">
            <a:extLst xmlns:a="http://schemas.openxmlformats.org/drawingml/2006/main">
              <a:ext uri="{FF2B5EF4-FFF2-40B4-BE49-F238E27FC236}">
                <a16:creationId xmlns:a16="http://schemas.microsoft.com/office/drawing/2014/main" id="{9FF56A38-8F09-4F8B-98D0-67B03C8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2486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pe-gradient-20">
            <a:extLst xmlns:a="http://schemas.openxmlformats.org/drawingml/2006/main">
              <a:ext uri="{FF2B5EF4-FFF2-40B4-BE49-F238E27FC236}">
                <a16:creationId xmlns:a16="http://schemas.microsoft.com/office/drawing/2014/main" id="{A2902B86-399E-43AF-BD2A-0A7D3F7D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735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p-cape-gradient-21">
            <a:extLst xmlns:a="http://schemas.openxmlformats.org/drawingml/2006/main">
              <a:ext uri="{FF2B5EF4-FFF2-40B4-BE49-F238E27FC236}">
                <a16:creationId xmlns:a16="http://schemas.microsoft.com/office/drawing/2014/main" id="{F7E66211-6F07-4FBD-A935-8A541A0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984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pe-gradient-22">
            <a:extLst xmlns:a="http://schemas.openxmlformats.org/drawingml/2006/main">
              <a:ext uri="{FF2B5EF4-FFF2-40B4-BE49-F238E27FC236}">
                <a16:creationId xmlns:a16="http://schemas.microsoft.com/office/drawing/2014/main" id="{F10A9ADD-8F5F-4C1D-A420-C0B530CD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1234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cape-gradient-23">
            <a:extLst xmlns:a="http://schemas.openxmlformats.org/drawingml/2006/main">
              <a:ext uri="{FF2B5EF4-FFF2-40B4-BE49-F238E27FC236}">
                <a16:creationId xmlns:a16="http://schemas.microsoft.com/office/drawing/2014/main" id="{97300332-9E99-4BE3-866B-AE46AEB8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483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p-cape-gradient-24">
            <a:extLst xmlns:a="http://schemas.openxmlformats.org/drawingml/2006/main">
              <a:ext uri="{FF2B5EF4-FFF2-40B4-BE49-F238E27FC236}">
                <a16:creationId xmlns:a16="http://schemas.microsoft.com/office/drawing/2014/main" id="{66BCB010-D69B-4AEB-A861-CB898648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3732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cape-gradient-25">
            <a:extLst xmlns:a="http://schemas.openxmlformats.org/drawingml/2006/main">
              <a:ext uri="{FF2B5EF4-FFF2-40B4-BE49-F238E27FC236}">
                <a16:creationId xmlns:a16="http://schemas.microsoft.com/office/drawing/2014/main" id="{0EAE7806-825B-414F-A2D5-EBFC18D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9981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pe-gradient-26">
            <a:extLst xmlns:a="http://schemas.openxmlformats.org/drawingml/2006/main">
              <a:ext uri="{FF2B5EF4-FFF2-40B4-BE49-F238E27FC236}">
                <a16:creationId xmlns:a16="http://schemas.microsoft.com/office/drawing/2014/main" id="{21A2091E-C069-448B-862B-3885AF6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6230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-cape-gradient-27">
            <a:extLst xmlns:a="http://schemas.openxmlformats.org/drawingml/2006/main">
              <a:ext uri="{FF2B5EF4-FFF2-40B4-BE49-F238E27FC236}">
                <a16:creationId xmlns:a16="http://schemas.microsoft.com/office/drawing/2014/main" id="{92F3DF21-B94A-43C4-8C64-1861A98E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480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p-cape-gradient-28">
            <a:extLst xmlns:a="http://schemas.openxmlformats.org/drawingml/2006/main">
              <a:ext uri="{FF2B5EF4-FFF2-40B4-BE49-F238E27FC236}">
                <a16:creationId xmlns:a16="http://schemas.microsoft.com/office/drawing/2014/main" id="{3A371CC9-A216-4072-B582-67F91B92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8729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-cape-gradient-29">
            <a:extLst xmlns:a="http://schemas.openxmlformats.org/drawingml/2006/main">
              <a:ext uri="{FF2B5EF4-FFF2-40B4-BE49-F238E27FC236}">
                <a16:creationId xmlns:a16="http://schemas.microsoft.com/office/drawing/2014/main" id="{3C25150D-FED0-4448-AE03-EB018F1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4978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op-cape-gradient-30">
            <a:extLst xmlns:a="http://schemas.openxmlformats.org/drawingml/2006/main">
              <a:ext uri="{FF2B5EF4-FFF2-40B4-BE49-F238E27FC236}">
                <a16:creationId xmlns:a16="http://schemas.microsoft.com/office/drawing/2014/main" id="{12371C64-5B8E-4CCE-A12C-4A5CDE3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227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p-cape-gradient-31">
            <a:extLst xmlns:a="http://schemas.openxmlformats.org/drawingml/2006/main">
              <a:ext uri="{FF2B5EF4-FFF2-40B4-BE49-F238E27FC236}">
                <a16:creationId xmlns:a16="http://schemas.microsoft.com/office/drawing/2014/main" id="{08D856A6-3765-441E-A172-D97C7D0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477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pe-gradient-32">
            <a:extLst xmlns:a="http://schemas.openxmlformats.org/drawingml/2006/main">
              <a:ext uri="{FF2B5EF4-FFF2-40B4-BE49-F238E27FC236}">
                <a16:creationId xmlns:a16="http://schemas.microsoft.com/office/drawing/2014/main" id="{9DF2E961-80C5-4908-9D92-00A53F0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3726" y="0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der-cape-gradient-1">
            <a:extLst xmlns:a="http://schemas.openxmlformats.org/drawingml/2006/main">
              <a:ext uri="{FF2B5EF4-FFF2-40B4-BE49-F238E27FC236}">
                <a16:creationId xmlns:a16="http://schemas.microsoft.com/office/drawing/2014/main" id="{831925E6-9421-46D0-8D91-323E1C8B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der-cape-gradient-2">
            <a:extLst xmlns:a="http://schemas.openxmlformats.org/drawingml/2006/main">
              <a:ext uri="{FF2B5EF4-FFF2-40B4-BE49-F238E27FC236}">
                <a16:creationId xmlns:a16="http://schemas.microsoft.com/office/drawing/2014/main" id="{4AA3330C-3703-436C-8EF3-29708478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49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der-cape-gradient-3">
            <a:extLst xmlns:a="http://schemas.openxmlformats.org/drawingml/2006/main">
              <a:ext uri="{FF2B5EF4-FFF2-40B4-BE49-F238E27FC236}">
                <a16:creationId xmlns:a16="http://schemas.microsoft.com/office/drawing/2014/main" id="{CD3ECEAB-1467-4BC9-80AE-4A066EF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98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der-cape-gradient-4">
            <a:extLst xmlns:a="http://schemas.openxmlformats.org/drawingml/2006/main">
              <a:ext uri="{FF2B5EF4-FFF2-40B4-BE49-F238E27FC236}">
                <a16:creationId xmlns:a16="http://schemas.microsoft.com/office/drawing/2014/main" id="{C2162618-2667-40AF-9B42-2F527C4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48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der-cape-gradient-5">
            <a:extLst xmlns:a="http://schemas.openxmlformats.org/drawingml/2006/main">
              <a:ext uri="{FF2B5EF4-FFF2-40B4-BE49-F238E27FC236}">
                <a16:creationId xmlns:a16="http://schemas.microsoft.com/office/drawing/2014/main" id="{43B27A7A-7468-4EA7-8A69-F8D8BDE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997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der-cape-gradient-6">
            <a:extLst xmlns:a="http://schemas.openxmlformats.org/drawingml/2006/main">
              <a:ext uri="{FF2B5EF4-FFF2-40B4-BE49-F238E27FC236}">
                <a16:creationId xmlns:a16="http://schemas.microsoft.com/office/drawing/2014/main" id="{929FE853-A286-44A3-A724-13A97017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246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der-cape-gradient-7">
            <a:extLst xmlns:a="http://schemas.openxmlformats.org/drawingml/2006/main">
              <a:ext uri="{FF2B5EF4-FFF2-40B4-BE49-F238E27FC236}">
                <a16:creationId xmlns:a16="http://schemas.microsoft.com/office/drawing/2014/main" id="{D7157310-263D-4535-A1C7-9590E616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495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der-cape-gradient-8">
            <a:extLst xmlns:a="http://schemas.openxmlformats.org/drawingml/2006/main">
              <a:ext uri="{FF2B5EF4-FFF2-40B4-BE49-F238E27FC236}">
                <a16:creationId xmlns:a16="http://schemas.microsoft.com/office/drawing/2014/main" id="{5513A952-1F26-43F9-AF83-A818F66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745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er-cape-gradient-9">
            <a:extLst xmlns:a="http://schemas.openxmlformats.org/drawingml/2006/main">
              <a:ext uri="{FF2B5EF4-FFF2-40B4-BE49-F238E27FC236}">
                <a16:creationId xmlns:a16="http://schemas.microsoft.com/office/drawing/2014/main" id="{F2784989-11E2-47A5-B37A-7FECD1BD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94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der-cape-gradient-10">
            <a:extLst xmlns:a="http://schemas.openxmlformats.org/drawingml/2006/main">
              <a:ext uri="{FF2B5EF4-FFF2-40B4-BE49-F238E27FC236}">
                <a16:creationId xmlns:a16="http://schemas.microsoft.com/office/drawing/2014/main" id="{74D13511-1941-437A-95CD-1C1429FE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243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der-cape-gradient-11">
            <a:extLst xmlns:a="http://schemas.openxmlformats.org/drawingml/2006/main">
              <a:ext uri="{FF2B5EF4-FFF2-40B4-BE49-F238E27FC236}">
                <a16:creationId xmlns:a16="http://schemas.microsoft.com/office/drawing/2014/main" id="{3FA2615E-2DC1-449B-AB87-DA5460B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492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der-cape-gradient-12">
            <a:extLst xmlns:a="http://schemas.openxmlformats.org/drawingml/2006/main">
              <a:ext uri="{FF2B5EF4-FFF2-40B4-BE49-F238E27FC236}">
                <a16:creationId xmlns:a16="http://schemas.microsoft.com/office/drawing/2014/main" id="{573EA956-C117-4F52-81A1-DAE3950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741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der-cape-gradient-13">
            <a:extLst xmlns:a="http://schemas.openxmlformats.org/drawingml/2006/main">
              <a:ext uri="{FF2B5EF4-FFF2-40B4-BE49-F238E27FC236}">
                <a16:creationId xmlns:a16="http://schemas.microsoft.com/office/drawing/2014/main" id="{60D23A04-CB57-460C-9630-FB57B49C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991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cape-gradient-14">
            <a:extLst xmlns:a="http://schemas.openxmlformats.org/drawingml/2006/main">
              <a:ext uri="{FF2B5EF4-FFF2-40B4-BE49-F238E27FC236}">
                <a16:creationId xmlns:a16="http://schemas.microsoft.com/office/drawing/2014/main" id="{E40A1576-4BD0-41AB-8658-6480607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240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der-cape-gradient-15">
            <a:extLst xmlns:a="http://schemas.openxmlformats.org/drawingml/2006/main">
              <a:ext uri="{FF2B5EF4-FFF2-40B4-BE49-F238E27FC236}">
                <a16:creationId xmlns:a16="http://schemas.microsoft.com/office/drawing/2014/main" id="{01B5965B-7D49-4B4A-A67B-7B76A65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7489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der-cape-gradient-16">
            <a:extLst xmlns:a="http://schemas.openxmlformats.org/drawingml/2006/main">
              <a:ext uri="{FF2B5EF4-FFF2-40B4-BE49-F238E27FC236}">
                <a16:creationId xmlns:a16="http://schemas.microsoft.com/office/drawing/2014/main" id="{3B80BE65-9263-4EB5-BED2-E567D3ED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738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der-cape-gradient-17">
            <a:extLst xmlns:a="http://schemas.openxmlformats.org/drawingml/2006/main">
              <a:ext uri="{FF2B5EF4-FFF2-40B4-BE49-F238E27FC236}">
                <a16:creationId xmlns:a16="http://schemas.microsoft.com/office/drawing/2014/main" id="{EC51ECFA-E7D2-4C57-8E57-E103CE2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der-cape-gradient-18">
            <a:extLst xmlns:a="http://schemas.openxmlformats.org/drawingml/2006/main">
              <a:ext uri="{FF2B5EF4-FFF2-40B4-BE49-F238E27FC236}">
                <a16:creationId xmlns:a16="http://schemas.microsoft.com/office/drawing/2014/main" id="{E4047515-0E49-4393-AC3B-D83220A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237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der-cape-gradient-19">
            <a:extLst xmlns:a="http://schemas.openxmlformats.org/drawingml/2006/main">
              <a:ext uri="{FF2B5EF4-FFF2-40B4-BE49-F238E27FC236}">
                <a16:creationId xmlns:a16="http://schemas.microsoft.com/office/drawing/2014/main" id="{CB6FC755-C43D-4320-9DA9-A9F4B4E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2486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der-cape-gradient-20">
            <a:extLst xmlns:a="http://schemas.openxmlformats.org/drawingml/2006/main">
              <a:ext uri="{FF2B5EF4-FFF2-40B4-BE49-F238E27FC236}">
                <a16:creationId xmlns:a16="http://schemas.microsoft.com/office/drawing/2014/main" id="{4DA8D4D1-9A1A-4F02-BF3A-8088EA0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735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der-cape-gradient-21">
            <a:extLst xmlns:a="http://schemas.openxmlformats.org/drawingml/2006/main">
              <a:ext uri="{FF2B5EF4-FFF2-40B4-BE49-F238E27FC236}">
                <a16:creationId xmlns:a16="http://schemas.microsoft.com/office/drawing/2014/main" id="{78B2C59B-1621-4EA2-B694-7B467D76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984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cape-gradient-22">
            <a:extLst xmlns:a="http://schemas.openxmlformats.org/drawingml/2006/main">
              <a:ext uri="{FF2B5EF4-FFF2-40B4-BE49-F238E27FC236}">
                <a16:creationId xmlns:a16="http://schemas.microsoft.com/office/drawing/2014/main" id="{66E280A4-0224-4921-B7AC-1D07225B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1234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der-cape-gradient-23">
            <a:extLst xmlns:a="http://schemas.openxmlformats.org/drawingml/2006/main">
              <a:ext uri="{FF2B5EF4-FFF2-40B4-BE49-F238E27FC236}">
                <a16:creationId xmlns:a16="http://schemas.microsoft.com/office/drawing/2014/main" id="{1F231307-F656-4068-BE56-702DB9F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483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der-cape-gradient-24">
            <a:extLst xmlns:a="http://schemas.openxmlformats.org/drawingml/2006/main">
              <a:ext uri="{FF2B5EF4-FFF2-40B4-BE49-F238E27FC236}">
                <a16:creationId xmlns:a16="http://schemas.microsoft.com/office/drawing/2014/main" id="{979FA790-44A2-473F-962A-1D342D70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3732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er-cape-gradient-25">
            <a:extLst xmlns:a="http://schemas.openxmlformats.org/drawingml/2006/main">
              <a:ext uri="{FF2B5EF4-FFF2-40B4-BE49-F238E27FC236}">
                <a16:creationId xmlns:a16="http://schemas.microsoft.com/office/drawing/2014/main" id="{40D0357A-10F1-4B4B-B28C-BDDA780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9981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eader-cape-gradient-26">
            <a:extLst xmlns:a="http://schemas.openxmlformats.org/drawingml/2006/main">
              <a:ext uri="{FF2B5EF4-FFF2-40B4-BE49-F238E27FC236}">
                <a16:creationId xmlns:a16="http://schemas.microsoft.com/office/drawing/2014/main" id="{4BE0EE22-E986-4D76-A4F1-0F48BAC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6230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eader-cape-gradient-27">
            <a:extLst xmlns:a="http://schemas.openxmlformats.org/drawingml/2006/main">
              <a:ext uri="{FF2B5EF4-FFF2-40B4-BE49-F238E27FC236}">
                <a16:creationId xmlns:a16="http://schemas.microsoft.com/office/drawing/2014/main" id="{D613DE1A-8CC9-4570-B657-C847890B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480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cape-gradient-28">
            <a:extLst xmlns:a="http://schemas.openxmlformats.org/drawingml/2006/main">
              <a:ext uri="{FF2B5EF4-FFF2-40B4-BE49-F238E27FC236}">
                <a16:creationId xmlns:a16="http://schemas.microsoft.com/office/drawing/2014/main" id="{AAFF434C-F016-4FB5-ACCD-EEB8820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8729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eader-cape-gradient-29">
            <a:extLst xmlns:a="http://schemas.openxmlformats.org/drawingml/2006/main">
              <a:ext uri="{FF2B5EF4-FFF2-40B4-BE49-F238E27FC236}">
                <a16:creationId xmlns:a16="http://schemas.microsoft.com/office/drawing/2014/main" id="{45746FED-C5EB-44E1-BB50-678DF34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4978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eader-cape-gradient-30">
            <a:extLst xmlns:a="http://schemas.openxmlformats.org/drawingml/2006/main">
              <a:ext uri="{FF2B5EF4-FFF2-40B4-BE49-F238E27FC236}">
                <a16:creationId xmlns:a16="http://schemas.microsoft.com/office/drawing/2014/main" id="{66455485-EA0E-42D5-8B29-049F7E8B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227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eader-cape-gradient-31">
            <a:extLst xmlns:a="http://schemas.openxmlformats.org/drawingml/2006/main">
              <a:ext uri="{FF2B5EF4-FFF2-40B4-BE49-F238E27FC236}">
                <a16:creationId xmlns:a16="http://schemas.microsoft.com/office/drawing/2014/main" id="{E5D065F9-C684-4174-BAB3-23D3BAEC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477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eader-cape-gradient-32">
            <a:extLst xmlns:a="http://schemas.openxmlformats.org/drawingml/2006/main">
              <a:ext uri="{FF2B5EF4-FFF2-40B4-BE49-F238E27FC236}">
                <a16:creationId xmlns:a16="http://schemas.microsoft.com/office/drawing/2014/main" id="{15D1C70A-ACBF-42F0-8450-3698C61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3726" y="3295998"/>
            <a:ext cx="952987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8219A290-9D7C-49C7-A6EE-22E40518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67" name="authors">
            <a:extLst xmlns:a="http://schemas.openxmlformats.org/drawingml/2006/main">
              <a:ext uri="{FF2B5EF4-FFF2-40B4-BE49-F238E27FC236}">
                <a16:creationId xmlns:a16="http://schemas.microsoft.com/office/drawing/2014/main" id="{29884C9D-0BF5-4948-86DD-FC957F06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6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1F9CBB82-0016-48DD-BF03-B70F8CDB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2EE"/>
                </a:solidFill>
              </a:defRPr>
            </a:pPr>
            <a:r>
              <a:rPr sz="1536">
                <a:solidFill>
                  <a:srgbClr val="F6F2EE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9" name="citation">
            <a:extLst xmlns:a="http://schemas.openxmlformats.org/drawingml/2006/main">
              <a:ext uri="{FF2B5EF4-FFF2-40B4-BE49-F238E27FC236}">
                <a16:creationId xmlns:a16="http://schemas.microsoft.com/office/drawing/2014/main" id="{7A8FE7DB-6E17-4CA3-AE34-36AD239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5BC6C"/>
                </a:solidFill>
              </a:defRPr>
            </a:pPr>
            <a:r>
              <a:rPr sz="1377" b="1">
                <a:solidFill>
                  <a:srgbClr val="E5BC6C"/>
                </a:solidFill>
              </a:rPr>
              <a:t>POSTEX-SYNTH-2026-001 · fully synthetic · CC0-1.0 · no DOI</a:t>
            </a:r>
          </a:p>
        </p:txBody>
      </p:sp>
      <p:sp>
        <p:nvSpPr>
          <p:cNvPr id="70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FFCF3434-20C0-44C7-8E35-02B0D791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DE5E7"/>
            </a:solidFill>
            <a:prstDash val="solid"/>
          </a:ln>
        </p:spPr>
      </p:sp>
      <p:sp>
        <p:nvSpPr>
          <p:cNvPr id="71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0844A30A-F311-4D8C-ADEC-4696D2E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3E5C78"/>
                </a:solidFill>
              </a:defRPr>
            </a:pPr>
            <a:r>
              <a:rPr sz="1430" b="1">
                <a:solidFill>
                  <a:srgbClr val="3E5C78"/>
                </a:solidFill>
              </a:rPr>
              <a:t>Fictional lab logo</a:t>
            </a:r>
          </a:p>
        </p:txBody>
      </p:sp>
      <p:sp>
        <p:nvSpPr>
          <p:cNvPr id="72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DA2B4902-B9E1-4926-8CCC-D91C57DB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E0C1F24C-85C9-4076-A074-865576D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3E5C78"/>
                </a:solidFill>
              </a:defRPr>
            </a:pPr>
            <a:r>
              <a:rPr sz="3602" b="1">
                <a:solidFill>
                  <a:srgbClr val="3E5C78"/>
                </a:solidFill>
              </a:rPr>
              <a:t>1,240</a:t>
            </a:r>
          </a:p>
        </p:txBody>
      </p:sp>
      <p:sp>
        <p:nvSpPr>
          <p:cNvPr id="74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0B357CD-6D50-4838-BC84-1F0EF334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synthetic profiles</a:t>
            </a:r>
          </a:p>
        </p:txBody>
      </p:sp>
      <p:sp>
        <p:nvSpPr>
          <p:cNvPr id="75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9B0E1059-4B2C-4FC0-AD09-7E81277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487AA1"/>
                </a:solidFill>
              </a:defRPr>
            </a:pPr>
            <a:r>
              <a:rPr sz="3602" b="1">
                <a:solidFill>
                  <a:srgbClr val="487AA1"/>
                </a:solidFill>
              </a:rPr>
              <a:t>12</a:t>
            </a:r>
          </a:p>
        </p:txBody>
      </p:sp>
      <p:sp>
        <p:nvSpPr>
          <p:cNvPr id="76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6AC37CB6-B862-4BF4-91DF-5C4C3FE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anonymous model features</a:t>
            </a:r>
          </a:p>
        </p:txBody>
      </p:sp>
      <p:sp>
        <p:nvSpPr>
          <p:cNvPr id="77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9F5D31D8-6233-471D-9614-6713329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5BC6C"/>
                </a:solidFill>
              </a:defRPr>
            </a:pPr>
            <a:r>
              <a:rPr sz="3602" b="1">
                <a:solidFill>
                  <a:srgbClr val="E5BC6C"/>
                </a:solidFill>
              </a:rPr>
              <a:t>4</a:t>
            </a:r>
          </a:p>
        </p:txBody>
      </p:sp>
      <p:sp>
        <p:nvSpPr>
          <p:cNvPr id="78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E86A281E-E481-496C-8F4D-F1D5FBA3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deterministic cohort simulations</a:t>
            </a:r>
          </a:p>
        </p:txBody>
      </p:sp>
      <p:sp>
        <p:nvSpPr>
          <p:cNvPr id="79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5DBCD69-0E32-4CCB-A640-BFF5C28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Communication test</a:t>
            </a:r>
          </a:p>
        </p:txBody>
      </p:sp>
      <p:sp>
        <p:nvSpPr>
          <p:cNvPr id="80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01922E0C-E14B-46C9-B516-909FEF80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346A610C-CC05-4D79-9049-765FF1F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82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6D123AFA-7159-4E8E-84F2-6BA02B08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Abstract and Introduction, pp. 1-2</a:t>
            </a:r>
          </a:p>
        </p:txBody>
      </p:sp>
      <p:sp>
        <p:nvSpPr>
          <p:cNvPr id="8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2A7DAAAE-55E3-4587-852D-843706C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Deterministic workflow</a:t>
            </a:r>
          </a:p>
        </p:txBody>
      </p:sp>
      <p:sp>
        <p:nvSpPr>
          <p:cNvPr id="84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938A120E-16C8-427F-8C69-5331ED73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2CFA6BF2-63E9-4DC1-8AE9-D5C878F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D5C2FFA4-0359-4E79-8AAD-7C93FF0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1</a:t>
            </a:r>
          </a:p>
        </p:txBody>
      </p:sp>
      <p:sp>
        <p:nvSpPr>
          <p:cNvPr id="87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46DBDACA-8703-4474-B5A4-B976D0D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Fixed seed generated 1,240 profiles</a:t>
            </a:r>
          </a:p>
        </p:txBody>
      </p:sp>
      <p:sp>
        <p:nvSpPr>
          <p:cNvPr id="88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50E28259-D133-4D05-A996-840A30F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5B876DFA-2A92-44E5-8147-2B92D03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2</a:t>
            </a:r>
          </a:p>
        </p:txBody>
      </p:sp>
      <p:sp>
        <p:nvSpPr>
          <p:cNvPr id="90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5272D324-8A74-4336-B4A8-458CA4C5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480 anonymous transcript-like features</a:t>
            </a:r>
          </a:p>
        </p:txBody>
      </p:sp>
      <p:sp>
        <p:nvSpPr>
          <p:cNvPr id="91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3C2036AD-B1C9-4F4C-8524-921A7DC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588B83EE-66EA-4B3E-AC96-B98B9B0B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3</a:t>
            </a:r>
          </a:p>
        </p:txBody>
      </p:sp>
      <p:sp>
        <p:nvSpPr>
          <p:cNvPr id="93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3FDE43BB-72C6-43C1-AF71-91562CE5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Nested elastic-net selection</a:t>
            </a:r>
          </a:p>
        </p:txBody>
      </p:sp>
      <p:sp>
        <p:nvSpPr>
          <p:cNvPr id="94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59A271CA-0C78-4F28-972F-E98075E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EEE52C35-F506-45CF-BD65-375C9F25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4</a:t>
            </a:r>
          </a:p>
        </p:txBody>
      </p:sp>
      <p:sp>
        <p:nvSpPr>
          <p:cNvPr id="96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1B996DD7-032C-4145-B6D5-15C2EB0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12-feature score and shift testing</a:t>
            </a:r>
          </a:p>
        </p:txBody>
      </p:sp>
      <p:sp>
        <p:nvSpPr>
          <p:cNvPr id="97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044F145A-8411-4C2B-B8CD-621397D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sp>
        <p:nvSpPr>
          <p:cNvPr id="98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7C6E7341-DD32-4CFE-A12C-1D0964D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3E5C78"/>
                </a:solidFill>
              </a:defRPr>
            </a:pPr>
            <a:r>
              <a:rPr sz="1536" b="1">
                <a:solidFill>
                  <a:srgbClr val="3E5C78"/>
                </a:solidFill>
              </a:rPr>
              <a:t>FOUR SYNTHETIC COHORTS</a:t>
            </a:r>
          </a:p>
        </p:txBody>
      </p:sp>
      <p:sp>
        <p:nvSpPr>
          <p:cNvPr id="99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0595FB7E-D117-408E-A298-F0F5E5E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36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 b="1">
                <a:solidFill>
                  <a:srgbClr val="293F55"/>
                </a:solidFill>
              </a:defRPr>
            </a:pPr>
            <a:r>
              <a:rPr sz="2013" b="1">
                <a:solidFill>
                  <a:srgbClr val="293F55"/>
                </a:solidFill>
              </a:rPr>
              <a:t>Four deterministic synthetic cohorts</a:t>
            </a:r>
          </a:p>
        </p:txBody>
      </p:sp>
      <p:sp>
        <p:nvSpPr>
          <p:cNvPr id="100" name="datasets">
            <a:extLst xmlns:a="http://schemas.openxmlformats.org/drawingml/2006/main">
              <a:ext uri="{FF2B5EF4-FFF2-40B4-BE49-F238E27FC236}">
                <a16:creationId xmlns:a16="http://schemas.microsoft.com/office/drawing/2014/main" id="{0E7B3CFA-2B3F-4E85-9AEA-1676E34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466474"/>
            <a:ext cx="7842877" cy="104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No participants, specimens or external datasets</a:t>
            </a:r>
          </a:p>
        </p:txBody>
      </p:sp>
      <p:sp>
        <p:nvSpPr>
          <p:cNvPr id="101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671FD104-FCC5-4696-B59D-241E711C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Abstract and Methods, pp. 1-2</a:t>
            </a:r>
          </a:p>
        </p:txBody>
      </p:sp>
      <p:sp>
        <p:nvSpPr>
          <p:cNvPr id="102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0752D048-59E9-4ECB-8E2C-C76DE5F4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Generation to validation</a:t>
            </a:r>
          </a:p>
        </p:txBody>
      </p:sp>
      <p:sp>
        <p:nvSpPr>
          <p:cNvPr id="103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B43BEF61-BAF4-4D88-B524-79D16EC2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0C8E4E28-2B29-4E9A-8B02-B8E0E74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f6dbce3ae4cc6">
            <a:extLst>
              <a:ext uri="{96DAC541-7B7A-43D3-8B79-37D633B846F1}">
                <asvg:svgBlip xmlns:asvg="http://schemas.microsoft.com/office/drawing/2016/SVG/main" r:embed="R83ace09a84c6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ect">
            <a:avLst/>
          </a:prstGeom>
        </p:spPr>
      </p:pic>
      <p:sp>
        <p:nvSpPr>
          <p:cNvPr id="106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B2626759-A886-4279-9733-7A0107A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293F55"/>
                </a:solidFill>
              </a:defRPr>
            </a:pPr>
            <a:r>
              <a:rPr sz="1589" b="1">
                <a:solidFill>
                  <a:srgbClr val="293F55"/>
                </a:solidFill>
              </a:rPr>
              <a:t>Figure 1 · Deterministic generation and validation workflow</a:t>
            </a:r>
          </a:p>
        </p:txBody>
      </p:sp>
      <p:sp>
        <p:nvSpPr>
          <p:cNvPr id="107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70A343E7-7B4E-4BF8-B3AF-C3337398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Authored synthetic fixture · manuscript p. 2</a:t>
            </a:r>
          </a:p>
        </p:txBody>
      </p:sp>
      <p:sp>
        <p:nvSpPr>
          <p:cNvPr id="108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DD7795BE-112A-4FC0-8BDB-AAB9499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akeaway-cape-gradient-1">
            <a:extLst xmlns:a="http://schemas.openxmlformats.org/drawingml/2006/main">
              <a:ext uri="{FF2B5EF4-FFF2-40B4-BE49-F238E27FC236}">
                <a16:creationId xmlns:a16="http://schemas.microsoft.com/office/drawing/2014/main" id="{C425869D-8465-495F-A546-0955106B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akeaway-cape-gradient-2">
            <a:extLst xmlns:a="http://schemas.openxmlformats.org/drawingml/2006/main">
              <a:ext uri="{FF2B5EF4-FFF2-40B4-BE49-F238E27FC236}">
                <a16:creationId xmlns:a16="http://schemas.microsoft.com/office/drawing/2014/main" id="{BF8B06AE-7097-411C-A6A3-44769B33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923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akeaway-cape-gradient-3">
            <a:extLst xmlns:a="http://schemas.openxmlformats.org/drawingml/2006/main">
              <a:ext uri="{FF2B5EF4-FFF2-40B4-BE49-F238E27FC236}">
                <a16:creationId xmlns:a16="http://schemas.microsoft.com/office/drawing/2014/main" id="{33B6C8D0-D0AB-4BA6-9E1E-CA82E7F5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74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akeaway-cape-gradient-4">
            <a:extLst xmlns:a="http://schemas.openxmlformats.org/drawingml/2006/main">
              <a:ext uri="{FF2B5EF4-FFF2-40B4-BE49-F238E27FC236}">
                <a16:creationId xmlns:a16="http://schemas.microsoft.com/office/drawing/2014/main" id="{D9A9C99F-6F71-4F4F-8168-45B41B6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4225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akeaway-cape-gradient-5">
            <a:extLst xmlns:a="http://schemas.openxmlformats.org/drawingml/2006/main">
              <a:ext uri="{FF2B5EF4-FFF2-40B4-BE49-F238E27FC236}">
                <a16:creationId xmlns:a16="http://schemas.microsoft.com/office/drawing/2014/main" id="{99A7957F-1A02-4998-A1C7-E8A0ADD2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376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akeaway-cape-gradient-6">
            <a:extLst xmlns:a="http://schemas.openxmlformats.org/drawingml/2006/main">
              <a:ext uri="{FF2B5EF4-FFF2-40B4-BE49-F238E27FC236}">
                <a16:creationId xmlns:a16="http://schemas.microsoft.com/office/drawing/2014/main" id="{2E5903C9-5439-4929-9EDC-C5D07402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528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akeaway-cape-gradient-7">
            <a:extLst xmlns:a="http://schemas.openxmlformats.org/drawingml/2006/main">
              <a:ext uri="{FF2B5EF4-FFF2-40B4-BE49-F238E27FC236}">
                <a16:creationId xmlns:a16="http://schemas.microsoft.com/office/drawing/2014/main" id="{7F08E786-5AC8-4339-A5A2-CB4A5BF7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679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akeaway-cape-gradient-8">
            <a:extLst xmlns:a="http://schemas.openxmlformats.org/drawingml/2006/main">
              <a:ext uri="{FF2B5EF4-FFF2-40B4-BE49-F238E27FC236}">
                <a16:creationId xmlns:a16="http://schemas.microsoft.com/office/drawing/2014/main" id="{5D5BCC8C-B57B-4B83-835E-D6A28729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2830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akeaway-cape-gradient-9">
            <a:extLst xmlns:a="http://schemas.openxmlformats.org/drawingml/2006/main">
              <a:ext uri="{FF2B5EF4-FFF2-40B4-BE49-F238E27FC236}">
                <a16:creationId xmlns:a16="http://schemas.microsoft.com/office/drawing/2014/main" id="{06E1A5E0-FAC4-4911-A848-689620C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981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akeaway-cape-gradient-10">
            <a:extLst xmlns:a="http://schemas.openxmlformats.org/drawingml/2006/main">
              <a:ext uri="{FF2B5EF4-FFF2-40B4-BE49-F238E27FC236}">
                <a16:creationId xmlns:a16="http://schemas.microsoft.com/office/drawing/2014/main" id="{AC6F5664-E616-49CF-805A-60FBBEAC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132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akeaway-cape-gradient-11">
            <a:extLst xmlns:a="http://schemas.openxmlformats.org/drawingml/2006/main">
              <a:ext uri="{FF2B5EF4-FFF2-40B4-BE49-F238E27FC236}">
                <a16:creationId xmlns:a16="http://schemas.microsoft.com/office/drawing/2014/main" id="{B47C79ED-E4A4-4862-875B-F5910EA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284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akeaway-cape-gradient-12">
            <a:extLst xmlns:a="http://schemas.openxmlformats.org/drawingml/2006/main">
              <a:ext uri="{FF2B5EF4-FFF2-40B4-BE49-F238E27FC236}">
                <a16:creationId xmlns:a16="http://schemas.microsoft.com/office/drawing/2014/main" id="{AFB89F15-1F15-4088-8674-7CD3872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435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akeaway-cape-gradient-13">
            <a:extLst xmlns:a="http://schemas.openxmlformats.org/drawingml/2006/main">
              <a:ext uri="{FF2B5EF4-FFF2-40B4-BE49-F238E27FC236}">
                <a16:creationId xmlns:a16="http://schemas.microsoft.com/office/drawing/2014/main" id="{38ECF446-3D67-4812-85FE-69327B7C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586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takeaway-cape-gradient-14">
            <a:extLst xmlns:a="http://schemas.openxmlformats.org/drawingml/2006/main">
              <a:ext uri="{FF2B5EF4-FFF2-40B4-BE49-F238E27FC236}">
                <a16:creationId xmlns:a16="http://schemas.microsoft.com/office/drawing/2014/main" id="{6D82DD05-4A18-416A-9A78-E52BEA47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37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akeaway-cape-gradient-15">
            <a:extLst xmlns:a="http://schemas.openxmlformats.org/drawingml/2006/main">
              <a:ext uri="{FF2B5EF4-FFF2-40B4-BE49-F238E27FC236}">
                <a16:creationId xmlns:a16="http://schemas.microsoft.com/office/drawing/2014/main" id="{515FF613-1888-4358-BDE4-EB0CB4B9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889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akeaway-cape-gradient-16">
            <a:extLst xmlns:a="http://schemas.openxmlformats.org/drawingml/2006/main">
              <a:ext uri="{FF2B5EF4-FFF2-40B4-BE49-F238E27FC236}">
                <a16:creationId xmlns:a16="http://schemas.microsoft.com/office/drawing/2014/main" id="{E949D8EC-EEBF-4CE4-B3BD-7FFA2C43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040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akeaway-cape-gradient-17">
            <a:extLst xmlns:a="http://schemas.openxmlformats.org/drawingml/2006/main">
              <a:ext uri="{FF2B5EF4-FFF2-40B4-BE49-F238E27FC236}">
                <a16:creationId xmlns:a16="http://schemas.microsoft.com/office/drawing/2014/main" id="{7A1C7902-CB91-4566-A148-4335C8F5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2191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akeaway-cape-gradient-18">
            <a:extLst xmlns:a="http://schemas.openxmlformats.org/drawingml/2006/main">
              <a:ext uri="{FF2B5EF4-FFF2-40B4-BE49-F238E27FC236}">
                <a16:creationId xmlns:a16="http://schemas.microsoft.com/office/drawing/2014/main" id="{80E913FF-739D-4477-A823-F1113A0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342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akeaway-cape-gradient-19">
            <a:extLst xmlns:a="http://schemas.openxmlformats.org/drawingml/2006/main">
              <a:ext uri="{FF2B5EF4-FFF2-40B4-BE49-F238E27FC236}">
                <a16:creationId xmlns:a16="http://schemas.microsoft.com/office/drawing/2014/main" id="{7BD244DB-49F0-4BF9-9CB2-E2A9208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494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akeaway-cape-gradient-20">
            <a:extLst xmlns:a="http://schemas.openxmlformats.org/drawingml/2006/main">
              <a:ext uri="{FF2B5EF4-FFF2-40B4-BE49-F238E27FC236}">
                <a16:creationId xmlns:a16="http://schemas.microsoft.com/office/drawing/2014/main" id="{5B9CD190-D1E6-4E40-BD4A-52AF52B1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8645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akeaway-cape-gradient-21">
            <a:extLst xmlns:a="http://schemas.openxmlformats.org/drawingml/2006/main">
              <a:ext uri="{FF2B5EF4-FFF2-40B4-BE49-F238E27FC236}">
                <a16:creationId xmlns:a16="http://schemas.microsoft.com/office/drawing/2014/main" id="{E1C7FA5D-4C7D-49AF-A7C5-245268FC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0796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akeaway-cape-gradient-22">
            <a:extLst xmlns:a="http://schemas.openxmlformats.org/drawingml/2006/main">
              <a:ext uri="{FF2B5EF4-FFF2-40B4-BE49-F238E27FC236}">
                <a16:creationId xmlns:a16="http://schemas.microsoft.com/office/drawing/2014/main" id="{E2E249E0-BD3E-4767-AAA7-7D3663B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2947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akeaway-cape-gradient-23">
            <a:extLst xmlns:a="http://schemas.openxmlformats.org/drawingml/2006/main">
              <a:ext uri="{FF2B5EF4-FFF2-40B4-BE49-F238E27FC236}">
                <a16:creationId xmlns:a16="http://schemas.microsoft.com/office/drawing/2014/main" id="{0CF7C7B0-F4ED-446A-94A4-42C21D7E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098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akeaway-cape-gradient-24">
            <a:extLst xmlns:a="http://schemas.openxmlformats.org/drawingml/2006/main">
              <a:ext uri="{FF2B5EF4-FFF2-40B4-BE49-F238E27FC236}">
                <a16:creationId xmlns:a16="http://schemas.microsoft.com/office/drawing/2014/main" id="{6BCE36A8-81AE-47A2-AAD9-671B33CA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7250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takeaway-cape-gradient-25">
            <a:extLst xmlns:a="http://schemas.openxmlformats.org/drawingml/2006/main">
              <a:ext uri="{FF2B5EF4-FFF2-40B4-BE49-F238E27FC236}">
                <a16:creationId xmlns:a16="http://schemas.microsoft.com/office/drawing/2014/main" id="{7AA35D95-1039-47A0-AC03-38867C8A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9401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akeaway-cape-gradient-26">
            <a:extLst xmlns:a="http://schemas.openxmlformats.org/drawingml/2006/main">
              <a:ext uri="{FF2B5EF4-FFF2-40B4-BE49-F238E27FC236}">
                <a16:creationId xmlns:a16="http://schemas.microsoft.com/office/drawing/2014/main" id="{D70CDD2B-385C-43D8-9CC9-F7C93A1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1552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akeaway-cape-gradient-27">
            <a:extLst xmlns:a="http://schemas.openxmlformats.org/drawingml/2006/main">
              <a:ext uri="{FF2B5EF4-FFF2-40B4-BE49-F238E27FC236}">
                <a16:creationId xmlns:a16="http://schemas.microsoft.com/office/drawing/2014/main" id="{1C4E8BF8-5E74-41CB-B536-587EA5B5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703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akeaway-cape-gradient-28">
            <a:extLst xmlns:a="http://schemas.openxmlformats.org/drawingml/2006/main">
              <a:ext uri="{FF2B5EF4-FFF2-40B4-BE49-F238E27FC236}">
                <a16:creationId xmlns:a16="http://schemas.microsoft.com/office/drawing/2014/main" id="{7EBB481E-F271-45A0-95D2-98F07D6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5855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akeaway-cape-gradient-29">
            <a:extLst xmlns:a="http://schemas.openxmlformats.org/drawingml/2006/main">
              <a:ext uri="{FF2B5EF4-FFF2-40B4-BE49-F238E27FC236}">
                <a16:creationId xmlns:a16="http://schemas.microsoft.com/office/drawing/2014/main" id="{E92FE5D4-BE5D-44CA-BA5A-E706597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8006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akeaway-cape-gradient-30">
            <a:extLst xmlns:a="http://schemas.openxmlformats.org/drawingml/2006/main">
              <a:ext uri="{FF2B5EF4-FFF2-40B4-BE49-F238E27FC236}">
                <a16:creationId xmlns:a16="http://schemas.microsoft.com/office/drawing/2014/main" id="{D4847EC8-AD8A-4C79-8ADA-D0FB1822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0157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akeaway-cape-gradient-31">
            <a:extLst xmlns:a="http://schemas.openxmlformats.org/drawingml/2006/main">
              <a:ext uri="{FF2B5EF4-FFF2-40B4-BE49-F238E27FC236}">
                <a16:creationId xmlns:a16="http://schemas.microsoft.com/office/drawing/2014/main" id="{1B06E8E2-69E2-494E-9057-0263C65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2308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akeaway-cape-gradient-32">
            <a:extLst xmlns:a="http://schemas.openxmlformats.org/drawingml/2006/main">
              <a:ext uri="{FF2B5EF4-FFF2-40B4-BE49-F238E27FC236}">
                <a16:creationId xmlns:a16="http://schemas.microsoft.com/office/drawing/2014/main" id="{7E2D1A17-DB7F-4357-A2C5-C2C3767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4460" y="3968650"/>
            <a:ext cx="308889" cy="13453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3C5B5633-084A-4002-BFC6-8705ADA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293F55"/>
                </a:solidFill>
              </a:defRPr>
            </a:pPr>
            <a:r>
              <a:rPr sz="2913" b="1">
                <a:solidFill>
                  <a:srgbClr val="293F55"/>
                </a:solidFill>
              </a:rPr>
              <a:t>External C-indices remained 0.75 and 0.74</a:t>
            </a:r>
          </a:p>
        </p:txBody>
      </p:sp>
      <p:sp>
        <p:nvSpPr>
          <p:cNvPr id="142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E7936670-0EBE-4526-90B7-84178E35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293F55"/>
                </a:solidFill>
              </a:defRPr>
            </a:pPr>
            <a:r>
              <a:rPr sz="1695" b="1">
                <a:solidFill>
                  <a:srgbClr val="293F55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143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DF2C5E1F-5585-44DE-A671-9C36F82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Results, pp. 1 and 3; Figure 2</a:t>
            </a:r>
          </a:p>
        </p:txBody>
      </p:sp>
      <p:sp>
        <p:nvSpPr>
          <p:cNvPr id="144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6AC60595-5A4A-4D21-8523-C7DC3EF4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Discrimination across shifts</a:t>
            </a:r>
          </a:p>
        </p:txBody>
      </p:sp>
      <p:sp>
        <p:nvSpPr>
          <p:cNvPr id="145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67C67F2C-E179-4669-9AD1-34D5EA0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C70F3EC6-BA1F-495B-8B5D-4A3E06DB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2dd9910ac4a14">
            <a:extLst>
              <a:ext uri="{96DAC541-7B7A-43D3-8B79-37D633B846F1}">
                <asvg:svgBlip xmlns:asvg="http://schemas.microsoft.com/office/drawing/2016/SVG/main" r:embed="R000bb6c2e97940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ect">
            <a:avLst/>
          </a:prstGeom>
        </p:spPr>
      </p:pic>
      <p:sp>
        <p:nvSpPr>
          <p:cNvPr id="148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7B002DF6-4B19-4437-813E-0E541AA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293F55"/>
                </a:solidFill>
              </a:defRPr>
            </a:pPr>
            <a:r>
              <a:rPr sz="1589" b="1">
                <a:solidFill>
                  <a:srgbClr val="293F55"/>
                </a:solidFill>
              </a:rPr>
              <a:t>Figure 2 · Authored discrimination values across cohort shifts</a:t>
            </a:r>
          </a:p>
        </p:txBody>
      </p:sp>
      <p:sp>
        <p:nvSpPr>
          <p:cNvPr id="149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02E446B1-E0B1-40A8-91EB-BCC10368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Authored synthetic fixture · manuscript p. 3</a:t>
            </a:r>
          </a:p>
        </p:txBody>
      </p:sp>
      <p:sp>
        <p:nvSpPr>
          <p:cNvPr id="150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90B9DBDF-AC72-4A5E-B96A-4CA30D7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Calibration and stress boundary</a:t>
            </a:r>
          </a:p>
        </p:txBody>
      </p:sp>
      <p:sp>
        <p:nvSpPr>
          <p:cNvPr id="151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410096F-F5C9-4D0D-97E7-B7E74416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453B71BC-1A2E-4CD0-B574-3F2C990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sp>
        <p:nvSpPr>
          <p:cNvPr id="153" name="validation">
            <a:extLst xmlns:a="http://schemas.openxmlformats.org/drawingml/2006/main">
              <a:ext uri="{FF2B5EF4-FFF2-40B4-BE49-F238E27FC236}">
                <a16:creationId xmlns:a16="http://schemas.microsoft.com/office/drawing/2014/main" id="{E85C9E90-5B41-4E38-A37C-804BDC2E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The most severe pre-specified shift reduced C-index by 0.04.</a:t>
            </a:r>
          </a:p>
        </p:txBody>
      </p:sp>
      <p:sp>
        <p:nvSpPr>
          <p:cNvPr id="154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3E532F2A-0E5F-453A-A384-DCFB7C9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Results, pp. 1, 3-4; Figures 3-4</a:t>
            </a:r>
          </a:p>
        </p:txBody>
      </p:sp>
      <p:sp>
        <p:nvSpPr>
          <p:cNvPr id="155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9F58B3C4-390D-466A-AF69-FB2E742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60EA09A8-0B5F-47ED-9C79-02859963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157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F1F45718-75FB-4C5A-84D7-5CA86D2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Calibration &amp; stability</a:t>
            </a:r>
          </a:p>
        </p:txBody>
      </p:sp>
      <p:sp>
        <p:nvSpPr>
          <p:cNvPr id="158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B511BF15-D633-435A-93EA-197D9DA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16B53D42-B789-4E41-81A4-0BDBD9D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3E5C78"/>
                </a:solidFill>
              </a:defRPr>
            </a:pPr>
            <a:r>
              <a:rPr sz="3602" b="1">
                <a:solidFill>
                  <a:srgbClr val="3E5C78"/>
                </a:solidFill>
              </a:rPr>
              <a:t>92%</a:t>
            </a:r>
          </a:p>
        </p:txBody>
      </p:sp>
      <p:sp>
        <p:nvSpPr>
          <p:cNvPr id="160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50BB53D2-9CF1-4910-8795-3B6D18D5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coefficient-sign stability</a:t>
            </a:r>
          </a:p>
        </p:txBody>
      </p:sp>
      <p:sp>
        <p:nvSpPr>
          <p:cNvPr id="161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8BDA5066-52C9-4EEA-9BE1-1E23EC9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487AA1"/>
                </a:solidFill>
              </a:defRPr>
            </a:pPr>
            <a:r>
              <a:rPr sz="3602" b="1">
                <a:solidFill>
                  <a:srgbClr val="487AA1"/>
                </a:solidFill>
              </a:rPr>
              <a:t>0.97 / 0.95</a:t>
            </a:r>
          </a:p>
        </p:txBody>
      </p:sp>
      <p:sp>
        <p:nvSpPr>
          <p:cNvPr id="162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46B31008-36AF-46B2-A167-83E227C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external calibration slopes</a:t>
            </a:r>
          </a:p>
        </p:txBody>
      </p:sp>
      <p:sp>
        <p:nvSpPr>
          <p:cNvPr id="163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56DE1F02-2E30-4D02-801D-1D77A5D2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13" b="1">
                <a:solidFill>
                  <a:srgbClr val="E5BC6C"/>
                </a:solidFill>
              </a:defRPr>
            </a:pPr>
            <a:r>
              <a:rPr sz="2913" b="1">
                <a:solidFill>
                  <a:srgbClr val="E5BC6C"/>
                </a:solidFill>
              </a:rPr>
              <a:t>0.031 / 0.038</a:t>
            </a:r>
          </a:p>
        </p:txBody>
      </p:sp>
      <p:sp>
        <p:nvSpPr>
          <p:cNvPr id="164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5573219C-1D07-43D0-AEAE-43753B4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293F55"/>
                </a:solidFill>
              </a:defRPr>
            </a:pPr>
            <a:r>
              <a:rPr sz="1642" b="1">
                <a:solidFill>
                  <a:srgbClr val="293F55"/>
                </a:solidFill>
              </a:rPr>
              <a:t>external absolute errors</a:t>
            </a:r>
          </a:p>
        </p:txBody>
      </p:sp>
      <p:sp>
        <p:nvSpPr>
          <p:cNvPr id="165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251B3210-1281-4829-9D30-B5F6BFFD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Stability and calibration, p. 4</a:t>
            </a:r>
          </a:p>
        </p:txBody>
      </p:sp>
      <p:sp>
        <p:nvSpPr>
          <p:cNvPr id="166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EFA20567-52DA-44BF-8D07-24584DF8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294681876486d">
            <a:extLst>
              <a:ext uri="{96DAC541-7B7A-43D3-8B79-37D633B846F1}">
                <asvg:svgBlip xmlns:asvg="http://schemas.microsoft.com/office/drawing/2016/SVG/main" r:embed="R798c564ec73e49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ect">
            <a:avLst/>
          </a:prstGeom>
        </p:spPr>
      </p:pic>
      <p:sp>
        <p:nvSpPr>
          <p:cNvPr id="168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F33A7A29-78ED-4BBA-BA77-E2224540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293F55"/>
                </a:solidFill>
              </a:defRPr>
            </a:pPr>
            <a:r>
              <a:rPr sz="1589" b="1">
                <a:solidFill>
                  <a:srgbClr val="293F55"/>
                </a:solidFill>
              </a:rPr>
              <a:t>Figure 3 · Calibration and coefficient-sign stability</a:t>
            </a:r>
          </a:p>
        </p:txBody>
      </p:sp>
      <p:sp>
        <p:nvSpPr>
          <p:cNvPr id="169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6A1A4555-0629-447C-99EF-0CB503A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70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0160D933-2C01-4EA2-A86F-8CA1CE6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Pre-specified stress test</a:t>
            </a:r>
          </a:p>
        </p:txBody>
      </p:sp>
      <p:sp>
        <p:nvSpPr>
          <p:cNvPr id="171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3653E4C1-4157-4EDA-85BC-CED0182F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8C216EFD-447B-4952-966B-AE9423F7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pic>
        <p:nvPicPr>
          <p:cNvPr id="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b67dda1e14bc1">
            <a:extLst>
              <a:ext uri="{96DAC541-7B7A-43D3-8B79-37D633B846F1}">
                <asvg:svgBlip xmlns:asvg="http://schemas.microsoft.com/office/drawing/2016/SVG/main" r:embed="R2e7300e9fa5946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ect">
            <a:avLst/>
          </a:prstGeom>
        </p:spPr>
      </p:pic>
      <p:sp>
        <p:nvSpPr>
          <p:cNvPr id="174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EDF80D8C-6FC9-4DD4-B951-B23949D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293F55"/>
                </a:solidFill>
              </a:defRPr>
            </a:pPr>
            <a:r>
              <a:rPr sz="1589" b="1">
                <a:solidFill>
                  <a:srgbClr val="293F55"/>
                </a:solidFill>
              </a:rPr>
              <a:t>Figure 4 · Stress-test boundary under increasing shift</a:t>
            </a:r>
          </a:p>
        </p:txBody>
      </p:sp>
      <p:sp>
        <p:nvSpPr>
          <p:cNvPr id="175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CF526DB3-DC6D-4268-A807-FA5A1A5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76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09B51A2A-0787-485A-AA94-2CAE0F9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3E5C78"/>
                </a:solidFill>
              </a:defRPr>
            </a:pPr>
            <a:r>
              <a:rPr sz="2542" b="1">
                <a:solidFill>
                  <a:srgbClr val="3E5C78"/>
                </a:solidFill>
              </a:rPr>
              <a:t>Supported conclusion</a:t>
            </a:r>
          </a:p>
        </p:txBody>
      </p:sp>
      <p:sp>
        <p:nvSpPr>
          <p:cNvPr id="177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EA880451-C6E6-474F-A9AC-85825A95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F47531B0-9CF5-4032-AD05-BA3167C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DE5E7"/>
            </a:solidFill>
            <a:prstDash val="solid"/>
          </a:ln>
        </p:spPr>
      </p:sp>
      <p:sp>
        <p:nvSpPr>
          <p:cNvPr id="179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0B7905F0-3F27-4A1A-B753-5D9382F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43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19" b="1">
                <a:solidFill>
                  <a:srgbClr val="293F55"/>
                </a:solidFill>
              </a:defRPr>
            </a:pPr>
            <a:r>
              <a:rPr sz="2119" b="1">
                <a:solidFill>
                  <a:srgbClr val="293F55"/>
                </a:solidFill>
              </a:rPr>
              <a:t>A rights-safe methodological test fixture</a:t>
            </a:r>
          </a:p>
        </p:txBody>
      </p:sp>
      <p:sp>
        <p:nvSpPr>
          <p:cNvPr id="180" name="conclusion">
            <a:extLst xmlns:a="http://schemas.openxmlformats.org/drawingml/2006/main">
              <a:ext uri="{FF2B5EF4-FFF2-40B4-BE49-F238E27FC236}">
                <a16:creationId xmlns:a16="http://schemas.microsoft.com/office/drawing/2014/main" id="{FD7BBAB5-596D-4718-8ADF-8E8572A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968802"/>
            <a:ext cx="9237616" cy="1062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013">
                <a:solidFill>
                  <a:srgbClr val="293F55"/>
                </a:solidFill>
              </a:defRPr>
            </a:pPr>
            <a:r>
              <a:rPr sz="2013">
                <a:solidFill>
                  <a:srgbClr val="293F55"/>
                </a:solidFill>
              </a:rPr>
              <a:t>• All cohorts, values and identities are fictional</a:t>
            </a:r>
          </a:p>
        </p:txBody>
      </p:sp>
      <p:sp>
        <p:nvSpPr>
          <p:cNvPr id="181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D1C8CD3-4520-4AA3-B9EA-EF924350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487AA1"/>
                </a:solidFill>
              </a:defRPr>
            </a:pPr>
            <a:r>
              <a:rPr sz="1324">
                <a:solidFill>
                  <a:srgbClr val="487AA1"/>
                </a:solidFill>
              </a:rPr>
              <a:t>Evidence: Discussion and Conclusion, p. 5</a:t>
            </a:r>
          </a:p>
        </p:txBody>
      </p:sp>
      <p:sp>
        <p:nvSpPr>
          <p:cNvPr id="182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BA2E932-F0D2-41EF-8740-9333869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F23422D-E201-4455-816D-B73AAF5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9944087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184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358BBB4D-1CD4-4F03-9CD4-12D0EC3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2146" y="20899315"/>
            <a:ext cx="8287577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24" b="1">
                <a:solidFill>
                  <a:srgbClr val="E5BC6C"/>
                </a:solidFill>
              </a:defRPr>
            </a:pPr>
            <a:r>
              <a:rPr sz="1324" b="1">
                <a:solidFill>
                  <a:srgbClr val="E5BC6C"/>
                </a:solidFill>
              </a:rPr>
              <a:t>Approvals current · synthetic boundary locked · editable 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394906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2026-08-09T05:01:25.7350000Z</dcterms:created>
  <dcterms:modified xsi:type="dcterms:W3CDTF">2026-08-09T05:01:25.7350000Z</dcterms:modified>
</coreProperties>
</file>