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7db07dfc124dc4" /><Relationship Type="http://schemas.openxmlformats.org/officeDocument/2006/relationships/extended-properties" Target="/docProps/app.xml" Id="R1a7e57613d50443a" /><Relationship Type="http://schemas.openxmlformats.org/officeDocument/2006/relationships/officeDocument" Target="/ppt/presentation.xml" Id="R39765936c6ae41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5817ead4624bfa"/>
  </p:sldMasterIdLst>
  <p:notesMasterIdLst>
    <p:notesMasterId xmlns:r="http://schemas.openxmlformats.org/officeDocument/2006/relationships" r:id="Re0900f1c07e7412c"/>
  </p:notesMasterIdLst>
  <p:sldIdLst>
    <p:sldId xmlns:r="http://schemas.openxmlformats.org/officeDocument/2006/relationships" id="256" r:id="Re47c19e2593f4c19"/>
  </p:sldIdLst>
  <p:sldSz cx="43891200" cy="3291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5244b445f40477b" /><Relationship Type="http://schemas.openxmlformats.org/officeDocument/2006/relationships/slideMaster" Target="/ppt/slideMasters/slideMaster1.xml" Id="Re65817ead4624bfa" /><Relationship Type="http://schemas.openxmlformats.org/officeDocument/2006/relationships/notesMaster" Target="/ppt/notesMasters/notesMaster1.xml" Id="Re0900f1c07e7412c" /><Relationship Type="http://schemas.openxmlformats.org/officeDocument/2006/relationships/presProps" Target="/ppt/presProps.xml" Id="R30f2a455bde04678" /><Relationship Type="http://schemas.openxmlformats.org/officeDocument/2006/relationships/tableStyles" Target="/ppt/tableStyles.xml" Id="Rf0092cb346944cc7" /><Relationship Type="http://schemas.openxmlformats.org/officeDocument/2006/relationships/slide" Target="/ppt/slides/slide1.xml" Id="Re47c19e2593f4c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19b3a6074a41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b549f15fac4443" /><Relationship Type="http://schemas.openxmlformats.org/officeDocument/2006/relationships/notesMaster" Target="/ppt/notesMasters/notesMaster1.xml" Id="R179d64a4d2234f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sha256:1415dde4c40a1a1652421d6bc9752898c97e4d046e43bf53cdaf31b3423f096d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62e358e3742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715047859543ba" /><Relationship Type="http://schemas.openxmlformats.org/officeDocument/2006/relationships/slideLayout" Target="/ppt/slideLayouts/slideLayout1.xml" Id="R4b02c442315f48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02c442315f48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33f659eaf44f6" /><Relationship Type="http://schemas.openxmlformats.org/officeDocument/2006/relationships/image" Target="/ppt/media/image.png" Id="R4920f1188a8a454f" /><Relationship Type="http://schemas.openxmlformats.org/officeDocument/2006/relationships/image" Target="/ppt/media/image.svg" Id="Ref28e22cc1784860" /><Relationship Type="http://schemas.openxmlformats.org/officeDocument/2006/relationships/image" Target="/ppt/media/image2.png" Id="R15067e00446841b0" /><Relationship Type="http://schemas.openxmlformats.org/officeDocument/2006/relationships/image" Target="/ppt/media/image2.svg" Id="R178665f00f534362" /><Relationship Type="http://schemas.openxmlformats.org/officeDocument/2006/relationships/image" Target="/ppt/media/image3.png" Id="R54e6321a4a29421d" /><Relationship Type="http://schemas.openxmlformats.org/officeDocument/2006/relationships/image" Target="/ppt/media/image3.svg" Id="R795a61dba7644ac3" /><Relationship Type="http://schemas.openxmlformats.org/officeDocument/2006/relationships/image" Target="/ppt/media/image4.png" Id="Re0f3d62af3754194" /><Relationship Type="http://schemas.openxmlformats.org/officeDocument/2006/relationships/image" Target="/ppt/media/image4.svg" Id="Raa6c928dccfe4c93" /><Relationship Type="http://schemas.openxmlformats.org/officeDocument/2006/relationships/notesSlide" Target="/ppt/notesSlides/notesSlide1.xml" Id="R44d90ab8ee5c41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4F673F1-86C8-4B37-A8FD-45122D94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538457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B200A091-ED47-4152-BCE9-7F1661F7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310649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85AE9982-42EA-4F1B-B44D-9E5E0C08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42007"/>
            <a:ext cx="30471861" cy="2381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36" b="1">
                <a:solidFill>
                  <a:srgbClr val="FFFFFF"/>
                </a:solidFill>
              </a:defRPr>
            </a:pPr>
            <a:r>
              <a:rPr sz="7536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7536" b="1">
                <a:solidFill>
                  <a:srgbClr val="FFFFFF"/>
                </a:solidFill>
              </a:defRPr>
            </a:pPr>
            <a:r>
              <a:rPr sz="7536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1DACA8DC-A7E9-419F-A758-48AD6289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168616"/>
            <a:ext cx="30178862" cy="683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45" b="1">
                <a:solidFill>
                  <a:srgbClr val="FFFFFF"/>
                </a:solidFill>
              </a:defRPr>
            </a:pPr>
            <a:r>
              <a:rPr sz="2845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2F446A6B-BAA4-43B3-A78F-A414A08A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3955593"/>
            <a:ext cx="3017886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>
                <a:solidFill>
                  <a:srgbClr val="F6F8FA"/>
                </a:solidFill>
              </a:defRPr>
            </a:pPr>
            <a:r>
              <a:rPr sz="2230">
                <a:solidFill>
                  <a:srgbClr val="F6F8FA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B2B06C1F-B699-4A9D-B6A9-D5C1CD7ED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160" y="4607955"/>
            <a:ext cx="24904887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 b="1">
                <a:solidFill>
                  <a:srgbClr val="E8B44C"/>
                </a:solidFill>
              </a:defRPr>
            </a:pPr>
            <a:r>
              <a:rPr sz="1999" b="1">
                <a:solidFill>
                  <a:srgbClr val="E8B44C"/>
                </a:solidFill>
              </a:rPr>
              <a:t>POSTEX-SYNTH-2026-001 · fully synthetic · CC0-1.0 · no DOI</a:t>
            </a:r>
          </a:p>
        </p:txBody>
      </p:sp>
      <p:sp>
        <p:nvSpPr>
          <p:cNvPr id="7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8DF79CC3-FDE8-4ED2-8374-EA067E26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600587"/>
            <a:ext cx="9571290" cy="1346144"/>
          </a:xfrm>
          <a:prstGeom xmlns:a="http://schemas.openxmlformats.org/drawingml/2006/main" prst="roundRect">
            <a:avLst>
              <a:gd name="adj" fmla="val 56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533">
            <a:solidFill>
              <a:srgbClr val="D9E2EC"/>
            </a:solidFill>
            <a:prstDash val="solid"/>
          </a:ln>
        </p:spPr>
      </p:sp>
      <p:sp>
        <p:nvSpPr>
          <p:cNvPr id="8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B2E770AC-A214-4DBA-8CA9-8CC94667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30716" y="994076"/>
            <a:ext cx="9336891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76" b="1">
                <a:solidFill>
                  <a:srgbClr val="0F5F73"/>
                </a:solidFill>
              </a:defRPr>
            </a:pPr>
            <a:r>
              <a:rPr sz="2076" b="1">
                <a:solidFill>
                  <a:srgbClr val="0F5F73"/>
                </a:solidFill>
              </a:rPr>
              <a:t>Fictional lab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54E407E7-FC0B-4428-BD1D-096D7417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3517" y="2174540"/>
            <a:ext cx="9571290" cy="2485189"/>
          </a:xfrm>
          <a:prstGeom xmlns:a="http://schemas.openxmlformats.org/drawingml/2006/main" prst="roundRect">
            <a:avLst>
              <a:gd name="adj" fmla="val 6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6D4F26C3-2571-4919-B60F-25627C22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0F5F73"/>
                </a:solidFill>
              </a:defRPr>
            </a:pPr>
            <a:r>
              <a:rPr sz="5229" b="1">
                <a:solidFill>
                  <a:srgbClr val="0F5F73"/>
                </a:solidFill>
              </a:rPr>
              <a:t>1,240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E39A51BB-89D5-40FA-9BF1-5EAB162A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7180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synthetic profiles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42490F3C-E6B7-4BA9-A19D-36B359F2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2C8C99"/>
                </a:solidFill>
              </a:defRPr>
            </a:pPr>
            <a:r>
              <a:rPr sz="5229" b="1">
                <a:solidFill>
                  <a:srgbClr val="2C8C99"/>
                </a:solidFill>
              </a:rPr>
              <a:t>12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47B84B6D-895F-4E90-898F-1A35BD37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7167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anonymous model features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F92121BF-BB24-4E17-9075-F5241D3D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2485189"/>
            <a:ext cx="2539322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E8B44C"/>
                </a:solidFill>
              </a:defRPr>
            </a:pPr>
            <a:r>
              <a:rPr sz="5229" b="1">
                <a:solidFill>
                  <a:srgbClr val="E8B44C"/>
                </a:solidFill>
              </a:rPr>
              <a:t>4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89FCDC52-B79C-4310-A43C-BACFBF85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57154" y="3292875"/>
            <a:ext cx="2539322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deterministic cohort simulations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161262B4-AA5B-4489-8E00-3331F049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109423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Clinical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93AEBC6D-F857-4B8F-9157-4487A230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CB375A87-BAEB-46D4-B1AA-2B910339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7062079"/>
            <a:ext cx="11915279" cy="2278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F9EF6431-4BA7-4D8F-96B8-A096F945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9443718"/>
            <a:ext cx="1191527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Abstract and Introduction, pp. 1-2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7DE37949-DDA4-48C9-9E4A-E761BDA8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044306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Cohort construction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A7B31022-B8E2-44B6-8EFC-A777DF74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073808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3CBF3EBD-216F-4A1B-850B-A5154F7B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1767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89946516-BB54-4E8E-9B76-706EE7CD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090156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4C62448C-54D2-4365-9AB5-8DD23A0D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059091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Fixed seed generated 1,240 profiles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6FA131DA-CBB6-4468-ABBB-AF47C857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846068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53BDA5E4-2FDC-4CCD-AB91-77BB6119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1918553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1C135687-6A6A-41B1-8209-F907038F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1887488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480 anonymous transcript-like features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2710BF6F-F49B-4641-A1CA-9AED85D6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674464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FEA09CBC-F9AE-4281-BE3C-3C24786E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2746949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518C08A1-5D4B-4EA8-B973-FB1EF5F7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2715884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Nested elastic-net selection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7522D622-FA07-4ED2-AFCD-2B2E927F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02861"/>
            <a:ext cx="605531" cy="642007"/>
          </a:xfrm>
          <a:prstGeom xmlns:a="http://schemas.openxmlformats.org/drawingml/2006/main" prst="roundRect">
            <a:avLst>
              <a:gd name="adj" fmla="val 1258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86D085F6-2FDA-4921-AA69-088A280B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3575345"/>
            <a:ext cx="605531" cy="476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E9856BAE-95B9-4B49-B48D-69A2F1BE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8190" y="13544280"/>
            <a:ext cx="11114416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12-feature score and shift testing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231DE3F6-0A60-412A-8E43-05977A34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4600486"/>
            <a:ext cx="11915279" cy="3727784"/>
          </a:xfrm>
          <a:prstGeom xmlns:a="http://schemas.openxmlformats.org/drawingml/2006/main" prst="roundRect">
            <a:avLst>
              <a:gd name="adj" fmla="val 30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FA8E2403-B971-4801-ADA4-F63168298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4911134"/>
            <a:ext cx="4492646" cy="41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30" b="1">
                <a:solidFill>
                  <a:srgbClr val="0F5F73"/>
                </a:solidFill>
              </a:defRPr>
            </a:pPr>
            <a:r>
              <a:rPr sz="2230" b="1">
                <a:solidFill>
                  <a:srgbClr val="0F5F73"/>
                </a:solidFill>
              </a:rPr>
              <a:t>COHORT ACCOUNTING</a:t>
            </a:r>
          </a:p>
        </p:txBody>
      </p:sp>
      <p:sp>
        <p:nvSpPr>
          <p:cNvPr id="36" name="dataset-lead">
            <a:extLst xmlns:a="http://schemas.openxmlformats.org/drawingml/2006/main">
              <a:ext uri="{FF2B5EF4-FFF2-40B4-BE49-F238E27FC236}">
                <a16:creationId xmlns:a16="http://schemas.microsoft.com/office/drawing/2014/main" id="{A74DEEB5-2D60-4CC1-889B-B4EFC866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5480657"/>
            <a:ext cx="11368348" cy="559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 b="1">
                <a:solidFill>
                  <a:srgbClr val="102A43"/>
                </a:solidFill>
              </a:defRPr>
            </a:pPr>
            <a:r>
              <a:rPr sz="2922" b="1">
                <a:solidFill>
                  <a:srgbClr val="102A43"/>
                </a:solidFill>
              </a:rPr>
              <a:t>Four deterministic synthetic cohorts</a:t>
            </a:r>
          </a:p>
        </p:txBody>
      </p:sp>
      <p:sp>
        <p:nvSpPr>
          <p:cNvPr id="37" name="datasets">
            <a:extLst xmlns:a="http://schemas.openxmlformats.org/drawingml/2006/main">
              <a:ext uri="{FF2B5EF4-FFF2-40B4-BE49-F238E27FC236}">
                <a16:creationId xmlns:a16="http://schemas.microsoft.com/office/drawing/2014/main" id="{8B939A10-E32E-4A0F-8E4B-F42ED8AB4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6112309"/>
            <a:ext cx="11368348" cy="1605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Discovery n=620 · Internal validation n=310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External A n=186 · External B n=124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No participants, specimens or external datasets</a:t>
            </a:r>
          </a:p>
        </p:txBody>
      </p:sp>
      <p:sp>
        <p:nvSpPr>
          <p:cNvPr id="38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78C71B67-C93B-4A45-B66A-13114106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793" y="17841586"/>
            <a:ext cx="11368348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Abstract and Methods, pp. 1-2</a:t>
            </a:r>
          </a:p>
        </p:txBody>
      </p:sp>
      <p:sp>
        <p:nvSpPr>
          <p:cNvPr id="39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A418C6C4-38A3-49F1-857E-10A41674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8897792"/>
            <a:ext cx="1191527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Eligibility and follow-up</a:t>
            </a:r>
          </a:p>
        </p:txBody>
      </p:sp>
      <p:sp>
        <p:nvSpPr>
          <p:cNvPr id="40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61773D12-AB21-4E8C-A05A-1F0E7926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591574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E7DC0F10-1494-4B51-8AF0-913017CD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19829738"/>
            <a:ext cx="11915279" cy="10769153"/>
          </a:xfrm>
          <a:prstGeom xmlns:a="http://schemas.openxmlformats.org/drawingml/2006/main" prst="roundRect">
            <a:avLst>
              <a:gd name="adj" fmla="val 1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0f1188a8a454f">
            <a:extLst>
              <a:ext uri="{96DAC541-7B7A-43D3-8B79-37D633B846F1}">
                <asvg:svgBlip xmlns:asvg="http://schemas.microsoft.com/office/drawing/2016/SVG/main" r:embed="Ref28e22cc178486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62660" y="20036837"/>
            <a:ext cx="11524614" cy="9754367"/>
          </a:xfrm>
          <a:prstGeom xmlns:a="http://schemas.openxmlformats.org/drawingml/2006/main" prst="rect">
            <a:avLst/>
          </a:prstGeom>
        </p:spPr>
      </p:pic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EB6D3149-0500-4B6A-925D-A022CA1C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29853334"/>
            <a:ext cx="1144648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1 · Deterministic generation and validation workflow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E6CBEBEE-8EA0-4E0E-AA6D-048F411C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726" y="30205402"/>
            <a:ext cx="1144648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Authored synthetic fixture · manuscript p. 2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F1372BB3-A97F-49E7-9976-B8DA7DD1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6109423"/>
            <a:ext cx="14015103" cy="2744063"/>
          </a:xfrm>
          <a:prstGeom xmlns:a="http://schemas.openxmlformats.org/drawingml/2006/main" prst="roundRect">
            <a:avLst>
              <a:gd name="adj" fmla="val 5554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36521CEC-7947-47C6-8AA1-B30A2F51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335" y="6471846"/>
            <a:ext cx="13155640" cy="10354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30" b="1">
                <a:solidFill>
                  <a:srgbClr val="102A43"/>
                </a:solidFill>
              </a:defRPr>
            </a:pPr>
            <a:r>
              <a:rPr sz="4230" b="1">
                <a:solidFill>
                  <a:srgbClr val="102A43"/>
                </a:solidFill>
              </a:rPr>
              <a:t>External C-indices remained 0.75 and 0.74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1DFA3B47-B844-4D8D-800F-5913A8D8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2267" y="7807636"/>
            <a:ext cx="12647776" cy="497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61" b="1">
                <a:solidFill>
                  <a:srgbClr val="102A43"/>
                </a:solidFill>
              </a:defRPr>
            </a:pPr>
            <a:r>
              <a:rPr sz="2461" b="1">
                <a:solidFill>
                  <a:srgbClr val="102A43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42319133-FD75-4AC2-BF9E-53D600D0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17868" y="8387513"/>
            <a:ext cx="13116574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Results, pp. 1 and 3; Figure 2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06285439-7A96-4E0E-A134-02A96240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9371234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Adjusted primary outcome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B25EACA6-73EE-4E5A-9E4D-D1719A4D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065016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1C754343-CF38-44B5-BFD6-13F6D734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10303180"/>
            <a:ext cx="14015103" cy="13823864"/>
          </a:xfrm>
          <a:prstGeom xmlns:a="http://schemas.openxmlformats.org/drawingml/2006/main" prst="roundRect">
            <a:avLst>
              <a:gd name="adj" fmla="val 8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67e00446841b0">
            <a:extLst>
              <a:ext uri="{96DAC541-7B7A-43D3-8B79-37D633B846F1}">
                <asvg:svgBlip xmlns:asvg="http://schemas.microsoft.com/office/drawing/2016/SVG/main" r:embed="R178665f00f53436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4063936" y="10510279"/>
            <a:ext cx="13624438" cy="12809079"/>
          </a:xfrm>
          <a:prstGeom xmlns:a="http://schemas.openxmlformats.org/drawingml/2006/main" prst="rect">
            <a:avLst/>
          </a:prstGeom>
        </p:spPr>
      </p:pic>
      <p:sp>
        <p:nvSpPr>
          <p:cNvPr id="53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225B5B2B-AD5C-4970-892A-A9745AC8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381487"/>
            <a:ext cx="13546305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2 · Authored discrimination values across cohort shifts</a:t>
            </a:r>
          </a:p>
        </p:txBody>
      </p:sp>
      <p:sp>
        <p:nvSpPr>
          <p:cNvPr id="54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DEC20266-6419-4C7E-8F8E-C70293D9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3002" y="23733555"/>
            <a:ext cx="13546305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Authored synthetic fixture · manuscript p. 3</a:t>
            </a:r>
          </a:p>
        </p:txBody>
      </p:sp>
      <p:sp>
        <p:nvSpPr>
          <p:cNvPr id="55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99751032-50D6-4147-9B8E-C4E0509D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4644791"/>
            <a:ext cx="14015103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Bias and sensitivity checks</a:t>
            </a:r>
          </a:p>
        </p:txBody>
      </p:sp>
      <p:sp>
        <p:nvSpPr>
          <p:cNvPr id="56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7AC4CD49-1696-4A8F-B4F7-4EB09A3B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338573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106E5B1A-FFEA-436E-A298-7905F2E5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25576737"/>
            <a:ext cx="14015103" cy="4400856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58" name="validation">
            <a:extLst xmlns:a="http://schemas.openxmlformats.org/drawingml/2006/main">
              <a:ext uri="{FF2B5EF4-FFF2-40B4-BE49-F238E27FC236}">
                <a16:creationId xmlns:a16="http://schemas.microsoft.com/office/drawing/2014/main" id="{07D8B080-B7F5-4744-B764-548C6E4D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5918451"/>
            <a:ext cx="13311906" cy="321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The most severe pre-specified shift reduced C-index by 0.04.</a:t>
            </a:r>
          </a:p>
        </p:txBody>
      </p:sp>
      <p:sp>
        <p:nvSpPr>
          <p:cNvPr id="59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F1AC857C-A29C-474A-B99A-C9EF6731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0202" y="29480555"/>
            <a:ext cx="13311906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Results, pp. 1, 3-4; Figures 3-4</a:t>
            </a:r>
          </a:p>
        </p:txBody>
      </p:sp>
      <p:sp>
        <p:nvSpPr>
          <p:cNvPr id="60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697EF54D-A8AB-4388-91B3-50B85FE0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603" y="30340016"/>
            <a:ext cx="14015103" cy="1190820"/>
          </a:xfrm>
          <a:prstGeom xmlns:a="http://schemas.openxmlformats.org/drawingml/2006/main" prst="roundRect">
            <a:avLst>
              <a:gd name="adj" fmla="val 9598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58CFE8C7-DA59-4BDB-B2EA-8DD81734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669" y="30650665"/>
            <a:ext cx="13350972" cy="538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15" b="1">
                <a:solidFill>
                  <a:srgbClr val="FFFFFF"/>
                </a:solidFill>
              </a:defRPr>
            </a:pPr>
            <a:r>
              <a:rPr sz="2615" b="1">
                <a:solidFill>
                  <a:srgbClr val="FFFFFF"/>
                </a:solidFill>
              </a:rPr>
              <a:t>External validation retained discrimination: C-index 0.75 / 0.74</a:t>
            </a:r>
          </a:p>
        </p:txBody>
      </p:sp>
      <p:sp>
        <p:nvSpPr>
          <p:cNvPr id="62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B4F2149D-9F23-450A-91FE-3137D912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109423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Effect estimates</a:t>
            </a:r>
          </a:p>
        </p:txBody>
      </p:sp>
      <p:sp>
        <p:nvSpPr>
          <p:cNvPr id="63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40EE2ECE-F673-4D45-950E-40F0B9EB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6803205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B0818688-EAD4-423D-8394-0D87B19E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0F5F73"/>
                </a:solidFill>
              </a:defRPr>
            </a:pPr>
            <a:r>
              <a:rPr sz="5229" b="1">
                <a:solidFill>
                  <a:srgbClr val="0F5F73"/>
                </a:solidFill>
              </a:rPr>
              <a:t>92%</a:t>
            </a:r>
          </a:p>
        </p:txBody>
      </p:sp>
      <p:sp>
        <p:nvSpPr>
          <p:cNvPr id="65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1FBB193A-99E8-41C9-AF9C-CCABF63D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coefficient-sign stability</a:t>
            </a:r>
          </a:p>
        </p:txBody>
      </p:sp>
      <p:sp>
        <p:nvSpPr>
          <p:cNvPr id="66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2FA07A8C-124C-453D-A087-1209D6BA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229" b="1">
                <a:solidFill>
                  <a:srgbClr val="2C8C99"/>
                </a:solidFill>
              </a:defRPr>
            </a:pPr>
            <a:r>
              <a:rPr sz="5229" b="1">
                <a:solidFill>
                  <a:srgbClr val="2C8C99"/>
                </a:solidFill>
              </a:rPr>
              <a:t>0.97 / 0.95</a:t>
            </a:r>
          </a:p>
        </p:txBody>
      </p:sp>
      <p:sp>
        <p:nvSpPr>
          <p:cNvPr id="67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EDC0B2D4-3219-4832-88E0-90C6026B0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8849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external calibration slopes</a:t>
            </a:r>
          </a:p>
        </p:txBody>
      </p:sp>
      <p:sp>
        <p:nvSpPr>
          <p:cNvPr id="68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4E943DB5-E625-414D-8523-BBEAD6F5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144919"/>
            <a:ext cx="4101981" cy="8076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30" b="1">
                <a:solidFill>
                  <a:srgbClr val="E8B44C"/>
                </a:solidFill>
              </a:defRPr>
            </a:pPr>
            <a:r>
              <a:rPr sz="4230" b="1">
                <a:solidFill>
                  <a:srgbClr val="E8B44C"/>
                </a:solidFill>
              </a:rPr>
              <a:t>0.031 / 0.038</a:t>
            </a:r>
          </a:p>
        </p:txBody>
      </p:sp>
      <p:sp>
        <p:nvSpPr>
          <p:cNvPr id="69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C447D8B4-5D81-40C9-8602-E68B1FFB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7995" y="7952605"/>
            <a:ext cx="4101981" cy="9112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84" b="1">
                <a:solidFill>
                  <a:srgbClr val="102A43"/>
                </a:solidFill>
              </a:defRPr>
            </a:pPr>
            <a:r>
              <a:rPr sz="2384" b="1">
                <a:solidFill>
                  <a:srgbClr val="102A43"/>
                </a:solidFill>
              </a:rPr>
              <a:t>external absolute errors</a:t>
            </a:r>
          </a:p>
        </p:txBody>
      </p:sp>
      <p:sp>
        <p:nvSpPr>
          <p:cNvPr id="70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A26D06C5-1D45-4ECB-9CD1-97881E11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215909"/>
            <a:ext cx="1405416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Stability and calibration, p. 4</a:t>
            </a:r>
          </a:p>
        </p:txBody>
      </p:sp>
      <p:sp>
        <p:nvSpPr>
          <p:cNvPr id="71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5B2F8A2D-89C2-49AC-B29A-DD76290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9992531"/>
            <a:ext cx="14054169" cy="7455567"/>
          </a:xfrm>
          <a:prstGeom xmlns:a="http://schemas.openxmlformats.org/drawingml/2006/main" prst="roundRect">
            <a:avLst>
              <a:gd name="adj" fmla="val 15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6321a4a29421d">
            <a:extLst>
              <a:ext uri="{96DAC541-7B7A-43D3-8B79-37D633B846F1}">
                <asvg:svgBlip xmlns:asvg="http://schemas.microsoft.com/office/drawing/2016/SVG/main" r:embed="R795a61dba7644a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665036" y="10199630"/>
            <a:ext cx="13663504" cy="6440782"/>
          </a:xfrm>
          <a:prstGeom xmlns:a="http://schemas.openxmlformats.org/drawingml/2006/main" prst="rect">
            <a:avLst/>
          </a:prstGeom>
        </p:spPr>
      </p:pic>
      <p:sp>
        <p:nvSpPr>
          <p:cNvPr id="73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FE912E3F-8B02-4EC2-AAEA-F525A427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6702541"/>
            <a:ext cx="1358537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3 · Calibration and coefficient-sign stability</a:t>
            </a:r>
          </a:p>
        </p:txBody>
      </p:sp>
      <p:sp>
        <p:nvSpPr>
          <p:cNvPr id="74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360F650E-C0AA-405E-80A4-F2BC2CF2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17054610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75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0F68A81A-C2CB-4A74-A53B-1B5A5BA7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7965846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Subgroups and robustness</a:t>
            </a:r>
          </a:p>
        </p:txBody>
      </p:sp>
      <p:sp>
        <p:nvSpPr>
          <p:cNvPr id="76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F12A5BF2-EBDB-497B-94BD-45355435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659628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ADCF37CC-CB28-49B7-9A49-A5015E88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18897792"/>
            <a:ext cx="14054169" cy="7766216"/>
          </a:xfrm>
          <a:prstGeom xmlns:a="http://schemas.openxmlformats.org/drawingml/2006/main" prst="roundRect">
            <a:avLst>
              <a:gd name="adj" fmla="val 14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3d62af3754194">
            <a:extLst>
              <a:ext uri="{96DAC541-7B7A-43D3-8B79-37D633B846F1}">
                <asvg:svgBlip xmlns:asvg="http://schemas.microsoft.com/office/drawing/2016/SVG/main" r:embed="Raa6c928dccfe4c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665036" y="19104891"/>
            <a:ext cx="13663504" cy="6751430"/>
          </a:xfrm>
          <a:prstGeom xmlns:a="http://schemas.openxmlformats.org/drawingml/2006/main" prst="rect">
            <a:avLst/>
          </a:prstGeom>
        </p:spPr>
      </p:pic>
      <p:sp>
        <p:nvSpPr>
          <p:cNvPr id="79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DCF69AED-6D65-4081-A4E4-F65BD41B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5918451"/>
            <a:ext cx="13585371" cy="34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07" b="1">
                <a:solidFill>
                  <a:srgbClr val="102A43"/>
                </a:solidFill>
              </a:defRPr>
            </a:pPr>
            <a:r>
              <a:rPr sz="2307" b="1">
                <a:solidFill>
                  <a:srgbClr val="102A43"/>
                </a:solidFill>
              </a:rPr>
              <a:t>Figure 4 · Stress-test boundary under increasing shift</a:t>
            </a:r>
          </a:p>
        </p:txBody>
      </p:sp>
      <p:sp>
        <p:nvSpPr>
          <p:cNvPr id="80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9C2202E1-36DB-4EAC-BD1C-33FD3BA6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103" y="26270519"/>
            <a:ext cx="13585371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81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6C8E8740-5218-45E6-A493-10273F37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181755"/>
            <a:ext cx="14054169" cy="6005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91" b="1">
                <a:solidFill>
                  <a:srgbClr val="0F5F73"/>
                </a:solidFill>
              </a:defRPr>
            </a:pPr>
            <a:r>
              <a:rPr sz="3691" b="1">
                <a:solidFill>
                  <a:srgbClr val="0F5F73"/>
                </a:solidFill>
              </a:rPr>
              <a:t>Interpretation and limitations</a:t>
            </a:r>
          </a:p>
        </p:txBody>
      </p:sp>
      <p:sp>
        <p:nvSpPr>
          <p:cNvPr id="82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96C87E55-B244-4139-ADFA-842B8C08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7875537"/>
            <a:ext cx="3222985" cy="103550"/>
          </a:xfrm>
          <a:prstGeom xmlns:a="http://schemas.openxmlformats.org/drawingml/2006/main" prst="roundRect">
            <a:avLst>
              <a:gd name="adj" fmla="val 18397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956B632D-5824-41B3-AEE2-669ED2D2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9704" y="28113701"/>
            <a:ext cx="14054169" cy="3417135"/>
          </a:xfrm>
          <a:prstGeom xmlns:a="http://schemas.openxmlformats.org/drawingml/2006/main" prst="roundRect">
            <a:avLst>
              <a:gd name="adj" fmla="val 3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9300">
            <a:solidFill>
              <a:srgbClr val="D9E2EC"/>
            </a:solidFill>
            <a:prstDash val="solid"/>
          </a:ln>
        </p:spPr>
      </p:sp>
      <p:sp>
        <p:nvSpPr>
          <p:cNvPr id="84" name="conclusion-lead">
            <a:extLst xmlns:a="http://schemas.openxmlformats.org/drawingml/2006/main">
              <a:ext uri="{FF2B5EF4-FFF2-40B4-BE49-F238E27FC236}">
                <a16:creationId xmlns:a16="http://schemas.microsoft.com/office/drawing/2014/main" id="{C2879D46-C60A-4BF9-8FDF-64285D73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28455415"/>
            <a:ext cx="13390039" cy="6627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76" b="1">
                <a:solidFill>
                  <a:srgbClr val="102A43"/>
                </a:solidFill>
              </a:defRPr>
            </a:pPr>
            <a:r>
              <a:rPr sz="3076" b="1">
                <a:solidFill>
                  <a:srgbClr val="102A43"/>
                </a:solidFill>
              </a:rPr>
              <a:t>A rights-safe methodological test fixture</a:t>
            </a:r>
          </a:p>
        </p:txBody>
      </p:sp>
      <p:sp>
        <p:nvSpPr>
          <p:cNvPr id="85" name="conclusion">
            <a:extLst xmlns:a="http://schemas.openxmlformats.org/drawingml/2006/main">
              <a:ext uri="{FF2B5EF4-FFF2-40B4-BE49-F238E27FC236}">
                <a16:creationId xmlns:a16="http://schemas.microsoft.com/office/drawing/2014/main" id="{608BCFE2-AB13-43AB-AF62-421ABF04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29200971"/>
            <a:ext cx="13390039" cy="1636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No biological, prognostic or clinical inference</a:t>
            </a:r>
          </a:p>
          <a:p xmlns:a="http://schemas.openxmlformats.org/drawingml/2006/main">
            <a:pPr>
              <a:defRPr sz="2922">
                <a:solidFill>
                  <a:srgbClr val="102A43"/>
                </a:solidFill>
              </a:defRPr>
            </a:pPr>
            <a:r>
              <a:rPr sz="2922">
                <a:solidFill>
                  <a:srgbClr val="102A43"/>
                </a:solidFill>
              </a:rPr>
              <a:t>• All cohorts, values and identities are fictional</a:t>
            </a:r>
          </a:p>
        </p:txBody>
      </p:sp>
      <p:sp>
        <p:nvSpPr>
          <p:cNvPr id="86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34E6918B-4717-4E59-BDB2-886C21C0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1769" y="30982024"/>
            <a:ext cx="13390039" cy="393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23">
                <a:solidFill>
                  <a:srgbClr val="2C8C99"/>
                </a:solidFill>
              </a:defRPr>
            </a:pPr>
            <a:r>
              <a:rPr sz="1923">
                <a:solidFill>
                  <a:srgbClr val="2C8C99"/>
                </a:solidFill>
              </a:rPr>
              <a:t>Evidence: Discussion and Conclusion, p. 5</a:t>
            </a:r>
          </a:p>
        </p:txBody>
      </p:sp>
      <p:sp>
        <p:nvSpPr>
          <p:cNvPr id="87" name="footer-band">
            <a:extLst xmlns:a="http://schemas.openxmlformats.org/drawingml/2006/main">
              <a:ext uri="{FF2B5EF4-FFF2-40B4-BE49-F238E27FC236}">
                <a16:creationId xmlns:a16="http://schemas.microsoft.com/office/drawing/2014/main" id="{AC6C651E-8769-446C-B229-2948F968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893260"/>
            <a:ext cx="43891200" cy="102514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F286F3C-05DB-4D96-A986-5DB10CBA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27" y="32172843"/>
            <a:ext cx="19630911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99">
                <a:solidFill>
                  <a:srgbClr val="FFFFFF"/>
                </a:solidFill>
              </a:defRPr>
            </a:pPr>
            <a:r>
              <a:rPr sz="1999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89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EED6B701-1AB9-43DD-8828-7500F48F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1236" y="32172843"/>
            <a:ext cx="8887626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46" b="1">
                <a:solidFill>
                  <a:srgbClr val="E8B44C"/>
                </a:solidFill>
              </a:defRPr>
            </a:pPr>
            <a:r>
              <a:rPr sz="1846" b="1">
                <a:solidFill>
                  <a:srgbClr val="E8B44C"/>
                </a:solidFill>
              </a:rPr>
              <a:t>Approvals current · synthetic boundary locked · editable logo placeholder</a:t>
            </a:r>
          </a:p>
        </p:txBody>
      </p:sp>
      <p:sp>
        <p:nvSpPr>
          <p:cNvPr id="90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01B643B9-507E-44BD-AC7F-CC34AFA9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7858" y="32172843"/>
            <a:ext cx="11426948" cy="434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46" b="1">
                <a:solidFill>
                  <a:srgbClr val="FFFFFF">
                    <a:alpha val="38000"/>
                  </a:srgbClr>
                </a:solidFill>
              </a:defRPr>
            </a:pPr>
            <a:r>
              <a:rPr sz="1846" b="1">
                <a:solidFill>
                  <a:srgbClr val="FFFFFF">
                    <a:alpha val="38000"/>
                  </a:srgbClr>
                </a:solidFill>
              </a:rPr>
              <a:t>Made with PostEx™ · PX-4BAD339B</a:t>
            </a:r>
          </a:p>
        </p:txBody>
      </p:sp>
    </p:spTree>
    <p:extLst>
      <p:ext uri="{BB962C8B-B14F-4D97-AF65-F5344CB8AC3E}">
        <p14:creationId xmlns:p14="http://schemas.microsoft.com/office/powerpoint/2010/main" val="1604256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creator>Walnut Exporter</dc:creator>
  <cp:lastModifiedBy>Walnut Exporter</cp:lastModifiedBy>
  <dc:title>Presentation</dc:title>
  <ns2:created xsi:type="dcterms:W3CDTF">2026-08-10T04:12:55.6350000Z</ns2:created>
  <ns2:modified xsi:type="dcterms:W3CDTF">2026-08-10T04:12:55.6350000Z</ns2:modified>
  <dc:description>{"PostExManifest": "postex-manifest.json", "PostExProjectId": "trusted-cohort-36x48", "PostExProvenanceMark": "present", "PostExSourceId": "PX-4BAD339B", "PostExVersion": "0.4.0a1"}</dc:description>
  <cp:keywords>PostEx, trusted export, provenance</cp:keywords>
</cp:coreProperties>
</file>