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80b6cf31a74204" /><Relationship Type="http://schemas.openxmlformats.org/officeDocument/2006/relationships/extended-properties" Target="/docProps/app.xml" Id="R34bb2f0d01ba4962" /><Relationship Type="http://schemas.openxmlformats.org/officeDocument/2006/relationships/officeDocument" Target="/ppt/presentation.xml" Id="Rd6855e46c7a94d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1a3cdfcf2a49c1"/>
  </p:sldMasterIdLst>
  <p:notesMasterIdLst>
    <p:notesMasterId xmlns:r="http://schemas.openxmlformats.org/officeDocument/2006/relationships" r:id="R7099f4279575469d"/>
  </p:notesMasterIdLst>
  <p:sldIdLst>
    <p:sldId xmlns:r="http://schemas.openxmlformats.org/officeDocument/2006/relationships" id="256" r:id="R89f4d32a2bf34487"/>
  </p:sldIdLst>
  <p:sldSz cx="42805350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b29c4ad2524d59" /><Relationship Type="http://schemas.openxmlformats.org/officeDocument/2006/relationships/slideMaster" Target="/ppt/slideMasters/slideMaster1.xml" Id="Ra31a3cdfcf2a49c1" /><Relationship Type="http://schemas.openxmlformats.org/officeDocument/2006/relationships/notesMaster" Target="/ppt/notesMasters/notesMaster1.xml" Id="R7099f4279575469d" /><Relationship Type="http://schemas.openxmlformats.org/officeDocument/2006/relationships/presProps" Target="/ppt/presProps.xml" Id="Rb8fd578d04204498" /><Relationship Type="http://schemas.openxmlformats.org/officeDocument/2006/relationships/tableStyles" Target="/ppt/tableStyles.xml" Id="Rf3571b154d9449bf" /><Relationship Type="http://schemas.openxmlformats.org/officeDocument/2006/relationships/slide" Target="/ppt/slides/slide1.xml" Id="R89f4d32a2bf344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0e830f3aa44a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68f07aabe24c86" /><Relationship Type="http://schemas.openxmlformats.org/officeDocument/2006/relationships/notesMaster" Target="/ppt/notesMasters/notesMaster1.xml" Id="R547c91677e6b45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AURORA-12-synthetic-manuscript.pdf</a:t>
            </a:r>
          </a:p>
          <a:p xmlns:a="http://schemas.openxmlformats.org/drawingml/2006/main">
            <a:r>
              <a:t>- palette approval sha256:1415dde4c40a1a1652421d6bc9752898c97e4d046e43bf53cdaf31b3423f096d</a:t>
            </a:r>
          </a:p>
          <a:p xmlns:a="http://schemas.openxmlformats.org/drawingml/2006/main">
            <a:r>
              <a:t>- deletion approval sha256:b3bcfd87b6cd4cd79a8feca304aa0ef7040590c30a9ab8a7e1c04c935414a02b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38c23ef2104c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c740b70fc0407a" /><Relationship Type="http://schemas.openxmlformats.org/officeDocument/2006/relationships/slideLayout" Target="/ppt/slideLayouts/slideLayout1.xml" Id="R52fe44ecf80c42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fe44ecf80c42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035345dc94f2b" /><Relationship Type="http://schemas.openxmlformats.org/officeDocument/2006/relationships/image" Target="/ppt/media/image.png" Id="R66c3384eca884283" /><Relationship Type="http://schemas.openxmlformats.org/officeDocument/2006/relationships/image" Target="/ppt/media/image.svg" Id="R22d60c43c7ec469a" /><Relationship Type="http://schemas.openxmlformats.org/officeDocument/2006/relationships/image" Target="/ppt/media/image2.png" Id="R366cd39d07a64cf4" /><Relationship Type="http://schemas.openxmlformats.org/officeDocument/2006/relationships/image" Target="/ppt/media/image2.svg" Id="Rbe52b17c55a54833" /><Relationship Type="http://schemas.openxmlformats.org/officeDocument/2006/relationships/image" Target="/ppt/media/image3.png" Id="Re85f1bb89de049ed" /><Relationship Type="http://schemas.openxmlformats.org/officeDocument/2006/relationships/image" Target="/ppt/media/image3.svg" Id="R16247cca37db4a21" /><Relationship Type="http://schemas.openxmlformats.org/officeDocument/2006/relationships/image" Target="/ppt/media/image4.png" Id="R713a1110e9134546" /><Relationship Type="http://schemas.openxmlformats.org/officeDocument/2006/relationships/image" Target="/ppt/media/image4.svg" Id="R79210c3751eb4cc3" /><Relationship Type="http://schemas.openxmlformats.org/officeDocument/2006/relationships/notesSlide" Target="/ppt/notesSlides/notesSlide1.xml" Id="R626a3a2e28a84e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6B6E24E-83F8-4AB4-8F10-07FBF8C5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495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F4D7A8-7A2F-4925-951A-1DFAADC8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B7D95287-4F06-4A0B-A675-2A91A41D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"/>
            <a:ext cx="2971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AURORA-12</a:t>
            </a:r>
          </a:p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A fully synthetic benchmark for evidence-linked poster generation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79FF05E1-6C31-4DF3-B70C-5C600F0F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2943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PostEx Synthetic Research Collective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E692D1C8-1FD5-4F15-BCA6-13231A8F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943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8FA"/>
                </a:solidFill>
              </a:defRPr>
            </a:pPr>
            <a:r>
              <a:rPr sz="2175">
                <a:solidFill>
                  <a:srgbClr val="F6F8FA"/>
                </a:solidFill>
              </a:rPr>
              <a:t>Fictional Methods Laboratory · Example Research Campus · no real authors or institutions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69DB2066-8E62-4C42-A55C-39336FE3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428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8B44C"/>
                </a:solidFill>
              </a:defRPr>
            </a:pPr>
            <a:r>
              <a:rPr sz="1950" b="1">
                <a:solidFill>
                  <a:srgbClr val="E8B44C"/>
                </a:solidFill>
              </a:rPr>
              <a:t>POSTEX-SYNTH-2026-001 · fully synthetic · CC0-1.0 · no DOI</a:t>
            </a:r>
          </a:p>
        </p:txBody>
      </p:sp>
      <p:sp>
        <p:nvSpPr>
          <p:cNvPr id="7" name="logo-slot-fictional-lab-logo">
            <a:extLst xmlns:a="http://schemas.openxmlformats.org/drawingml/2006/main">
              <a:ext uri="{FF2B5EF4-FFF2-40B4-BE49-F238E27FC236}">
                <a16:creationId xmlns:a16="http://schemas.microsoft.com/office/drawing/2014/main" id="{27671419-ADB7-4DB0-96E3-84248A18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552450"/>
            <a:ext cx="933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" name="logo-placeholder-fictional-lab-logo">
            <a:extLst xmlns:a="http://schemas.openxmlformats.org/drawingml/2006/main">
              <a:ext uri="{FF2B5EF4-FFF2-40B4-BE49-F238E27FC236}">
                <a16:creationId xmlns:a16="http://schemas.microsoft.com/office/drawing/2014/main" id="{45D90566-566A-4663-8021-018298B1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3550" y="914400"/>
            <a:ext cx="910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5F73"/>
                </a:solidFill>
              </a:defRPr>
            </a:pPr>
            <a:r>
              <a:rPr sz="2025" b="1">
                <a:solidFill>
                  <a:srgbClr val="0F5F73"/>
                </a:solidFill>
              </a:rPr>
              <a:t>Fictional lab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AE5CA716-21F2-4016-914D-2064C4BE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2000250"/>
            <a:ext cx="9334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E2065A99-E2B6-4BFE-99A8-66125F81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1,240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D2EE01E8-B939-4176-B79A-5F1DED8D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30289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synthetic profiles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8FC287BB-FB0A-4A0A-A75B-E632E38F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12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D8E1AAE5-3425-470C-AC12-0C25796B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30289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anonymous model features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3964B9F8-BC99-4E19-8756-40A9CCAB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4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3A781AD2-3A8A-4244-B5DA-21C37225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30289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deterministic cohort simulations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7546C32-2D4F-4125-AD79-75B96A2E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Clinical question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B11CCAF9-BFB5-4FF9-9C28-8F36A523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6974B42D-A14B-4511-8D13-ABA2ADF1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96050"/>
            <a:ext cx="1162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Can a realistic multi-cohort manuscript exercise evidence-linked poster generation without redistributing a real paper or implying biomedical evidence?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8E1D55FB-6166-4D1E-B7C9-DE169DF5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86800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Abstract and Introduction, pp. 1-2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B66C48ED-FED6-4816-BE77-E875D023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2392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Cohort construction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0498AC7C-4475-4527-B745-C106DC00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8774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889672C9-3A4A-4542-8B89-D54DD66F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134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AF1F74AB-252C-43B2-8E50-569CF32F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201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C9F85A5D-0D9D-43D8-8BD4-B48A98BB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172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Fixed seed generated 1,240 profiles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EDA41128-097E-4276-BB6C-557642E7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896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A57C6E6B-E302-4359-BC94-26505524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963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D4B86E6D-6B97-4475-A1B5-29179E62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934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480 anonymous transcript-like features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1F224C67-894E-4775-9308-52D41F3C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658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565F3995-B237-495D-914B-1BB07476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725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D940C276-B654-40C7-A78D-99C20E3D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1696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Nested elastic-net selection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FD899B09-E816-495D-8255-23E674AD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20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EA56EBF6-B18B-40CC-AF6B-6C03B18B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87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D49419EB-B249-4786-B7BC-5462D168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458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12-feature score and shift testing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61675727-9946-4806-A729-15FE75AC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430250"/>
            <a:ext cx="11620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1590E540-2EB1-4C67-AD83-06D2499C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5F73"/>
                </a:solidFill>
              </a:defRPr>
            </a:pPr>
            <a:r>
              <a:rPr sz="2175" b="1">
                <a:solidFill>
                  <a:srgbClr val="0F5F73"/>
                </a:solidFill>
              </a:rPr>
              <a:t>COHORT ACCOUNTING</a:t>
            </a:r>
          </a:p>
        </p:txBody>
      </p:sp>
      <p:sp>
        <p:nvSpPr>
          <p:cNvPr id="36" name="dataset-lead">
            <a:extLst xmlns:a="http://schemas.openxmlformats.org/drawingml/2006/main">
              <a:ext uri="{FF2B5EF4-FFF2-40B4-BE49-F238E27FC236}">
                <a16:creationId xmlns:a16="http://schemas.microsoft.com/office/drawing/2014/main" id="{914A4946-67AF-4869-A39E-7E87E8AA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3987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Four deterministic synthetic cohorts</a:t>
            </a:r>
          </a:p>
        </p:txBody>
      </p:sp>
      <p:sp>
        <p:nvSpPr>
          <p:cNvPr id="37" name="datasets">
            <a:extLst xmlns:a="http://schemas.openxmlformats.org/drawingml/2006/main">
              <a:ext uri="{FF2B5EF4-FFF2-40B4-BE49-F238E27FC236}">
                <a16:creationId xmlns:a16="http://schemas.microsoft.com/office/drawing/2014/main" id="{04BFFA26-6724-4AD6-8490-DDD3DDDA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820900"/>
            <a:ext cx="110871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Discovery n=620 · Internal validation n=310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External A n=186 · External B n=124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No participants, specimens or external datasets</a:t>
            </a:r>
          </a:p>
        </p:txBody>
      </p:sp>
      <p:sp>
        <p:nvSpPr>
          <p:cNvPr id="38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AAC5939E-3B74-4285-94C9-17B095FB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41157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Abstract and Methods, pp. 1-2</a:t>
            </a:r>
          </a:p>
        </p:txBody>
      </p:sp>
      <p:sp>
        <p:nvSpPr>
          <p:cNvPr id="39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AEC6EBE9-C1F4-42FD-9558-C3B64E60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83125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Eligibility and follow-up</a:t>
            </a:r>
          </a:p>
        </p:txBody>
      </p:sp>
      <p:sp>
        <p:nvSpPr>
          <p:cNvPr id="40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0D4E0D73-DF6C-4C1F-A7CF-A8CDE605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2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3E912D91-A525-4A64-8DF7-44A59CAC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40375"/>
            <a:ext cx="11620500" cy="9906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3384eca884283">
            <a:extLst>
              <a:ext uri="{96DAC541-7B7A-43D3-8B79-37D633B846F1}">
                <asvg:svgBlip xmlns:asvg="http://schemas.microsoft.com/office/drawing/2016/SVG/main" r:embed="R22d60c43c7ec46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24000" y="18430875"/>
            <a:ext cx="11239500" cy="8972550"/>
          </a:xfrm>
          <a:prstGeom xmlns:a="http://schemas.openxmlformats.org/drawingml/2006/main" prst="rect">
            <a:avLst/>
          </a:prstGeom>
        </p:spPr>
      </p:pic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6273AD65-DD27-4D6E-8BF9-CBF709BC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60575"/>
            <a:ext cx="11163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Figure 1 · Deterministic generation and validation workflow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5F4F9B62-5894-4013-A7AE-A78CC465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784425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Authored synthetic fixture · manuscript p. 2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47C4FF22-B41A-4D9E-87AE-CC77520C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13668375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6DE26C05-05BF-4B41-A847-8B4F1966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953125"/>
            <a:ext cx="12830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02A43"/>
                </a:solidFill>
              </a:defRPr>
            </a:pPr>
            <a:r>
              <a:rPr sz="4125" b="1">
                <a:solidFill>
                  <a:srgbClr val="102A43"/>
                </a:solidFill>
              </a:rPr>
              <a:t>External C-indices remained 0.75 and 0.74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6065A66B-4CF7-49C2-8B65-4E4F1EAE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181850"/>
            <a:ext cx="1233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Synthetic baseline: 0.66 and 0.65 · software fixture, not clinical validation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E76C89CA-B449-41F5-9EC4-E8971851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7715250"/>
            <a:ext cx="1279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Results, pp. 1 and 3; Figure 2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F5521A83-B089-433A-8B80-FBEB51B5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620125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Adjusted primary outcome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55EE1C3B-6E53-485C-B267-6DBEBDFD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258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6C649098-C927-41E0-A385-9E346171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477375"/>
            <a:ext cx="13668375" cy="12715875"/>
          </a:xfrm>
          <a:prstGeom xmlns:a="http://schemas.openxmlformats.org/drawingml/2006/main" prst="roundRect">
            <a:avLst>
              <a:gd name="adj" fmla="val 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cd39d07a64cf4">
            <a:extLst>
              <a:ext uri="{96DAC541-7B7A-43D3-8B79-37D633B846F1}">
                <asvg:svgBlip xmlns:asvg="http://schemas.microsoft.com/office/drawing/2016/SVG/main" r:embed="Rbe52b17c55a548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16000" y="9667875"/>
            <a:ext cx="13287375" cy="11782425"/>
          </a:xfrm>
          <a:prstGeom xmlns:a="http://schemas.openxmlformats.org/drawingml/2006/main" prst="rect">
            <a:avLst/>
          </a:prstGeom>
        </p:spPr>
      </p:pic>
      <p:sp>
        <p:nvSpPr>
          <p:cNvPr id="53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CB6B96A5-4A37-44EC-8C6D-C5C39B70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507450"/>
            <a:ext cx="13211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Figure 2 · Authored discrimination values across cohort shifts</a:t>
            </a:r>
          </a:p>
        </p:txBody>
      </p:sp>
      <p:sp>
        <p:nvSpPr>
          <p:cNvPr id="54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EC2EDC3C-277D-4D1D-8532-E008C4AF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831300"/>
            <a:ext cx="1321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Authored synthetic fixture · manuscript p. 3</a:t>
            </a:r>
          </a:p>
        </p:txBody>
      </p:sp>
      <p:sp>
        <p:nvSpPr>
          <p:cNvPr id="55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DFCC18BD-7345-4461-83E2-35D45B10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669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Bias and sensitivity checks</a:t>
            </a:r>
          </a:p>
        </p:txBody>
      </p:sp>
      <p:sp>
        <p:nvSpPr>
          <p:cNvPr id="56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D58D7AE0-6342-4C45-94BD-F61ABA78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0767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B91D2DA2-9AF3-44F7-97F7-A8E8E5F0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526750"/>
            <a:ext cx="13668375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8" name="validation">
            <a:extLst xmlns:a="http://schemas.openxmlformats.org/drawingml/2006/main">
              <a:ext uri="{FF2B5EF4-FFF2-40B4-BE49-F238E27FC236}">
                <a16:creationId xmlns:a16="http://schemas.microsoft.com/office/drawing/2014/main" id="{7EAAE8F0-68D0-4720-BAC3-31242A74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3841075"/>
            <a:ext cx="129825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External calibration slopes were 0.97 and 0.95.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External absolute errors were 0.031 and 0.038.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Aggregate coefficient-sign stability was 92% across 500 resamples.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The most severe pre-specified shift reduced C-index by 0.04.</a:t>
            </a:r>
          </a:p>
        </p:txBody>
      </p:sp>
      <p:sp>
        <p:nvSpPr>
          <p:cNvPr id="59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2299E054-D044-4BA2-B91B-6A8FA32E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7117675"/>
            <a:ext cx="1298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Results, pp. 1, 3-4; Figures 3-4</a:t>
            </a:r>
          </a:p>
        </p:txBody>
      </p:sp>
      <p:sp>
        <p:nvSpPr>
          <p:cNvPr id="60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278E1E99-AA12-499A-A1B3-FAD7435F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908250"/>
            <a:ext cx="1366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B6AA3838-EC30-4892-89CA-B55BA2BC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8194000"/>
            <a:ext cx="1302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External validation retained discrimination: C-index 0.75 / 0.74</a:t>
            </a:r>
          </a:p>
        </p:txBody>
      </p:sp>
      <p:sp>
        <p:nvSpPr>
          <p:cNvPr id="62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2127092D-EB36-4AA0-9E5B-3AB46561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5619750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Effect estimates</a:t>
            </a:r>
          </a:p>
        </p:txBody>
      </p:sp>
      <p:sp>
        <p:nvSpPr>
          <p:cNvPr id="63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05C00B41-158C-4AA3-903A-7620C4C1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ED125B4A-3ED5-4F4F-84EF-35A88AF0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92%</a:t>
            </a:r>
          </a:p>
        </p:txBody>
      </p:sp>
      <p:sp>
        <p:nvSpPr>
          <p:cNvPr id="65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11F6ACE4-9070-4876-B5CC-83C4821E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73152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coefficient-sign stability</a:t>
            </a:r>
          </a:p>
        </p:txBody>
      </p:sp>
      <p:sp>
        <p:nvSpPr>
          <p:cNvPr id="66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C9ACB9BD-83AD-4AB3-AFFE-A98B8817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0.97 / 0.95</a:t>
            </a:r>
          </a:p>
        </p:txBody>
      </p:sp>
      <p:sp>
        <p:nvSpPr>
          <p:cNvPr id="67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0AEBACB0-902B-4085-82D9-5BBFAEDC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73152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external calibration slopes</a:t>
            </a:r>
          </a:p>
        </p:txBody>
      </p:sp>
      <p:sp>
        <p:nvSpPr>
          <p:cNvPr id="68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32BB7BF2-2391-4346-B4CC-5B73412B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E8B44C"/>
                </a:solidFill>
              </a:defRPr>
            </a:pPr>
            <a:r>
              <a:rPr sz="4125" b="1">
                <a:solidFill>
                  <a:srgbClr val="E8B44C"/>
                </a:solidFill>
              </a:rPr>
              <a:t>0.031 / 0.038</a:t>
            </a:r>
          </a:p>
        </p:txBody>
      </p:sp>
      <p:sp>
        <p:nvSpPr>
          <p:cNvPr id="69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FF2E1B1A-C210-4677-9643-D48ED9BF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73152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external absolute errors</a:t>
            </a:r>
          </a:p>
        </p:txBody>
      </p:sp>
      <p:sp>
        <p:nvSpPr>
          <p:cNvPr id="70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AF377D18-2FF3-41BA-8D1B-0FB9B0C0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8477250"/>
            <a:ext cx="1370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Stability and calibration, p. 4</a:t>
            </a:r>
          </a:p>
        </p:txBody>
      </p:sp>
      <p:sp>
        <p:nvSpPr>
          <p:cNvPr id="71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4A24E983-F9B4-4A30-AAEF-27A37397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9191625"/>
            <a:ext cx="13706475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f1bb89de049ed">
            <a:extLst>
              <a:ext uri="{96DAC541-7B7A-43D3-8B79-37D633B846F1}">
                <asvg:svgBlip xmlns:asvg="http://schemas.microsoft.com/office/drawing/2016/SVG/main" r:embed="R16247cca37db4a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955875" y="9382125"/>
            <a:ext cx="13325475" cy="5924550"/>
          </a:xfrm>
          <a:prstGeom xmlns:a="http://schemas.openxmlformats.org/drawingml/2006/main" prst="rect">
            <a:avLst/>
          </a:prstGeom>
        </p:spPr>
      </p:pic>
      <p:sp>
        <p:nvSpPr>
          <p:cNvPr id="73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26043922-E089-48EC-B669-89924BAA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363825"/>
            <a:ext cx="13249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Figure 3 · Calibration and coefficient-sign stability</a:t>
            </a:r>
          </a:p>
        </p:txBody>
      </p:sp>
      <p:sp>
        <p:nvSpPr>
          <p:cNvPr id="74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56D86D22-8569-41C3-846B-B5C4798E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687675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Authored synthetic fixture · manuscript p. 4</a:t>
            </a:r>
          </a:p>
        </p:txBody>
      </p:sp>
      <p:sp>
        <p:nvSpPr>
          <p:cNvPr id="75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757C0AF4-BD24-45E1-B4F1-7346CB30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652587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Subgroups and robustness</a:t>
            </a:r>
          </a:p>
        </p:txBody>
      </p:sp>
      <p:sp>
        <p:nvSpPr>
          <p:cNvPr id="76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22664020-D804-4188-BF0B-98E6DD01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16405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51A00135-CC23-4833-8E51-ABA1F50E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383125"/>
            <a:ext cx="13706475" cy="7143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a1110e9134546">
            <a:extLst>
              <a:ext uri="{96DAC541-7B7A-43D3-8B79-37D633B846F1}">
                <asvg:svgBlip xmlns:asvg="http://schemas.microsoft.com/office/drawing/2016/SVG/main" r:embed="R79210c3751eb4c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955875" y="17573625"/>
            <a:ext cx="13325475" cy="6210300"/>
          </a:xfrm>
          <a:prstGeom xmlns:a="http://schemas.openxmlformats.org/drawingml/2006/main" prst="rect">
            <a:avLst/>
          </a:prstGeom>
        </p:spPr>
      </p:pic>
      <p:sp>
        <p:nvSpPr>
          <p:cNvPr id="79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88034B99-DEEC-46A6-A014-9678BCE6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3841075"/>
            <a:ext cx="13249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Figure 4 · Stress-test boundary under increasing shift</a:t>
            </a:r>
          </a:p>
        </p:txBody>
      </p:sp>
      <p:sp>
        <p:nvSpPr>
          <p:cNvPr id="80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9729A372-2765-4E00-92DD-739131CA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4164925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Authored synthetic fixture · manuscript p. 4</a:t>
            </a:r>
          </a:p>
        </p:txBody>
      </p:sp>
      <p:sp>
        <p:nvSpPr>
          <p:cNvPr id="81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E55E0B5E-D129-4DD8-B16A-46D03D75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00312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Interpretation and limitations</a:t>
            </a:r>
          </a:p>
        </p:txBody>
      </p:sp>
      <p:sp>
        <p:nvSpPr>
          <p:cNvPr id="82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4182DDF4-9BBB-474C-88C5-61A55874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64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7D288FBE-270E-42AE-BCE4-2D572891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860375"/>
            <a:ext cx="137064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4" name="conclusion-lead">
            <a:extLst xmlns:a="http://schemas.openxmlformats.org/drawingml/2006/main">
              <a:ext uri="{FF2B5EF4-FFF2-40B4-BE49-F238E27FC236}">
                <a16:creationId xmlns:a16="http://schemas.microsoft.com/office/drawing/2014/main" id="{BA78F419-03A0-4FE2-8924-2BBE8755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174700"/>
            <a:ext cx="13058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A rights-safe methodological test fixture</a:t>
            </a:r>
          </a:p>
        </p:txBody>
      </p:sp>
      <p:sp>
        <p:nvSpPr>
          <p:cNvPr id="85" name="conclusion">
            <a:extLst xmlns:a="http://schemas.openxmlformats.org/drawingml/2006/main">
              <a:ext uri="{FF2B5EF4-FFF2-40B4-BE49-F238E27FC236}">
                <a16:creationId xmlns:a16="http://schemas.microsoft.com/office/drawing/2014/main" id="{4E024D6D-64A8-486D-BAB6-8CCB91BD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860500"/>
            <a:ext cx="13058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No biological, prognostic or clinical inference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All cohorts, values and identities are fictional</a:t>
            </a:r>
          </a:p>
        </p:txBody>
      </p:sp>
      <p:sp>
        <p:nvSpPr>
          <p:cNvPr id="86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6CB8DCB6-3712-4FFA-8CE4-41949BDF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8498800"/>
            <a:ext cx="1305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Discussion and Conclusion, p. 5</a:t>
            </a:r>
          </a:p>
        </p:txBody>
      </p:sp>
      <p:sp>
        <p:nvSpPr>
          <p:cNvPr id="87" name="footer-band">
            <a:extLst xmlns:a="http://schemas.openxmlformats.org/drawingml/2006/main">
              <a:ext uri="{FF2B5EF4-FFF2-40B4-BE49-F238E27FC236}">
                <a16:creationId xmlns:a16="http://schemas.microsoft.com/office/drawing/2014/main" id="{5A3ECF6C-48EE-47CC-BED4-1506A45D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0"/>
            <a:ext cx="42805350" cy="9429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7D02493-C7ED-4374-8812-D3B59B07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94175"/>
            <a:ext cx="1914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Original synthetic fixture · CC0-1.0 · evidence coverage 100% · local-only processing</a:t>
            </a:r>
          </a:p>
        </p:txBody>
      </p:sp>
      <p:sp>
        <p:nvSpPr>
          <p:cNvPr id="89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CFFC8D1A-C697-4071-96FA-F1EC62AB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0" y="29594175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8B44C"/>
                </a:solidFill>
              </a:defRPr>
            </a:pPr>
            <a:r>
              <a:rPr sz="1800" b="1">
                <a:solidFill>
                  <a:srgbClr val="E8B44C"/>
                </a:solidFill>
              </a:rPr>
              <a:t>Approvals current · synthetic boundary locked · editable logo placeholder</a:t>
            </a:r>
          </a:p>
        </p:txBody>
      </p:sp>
      <p:sp>
        <p:nvSpPr>
          <p:cNvPr id="90" name="POSTEX_PROVENANCE_MARK">
            <a:extLst xmlns:a="http://schemas.openxmlformats.org/drawingml/2006/main">
              <a:ext uri="{FF2B5EF4-FFF2-40B4-BE49-F238E27FC236}">
                <a16:creationId xmlns:a16="http://schemas.microsoft.com/office/drawing/2014/main" id="{36127EFC-D6CB-4A31-885D-2C04A8F1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2959417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>
                    <a:alpha val="38000"/>
                  </a:srgbClr>
                </a:solidFill>
              </a:defRPr>
            </a:pPr>
            <a:r>
              <a:rPr sz="1800" b="1">
                <a:solidFill>
                  <a:srgbClr val="FFFFFF">
                    <a:alpha val="38000"/>
                  </a:srgbClr>
                </a:solidFill>
              </a:rPr>
              <a:t>Made with PostEx™ · PX-0562C8A6</a:t>
            </a:r>
          </a:p>
        </p:txBody>
      </p:sp>
    </p:spTree>
    <p:extLst>
      <p:ext uri="{BB962C8B-B14F-4D97-AF65-F5344CB8AC3E}">
        <p14:creationId xmlns:p14="http://schemas.microsoft.com/office/powerpoint/2010/main" val="19788679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creator>Walnut Exporter</dc:creator>
  <cp:lastModifiedBy>Walnut Exporter</cp:lastModifiedBy>
  <dc:title>Presentation</dc:title>
  <ns2:created xsi:type="dcterms:W3CDTF">2026-08-10T04:12:18.5160000Z</ns2:created>
  <ns2:modified xsi:type="dcterms:W3CDTF">2026-08-10T04:12:18.5170000Z</ns2:modified>
  <dc:description>{"PostExManifest": "postex-manifest.json", "PostExProjectId": "trusted-cohort-a0", "PostExProvenanceMark": "present", "PostExSourceId": "PX-0562C8A6", "PostExVersion": "0.4.0a1"}</dc:description>
  <cp:keywords>PostEx, trusted export, provenance</cp:keywords>
</cp:coreProperties>
</file>