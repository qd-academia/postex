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73fb2c1490466b" /><Relationship Type="http://schemas.openxmlformats.org/officeDocument/2006/relationships/extended-properties" Target="/docProps/app.xml" Id="Rca2b4687bc1b40bf" /><Relationship Type="http://schemas.openxmlformats.org/officeDocument/2006/relationships/officeDocument" Target="/ppt/presentation.xml" Id="Ra67b19873e4445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8e68e05ebf4c82"/>
  </p:sldMasterIdLst>
  <p:notesMasterIdLst>
    <p:notesMasterId xmlns:r="http://schemas.openxmlformats.org/officeDocument/2006/relationships" r:id="Rdde2108633d8406f"/>
  </p:notesMasterIdLst>
  <p:sldIdLst>
    <p:sldId xmlns:r="http://schemas.openxmlformats.org/officeDocument/2006/relationships" id="256" r:id="R70c69fec31f249d9"/>
  </p:sldIdLst>
  <p:sldSz cx="30279975" cy="213836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36c41480e54f8d" /><Relationship Type="http://schemas.openxmlformats.org/officeDocument/2006/relationships/slideMaster" Target="/ppt/slideMasters/slideMaster1.xml" Id="R838e68e05ebf4c82" /><Relationship Type="http://schemas.openxmlformats.org/officeDocument/2006/relationships/notesMaster" Target="/ppt/notesMasters/notesMaster1.xml" Id="Rdde2108633d8406f" /><Relationship Type="http://schemas.openxmlformats.org/officeDocument/2006/relationships/presProps" Target="/ppt/presProps.xml" Id="R3dfa8c301271497b" /><Relationship Type="http://schemas.openxmlformats.org/officeDocument/2006/relationships/tableStyles" Target="/ppt/tableStyles.xml" Id="R650847929abb492b" /><Relationship Type="http://schemas.openxmlformats.org/officeDocument/2006/relationships/slide" Target="/ppt/slides/slide1.xml" Id="R70c69fec31f2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296eb7f0c24f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aa5b586199485b" /><Relationship Type="http://schemas.openxmlformats.org/officeDocument/2006/relationships/notesMaster" Target="/ppt/notesMasters/notesMaster1.xml" Id="R908c6f23287e44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sha256:1415dde4c40a1a1652421d6bc9752898c97e4d046e43bf53cdaf31b3423f096d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1d2ff44d494a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4c24662722423a" /><Relationship Type="http://schemas.openxmlformats.org/officeDocument/2006/relationships/slideLayout" Target="/ppt/slideLayouts/slideLayout1.xml" Id="Rb4e676dd7e7a47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676dd7e7a47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05b5c5ece4e5f" /><Relationship Type="http://schemas.openxmlformats.org/officeDocument/2006/relationships/image" Target="/ppt/media/image.png" Id="Rd2727f158d954a04" /><Relationship Type="http://schemas.openxmlformats.org/officeDocument/2006/relationships/image" Target="/ppt/media/image.svg" Id="R8322bab3acef40d7" /><Relationship Type="http://schemas.openxmlformats.org/officeDocument/2006/relationships/image" Target="/ppt/media/image2.png" Id="Rccedba755f0242be" /><Relationship Type="http://schemas.openxmlformats.org/officeDocument/2006/relationships/image" Target="/ppt/media/image2.svg" Id="R1ecbc3e246224611" /><Relationship Type="http://schemas.openxmlformats.org/officeDocument/2006/relationships/image" Target="/ppt/media/image3.png" Id="R0d4befdfe3f34cf6" /><Relationship Type="http://schemas.openxmlformats.org/officeDocument/2006/relationships/image" Target="/ppt/media/image3.svg" Id="R5ca76930258a470a" /><Relationship Type="http://schemas.openxmlformats.org/officeDocument/2006/relationships/image" Target="/ppt/media/image4.png" Id="R78ef5dd7f83c463b" /><Relationship Type="http://schemas.openxmlformats.org/officeDocument/2006/relationships/image" Target="/ppt/media/image4.svg" Id="R451c0924e8a645bb" /><Relationship Type="http://schemas.openxmlformats.org/officeDocument/2006/relationships/notesSlide" Target="/ppt/notesSlides/notesSlide1.xml" Id="R0e07764c0cc647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1" name="header-band">
            <a:extLst xmlns:a="http://schemas.openxmlformats.org/drawingml/2006/main">
              <a:ext uri="{FF2B5EF4-FFF2-40B4-BE49-F238E27FC236}">
                <a16:creationId xmlns:a16="http://schemas.microsoft.com/office/drawing/2014/main" id="{9F1C6B0A-B172-4DA4-8402-35B47B37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3497793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9AB9A348-0D2D-4E7F-8029-047D4011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9975" cy="20179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C7D634F6-5453-4267-8C2B-1EB76F11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17045"/>
            <a:ext cx="21022146" cy="15471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5191" b="1">
                <a:solidFill>
                  <a:srgbClr val="FFFFFF"/>
                </a:solidFill>
              </a:defRPr>
            </a:pPr>
            <a:r>
              <a:rPr sz="5191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EE56F50F-91F1-4C54-B0D8-CC49713A9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058317"/>
            <a:ext cx="20820010" cy="4439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60" b="1">
                <a:solidFill>
                  <a:srgbClr val="FFFFFF"/>
                </a:solidFill>
              </a:defRPr>
            </a:pPr>
            <a:r>
              <a:rPr sz="1960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E323C99C-77EC-4687-850D-85374A6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569533"/>
            <a:ext cx="20820010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>
                <a:solidFill>
                  <a:srgbClr val="F6F8FA"/>
                </a:solidFill>
              </a:defRPr>
            </a:pPr>
            <a:r>
              <a:rPr sz="1536">
                <a:solidFill>
                  <a:srgbClr val="F6F8FA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FE562CAB-6902-43A3-87FC-D1865BB7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991" y="2993304"/>
            <a:ext cx="17181561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 b="1">
                <a:solidFill>
                  <a:srgbClr val="E8B44C"/>
                </a:solidFill>
              </a:defRPr>
            </a:pPr>
            <a:r>
              <a:rPr sz="1377" b="1">
                <a:solidFill>
                  <a:srgbClr val="E8B44C"/>
                </a:solidFill>
              </a:rPr>
              <a:t>POSTEX-SYNTH-2026-001 · fully synthetic · CC0-1.0 · no DOI</a:t>
            </a:r>
          </a:p>
        </p:txBody>
      </p:sp>
      <p:sp>
        <p:nvSpPr>
          <p:cNvPr id="7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74A9106F-8835-48B6-A308-FCB3C7DE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390138"/>
            <a:ext cx="6603110" cy="874448"/>
          </a:xfrm>
          <a:prstGeom xmlns:a="http://schemas.openxmlformats.org/drawingml/2006/main" prst="roundRect">
            <a:avLst>
              <a:gd name="adj" fmla="val 8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453">
            <a:solidFill>
              <a:srgbClr val="D9E2EC"/>
            </a:solidFill>
            <a:prstDash val="solid"/>
          </a:ln>
        </p:spPr>
      </p:sp>
      <p:sp>
        <p:nvSpPr>
          <p:cNvPr id="8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1400C271-FC35-49A2-922B-745F90E6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7467" y="645746"/>
            <a:ext cx="6441401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30" b="1">
                <a:solidFill>
                  <a:srgbClr val="0F5F73"/>
                </a:solidFill>
              </a:defRPr>
            </a:pPr>
            <a:r>
              <a:rPr sz="1430" b="1">
                <a:solidFill>
                  <a:srgbClr val="0F5F73"/>
                </a:solidFill>
              </a:rPr>
              <a:t>Fictional lab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4D6CEEB4-32A5-41B6-BD30-8F273E48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06612" y="1412570"/>
            <a:ext cx="6603110" cy="1614366"/>
          </a:xfrm>
          <a:prstGeom xmlns:a="http://schemas.openxmlformats.org/drawingml/2006/main" prst="roundRect">
            <a:avLst>
              <a:gd name="adj" fmla="val 94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AD292739-5F54-4191-A3B6-FDD1994A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1,240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311A9F26-AB8F-4DE8-A71A-175AF454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7826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synthetic profiles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A1FD03E7-9417-40AA-9680-365ADB5F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12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09EAFDE3-3175-446C-BF97-CB5F21DEF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962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anonymous model features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51610659-0787-4049-9CB8-47241280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1614366"/>
            <a:ext cx="1751845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E8B44C"/>
                </a:solidFill>
              </a:defRPr>
            </a:pPr>
            <a:r>
              <a:rPr sz="3602" b="1">
                <a:solidFill>
                  <a:srgbClr val="E8B44C"/>
                </a:solidFill>
              </a:rPr>
              <a:t>4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01EEAC95-7188-43B1-835D-D3D47361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0983" y="2139035"/>
            <a:ext cx="1751845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deterministic cohort simulations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54F68F9C-AD47-4282-A32D-C0A207EC6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396865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Clinical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C461BF47-87E8-45D2-91C0-4E2E67E1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21C21C18-3DCA-460B-8361-881A8AC9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4587490"/>
            <a:ext cx="8220198" cy="14798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66BA1013-FFB8-4F31-A92B-EA55AB7D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134591"/>
            <a:ext cx="8220198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Introduction, pp. 1-2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851088AF-EC37-4AC8-AB4C-A45B8458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524730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Cohort construction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7CA18FE1-6746-4F79-BA7A-E1218A34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69754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AF783B6F-6651-437C-8811-7EFBDCFE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157023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497B3B7D-AB46-4751-839C-09CF43CB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204109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55D59DAE-7B5C-4885-9EDB-B93A9C35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183929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Fixed seed generated 1,240 profiles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A2EE1A02-882E-4C27-B1B8-F3FF09D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695145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B3C63EB6-D1A5-455E-8F4A-60A9539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7742231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B6B2A564-2D1F-4BE6-BCA6-8B28D7C7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7722051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480 anonymous transcript-like features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524A81EB-BCF8-4EB0-93AF-006AE234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33267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CF00FD7D-D029-46EE-B4B2-CA4BE4A1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280353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A492F0A8-F65E-4737-AC84-9C8F7D02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260173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Nested elastic-net selection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143A4326-A618-490C-88A4-27B112C2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771389"/>
            <a:ext cx="417748" cy="417045"/>
          </a:xfrm>
          <a:prstGeom xmlns:a="http://schemas.openxmlformats.org/drawingml/2006/main" prst="roundRect">
            <a:avLst>
              <a:gd name="adj" fmla="val 1827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160D2C97-2435-45AF-9F40-2EDB859B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8818475"/>
            <a:ext cx="417748" cy="309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702BC1D3-91DC-4E09-B568-7DA3529A3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807" y="8798296"/>
            <a:ext cx="7667693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12-feature score and shift testing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562896E8-B07E-4D0E-A2B3-09BC13D7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9484401"/>
            <a:ext cx="8220198" cy="2421549"/>
          </a:xfrm>
          <a:prstGeom xmlns:a="http://schemas.openxmlformats.org/drawingml/2006/main" prst="roundRect">
            <a:avLst>
              <a:gd name="adj" fmla="val 4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38EFF3D8-3AEA-4163-A92E-7748DE783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9686197"/>
            <a:ext cx="3099419" cy="2690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36" b="1">
                <a:solidFill>
                  <a:srgbClr val="0F5F73"/>
                </a:solidFill>
              </a:defRPr>
            </a:pPr>
            <a:r>
              <a:rPr sz="1536" b="1">
                <a:solidFill>
                  <a:srgbClr val="0F5F73"/>
                </a:solidFill>
              </a:rPr>
              <a:t>COHORT ACCOUNTING</a:t>
            </a:r>
          </a:p>
        </p:txBody>
      </p:sp>
      <p:sp>
        <p:nvSpPr>
          <p:cNvPr id="36" name="dataset-lead">
            <a:extLst xmlns:a="http://schemas.openxmlformats.org/drawingml/2006/main">
              <a:ext uri="{FF2B5EF4-FFF2-40B4-BE49-F238E27FC236}">
                <a16:creationId xmlns:a16="http://schemas.microsoft.com/office/drawing/2014/main" id="{82558BE0-5E98-40DF-AD0D-4B6316A6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056156"/>
            <a:ext cx="7842877" cy="3632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 b="1">
                <a:solidFill>
                  <a:srgbClr val="102A43"/>
                </a:solidFill>
              </a:defRPr>
            </a:pPr>
            <a:r>
              <a:rPr sz="2013" b="1">
                <a:solidFill>
                  <a:srgbClr val="102A43"/>
                </a:solidFill>
              </a:rPr>
              <a:t>Four deterministic synthetic cohorts</a:t>
            </a:r>
          </a:p>
        </p:txBody>
      </p:sp>
      <p:sp>
        <p:nvSpPr>
          <p:cNvPr id="37" name="datasets">
            <a:extLst xmlns:a="http://schemas.openxmlformats.org/drawingml/2006/main">
              <a:ext uri="{FF2B5EF4-FFF2-40B4-BE49-F238E27FC236}">
                <a16:creationId xmlns:a16="http://schemas.microsoft.com/office/drawing/2014/main" id="{780FB91C-40EA-4C94-A921-C3AEE9A0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0466474"/>
            <a:ext cx="7842877" cy="1042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Discovery n=620 · Internal validation n=310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 n=186 · External B n=124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participants, specimens or external datasets</a:t>
            </a:r>
          </a:p>
        </p:txBody>
      </p:sp>
      <p:sp>
        <p:nvSpPr>
          <p:cNvPr id="38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A5E03DE-A36A-497F-BB42-DD3A8072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62" y="11589804"/>
            <a:ext cx="7842877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Abstract and Methods, pp. 1-2</a:t>
            </a:r>
          </a:p>
        </p:txBody>
      </p:sp>
      <p:sp>
        <p:nvSpPr>
          <p:cNvPr id="39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D036A477-21EA-4B79-A4C0-47A37DE7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275909"/>
            <a:ext cx="8220198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Eligibility and follow-up</a:t>
            </a:r>
          </a:p>
        </p:txBody>
      </p:sp>
      <p:sp>
        <p:nvSpPr>
          <p:cNvPr id="40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41D41E12-829F-4DDD-9DAE-24B22DD5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72658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4224DF45-AE1B-4878-AABF-B8CB6F14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12881297"/>
            <a:ext cx="8220198" cy="6995587"/>
          </a:xfrm>
          <a:prstGeom xmlns:a="http://schemas.openxmlformats.org/drawingml/2006/main" prst="roundRect">
            <a:avLst>
              <a:gd name="adj" fmla="val 1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27f158d954a04">
            <a:extLst>
              <a:ext uri="{96DAC541-7B7A-43D3-8B79-37D633B846F1}">
                <asvg:svgBlip xmlns:asvg="http://schemas.microsoft.com/office/drawing/2016/SVG/main" r:embed="R8322bab3acef40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78059" y="13015827"/>
            <a:ext cx="7950683" cy="6336387"/>
          </a:xfrm>
          <a:prstGeom xmlns:a="http://schemas.openxmlformats.org/drawingml/2006/main" prst="rect">
            <a:avLst/>
          </a:prstGeom>
        </p:spPr>
      </p:pic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B637F17C-E35F-4992-89B5-34BFA530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392573"/>
            <a:ext cx="7896780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1 · Deterministic generation and validation workflow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8CC169FF-D4BE-419A-894D-E8CF4D9A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010" y="19621275"/>
            <a:ext cx="7896780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7AD978A4-9C25-484F-9212-A15D45C21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3968650"/>
            <a:ext cx="9668839" cy="1782529"/>
          </a:xfrm>
          <a:prstGeom xmlns:a="http://schemas.openxmlformats.org/drawingml/2006/main" prst="roundRect">
            <a:avLst>
              <a:gd name="adj" fmla="val 855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64BC2BA1-7548-49BF-ADB3-541E8556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238" y="4204079"/>
            <a:ext cx="9075907" cy="672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13" b="1">
                <a:solidFill>
                  <a:srgbClr val="102A43"/>
                </a:solidFill>
              </a:defRPr>
            </a:pPr>
            <a:r>
              <a:rPr sz="2913" b="1">
                <a:solidFill>
                  <a:srgbClr val="102A43"/>
                </a:solidFill>
              </a:rPr>
              <a:t>External C-indices remained 0.75 and 0.74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7802DA91-AA96-4FE3-A9B3-C3838A32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422" y="5071800"/>
            <a:ext cx="8725538" cy="3228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95" b="1">
                <a:solidFill>
                  <a:srgbClr val="102A43"/>
                </a:solidFill>
              </a:defRPr>
            </a:pPr>
            <a:r>
              <a:rPr sz="1695" b="1">
                <a:solidFill>
                  <a:srgbClr val="102A43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E6D18D15-ACE5-47CC-82F5-147C3BD0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713" y="5448486"/>
            <a:ext cx="904895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 and 3; Figure 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5C846E77-0139-4858-8C87-EBAA4D5D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087506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Adjusted primary outcome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692D4D1D-A659-42C4-840F-2B973F33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538183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D6949811-CE09-4E0B-8BD5-69736C0B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6692893"/>
            <a:ext cx="9668839" cy="8979912"/>
          </a:xfrm>
          <a:prstGeom xmlns:a="http://schemas.openxmlformats.org/drawingml/2006/main" prst="roundRect">
            <a:avLst>
              <a:gd name="adj" fmla="val 1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dba755f0242be">
            <a:extLst>
              <a:ext uri="{96DAC541-7B7A-43D3-8B79-37D633B846F1}">
                <asvg:svgBlip xmlns:asvg="http://schemas.microsoft.com/office/drawing/2016/SVG/main" r:embed="R1ecbc3e24622461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02529" y="6827424"/>
            <a:ext cx="9399325" cy="8320712"/>
          </a:xfrm>
          <a:prstGeom xmlns:a="http://schemas.openxmlformats.org/drawingml/2006/main" prst="rect">
            <a:avLst/>
          </a:prstGeom>
        </p:spPr>
      </p:pic>
      <p:sp>
        <p:nvSpPr>
          <p:cNvPr id="53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0E772FD1-8CBE-4F84-859D-D4B1F9A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188495"/>
            <a:ext cx="9345422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2 · Authored discrimination values across cohort shifts</a:t>
            </a:r>
          </a:p>
        </p:txBody>
      </p:sp>
      <p:sp>
        <p:nvSpPr>
          <p:cNvPr id="54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C743F796-1519-497B-AB3D-CDFECFE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480" y="15417197"/>
            <a:ext cx="9345422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3</a:t>
            </a:r>
          </a:p>
        </p:txBody>
      </p:sp>
      <p:sp>
        <p:nvSpPr>
          <p:cNvPr id="55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29EF3FD6-7640-409C-9197-E6476F44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009131"/>
            <a:ext cx="9668839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Bias and sensitivity checks</a:t>
            </a:r>
          </a:p>
        </p:txBody>
      </p:sp>
      <p:sp>
        <p:nvSpPr>
          <p:cNvPr id="56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8F23501D-8C38-4367-9AF5-00D8B467D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459808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8FE4590D-525C-4121-83FD-C031E745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6614518"/>
            <a:ext cx="9668839" cy="2858773"/>
          </a:xfrm>
          <a:prstGeom xmlns:a="http://schemas.openxmlformats.org/drawingml/2006/main" prst="roundRect">
            <a:avLst>
              <a:gd name="adj" fmla="val 39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58" name="validation">
            <a:extLst xmlns:a="http://schemas.openxmlformats.org/drawingml/2006/main">
              <a:ext uri="{FF2B5EF4-FFF2-40B4-BE49-F238E27FC236}">
                <a16:creationId xmlns:a16="http://schemas.microsoft.com/office/drawing/2014/main" id="{DBDF1A23-54BA-4545-8567-99B7D98F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6836494"/>
            <a:ext cx="9183713" cy="2085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The most severe pre-specified shift reduced C-index by 0.04.</a:t>
            </a:r>
          </a:p>
        </p:txBody>
      </p:sp>
      <p:sp>
        <p:nvSpPr>
          <p:cNvPr id="59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671E7B4E-CF93-4C82-BB59-93E2D2D1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335" y="19150418"/>
            <a:ext cx="918371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Results, pp. 1, 3-4; Figures 3-4</a:t>
            </a:r>
          </a:p>
        </p:txBody>
      </p:sp>
      <p:sp>
        <p:nvSpPr>
          <p:cNvPr id="60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2EE888E3-E595-4F82-8E7E-E0D7FA6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771" y="19708720"/>
            <a:ext cx="9668839" cy="773550"/>
          </a:xfrm>
          <a:prstGeom xmlns:a="http://schemas.openxmlformats.org/drawingml/2006/main" prst="roundRect">
            <a:avLst>
              <a:gd name="adj" fmla="val 14776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A2E55AF2-0962-4105-BD5F-B517B153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859" y="19910516"/>
            <a:ext cx="9210664" cy="34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1" b="1">
                <a:solidFill>
                  <a:srgbClr val="FFFFFF"/>
                </a:solidFill>
              </a:defRPr>
            </a:pPr>
            <a:r>
              <a:rPr sz="1801" b="1">
                <a:solidFill>
                  <a:srgbClr val="FFFFFF"/>
                </a:solidFill>
              </a:rPr>
              <a:t>External validation retained discrimination: C-index 0.75 / 0.74</a:t>
            </a:r>
          </a:p>
        </p:txBody>
      </p:sp>
      <p:sp>
        <p:nvSpPr>
          <p:cNvPr id="62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836C8B79-517A-49AE-855C-0D24C06D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396865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Effect estimates</a:t>
            </a:r>
          </a:p>
        </p:txBody>
      </p:sp>
      <p:sp>
        <p:nvSpPr>
          <p:cNvPr id="63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7CB794C1-5F7B-4FAD-BD62-F6DA0F27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41932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65298F8C-6D04-46C3-8AEB-637F9C21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0F5F73"/>
                </a:solidFill>
              </a:defRPr>
            </a:pPr>
            <a:r>
              <a:rPr sz="3602" b="1">
                <a:solidFill>
                  <a:srgbClr val="0F5F73"/>
                </a:solidFill>
              </a:rPr>
              <a:t>92%</a:t>
            </a:r>
          </a:p>
        </p:txBody>
      </p:sp>
      <p:sp>
        <p:nvSpPr>
          <p:cNvPr id="65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66CE173A-0497-4DD7-9636-A2A9A5F44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coefficient-sign stability</a:t>
            </a:r>
          </a:p>
        </p:txBody>
      </p:sp>
      <p:sp>
        <p:nvSpPr>
          <p:cNvPr id="66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61ECE0CD-A3F5-4242-9694-38E0A7B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2" b="1">
                <a:solidFill>
                  <a:srgbClr val="2C8C99"/>
                </a:solidFill>
              </a:defRPr>
            </a:pPr>
            <a:r>
              <a:rPr sz="3602" b="1">
                <a:solidFill>
                  <a:srgbClr val="2C8C99"/>
                </a:solidFill>
              </a:rPr>
              <a:t>0.97 / 0.95</a:t>
            </a:r>
          </a:p>
        </p:txBody>
      </p:sp>
      <p:sp>
        <p:nvSpPr>
          <p:cNvPr id="67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7E6FE04F-24CA-4460-AFAC-736E47EF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1370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calibration slopes</a:t>
            </a:r>
          </a:p>
        </p:txBody>
      </p:sp>
      <p:sp>
        <p:nvSpPr>
          <p:cNvPr id="68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3E4460EF-BD5A-4195-B791-A53DB632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4641303"/>
            <a:ext cx="2829904" cy="5246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13" b="1">
                <a:solidFill>
                  <a:srgbClr val="E8B44C"/>
                </a:solidFill>
              </a:defRPr>
            </a:pPr>
            <a:r>
              <a:rPr sz="2913" b="1">
                <a:solidFill>
                  <a:srgbClr val="E8B44C"/>
                </a:solidFill>
              </a:rPr>
              <a:t>0.031 / 0.038</a:t>
            </a:r>
          </a:p>
        </p:txBody>
      </p:sp>
      <p:sp>
        <p:nvSpPr>
          <p:cNvPr id="69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0304A970-D890-47D5-8594-D72F5476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41857" y="5165972"/>
            <a:ext cx="2829904" cy="591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42" b="1">
                <a:solidFill>
                  <a:srgbClr val="102A43"/>
                </a:solidFill>
              </a:defRPr>
            </a:pPr>
            <a:r>
              <a:rPr sz="1642" b="1">
                <a:solidFill>
                  <a:srgbClr val="102A43"/>
                </a:solidFill>
              </a:rPr>
              <a:t>external absolute errors</a:t>
            </a:r>
          </a:p>
        </p:txBody>
      </p:sp>
      <p:sp>
        <p:nvSpPr>
          <p:cNvPr id="70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3BFCAF14-DE55-4B94-8547-CE73DA9B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5986608"/>
            <a:ext cx="9695791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Stability and calibration, p. 4</a:t>
            </a:r>
          </a:p>
        </p:txBody>
      </p:sp>
      <p:sp>
        <p:nvSpPr>
          <p:cNvPr id="71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0D5BF472-56F4-4AA8-86BC-A207722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6491097"/>
            <a:ext cx="9695791" cy="4843098"/>
          </a:xfrm>
          <a:prstGeom xmlns:a="http://schemas.openxmlformats.org/drawingml/2006/main" prst="roundRect">
            <a:avLst>
              <a:gd name="adj" fmla="val 23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4befdfe3f34cf6">
            <a:extLst>
              <a:ext uri="{96DAC541-7B7A-43D3-8B79-37D633B846F1}">
                <asvg:svgBlip xmlns:asvg="http://schemas.microsoft.com/office/drawing/2016/SVG/main" r:embed="R5ca76930258a47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6625628"/>
            <a:ext cx="9426276" cy="4183899"/>
          </a:xfrm>
          <a:prstGeom xmlns:a="http://schemas.openxmlformats.org/drawingml/2006/main" prst="rect">
            <a:avLst/>
          </a:prstGeom>
        </p:spPr>
      </p:pic>
      <p:sp>
        <p:nvSpPr>
          <p:cNvPr id="73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48C677BE-90BB-4CA1-BFFC-3C3166582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0849886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3 · Calibration and coefficient-sign stability</a:t>
            </a:r>
          </a:p>
        </p:txBody>
      </p:sp>
      <p:sp>
        <p:nvSpPr>
          <p:cNvPr id="74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B4091638-F54C-4DF1-B515-D27F42E6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1078588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75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6C30FAC9-B6DB-4BC5-83CE-D0484BBA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1670522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Subgroups and robustness</a:t>
            </a:r>
          </a:p>
        </p:txBody>
      </p:sp>
      <p:sp>
        <p:nvSpPr>
          <p:cNvPr id="76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7E31EF4D-915F-468A-B001-90E041DE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121199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CD0713EE-10AA-47BB-B3EC-45F88385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2275909"/>
            <a:ext cx="9695791" cy="5044894"/>
          </a:xfrm>
          <a:prstGeom xmlns:a="http://schemas.openxmlformats.org/drawingml/2006/main" prst="roundRect">
            <a:avLst>
              <a:gd name="adj" fmla="val 22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pic>
        <p:nvPicPr>
          <p:cNvPr id="1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f5dd7f83c463b">
            <a:extLst>
              <a:ext uri="{96DAC541-7B7A-43D3-8B79-37D633B846F1}">
                <asvg:svgBlip xmlns:asvg="http://schemas.microsoft.com/office/drawing/2016/SVG/main" r:embed="R451c0924e8a645b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9775640" y="12410440"/>
            <a:ext cx="9426276" cy="4385695"/>
          </a:xfrm>
          <a:prstGeom xmlns:a="http://schemas.openxmlformats.org/drawingml/2006/main" prst="rect">
            <a:avLst/>
          </a:prstGeom>
        </p:spPr>
      </p:pic>
      <p:sp>
        <p:nvSpPr>
          <p:cNvPr id="79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2F436D16-C4E7-4133-88C6-D0368771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6836494"/>
            <a:ext cx="9372373" cy="22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89" b="1">
                <a:solidFill>
                  <a:srgbClr val="102A43"/>
                </a:solidFill>
              </a:defRPr>
            </a:pPr>
            <a:r>
              <a:rPr sz="1589" b="1">
                <a:solidFill>
                  <a:srgbClr val="102A43"/>
                </a:solidFill>
              </a:rPr>
              <a:t>Figure 4 · Stress-test boundary under increasing shift</a:t>
            </a:r>
          </a:p>
        </p:txBody>
      </p:sp>
      <p:sp>
        <p:nvSpPr>
          <p:cNvPr id="80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D4574FD4-07C0-4B5E-8FED-96C2CA49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02592" y="17065196"/>
            <a:ext cx="9372373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Authored synthetic fixture · manuscript p. 4</a:t>
            </a:r>
          </a:p>
        </p:txBody>
      </p:sp>
      <p:sp>
        <p:nvSpPr>
          <p:cNvPr id="81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C05DA495-2BEC-474C-BF62-7EF362CF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7657130"/>
            <a:ext cx="9695791" cy="3901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42" b="1">
                <a:solidFill>
                  <a:srgbClr val="0F5F73"/>
                </a:solidFill>
              </a:defRPr>
            </a:pPr>
            <a:r>
              <a:rPr sz="2542" b="1">
                <a:solidFill>
                  <a:srgbClr val="0F5F73"/>
                </a:solidFill>
              </a:rPr>
              <a:t>Interpretation and limitations</a:t>
            </a:r>
          </a:p>
        </p:txBody>
      </p:sp>
      <p:sp>
        <p:nvSpPr>
          <p:cNvPr id="82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9075BCF4-14B0-451F-9316-3D0682C6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107807"/>
            <a:ext cx="2223496" cy="67265"/>
          </a:xfrm>
          <a:prstGeom xmlns:a="http://schemas.openxmlformats.org/drawingml/2006/main" prst="roundRect">
            <a:avLst>
              <a:gd name="adj" fmla="val 28321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45D6ACF2-2BF8-4E2B-802F-3928889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883" y="18262517"/>
            <a:ext cx="9695791" cy="2219753"/>
          </a:xfrm>
          <a:prstGeom xmlns:a="http://schemas.openxmlformats.org/drawingml/2006/main" prst="roundRect">
            <a:avLst>
              <a:gd name="adj" fmla="val 51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0180">
            <a:solidFill>
              <a:srgbClr val="D9E2EC"/>
            </a:solidFill>
            <a:prstDash val="solid"/>
          </a:ln>
        </p:spPr>
      </p:sp>
      <p:sp>
        <p:nvSpPr>
          <p:cNvPr id="84" name="conclusion-lead">
            <a:extLst xmlns:a="http://schemas.openxmlformats.org/drawingml/2006/main">
              <a:ext uri="{FF2B5EF4-FFF2-40B4-BE49-F238E27FC236}">
                <a16:creationId xmlns:a16="http://schemas.microsoft.com/office/drawing/2014/main" id="{877907D4-ADAF-4187-97BC-5CB6EB028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484492"/>
            <a:ext cx="9237616" cy="4304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19" b="1">
                <a:solidFill>
                  <a:srgbClr val="102A43"/>
                </a:solidFill>
              </a:defRPr>
            </a:pPr>
            <a:r>
              <a:rPr sz="2119" b="1">
                <a:solidFill>
                  <a:srgbClr val="102A43"/>
                </a:solidFill>
              </a:rPr>
              <a:t>A rights-safe methodological test fixture</a:t>
            </a:r>
          </a:p>
        </p:txBody>
      </p:sp>
      <p:sp>
        <p:nvSpPr>
          <p:cNvPr id="85" name="conclusion">
            <a:extLst xmlns:a="http://schemas.openxmlformats.org/drawingml/2006/main">
              <a:ext uri="{FF2B5EF4-FFF2-40B4-BE49-F238E27FC236}">
                <a16:creationId xmlns:a16="http://schemas.microsoft.com/office/drawing/2014/main" id="{AE990BAE-E887-4108-B1D4-C6AAF8A8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18968802"/>
            <a:ext cx="9237616" cy="1062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No biological, prognostic or clinical inference</a:t>
            </a:r>
          </a:p>
          <a:p xmlns:a="http://schemas.openxmlformats.org/drawingml/2006/main">
            <a:pPr>
              <a:defRPr sz="2013">
                <a:solidFill>
                  <a:srgbClr val="102A43"/>
                </a:solidFill>
              </a:defRPr>
            </a:pPr>
            <a:r>
              <a:rPr sz="2013">
                <a:solidFill>
                  <a:srgbClr val="102A43"/>
                </a:solidFill>
              </a:rPr>
              <a:t>• All cohorts, values and identities are fictional</a:t>
            </a:r>
          </a:p>
        </p:txBody>
      </p:sp>
      <p:sp>
        <p:nvSpPr>
          <p:cNvPr id="86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1302CA83-38EF-4117-9C1E-6968010B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69970" y="20125765"/>
            <a:ext cx="9237616" cy="255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24">
                <a:solidFill>
                  <a:srgbClr val="2C8C99"/>
                </a:solidFill>
              </a:defRPr>
            </a:pPr>
            <a:r>
              <a:rPr sz="1324">
                <a:solidFill>
                  <a:srgbClr val="2C8C99"/>
                </a:solidFill>
              </a:rPr>
              <a:t>Evidence: Discussion and Conclusion, p. 5</a:t>
            </a:r>
          </a:p>
        </p:txBody>
      </p:sp>
      <p:sp>
        <p:nvSpPr>
          <p:cNvPr id="87" name="footer-band">
            <a:extLst xmlns:a="http://schemas.openxmlformats.org/drawingml/2006/main">
              <a:ext uri="{FF2B5EF4-FFF2-40B4-BE49-F238E27FC236}">
                <a16:creationId xmlns:a16="http://schemas.microsoft.com/office/drawing/2014/main" id="{D144E9CB-BEB3-4368-8AF7-1AD6541F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717699"/>
            <a:ext cx="30279975" cy="665926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07DF9E9B-2F9D-40D5-9EC1-D29D5969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01" y="20899315"/>
            <a:ext cx="13543113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77">
                <a:solidFill>
                  <a:srgbClr val="FFFFFF"/>
                </a:solidFill>
              </a:defRPr>
            </a:pPr>
            <a:r>
              <a:rPr sz="1377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89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D3F9CDDF-44B9-4FFA-B892-A85C1F08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88550" y="20899315"/>
            <a:ext cx="6131459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E8B44C"/>
                </a:solidFill>
              </a:defRPr>
            </a:pPr>
            <a:r>
              <a:rPr sz="1271" b="1">
                <a:solidFill>
                  <a:srgbClr val="E8B44C"/>
                </a:solidFill>
              </a:rPr>
              <a:t>Approvals current · synthetic boundary locked · editable logo placeholder</a:t>
            </a:r>
          </a:p>
        </p:txBody>
      </p:sp>
      <p:sp>
        <p:nvSpPr>
          <p:cNvPr id="90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4693886A-3C3E-4339-B78B-E480A65F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26418" y="20899315"/>
            <a:ext cx="7883305" cy="282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1" b="1">
                <a:solidFill>
                  <a:srgbClr val="FFFFFF">
                    <a:alpha val="38000"/>
                  </a:srgbClr>
                </a:solidFill>
              </a:defRPr>
            </a:pPr>
            <a:r>
              <a:rPr sz="1271" b="1">
                <a:solidFill>
                  <a:srgbClr val="FFFFFF">
                    <a:alpha val="38000"/>
                  </a:srgbClr>
                </a:solidFill>
              </a:rPr>
              <a:t>Made with PostEx™ · PX-55DF46EF</a:t>
            </a:r>
          </a:p>
        </p:txBody>
      </p:sp>
    </p:spTree>
    <p:extLst>
      <p:ext uri="{BB962C8B-B14F-4D97-AF65-F5344CB8AC3E}">
        <p14:creationId xmlns:p14="http://schemas.microsoft.com/office/powerpoint/2010/main" val="11822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p:coreProperties xmlns:cp="http://schemas.openxmlformats.org/package/2006/metadata/core-properties" xmlns:dc="http://purl.org/dc/elements/1.1/" xmlns:ns2="http://purl.org/dc/terms/" xmlns:xsi="http://www.w3.org/2001/XMLSchema-instance">
  <dc:creator>Walnut Exporter</dc:creator>
  <cp:lastModifiedBy>Walnut Exporter</cp:lastModifiedBy>
  <dc:title>Presentation</dc:title>
  <ns2:created xsi:type="dcterms:W3CDTF">2026-08-10T04:12:37.1510000Z</ns2:created>
  <ns2:modified xsi:type="dcterms:W3CDTF">2026-08-10T04:12:37.1510000Z</ns2:modified>
  <dc:description>{"PostExManifest": "postex-manifest.json", "PostExProjectId": "trusted-cohort-a1", "PostExProvenanceMark": "present", "PostExSourceId": "PX-55DF46EF", "PostExVersion": "0.4.0a1"}</dc:description>
  <cp:keywords>PostEx, trusted export, provenance</cp:keywords>
</cp:coreProperties>
</file>