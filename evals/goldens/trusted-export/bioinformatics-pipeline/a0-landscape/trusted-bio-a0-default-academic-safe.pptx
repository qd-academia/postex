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8ef2e3609d4960" /><Relationship Type="http://schemas.openxmlformats.org/officeDocument/2006/relationships/extended-properties" Target="/docProps/app.xml" Id="R3809f61407a44dcf" /><Relationship Type="http://schemas.openxmlformats.org/officeDocument/2006/relationships/officeDocument" Target="/ppt/presentation.xml" Id="R41c9681527714f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2ff88715294768"/>
  </p:sldMasterIdLst>
  <p:notesMasterIdLst>
    <p:notesMasterId xmlns:r="http://schemas.openxmlformats.org/officeDocument/2006/relationships" r:id="Rdc82ddff977d4c6d"/>
  </p:notesMasterIdLst>
  <p:sldIdLst>
    <p:sldId xmlns:r="http://schemas.openxmlformats.org/officeDocument/2006/relationships" id="256" r:id="R65f744a6409e4a46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8bcc738f6d46d4" /><Relationship Type="http://schemas.openxmlformats.org/officeDocument/2006/relationships/slideMaster" Target="/ppt/slideMasters/slideMaster1.xml" Id="R192ff88715294768" /><Relationship Type="http://schemas.openxmlformats.org/officeDocument/2006/relationships/notesMaster" Target="/ppt/notesMasters/notesMaster1.xml" Id="Rdc82ddff977d4c6d" /><Relationship Type="http://schemas.openxmlformats.org/officeDocument/2006/relationships/presProps" Target="/ppt/presProps.xml" Id="R8c59c1ac24974ae1" /><Relationship Type="http://schemas.openxmlformats.org/officeDocument/2006/relationships/tableStyles" Target="/ppt/tableStyles.xml" Id="R0f824ac14a494eea" /><Relationship Type="http://schemas.openxmlformats.org/officeDocument/2006/relationships/slide" Target="/ppt/slides/slide1.xml" Id="R65f744a6409e4a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7fc9bb44364f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6655301b0e4d2e" /><Relationship Type="http://schemas.openxmlformats.org/officeDocument/2006/relationships/notesMaster" Target="/ppt/notesMasters/notesMaster1.xml" Id="R122ae73ffb2649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AURORA-12-synthetic-manuscript.pdf</a:t>
            </a:r>
          </a:p>
          <a:p xmlns:a="http://schemas.openxmlformats.org/drawingml/2006/main">
            <a:r>
              <a:t>- palette approval sha256:1415dde4c40a1a1652421d6bc9752898c97e4d046e43bf53cdaf31b3423f096d</a:t>
            </a:r>
          </a:p>
          <a:p xmlns:a="http://schemas.openxmlformats.org/drawingml/2006/main">
            <a:r>
              <a:t>- deletion approval sha256:b3bcfd87b6cd4cd79a8feca304aa0ef7040590c30a9ab8a7e1c04c935414a02b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a1b26a66141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b933ecc2874cb2" /><Relationship Type="http://schemas.openxmlformats.org/officeDocument/2006/relationships/slideLayout" Target="/ppt/slideLayouts/slideLayout1.xml" Id="Rf17597affada4a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7597affada4a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b63ead0154a4b" /><Relationship Type="http://schemas.openxmlformats.org/officeDocument/2006/relationships/image" Target="/ppt/media/image.png" Id="R0e5e88035fc046a4" /><Relationship Type="http://schemas.openxmlformats.org/officeDocument/2006/relationships/image" Target="/ppt/media/image.svg" Id="R02ece27905db4a4f" /><Relationship Type="http://schemas.openxmlformats.org/officeDocument/2006/relationships/image" Target="/ppt/media/image2.png" Id="R416ea9ac0df541a2" /><Relationship Type="http://schemas.openxmlformats.org/officeDocument/2006/relationships/image" Target="/ppt/media/image2.svg" Id="R1fcf268a45514383" /><Relationship Type="http://schemas.openxmlformats.org/officeDocument/2006/relationships/image" Target="/ppt/media/image3.png" Id="R6cd04e0324a0439b" /><Relationship Type="http://schemas.openxmlformats.org/officeDocument/2006/relationships/image" Target="/ppt/media/image3.svg" Id="Rd4f7fa70d67049a1" /><Relationship Type="http://schemas.openxmlformats.org/officeDocument/2006/relationships/image" Target="/ppt/media/image4.png" Id="Rc1596dc37e514007" /><Relationship Type="http://schemas.openxmlformats.org/officeDocument/2006/relationships/image" Target="/ppt/media/image4.svg" Id="R6e4d37f10b1547d0" /><Relationship Type="http://schemas.openxmlformats.org/officeDocument/2006/relationships/notesSlide" Target="/ppt/notesSlides/notesSlide1.xml" Id="R29a5399da5f94e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4D830FA-2C87-48F6-8768-5FC07618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95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438803B-FFBD-4D4C-ABF5-48BA1A91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C14D13B0-605E-463D-A6E1-65358A85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2971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AURORA-12</a:t>
            </a:r>
          </a:p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A fully synthetic benchmark for evidence-linked poster generation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D0F7EC61-581E-488E-8C6F-56AD4BF4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943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PostEx Synthetic Research Collective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8CDFDEC5-B988-4E77-B17B-C33FED2F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943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8FA"/>
                </a:solidFill>
              </a:defRPr>
            </a:pPr>
            <a:r>
              <a:rPr sz="2175">
                <a:solidFill>
                  <a:srgbClr val="F6F8FA"/>
                </a:solidFill>
              </a:rPr>
              <a:t>Fictional Methods Laboratory · Example Research Campus · no real authors or institutions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B63F6E7E-169A-4F35-A50E-05182E73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8B44C"/>
                </a:solidFill>
              </a:defRPr>
            </a:pPr>
            <a:r>
              <a:rPr sz="1950" b="1">
                <a:solidFill>
                  <a:srgbClr val="E8B44C"/>
                </a:solidFill>
              </a:rPr>
              <a:t>POSTEX-SYNTH-2026-001 · fully synthetic · CC0-1.0 · no DOI</a:t>
            </a:r>
          </a:p>
        </p:txBody>
      </p:sp>
      <p:sp>
        <p:nvSpPr>
          <p:cNvPr id="7" name="logo-slot-fictional-lab-logo">
            <a:extLst xmlns:a="http://schemas.openxmlformats.org/drawingml/2006/main">
              <a:ext uri="{FF2B5EF4-FFF2-40B4-BE49-F238E27FC236}">
                <a16:creationId xmlns:a16="http://schemas.microsoft.com/office/drawing/2014/main" id="{F4E7E571-8B19-4E3F-A539-0AA45055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552450"/>
            <a:ext cx="933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" name="logo-placeholder-fictional-lab-logo">
            <a:extLst xmlns:a="http://schemas.openxmlformats.org/drawingml/2006/main">
              <a:ext uri="{FF2B5EF4-FFF2-40B4-BE49-F238E27FC236}">
                <a16:creationId xmlns:a16="http://schemas.microsoft.com/office/drawing/2014/main" id="{C48CCB4C-4BFB-4878-B72A-10F47422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550" y="914400"/>
            <a:ext cx="910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5F73"/>
                </a:solidFill>
              </a:defRPr>
            </a:pPr>
            <a:r>
              <a:rPr sz="2025" b="1">
                <a:solidFill>
                  <a:srgbClr val="0F5F73"/>
                </a:solidFill>
              </a:rPr>
              <a:t>Fictional lab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24CAEA73-01B3-424E-9370-BDA8E540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2000250"/>
            <a:ext cx="9334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4565EEF0-82DD-4899-A190-4465557D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1,240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D92858A9-DEFD-494C-9CD9-2BEBB71E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30289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synthetic profiles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FF1C37DD-B6BA-481A-A226-E54A1521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12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951F1193-B25D-455E-8AAA-F5FEF331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30289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anonymous model features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219EA77E-C8EF-4373-9AB7-59409248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4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1A08843E-73AA-44B5-89EB-A7CF97E4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30289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deterministic cohort simulations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CA8FAEE-9392-4B17-A79D-6CE54826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Communication test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DF4BFF92-352C-4BC1-8B87-B9AC7957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38A880A7-A846-469C-86FF-10816780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96050"/>
            <a:ext cx="1162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Can a realistic multi-cohort manuscript exercise evidence-linked poster generation without redistributing a real paper or implying biomedical evidence?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73B20FE3-198F-4315-AE7A-169CD7CF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868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Abstract and Introduction, pp. 1-2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7C78DBD2-30F3-44B8-87FA-3C1F87ED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2392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Deterministic workflow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EECC1837-0EF5-441E-8174-AE562F85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8774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5343A61F-F991-4009-9EA0-CB91BDA6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134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0EEE95EB-9D64-4227-858C-C40E389D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01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5305A6EE-98EE-4251-A477-4320046A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72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Fixed seed generated 1,240 profiles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C9F1FFA8-4DA7-4108-A727-C31347C9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896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4A78F87F-8E6C-4E0D-BBE8-9A2493B8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963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167D2CE2-3FE3-4D25-8FB6-AE9D0899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934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480 anonymous transcript-like features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BB6B3152-5998-4197-81FA-39B3D214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658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37DB879F-2129-407D-89DF-A991F2E1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725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921D55D0-A494-40F8-AB9C-B63D6ECD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696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Nested elastic-net selection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5DBC1BF6-CA79-440D-A837-574D82C1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20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81E83959-904C-47B8-982B-1EE1E921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87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31260076-1586-4B2A-BA43-4FAEB718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458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12-feature score and shift testing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F8775274-626B-42AE-9BF7-4AF1CB61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430250"/>
            <a:ext cx="1162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63FF270E-7D92-41A1-A0E6-30F07789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5F73"/>
                </a:solidFill>
              </a:defRPr>
            </a:pPr>
            <a:r>
              <a:rPr sz="2175" b="1">
                <a:solidFill>
                  <a:srgbClr val="0F5F73"/>
                </a:solidFill>
              </a:rPr>
              <a:t>FOUR SYNTHETIC COHORTS</a:t>
            </a:r>
          </a:p>
        </p:txBody>
      </p:sp>
      <p:sp>
        <p:nvSpPr>
          <p:cNvPr id="36" name="dataset-lead">
            <a:extLst xmlns:a="http://schemas.openxmlformats.org/drawingml/2006/main">
              <a:ext uri="{FF2B5EF4-FFF2-40B4-BE49-F238E27FC236}">
                <a16:creationId xmlns:a16="http://schemas.microsoft.com/office/drawing/2014/main" id="{E3A6FCF6-58A3-4655-822F-1C2D5C90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3987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Four deterministic synthetic cohorts</a:t>
            </a:r>
          </a:p>
        </p:txBody>
      </p:sp>
      <p:sp>
        <p:nvSpPr>
          <p:cNvPr id="37" name="datasets">
            <a:extLst xmlns:a="http://schemas.openxmlformats.org/drawingml/2006/main">
              <a:ext uri="{FF2B5EF4-FFF2-40B4-BE49-F238E27FC236}">
                <a16:creationId xmlns:a16="http://schemas.microsoft.com/office/drawing/2014/main" id="{99B69CA1-293D-46C9-AD76-E0E03708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820900"/>
            <a:ext cx="110871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Discovery n=620 · Internal validation n=310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External A n=186 · External B n=124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No participants, specimens or external datasets</a:t>
            </a:r>
          </a:p>
        </p:txBody>
      </p:sp>
      <p:sp>
        <p:nvSpPr>
          <p:cNvPr id="38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6567C41A-C0EE-4035-8D9F-9203A72F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4115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Abstract and Methods, pp. 1-2</a:t>
            </a:r>
          </a:p>
        </p:txBody>
      </p:sp>
      <p:sp>
        <p:nvSpPr>
          <p:cNvPr id="39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85C71AE2-DC10-4ED8-A64D-D540D0BF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83125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Generation to validation</a:t>
            </a:r>
          </a:p>
        </p:txBody>
      </p:sp>
      <p:sp>
        <p:nvSpPr>
          <p:cNvPr id="40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6E58588A-118A-4025-A58E-B478E86A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2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CCAB6FA6-AAE8-4948-844A-A35E0CE3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40375"/>
            <a:ext cx="11620500" cy="9906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e88035fc046a4">
            <a:extLst>
              <a:ext uri="{96DAC541-7B7A-43D3-8B79-37D633B846F1}">
                <asvg:svgBlip xmlns:asvg="http://schemas.microsoft.com/office/drawing/2016/SVG/main" r:embed="R02ece27905db4a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24000" y="18430875"/>
            <a:ext cx="11239500" cy="8972550"/>
          </a:xfrm>
          <a:prstGeom xmlns:a="http://schemas.openxmlformats.org/drawingml/2006/main" prst="rect">
            <a:avLst/>
          </a:prstGeom>
        </p:spPr>
      </p:pic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84ADF2A0-7319-4621-A6D2-FEA617A7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60575"/>
            <a:ext cx="11163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1 · Deterministic generation and validation workflow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8F44425C-100E-4A88-B514-00BE41D9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84425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Authored synthetic fixture · manuscript p. 2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CA8611DF-0C88-41FA-B060-8EACEE9B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1366837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095A1759-5361-4E13-9DF2-0AB49232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953125"/>
            <a:ext cx="12830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02A43"/>
                </a:solidFill>
              </a:defRPr>
            </a:pPr>
            <a:r>
              <a:rPr sz="4125" b="1">
                <a:solidFill>
                  <a:srgbClr val="102A43"/>
                </a:solidFill>
              </a:rPr>
              <a:t>External C-indices remained 0.75 and 0.74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4E973277-22C6-4EC3-BA6B-A3BABE7C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181850"/>
            <a:ext cx="1233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Synthetic baseline: 0.66 and 0.65 · software fixture, not clinical validation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AE7F61DA-786E-4CA0-8530-1B613E1F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715250"/>
            <a:ext cx="1279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Results, pp. 1 and 3; Figure 2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D9AC2842-3A8B-4992-9C65-3B084D29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620125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Discrimination across shifts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AD097A0B-3E66-4F02-B528-3A140761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258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FDD7BFEF-76AF-48BA-8D87-60477BF2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477375"/>
            <a:ext cx="13668375" cy="1271587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ea9ac0df541a2">
            <a:extLst>
              <a:ext uri="{96DAC541-7B7A-43D3-8B79-37D633B846F1}">
                <asvg:svgBlip xmlns:asvg="http://schemas.microsoft.com/office/drawing/2016/SVG/main" r:embed="R1fcf268a455143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16000" y="9667875"/>
            <a:ext cx="13287375" cy="11782425"/>
          </a:xfrm>
          <a:prstGeom xmlns:a="http://schemas.openxmlformats.org/drawingml/2006/main" prst="rect">
            <a:avLst/>
          </a:prstGeom>
        </p:spPr>
      </p:pic>
      <p:sp>
        <p:nvSpPr>
          <p:cNvPr id="53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15D06928-0A56-4957-B0D6-2019E8F8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507450"/>
            <a:ext cx="13211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2 · Authored discrimination values across cohort shifts</a:t>
            </a:r>
          </a:p>
        </p:txBody>
      </p:sp>
      <p:sp>
        <p:nvSpPr>
          <p:cNvPr id="54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E258504E-69CA-4D1B-A194-D408989E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831300"/>
            <a:ext cx="1321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Authored synthetic fixture · manuscript p. 3</a:t>
            </a:r>
          </a:p>
        </p:txBody>
      </p:sp>
      <p:sp>
        <p:nvSpPr>
          <p:cNvPr id="55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DE8003E2-DA6F-4139-B381-2DEDDEAE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669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Calibration and stress boundary</a:t>
            </a:r>
          </a:p>
        </p:txBody>
      </p:sp>
      <p:sp>
        <p:nvSpPr>
          <p:cNvPr id="56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E0E65843-CD6C-4E3E-A603-BE622C31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0767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335C0F7E-AC81-4E74-A294-AEDECE9D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526750"/>
            <a:ext cx="13668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8" name="validation">
            <a:extLst xmlns:a="http://schemas.openxmlformats.org/drawingml/2006/main">
              <a:ext uri="{FF2B5EF4-FFF2-40B4-BE49-F238E27FC236}">
                <a16:creationId xmlns:a16="http://schemas.microsoft.com/office/drawing/2014/main" id="{A82E90A6-A1BC-46D5-A013-85A953B2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3841075"/>
            <a:ext cx="129825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External calibration slopes were 0.97 and 0.95.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External absolute errors were 0.031 and 0.038.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Aggregate coefficient-sign stability was 92% across 500 resamples.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The most severe pre-specified shift reduced C-index by 0.04.</a:t>
            </a:r>
          </a:p>
        </p:txBody>
      </p:sp>
      <p:sp>
        <p:nvSpPr>
          <p:cNvPr id="59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4A4A0933-DE80-4521-A36D-3638EA77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7117675"/>
            <a:ext cx="1298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Results, pp. 1, 3-4; Figures 3-4</a:t>
            </a:r>
          </a:p>
        </p:txBody>
      </p:sp>
      <p:sp>
        <p:nvSpPr>
          <p:cNvPr id="60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F9D84052-292E-4854-98AC-CB225D45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908250"/>
            <a:ext cx="1366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B0BCF972-62D7-4D26-AB67-6CBA3CF2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0"/>
            <a:ext cx="1302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External validation retained discrimination: C-index 0.75 / 0.74</a:t>
            </a:r>
          </a:p>
        </p:txBody>
      </p:sp>
      <p:sp>
        <p:nvSpPr>
          <p:cNvPr id="62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ED7D7518-9804-4E13-8E5D-3EFBCBD7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5619750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Calibration &amp; stability</a:t>
            </a:r>
          </a:p>
        </p:txBody>
      </p:sp>
      <p:sp>
        <p:nvSpPr>
          <p:cNvPr id="63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4E06C9E4-7787-4DAC-9114-A03F3DE0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C634F2E3-EA78-490C-9E27-8950EBB1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92%</a:t>
            </a:r>
          </a:p>
        </p:txBody>
      </p:sp>
      <p:sp>
        <p:nvSpPr>
          <p:cNvPr id="65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5D6AEC5A-89EA-4C1D-A5B8-12541684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73152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coefficient-sign stability</a:t>
            </a:r>
          </a:p>
        </p:txBody>
      </p:sp>
      <p:sp>
        <p:nvSpPr>
          <p:cNvPr id="66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91241FB1-7F99-4838-9315-938911A1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0.97 / 0.95</a:t>
            </a:r>
          </a:p>
        </p:txBody>
      </p:sp>
      <p:sp>
        <p:nvSpPr>
          <p:cNvPr id="67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9B5C7B75-B8C0-4D5D-B483-9311FD5E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73152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external calibration slopes</a:t>
            </a:r>
          </a:p>
        </p:txBody>
      </p:sp>
      <p:sp>
        <p:nvSpPr>
          <p:cNvPr id="68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4F92D614-D510-4A4F-A9B9-E95A7CE0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E8B44C"/>
                </a:solidFill>
              </a:defRPr>
            </a:pPr>
            <a:r>
              <a:rPr sz="4125" b="1">
                <a:solidFill>
                  <a:srgbClr val="E8B44C"/>
                </a:solidFill>
              </a:rPr>
              <a:t>0.031 / 0.038</a:t>
            </a:r>
          </a:p>
        </p:txBody>
      </p:sp>
      <p:sp>
        <p:nvSpPr>
          <p:cNvPr id="69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A7D0A771-FEBC-4BD9-8030-F13B2E16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73152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external absolute errors</a:t>
            </a:r>
          </a:p>
        </p:txBody>
      </p:sp>
      <p:sp>
        <p:nvSpPr>
          <p:cNvPr id="70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E9432282-A05C-4686-88FF-DA4BB445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8477250"/>
            <a:ext cx="1370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Stability and calibration, p. 4</a:t>
            </a:r>
          </a:p>
        </p:txBody>
      </p:sp>
      <p:sp>
        <p:nvSpPr>
          <p:cNvPr id="71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2B08F19E-6EAD-4610-8E7A-C0751EE0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9191625"/>
            <a:ext cx="13706475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04e0324a0439b">
            <a:extLst>
              <a:ext uri="{96DAC541-7B7A-43D3-8B79-37D633B846F1}">
                <asvg:svgBlip xmlns:asvg="http://schemas.microsoft.com/office/drawing/2016/SVG/main" r:embed="Rd4f7fa70d67049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955875" y="9382125"/>
            <a:ext cx="13325475" cy="5924550"/>
          </a:xfrm>
          <a:prstGeom xmlns:a="http://schemas.openxmlformats.org/drawingml/2006/main" prst="rect">
            <a:avLst/>
          </a:prstGeom>
        </p:spPr>
      </p:pic>
      <p:sp>
        <p:nvSpPr>
          <p:cNvPr id="73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A39240F4-8F17-4261-B7FF-DEC43B31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363825"/>
            <a:ext cx="13249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3 · Calibration and coefficient-sign stability</a:t>
            </a:r>
          </a:p>
        </p:txBody>
      </p:sp>
      <p:sp>
        <p:nvSpPr>
          <p:cNvPr id="74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6162EA13-F177-484D-986A-D934E955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687675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75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B54DB05D-9F1F-4BC8-BD53-C5D49B3D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652587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Pre-specified stress test</a:t>
            </a:r>
          </a:p>
        </p:txBody>
      </p:sp>
      <p:sp>
        <p:nvSpPr>
          <p:cNvPr id="76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BFE58445-1B99-4805-8FD7-2B043035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16405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D159398D-5FA7-42E7-A25C-C318E5FB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383125"/>
            <a:ext cx="13706475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96dc37e514007">
            <a:extLst>
              <a:ext uri="{96DAC541-7B7A-43D3-8B79-37D633B846F1}">
                <asvg:svgBlip xmlns:asvg="http://schemas.microsoft.com/office/drawing/2016/SVG/main" r:embed="R6e4d37f10b1547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955875" y="17573625"/>
            <a:ext cx="13325475" cy="6210300"/>
          </a:xfrm>
          <a:prstGeom xmlns:a="http://schemas.openxmlformats.org/drawingml/2006/main" prst="rect">
            <a:avLst/>
          </a:prstGeom>
        </p:spPr>
      </p:pic>
      <p:sp>
        <p:nvSpPr>
          <p:cNvPr id="79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479454EA-CB2C-4112-9AC5-EA157D63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3841075"/>
            <a:ext cx="13249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4 · Stress-test boundary under increasing shift</a:t>
            </a:r>
          </a:p>
        </p:txBody>
      </p:sp>
      <p:sp>
        <p:nvSpPr>
          <p:cNvPr id="80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6D505109-64F7-4B32-AC56-BB091C5E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4164925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81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49FEC58C-B307-4D80-8824-B9DD4349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00312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Supported conclusion</a:t>
            </a:r>
          </a:p>
        </p:txBody>
      </p:sp>
      <p:sp>
        <p:nvSpPr>
          <p:cNvPr id="82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A4CC4C3F-FF66-47C3-95DF-5D62F58F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64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BDC59087-CEEC-4597-B879-20FFD11C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860375"/>
            <a:ext cx="137064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4" name="conclusion-lead">
            <a:extLst xmlns:a="http://schemas.openxmlformats.org/drawingml/2006/main">
              <a:ext uri="{FF2B5EF4-FFF2-40B4-BE49-F238E27FC236}">
                <a16:creationId xmlns:a16="http://schemas.microsoft.com/office/drawing/2014/main" id="{531C0370-3BE7-4CA2-9738-4462C2DA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174700"/>
            <a:ext cx="13058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A rights-safe methodological test fixture</a:t>
            </a:r>
          </a:p>
        </p:txBody>
      </p:sp>
      <p:sp>
        <p:nvSpPr>
          <p:cNvPr id="85" name="conclusion">
            <a:extLst xmlns:a="http://schemas.openxmlformats.org/drawingml/2006/main">
              <a:ext uri="{FF2B5EF4-FFF2-40B4-BE49-F238E27FC236}">
                <a16:creationId xmlns:a16="http://schemas.microsoft.com/office/drawing/2014/main" id="{F3021A0D-9C31-4A03-94B1-855B5BBE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860500"/>
            <a:ext cx="13058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No biological, prognostic or clinical inference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All cohorts, values and identities are fictional</a:t>
            </a:r>
          </a:p>
        </p:txBody>
      </p:sp>
      <p:sp>
        <p:nvSpPr>
          <p:cNvPr id="86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88CE0DFD-BF80-41EB-93AC-0A3F0F2B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8498800"/>
            <a:ext cx="1305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Discussion and Conclusion, p. 5</a:t>
            </a:r>
          </a:p>
        </p:txBody>
      </p:sp>
      <p:sp>
        <p:nvSpPr>
          <p:cNvPr id="87" name="footer-band">
            <a:extLst xmlns:a="http://schemas.openxmlformats.org/drawingml/2006/main">
              <a:ext uri="{FF2B5EF4-FFF2-40B4-BE49-F238E27FC236}">
                <a16:creationId xmlns:a16="http://schemas.microsoft.com/office/drawing/2014/main" id="{5761F072-658F-47B4-B73C-ECFEED04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0"/>
            <a:ext cx="42805350" cy="9429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6520FB8A-6224-4E8B-9095-916C1430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94175"/>
            <a:ext cx="1914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Original synthetic fixture · CC0-1.0 · evidence coverage 100% · local-only processing</a:t>
            </a:r>
          </a:p>
        </p:txBody>
      </p:sp>
      <p:sp>
        <p:nvSpPr>
          <p:cNvPr id="89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D3FD3043-2316-4020-9230-15EB2B0D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29594175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8B44C"/>
                </a:solidFill>
              </a:defRPr>
            </a:pPr>
            <a:r>
              <a:rPr sz="1800" b="1">
                <a:solidFill>
                  <a:srgbClr val="E8B44C"/>
                </a:solidFill>
              </a:rPr>
              <a:t>Approvals current · synthetic boundary locked · editable logo placeholder</a:t>
            </a:r>
          </a:p>
        </p:txBody>
      </p:sp>
      <p:sp>
        <p:nvSpPr>
          <p:cNvPr id="90" name="POSTEX_PROVENANCE_MARK">
            <a:extLst xmlns:a="http://schemas.openxmlformats.org/drawingml/2006/main">
              <a:ext uri="{FF2B5EF4-FFF2-40B4-BE49-F238E27FC236}">
                <a16:creationId xmlns:a16="http://schemas.microsoft.com/office/drawing/2014/main" id="{DA788A1E-F29B-4B9C-9DB5-E38398DA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2959417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>
                    <a:alpha val="38000"/>
                  </a:srgbClr>
                </a:solidFill>
              </a:defRPr>
            </a:pPr>
            <a:r>
              <a:rPr sz="1800" b="1">
                <a:solidFill>
                  <a:srgbClr val="FFFFFF">
                    <a:alpha val="38000"/>
                  </a:srgbClr>
                </a:solidFill>
              </a:rPr>
              <a:t>Made with PostEx™ · PX-FBFFBF64</a:t>
            </a:r>
          </a:p>
        </p:txBody>
      </p:sp>
    </p:spTree>
    <p:extLst>
      <p:ext uri="{BB962C8B-B14F-4D97-AF65-F5344CB8AC3E}">
        <p14:creationId xmlns:p14="http://schemas.microsoft.com/office/powerpoint/2010/main" val="1427726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creator>Walnut Exporter</dc:creator>
  <cp:lastModifiedBy>Walnut Exporter</cp:lastModifiedBy>
  <dc:title>Presentation</dc:title>
  <ns2:created xsi:type="dcterms:W3CDTF">2026-08-10T04:11:20.6150000Z</ns2:created>
  <ns2:modified xsi:type="dcterms:W3CDTF">2026-08-10T04:11:20.6150000Z</ns2:modified>
  <dc:description>{"PostExManifest": "postex-manifest.json", "PostExProjectId": "trusted-bio-a0", "PostExProvenanceMark": "present", "PostExSourceId": "PX-FBFFBF64", "PostExVersion": "0.4.0a1"}</dc:description>
  <cp:keywords>PostEx, trusted export, provenance</cp:keywords>
</cp:coreProperties>
</file>