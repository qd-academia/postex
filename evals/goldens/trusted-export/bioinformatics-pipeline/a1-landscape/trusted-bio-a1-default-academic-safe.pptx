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afef6d5d1a4e09" /><Relationship Type="http://schemas.openxmlformats.org/officeDocument/2006/relationships/extended-properties" Target="/docProps/app.xml" Id="Rec4d2f8aeff84787" /><Relationship Type="http://schemas.openxmlformats.org/officeDocument/2006/relationships/officeDocument" Target="/ppt/presentation.xml" Id="Rf247a830a7b24d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0c2a4e9c8e4e29"/>
  </p:sldMasterIdLst>
  <p:notesMasterIdLst>
    <p:notesMasterId xmlns:r="http://schemas.openxmlformats.org/officeDocument/2006/relationships" r:id="R15fb5a628a7c49d7"/>
  </p:notesMasterIdLst>
  <p:sldIdLst>
    <p:sldId xmlns:r="http://schemas.openxmlformats.org/officeDocument/2006/relationships" id="256" r:id="R31af8900ec0647ea"/>
  </p:sldIdLst>
  <p:sldSz cx="30279975" cy="21383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dae62fbde748c5" /><Relationship Type="http://schemas.openxmlformats.org/officeDocument/2006/relationships/slideMaster" Target="/ppt/slideMasters/slideMaster1.xml" Id="Re60c2a4e9c8e4e29" /><Relationship Type="http://schemas.openxmlformats.org/officeDocument/2006/relationships/notesMaster" Target="/ppt/notesMasters/notesMaster1.xml" Id="R15fb5a628a7c49d7" /><Relationship Type="http://schemas.openxmlformats.org/officeDocument/2006/relationships/presProps" Target="/ppt/presProps.xml" Id="Rff0f4d8e175d4f59" /><Relationship Type="http://schemas.openxmlformats.org/officeDocument/2006/relationships/tableStyles" Target="/ppt/tableStyles.xml" Id="R1c5fa12fa261440d" /><Relationship Type="http://schemas.openxmlformats.org/officeDocument/2006/relationships/slide" Target="/ppt/slides/slide1.xml" Id="R31af8900ec0647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a6a1f3eec544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6b11026fab4600" /><Relationship Type="http://schemas.openxmlformats.org/officeDocument/2006/relationships/notesMaster" Target="/ppt/notesMasters/notesMaster1.xml" Id="R0ec0559cf69a49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AURORA-12-synthetic-manuscript.pdf</a:t>
            </a:r>
          </a:p>
          <a:p xmlns:a="http://schemas.openxmlformats.org/drawingml/2006/main">
            <a:r>
              <a:t>- palette approval sha256:1415dde4c40a1a1652421d6bc9752898c97e4d046e43bf53cdaf31b3423f096d</a:t>
            </a:r>
          </a:p>
          <a:p xmlns:a="http://schemas.openxmlformats.org/drawingml/2006/main">
            <a:r>
              <a:t>- deletion approval sha256:b3bcfd87b6cd4cd79a8feca304aa0ef7040590c30a9ab8a7e1c04c935414a02b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8379d76054c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f4959826134f37" /><Relationship Type="http://schemas.openxmlformats.org/officeDocument/2006/relationships/slideLayout" Target="/ppt/slideLayouts/slideLayout1.xml" Id="R54fe423df61d42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fe423df61d42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eed961abe49c4" /><Relationship Type="http://schemas.openxmlformats.org/officeDocument/2006/relationships/image" Target="/ppt/media/image.png" Id="R7d7e8b1c7ebd43d6" /><Relationship Type="http://schemas.openxmlformats.org/officeDocument/2006/relationships/image" Target="/ppt/media/image.svg" Id="Rcf9aeaea76bb45a9" /><Relationship Type="http://schemas.openxmlformats.org/officeDocument/2006/relationships/image" Target="/ppt/media/image2.png" Id="R50777d1794424468" /><Relationship Type="http://schemas.openxmlformats.org/officeDocument/2006/relationships/image" Target="/ppt/media/image2.svg" Id="Rdde188d0f11449ea" /><Relationship Type="http://schemas.openxmlformats.org/officeDocument/2006/relationships/image" Target="/ppt/media/image3.png" Id="R0bf24a3f2bd647c4" /><Relationship Type="http://schemas.openxmlformats.org/officeDocument/2006/relationships/image" Target="/ppt/media/image3.svg" Id="R516c25518f28454d" /><Relationship Type="http://schemas.openxmlformats.org/officeDocument/2006/relationships/image" Target="/ppt/media/image4.png" Id="R0533acd25249460f" /><Relationship Type="http://schemas.openxmlformats.org/officeDocument/2006/relationships/image" Target="/ppt/media/image4.svg" Id="Rdcbe52cb6e2d48d7" /><Relationship Type="http://schemas.openxmlformats.org/officeDocument/2006/relationships/notesSlide" Target="/ppt/notesSlides/notesSlide1.xml" Id="R283e5160690e4b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94D12AD-37A5-430E-B8A1-654D290F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497793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C5122771-8677-4C6A-B222-72B2C5D1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BF035258-D32C-49AC-A705-DE787D77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17045"/>
            <a:ext cx="21022146" cy="1547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91" b="1">
                <a:solidFill>
                  <a:srgbClr val="FFFFFF"/>
                </a:solidFill>
              </a:defRPr>
            </a:pPr>
            <a:r>
              <a:rPr sz="5191" b="1">
                <a:solidFill>
                  <a:srgbClr val="FFFFFF"/>
                </a:solidFill>
              </a:rPr>
              <a:t>AURORA-12</a:t>
            </a:r>
          </a:p>
          <a:p xmlns:a="http://schemas.openxmlformats.org/drawingml/2006/main">
            <a:pPr>
              <a:defRPr sz="5191" b="1">
                <a:solidFill>
                  <a:srgbClr val="FFFFFF"/>
                </a:solidFill>
              </a:defRPr>
            </a:pPr>
            <a:r>
              <a:rPr sz="5191" b="1">
                <a:solidFill>
                  <a:srgbClr val="FFFFFF"/>
                </a:solidFill>
              </a:rPr>
              <a:t>A fully synthetic benchmark for evidence-linked poster generation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54288890-058A-4C1A-BD4D-FB885C30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058317"/>
            <a:ext cx="20820010" cy="443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60" b="1">
                <a:solidFill>
                  <a:srgbClr val="FFFFFF"/>
                </a:solidFill>
              </a:defRPr>
            </a:pPr>
            <a:r>
              <a:rPr sz="1960" b="1">
                <a:solidFill>
                  <a:srgbClr val="FFFFFF"/>
                </a:solidFill>
              </a:rPr>
              <a:t>PostEx Synthetic Research Collective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53571279-EFD3-4745-B3B1-C8C95901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569533"/>
            <a:ext cx="20820010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6">
                <a:solidFill>
                  <a:srgbClr val="F6F8FA"/>
                </a:solidFill>
              </a:defRPr>
            </a:pPr>
            <a:r>
              <a:rPr sz="1536">
                <a:solidFill>
                  <a:srgbClr val="F6F8FA"/>
                </a:solidFill>
              </a:rPr>
              <a:t>Fictional Methods Laboratory · Example Research Campus · no real authors or institutions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B02531DE-89BF-49F4-B523-92CE12DE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993304"/>
            <a:ext cx="17181561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77" b="1">
                <a:solidFill>
                  <a:srgbClr val="E8B44C"/>
                </a:solidFill>
              </a:defRPr>
            </a:pPr>
            <a:r>
              <a:rPr sz="1377" b="1">
                <a:solidFill>
                  <a:srgbClr val="E8B44C"/>
                </a:solidFill>
              </a:rPr>
              <a:t>POSTEX-SYNTH-2026-001 · fully synthetic · CC0-1.0 · no DOI</a:t>
            </a:r>
          </a:p>
        </p:txBody>
      </p:sp>
      <p:sp>
        <p:nvSpPr>
          <p:cNvPr id="7" name="logo-slot-fictional-lab-logo">
            <a:extLst xmlns:a="http://schemas.openxmlformats.org/drawingml/2006/main">
              <a:ext uri="{FF2B5EF4-FFF2-40B4-BE49-F238E27FC236}">
                <a16:creationId xmlns:a16="http://schemas.microsoft.com/office/drawing/2014/main" id="{6737BD2B-3915-4C31-8ECD-615936AA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6612" y="390138"/>
            <a:ext cx="6603110" cy="874448"/>
          </a:xfrm>
          <a:prstGeom xmlns:a="http://schemas.openxmlformats.org/drawingml/2006/main" prst="roundRect">
            <a:avLst>
              <a:gd name="adj" fmla="val 8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8" name="logo-placeholder-fictional-lab-logo">
            <a:extLst xmlns:a="http://schemas.openxmlformats.org/drawingml/2006/main">
              <a:ext uri="{FF2B5EF4-FFF2-40B4-BE49-F238E27FC236}">
                <a16:creationId xmlns:a16="http://schemas.microsoft.com/office/drawing/2014/main" id="{B9A9EC17-7FEE-41E4-909A-39C3E843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7467" y="645746"/>
            <a:ext cx="6441401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30" b="1">
                <a:solidFill>
                  <a:srgbClr val="0F5F73"/>
                </a:solidFill>
              </a:defRPr>
            </a:pPr>
            <a:r>
              <a:rPr sz="1430" b="1">
                <a:solidFill>
                  <a:srgbClr val="0F5F73"/>
                </a:solidFill>
              </a:rPr>
              <a:t>Fictional lab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A9DD45E3-3AFE-4488-AADA-312E0ADA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6612" y="1412570"/>
            <a:ext cx="6603110" cy="1614366"/>
          </a:xfrm>
          <a:prstGeom xmlns:a="http://schemas.openxmlformats.org/drawingml/2006/main" prst="roundRect">
            <a:avLst>
              <a:gd name="adj" fmla="val 94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0225AE5E-5588-4FBF-ADD8-B6FC763C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26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0F5F73"/>
                </a:solidFill>
              </a:defRPr>
            </a:pPr>
            <a:r>
              <a:rPr sz="3602" b="1">
                <a:solidFill>
                  <a:srgbClr val="0F5F73"/>
                </a:solidFill>
              </a:rPr>
              <a:t>1,240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FD727B47-41B7-4316-8CDB-9CB9F20A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26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synthetic profiles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ED858DC0-2E93-4890-ADAF-545C0FCA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962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2C8C99"/>
                </a:solidFill>
              </a:defRPr>
            </a:pPr>
            <a:r>
              <a:rPr sz="3602" b="1">
                <a:solidFill>
                  <a:srgbClr val="2C8C99"/>
                </a:solidFill>
              </a:rPr>
              <a:t>12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A8DFFF13-44F4-42B0-BEDA-7EE98BC8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962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anonymous model features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5BC5CC56-A793-4834-ACBA-16E2E40A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098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E8B44C"/>
                </a:solidFill>
              </a:defRPr>
            </a:pPr>
            <a:r>
              <a:rPr sz="3602" b="1">
                <a:solidFill>
                  <a:srgbClr val="E8B44C"/>
                </a:solidFill>
              </a:rPr>
              <a:t>4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58ECD240-13FE-48BE-8A97-FA373823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098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deterministic cohort simulations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16879E3-CFFD-4494-B1AC-41F7602A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3968650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Communication test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6CE4B620-CF4B-4715-AE9E-6EFB731F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41932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DA65F6E0-5AF4-4A41-B545-01FF1EC4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587490"/>
            <a:ext cx="8220198" cy="1479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Can a realistic multi-cohort manuscript exercise evidence-linked poster generation without redistributing a real paper or implying biomedical evidence?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0259B71F-0AA3-4A54-8D0A-37BA2796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134591"/>
            <a:ext cx="8220198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Abstract and Introduction, pp. 1-2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3D422C59-34E4-4518-A9EC-EFD3062D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524730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Deterministic workflow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25D865DA-7AF9-4856-8C44-619A1AB7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97540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3ECF4821-DDEE-417D-A6DA-CBF2EA1F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157023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C8E07AEA-30B4-4B22-B792-E0115FDB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204109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F1944742-7C0E-4925-9176-EBB6AEAB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7183929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Fixed seed generated 1,240 profiles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CC82D89D-D181-469B-872D-8CC0BAF7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695145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F5E1296B-B714-4D2E-A563-2637FFB5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742231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D7E7AA60-7356-4940-BF49-176B8561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7722051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480 anonymous transcript-like features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B6AD2C45-8792-4F30-AB58-8AA2C538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233267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F19BA3E5-7E36-460A-92CC-454E8B17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280353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CADE8B26-3452-4581-B932-18CDC600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8260173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Nested elastic-net selection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1B35FF40-BB99-4513-8445-6D329A9C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771389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63B69991-A807-4F7D-968E-CBE222F1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818475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8B3A4CD9-DF78-419D-B6B0-498F4AA5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8798296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12-feature score and shift testing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42C81E33-246A-43D3-9A44-7E581F3A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9484401"/>
            <a:ext cx="8220198" cy="2421549"/>
          </a:xfrm>
          <a:prstGeom xmlns:a="http://schemas.openxmlformats.org/drawingml/2006/main" prst="roundRect">
            <a:avLst>
              <a:gd name="adj" fmla="val 47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ED0E7E75-ED27-4BAC-A33F-1BD5C9B6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9686197"/>
            <a:ext cx="3099419" cy="269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6" b="1">
                <a:solidFill>
                  <a:srgbClr val="0F5F73"/>
                </a:solidFill>
              </a:defRPr>
            </a:pPr>
            <a:r>
              <a:rPr sz="1536" b="1">
                <a:solidFill>
                  <a:srgbClr val="0F5F73"/>
                </a:solidFill>
              </a:rPr>
              <a:t>FOUR SYNTHETIC COHORTS</a:t>
            </a:r>
          </a:p>
        </p:txBody>
      </p:sp>
      <p:sp>
        <p:nvSpPr>
          <p:cNvPr id="36" name="dataset-lead">
            <a:extLst xmlns:a="http://schemas.openxmlformats.org/drawingml/2006/main">
              <a:ext uri="{FF2B5EF4-FFF2-40B4-BE49-F238E27FC236}">
                <a16:creationId xmlns:a16="http://schemas.microsoft.com/office/drawing/2014/main" id="{91615EA1-3AA9-45FB-86EE-BC1F7988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0056156"/>
            <a:ext cx="7842877" cy="36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 b="1">
                <a:solidFill>
                  <a:srgbClr val="102A43"/>
                </a:solidFill>
              </a:defRPr>
            </a:pPr>
            <a:r>
              <a:rPr sz="2013" b="1">
                <a:solidFill>
                  <a:srgbClr val="102A43"/>
                </a:solidFill>
              </a:rPr>
              <a:t>Four deterministic synthetic cohorts</a:t>
            </a:r>
          </a:p>
        </p:txBody>
      </p:sp>
      <p:sp>
        <p:nvSpPr>
          <p:cNvPr id="37" name="datasets">
            <a:extLst xmlns:a="http://schemas.openxmlformats.org/drawingml/2006/main">
              <a:ext uri="{FF2B5EF4-FFF2-40B4-BE49-F238E27FC236}">
                <a16:creationId xmlns:a16="http://schemas.microsoft.com/office/drawing/2014/main" id="{E3826A7A-76C9-45DF-88A1-186AFBA7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0466474"/>
            <a:ext cx="7842877" cy="1042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Discovery n=620 · Internal validation n=310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External A n=186 · External B n=124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No participants, specimens or external datasets</a:t>
            </a:r>
          </a:p>
        </p:txBody>
      </p:sp>
      <p:sp>
        <p:nvSpPr>
          <p:cNvPr id="38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5545212A-B20B-487C-8660-74310EB0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1589804"/>
            <a:ext cx="7842877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Abstract and Methods, pp. 1-2</a:t>
            </a:r>
          </a:p>
        </p:txBody>
      </p:sp>
      <p:sp>
        <p:nvSpPr>
          <p:cNvPr id="39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6A8E18BB-CF2F-4746-A45F-BA53BF62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275909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Generation to validation</a:t>
            </a:r>
          </a:p>
        </p:txBody>
      </p:sp>
      <p:sp>
        <p:nvSpPr>
          <p:cNvPr id="40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7A09E81F-AC25-4D02-B249-A25EE5E9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72658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CCE8442E-6197-4A6B-ACF8-E55B53CF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881297"/>
            <a:ext cx="8220198" cy="6995587"/>
          </a:xfrm>
          <a:prstGeom xmlns:a="http://schemas.openxmlformats.org/drawingml/2006/main" prst="roundRect">
            <a:avLst>
              <a:gd name="adj" fmla="val 1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e8b1c7ebd43d6">
            <a:extLst>
              <a:ext uri="{96DAC541-7B7A-43D3-8B79-37D633B846F1}">
                <asvg:svgBlip xmlns:asvg="http://schemas.microsoft.com/office/drawing/2016/SVG/main" r:embed="Rcf9aeaea76bb45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8059" y="13015827"/>
            <a:ext cx="7950683" cy="6336387"/>
          </a:xfrm>
          <a:prstGeom xmlns:a="http://schemas.openxmlformats.org/drawingml/2006/main" prst="rect">
            <a:avLst/>
          </a:prstGeom>
        </p:spPr>
      </p:pic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8B89E402-A262-4EFA-8B8B-EA0AC54E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0" y="19392573"/>
            <a:ext cx="7896780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Figure 1 · Deterministic generation and validation workflow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A6A37975-4776-4D8B-85B8-B3CA8113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0" y="19621275"/>
            <a:ext cx="7896780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Authored synthetic fixture · manuscript p. 2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29D8E3EA-1364-40C0-A16C-FED8E22B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3968650"/>
            <a:ext cx="9668839" cy="1782529"/>
          </a:xfrm>
          <a:prstGeom xmlns:a="http://schemas.openxmlformats.org/drawingml/2006/main" prst="roundRect">
            <a:avLst>
              <a:gd name="adj" fmla="val 855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BF18D4F1-F585-4B66-A64D-61302869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238" y="4204079"/>
            <a:ext cx="9075907" cy="6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13" b="1">
                <a:solidFill>
                  <a:srgbClr val="102A43"/>
                </a:solidFill>
              </a:defRPr>
            </a:pPr>
            <a:r>
              <a:rPr sz="2913" b="1">
                <a:solidFill>
                  <a:srgbClr val="102A43"/>
                </a:solidFill>
              </a:rPr>
              <a:t>External C-indices remained 0.75 and 0.74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558082A1-DE57-440E-AC06-B1966883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422" y="5071800"/>
            <a:ext cx="8725538" cy="322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95" b="1">
                <a:solidFill>
                  <a:srgbClr val="102A43"/>
                </a:solidFill>
              </a:defRPr>
            </a:pPr>
            <a:r>
              <a:rPr sz="1695" b="1">
                <a:solidFill>
                  <a:srgbClr val="102A43"/>
                </a:solidFill>
              </a:rPr>
              <a:t>Synthetic baseline: 0.66 and 0.65 · software fixture, not clinical validation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F3ECE0D4-B5E5-4C3E-BA39-AA4B7D9B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713" y="5448486"/>
            <a:ext cx="9048956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Results, pp. 1 and 3; Figure 2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7EEAF90E-437D-4492-85C8-45DA5854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087506"/>
            <a:ext cx="9668839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Discrimination across shifts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8BAAA89E-02B3-4556-8AE2-D2F74DFD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538183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AEDB87F3-EB74-40AB-8AEF-72BF92AA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692893"/>
            <a:ext cx="9668839" cy="8979912"/>
          </a:xfrm>
          <a:prstGeom xmlns:a="http://schemas.openxmlformats.org/drawingml/2006/main" prst="roundRect">
            <a:avLst>
              <a:gd name="adj" fmla="val 1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77d1794424468">
            <a:extLst>
              <a:ext uri="{96DAC541-7B7A-43D3-8B79-37D633B846F1}">
                <asvg:svgBlip xmlns:asvg="http://schemas.microsoft.com/office/drawing/2016/SVG/main" r:embed="Rdde188d0f11449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02529" y="6827424"/>
            <a:ext cx="9399325" cy="8320712"/>
          </a:xfrm>
          <a:prstGeom xmlns:a="http://schemas.openxmlformats.org/drawingml/2006/main" prst="rect">
            <a:avLst/>
          </a:prstGeom>
        </p:spPr>
      </p:pic>
      <p:sp>
        <p:nvSpPr>
          <p:cNvPr id="53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A54B0B05-6117-4816-A78E-4BF33B16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480" y="15188495"/>
            <a:ext cx="9345422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Figure 2 · Authored discrimination values across cohort shifts</a:t>
            </a:r>
          </a:p>
        </p:txBody>
      </p:sp>
      <p:sp>
        <p:nvSpPr>
          <p:cNvPr id="54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B82931AF-42A1-4CC9-B6A0-2BB791C3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480" y="15417197"/>
            <a:ext cx="9345422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Authored synthetic fixture · manuscript p. 3</a:t>
            </a:r>
          </a:p>
        </p:txBody>
      </p:sp>
      <p:sp>
        <p:nvSpPr>
          <p:cNvPr id="55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C3C28074-60E1-4EAF-96DF-10F68942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009131"/>
            <a:ext cx="9668839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Calibration and stress boundary</a:t>
            </a:r>
          </a:p>
        </p:txBody>
      </p:sp>
      <p:sp>
        <p:nvSpPr>
          <p:cNvPr id="56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037BA52E-6546-4E65-B2FE-B47834EF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459808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72A1677D-8CC8-4824-BC0A-4E1A4055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614518"/>
            <a:ext cx="9668839" cy="2858773"/>
          </a:xfrm>
          <a:prstGeom xmlns:a="http://schemas.openxmlformats.org/drawingml/2006/main" prst="roundRect">
            <a:avLst>
              <a:gd name="adj" fmla="val 3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58" name="validation">
            <a:extLst xmlns:a="http://schemas.openxmlformats.org/drawingml/2006/main">
              <a:ext uri="{FF2B5EF4-FFF2-40B4-BE49-F238E27FC236}">
                <a16:creationId xmlns:a16="http://schemas.microsoft.com/office/drawing/2014/main" id="{DE8BE82A-93FF-4885-A979-1AC0545E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5" y="16836494"/>
            <a:ext cx="9183713" cy="2085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External calibration slopes were 0.97 and 0.95.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External absolute errors were 0.031 and 0.038.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Aggregate coefficient-sign stability was 92% across 500 resamples.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The most severe pre-specified shift reduced C-index by 0.04.</a:t>
            </a:r>
          </a:p>
        </p:txBody>
      </p:sp>
      <p:sp>
        <p:nvSpPr>
          <p:cNvPr id="59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BB49E08E-B554-427E-8EC7-22BA49D3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5" y="19150418"/>
            <a:ext cx="918371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Results, pp. 1, 3-4; Figures 3-4</a:t>
            </a:r>
          </a:p>
        </p:txBody>
      </p:sp>
      <p:sp>
        <p:nvSpPr>
          <p:cNvPr id="60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21EE3751-EFC9-4C98-B189-06DF0456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9708720"/>
            <a:ext cx="9668839" cy="773550"/>
          </a:xfrm>
          <a:prstGeom xmlns:a="http://schemas.openxmlformats.org/drawingml/2006/main" prst="roundRect">
            <a:avLst>
              <a:gd name="adj" fmla="val 14776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93B1ABAB-1A7A-4035-BC66-FBADD116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859" y="19910516"/>
            <a:ext cx="9210664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1" b="1">
                <a:solidFill>
                  <a:srgbClr val="FFFFFF"/>
                </a:solidFill>
              </a:defRPr>
            </a:pPr>
            <a:r>
              <a:rPr sz="1801" b="1">
                <a:solidFill>
                  <a:srgbClr val="FFFFFF"/>
                </a:solidFill>
              </a:rPr>
              <a:t>External validation retained discrimination: C-index 0.75 / 0.74</a:t>
            </a:r>
          </a:p>
        </p:txBody>
      </p:sp>
      <p:sp>
        <p:nvSpPr>
          <p:cNvPr id="62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CA301074-327F-45F4-9C6E-DA1B0FBB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3968650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Calibration &amp; stability</a:t>
            </a:r>
          </a:p>
        </p:txBody>
      </p:sp>
      <p:sp>
        <p:nvSpPr>
          <p:cNvPr id="63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35219CA8-D37D-4279-A5C2-72DAA9CA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441932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8563C5C1-C7F2-464C-B2E5-160A5A0D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0F5F73"/>
                </a:solidFill>
              </a:defRPr>
            </a:pPr>
            <a:r>
              <a:rPr sz="3602" b="1">
                <a:solidFill>
                  <a:srgbClr val="0F5F73"/>
                </a:solidFill>
              </a:rPr>
              <a:t>92%</a:t>
            </a:r>
          </a:p>
        </p:txBody>
      </p:sp>
      <p:sp>
        <p:nvSpPr>
          <p:cNvPr id="65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F772AF67-C3D0-4327-95AE-241A8005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coefficient-sign stability</a:t>
            </a:r>
          </a:p>
        </p:txBody>
      </p:sp>
      <p:sp>
        <p:nvSpPr>
          <p:cNvPr id="66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334E7F0A-36DE-48FE-9734-7F08E250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370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2C8C99"/>
                </a:solidFill>
              </a:defRPr>
            </a:pPr>
            <a:r>
              <a:rPr sz="3602" b="1">
                <a:solidFill>
                  <a:srgbClr val="2C8C99"/>
                </a:solidFill>
              </a:rPr>
              <a:t>0.97 / 0.95</a:t>
            </a:r>
          </a:p>
        </p:txBody>
      </p:sp>
      <p:sp>
        <p:nvSpPr>
          <p:cNvPr id="67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251BA3AA-AFEF-4FC9-BE1A-490BF569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370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external calibration slopes</a:t>
            </a:r>
          </a:p>
        </p:txBody>
      </p:sp>
      <p:sp>
        <p:nvSpPr>
          <p:cNvPr id="68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C622ACE4-B22D-4EA1-B73D-6B0D08B6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857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13" b="1">
                <a:solidFill>
                  <a:srgbClr val="E8B44C"/>
                </a:solidFill>
              </a:defRPr>
            </a:pPr>
            <a:r>
              <a:rPr sz="2913" b="1">
                <a:solidFill>
                  <a:srgbClr val="E8B44C"/>
                </a:solidFill>
              </a:rPr>
              <a:t>0.031 / 0.038</a:t>
            </a:r>
          </a:p>
        </p:txBody>
      </p:sp>
      <p:sp>
        <p:nvSpPr>
          <p:cNvPr id="69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EE9377C5-095C-4AD1-8CEB-21A24CB1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857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external absolute errors</a:t>
            </a:r>
          </a:p>
        </p:txBody>
      </p:sp>
      <p:sp>
        <p:nvSpPr>
          <p:cNvPr id="70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4743DEEC-081B-4536-886E-153435FE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5986608"/>
            <a:ext cx="9695791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Stability and calibration, p. 4</a:t>
            </a:r>
          </a:p>
        </p:txBody>
      </p:sp>
      <p:sp>
        <p:nvSpPr>
          <p:cNvPr id="71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6E5BE218-1E98-425D-9AAF-1C179CE8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6491097"/>
            <a:ext cx="9695791" cy="4843098"/>
          </a:xfrm>
          <a:prstGeom xmlns:a="http://schemas.openxmlformats.org/drawingml/2006/main" prst="roundRect">
            <a:avLst>
              <a:gd name="adj" fmla="val 23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24a3f2bd647c4">
            <a:extLst>
              <a:ext uri="{96DAC541-7B7A-43D3-8B79-37D633B846F1}">
                <asvg:svgBlip xmlns:asvg="http://schemas.microsoft.com/office/drawing/2016/SVG/main" r:embed="R516c25518f2845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775640" y="6625628"/>
            <a:ext cx="9426276" cy="4183899"/>
          </a:xfrm>
          <a:prstGeom xmlns:a="http://schemas.openxmlformats.org/drawingml/2006/main" prst="rect">
            <a:avLst/>
          </a:prstGeom>
        </p:spPr>
      </p:pic>
      <p:sp>
        <p:nvSpPr>
          <p:cNvPr id="73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119A74EB-54B4-451C-916B-EFFE3C71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0849886"/>
            <a:ext cx="9372373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Figure 3 · Calibration and coefficient-sign stability</a:t>
            </a:r>
          </a:p>
        </p:txBody>
      </p:sp>
      <p:sp>
        <p:nvSpPr>
          <p:cNvPr id="74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47314E35-1ECD-4F4D-BEEF-A535E671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1078588"/>
            <a:ext cx="937237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75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A7135F7B-E5B8-4220-9C23-B4F8C5D9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1670522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Pre-specified stress test</a:t>
            </a:r>
          </a:p>
        </p:txBody>
      </p:sp>
      <p:sp>
        <p:nvSpPr>
          <p:cNvPr id="76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186EFE15-49D8-486D-90B9-3ABE3AD7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2121199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BEBA506F-E228-43F6-90C1-338A30AA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2275909"/>
            <a:ext cx="9695791" cy="5044894"/>
          </a:xfrm>
          <a:prstGeom xmlns:a="http://schemas.openxmlformats.org/drawingml/2006/main" prst="roundRect">
            <a:avLst>
              <a:gd name="adj" fmla="val 22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3acd25249460f">
            <a:extLst>
              <a:ext uri="{96DAC541-7B7A-43D3-8B79-37D633B846F1}">
                <asvg:svgBlip xmlns:asvg="http://schemas.microsoft.com/office/drawing/2016/SVG/main" r:embed="Rdcbe52cb6e2d48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775640" y="12410440"/>
            <a:ext cx="9426276" cy="4385695"/>
          </a:xfrm>
          <a:prstGeom xmlns:a="http://schemas.openxmlformats.org/drawingml/2006/main" prst="rect">
            <a:avLst/>
          </a:prstGeom>
        </p:spPr>
      </p:pic>
      <p:sp>
        <p:nvSpPr>
          <p:cNvPr id="79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B4905DA0-853A-40D8-B7B2-6E07E019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6836494"/>
            <a:ext cx="9372373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Figure 4 · Stress-test boundary under increasing shift</a:t>
            </a:r>
          </a:p>
        </p:txBody>
      </p:sp>
      <p:sp>
        <p:nvSpPr>
          <p:cNvPr id="80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C8F99EC8-2063-4C00-A924-7503A885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7065196"/>
            <a:ext cx="937237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81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C29A3274-ADB3-486E-954B-EC967CF4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7657130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Supported conclusion</a:t>
            </a:r>
          </a:p>
        </p:txBody>
      </p:sp>
      <p:sp>
        <p:nvSpPr>
          <p:cNvPr id="82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7266CF19-CDA1-46A3-A8BA-4F931042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810780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3D213E09-4F4E-4239-A1FE-867D834A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8262517"/>
            <a:ext cx="9695791" cy="2219753"/>
          </a:xfrm>
          <a:prstGeom xmlns:a="http://schemas.openxmlformats.org/drawingml/2006/main" prst="roundRect">
            <a:avLst>
              <a:gd name="adj" fmla="val 5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84" name="conclusion-lead">
            <a:extLst xmlns:a="http://schemas.openxmlformats.org/drawingml/2006/main">
              <a:ext uri="{FF2B5EF4-FFF2-40B4-BE49-F238E27FC236}">
                <a16:creationId xmlns:a16="http://schemas.microsoft.com/office/drawing/2014/main" id="{83C04F0B-36B4-433F-96AE-9A43CBD0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18484492"/>
            <a:ext cx="9237616" cy="430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19" b="1">
                <a:solidFill>
                  <a:srgbClr val="102A43"/>
                </a:solidFill>
              </a:defRPr>
            </a:pPr>
            <a:r>
              <a:rPr sz="2119" b="1">
                <a:solidFill>
                  <a:srgbClr val="102A43"/>
                </a:solidFill>
              </a:rPr>
              <a:t>A rights-safe methodological test fixture</a:t>
            </a:r>
          </a:p>
        </p:txBody>
      </p:sp>
      <p:sp>
        <p:nvSpPr>
          <p:cNvPr id="85" name="conclusion">
            <a:extLst xmlns:a="http://schemas.openxmlformats.org/drawingml/2006/main">
              <a:ext uri="{FF2B5EF4-FFF2-40B4-BE49-F238E27FC236}">
                <a16:creationId xmlns:a16="http://schemas.microsoft.com/office/drawing/2014/main" id="{1EED401E-9A9B-468B-84EB-A6C485D3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18968802"/>
            <a:ext cx="9237616" cy="1062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No biological, prognostic or clinical inference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All cohorts, values and identities are fictional</a:t>
            </a:r>
          </a:p>
        </p:txBody>
      </p:sp>
      <p:sp>
        <p:nvSpPr>
          <p:cNvPr id="86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F4870B9E-B687-4C8D-B04A-03F11242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20125765"/>
            <a:ext cx="9237616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Discussion and Conclusion, p. 5</a:t>
            </a:r>
          </a:p>
        </p:txBody>
      </p:sp>
      <p:sp>
        <p:nvSpPr>
          <p:cNvPr id="87" name="footer-band">
            <a:extLst xmlns:a="http://schemas.openxmlformats.org/drawingml/2006/main">
              <a:ext uri="{FF2B5EF4-FFF2-40B4-BE49-F238E27FC236}">
                <a16:creationId xmlns:a16="http://schemas.microsoft.com/office/drawing/2014/main" id="{9572564F-4827-4AED-A544-7201B1AB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17699"/>
            <a:ext cx="30279975" cy="66592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F180FCC-7359-41E0-B72C-C89C6DF1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20899315"/>
            <a:ext cx="13543113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77">
                <a:solidFill>
                  <a:srgbClr val="FFFFFF"/>
                </a:solidFill>
              </a:defRPr>
            </a:pPr>
            <a:r>
              <a:rPr sz="1377">
                <a:solidFill>
                  <a:srgbClr val="FFFFFF"/>
                </a:solidFill>
              </a:rPr>
              <a:t>Original synthetic fixture · CC0-1.0 · evidence coverage 100% · local-only processing</a:t>
            </a:r>
          </a:p>
        </p:txBody>
      </p:sp>
      <p:sp>
        <p:nvSpPr>
          <p:cNvPr id="89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FC1A29EE-9F21-4708-B148-BB118A24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8550" y="20899315"/>
            <a:ext cx="6131459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1" b="1">
                <a:solidFill>
                  <a:srgbClr val="E8B44C"/>
                </a:solidFill>
              </a:defRPr>
            </a:pPr>
            <a:r>
              <a:rPr sz="1271" b="1">
                <a:solidFill>
                  <a:srgbClr val="E8B44C"/>
                </a:solidFill>
              </a:rPr>
              <a:t>Approvals current · synthetic boundary locked · editable logo placeholder</a:t>
            </a:r>
          </a:p>
        </p:txBody>
      </p:sp>
      <p:sp>
        <p:nvSpPr>
          <p:cNvPr id="90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184E41AB-74B4-44A7-9574-BCF0AE94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6418" y="20899315"/>
            <a:ext cx="7883305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1" b="1">
                <a:solidFill>
                  <a:srgbClr val="FFFFFF">
                    <a:alpha val="38000"/>
                  </a:srgbClr>
                </a:solidFill>
              </a:defRPr>
            </a:pPr>
            <a:r>
              <a:rPr sz="1271" b="1">
                <a:solidFill>
                  <a:srgbClr val="FFFFFF">
                    <a:alpha val="38000"/>
                  </a:srgbClr>
                </a:solidFill>
              </a:rPr>
              <a:t>Made with PostEx™ · PX-7B014048</a:t>
            </a:r>
          </a:p>
        </p:txBody>
      </p:sp>
    </p:spTree>
    <p:extLst>
      <p:ext uri="{BB962C8B-B14F-4D97-AF65-F5344CB8AC3E}">
        <p14:creationId xmlns:p14="http://schemas.microsoft.com/office/powerpoint/2010/main" val="2003675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creator>Walnut Exporter</dc:creator>
  <cp:lastModifiedBy>Walnut Exporter</cp:lastModifiedBy>
  <dc:title>Presentation</dc:title>
  <ns2:created xsi:type="dcterms:W3CDTF">2026-08-10T04:11:38.1870000Z</ns2:created>
  <ns2:modified xsi:type="dcterms:W3CDTF">2026-08-10T04:11:38.1870000Z</ns2:modified>
  <dc:description>{"PostExManifest": "postex-manifest.json", "PostExProjectId": "trusted-bio-a1", "PostExProvenanceMark": "present", "PostExSourceId": "PX-7B014048", "PostExVersion": "0.4.0a1"}</dc:description>
  <cp:keywords>PostEx, trusted export, provenance</cp:keywords>
</cp:coreProperties>
</file>