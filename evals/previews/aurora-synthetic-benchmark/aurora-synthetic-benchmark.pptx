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ab095ab665419d" /><Relationship Type="http://schemas.openxmlformats.org/officeDocument/2006/relationships/extended-properties" Target="/docProps/app.xml" Id="R09c740b1da3046bb" /><Relationship Type="http://schemas.openxmlformats.org/officeDocument/2006/relationships/officeDocument" Target="/ppt/presentation.xml" Id="Rff58994e79a347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5b990f9bb746b3"/>
  </p:sldMasterIdLst>
  <p:notesMasterIdLst>
    <p:notesMasterId xmlns:r="http://schemas.openxmlformats.org/officeDocument/2006/relationships" r:id="R8fd7a68502194b63"/>
  </p:notesMasterIdLst>
  <p:sldIdLst>
    <p:sldId xmlns:r="http://schemas.openxmlformats.org/officeDocument/2006/relationships" id="256" r:id="Rbbdf3b8e2f7b4424"/>
  </p:sldIdLst>
  <p:sldSz cx="42805350" cy="3027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7ed9f3f3be4176" /><Relationship Type="http://schemas.openxmlformats.org/officeDocument/2006/relationships/slideMaster" Target="/ppt/slideMasters/slideMaster1.xml" Id="R335b990f9bb746b3" /><Relationship Type="http://schemas.openxmlformats.org/officeDocument/2006/relationships/notesMaster" Target="/ppt/notesMasters/notesMaster1.xml" Id="R8fd7a68502194b63" /><Relationship Type="http://schemas.openxmlformats.org/officeDocument/2006/relationships/presProps" Target="/ppt/presProps.xml" Id="R923da1466f924da0" /><Relationship Type="http://schemas.openxmlformats.org/officeDocument/2006/relationships/tableStyles" Target="/ppt/tableStyles.xml" Id="R11b6754021d34cb9" /><Relationship Type="http://schemas.openxmlformats.org/officeDocument/2006/relationships/slide" Target="/ppt/slides/slide1.xml" Id="Rbbdf3b8e2f7b44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b0e344304c45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b3d88f22d3424b" /><Relationship Type="http://schemas.openxmlformats.org/officeDocument/2006/relationships/notesMaster" Target="/ppt/notesMasters/notesMaster1.xml" Id="R13cf5c32a96147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examples/aurora-synthetic/AURORA-12-synthetic-manuscript.pdf</a:t>
            </a:r>
          </a:p>
          <a:p xmlns:a="http://schemas.openxmlformats.org/drawingml/2006/main">
            <a:r>
              <a:t>- License: CC0-1.0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c017d3e04245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f9e7440da34727" /><Relationship Type="http://schemas.openxmlformats.org/officeDocument/2006/relationships/slideLayout" Target="/ppt/slideLayouts/slideLayout1.xml" Id="R9537e67419124b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37e67419124b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a84ce3c024526" /><Relationship Type="http://schemas.openxmlformats.org/officeDocument/2006/relationships/notesSlide" Target="/ppt/notesSlides/notesSlide1.xml" Id="R19f0060b09a74e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2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7" name="header-band">
            <a:extLst xmlns:a="http://schemas.openxmlformats.org/drawingml/2006/main">
              <a:ext uri="{FF2B5EF4-FFF2-40B4-BE49-F238E27FC236}">
                <a16:creationId xmlns:a16="http://schemas.microsoft.com/office/drawing/2014/main" id="{E2C0ACCE-75DF-4847-B6F5-BFAE51E9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495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E5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cape-gradient-1">
            <a:extLst xmlns:a="http://schemas.openxmlformats.org/drawingml/2006/main">
              <a:ext uri="{FF2B5EF4-FFF2-40B4-BE49-F238E27FC236}">
                <a16:creationId xmlns:a16="http://schemas.microsoft.com/office/drawing/2014/main" id="{4B5C5904-0DDE-4914-BAF8-FC151D62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93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cape-gradient-2">
            <a:extLst xmlns:a="http://schemas.openxmlformats.org/drawingml/2006/main">
              <a:ext uri="{FF2B5EF4-FFF2-40B4-BE49-F238E27FC236}">
                <a16:creationId xmlns:a16="http://schemas.microsoft.com/office/drawing/2014/main" id="{504060CB-225A-4E19-99CA-88F1FA96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667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42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op-cape-gradient-3">
            <a:extLst xmlns:a="http://schemas.openxmlformats.org/drawingml/2006/main">
              <a:ext uri="{FF2B5EF4-FFF2-40B4-BE49-F238E27FC236}">
                <a16:creationId xmlns:a16="http://schemas.microsoft.com/office/drawing/2014/main" id="{4A8E8480-AFDB-4190-BED9-E25F0DD8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334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D4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op-cape-gradient-4">
            <a:extLst xmlns:a="http://schemas.openxmlformats.org/drawingml/2006/main">
              <a:ext uri="{FF2B5EF4-FFF2-40B4-BE49-F238E27FC236}">
                <a16:creationId xmlns:a16="http://schemas.microsoft.com/office/drawing/2014/main" id="{B18FA27B-0219-4ABC-9CAC-4DE7AD12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002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F4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op-cape-gradient-5">
            <a:extLst xmlns:a="http://schemas.openxmlformats.org/drawingml/2006/main">
              <a:ext uri="{FF2B5EF4-FFF2-40B4-BE49-F238E27FC236}">
                <a16:creationId xmlns:a16="http://schemas.microsoft.com/office/drawing/2014/main" id="{C3E4CF1A-D39F-4309-A13F-E70808C3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669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1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op-cape-gradient-6">
            <a:extLst xmlns:a="http://schemas.openxmlformats.org/drawingml/2006/main">
              <a:ext uri="{FF2B5EF4-FFF2-40B4-BE49-F238E27FC236}">
                <a16:creationId xmlns:a16="http://schemas.microsoft.com/office/drawing/2014/main" id="{3B43D6FB-BCD1-4562-BBAB-6066E1D8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336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34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op-cape-gradient-7">
            <a:extLst xmlns:a="http://schemas.openxmlformats.org/drawingml/2006/main">
              <a:ext uri="{FF2B5EF4-FFF2-40B4-BE49-F238E27FC236}">
                <a16:creationId xmlns:a16="http://schemas.microsoft.com/office/drawing/2014/main" id="{1FF9B1DE-E8ED-41B9-A459-DEC9CD13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003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550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op-cape-gradient-8">
            <a:extLst xmlns:a="http://schemas.openxmlformats.org/drawingml/2006/main">
              <a:ext uri="{FF2B5EF4-FFF2-40B4-BE49-F238E27FC236}">
                <a16:creationId xmlns:a16="http://schemas.microsoft.com/office/drawing/2014/main" id="{793AE08B-4361-42FF-A7CA-3BF71278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70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75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op-cape-gradient-9">
            <a:extLst xmlns:a="http://schemas.openxmlformats.org/drawingml/2006/main">
              <a:ext uri="{FF2B5EF4-FFF2-40B4-BE49-F238E27FC236}">
                <a16:creationId xmlns:a16="http://schemas.microsoft.com/office/drawing/2014/main" id="{64999B61-F90F-4571-B69F-8076705D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1338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95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op-cape-gradient-10">
            <a:extLst xmlns:a="http://schemas.openxmlformats.org/drawingml/2006/main">
              <a:ext uri="{FF2B5EF4-FFF2-40B4-BE49-F238E27FC236}">
                <a16:creationId xmlns:a16="http://schemas.microsoft.com/office/drawing/2014/main" id="{D276DF83-43C4-40F3-9108-1A2D8953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005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B5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op-cape-gradient-11">
            <a:extLst xmlns:a="http://schemas.openxmlformats.org/drawingml/2006/main">
              <a:ext uri="{FF2B5EF4-FFF2-40B4-BE49-F238E27FC236}">
                <a16:creationId xmlns:a16="http://schemas.microsoft.com/office/drawing/2014/main" id="{4C759216-C5A8-4594-AA6C-57D70F0F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6672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D5B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op-cape-gradient-12">
            <a:extLst xmlns:a="http://schemas.openxmlformats.org/drawingml/2006/main">
              <a:ext uri="{FF2B5EF4-FFF2-40B4-BE49-F238E27FC236}">
                <a16:creationId xmlns:a16="http://schemas.microsoft.com/office/drawing/2014/main" id="{324AC622-B690-4596-B8A5-F91C4E5D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4339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F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op-cape-gradient-13">
            <a:extLst xmlns:a="http://schemas.openxmlformats.org/drawingml/2006/main">
              <a:ext uri="{FF2B5EF4-FFF2-40B4-BE49-F238E27FC236}">
                <a16:creationId xmlns:a16="http://schemas.microsoft.com/office/drawing/2014/main" id="{BC729C1F-9501-4C17-8520-9B1BE3EF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2006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061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op-cape-gradient-14">
            <a:extLst xmlns:a="http://schemas.openxmlformats.org/drawingml/2006/main">
              <a:ext uri="{FF2B5EF4-FFF2-40B4-BE49-F238E27FC236}">
                <a16:creationId xmlns:a16="http://schemas.microsoft.com/office/drawing/2014/main" id="{6147E16F-8FD3-4F47-B980-2D33A37A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9673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1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op-cape-gradient-15">
            <a:extLst xmlns:a="http://schemas.openxmlformats.org/drawingml/2006/main">
              <a:ext uri="{FF2B5EF4-FFF2-40B4-BE49-F238E27FC236}">
                <a16:creationId xmlns:a16="http://schemas.microsoft.com/office/drawing/2014/main" id="{E2360766-9D83-4848-830D-A3D736CD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7341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26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op-cape-gradient-16">
            <a:extLst xmlns:a="http://schemas.openxmlformats.org/drawingml/2006/main">
              <a:ext uri="{FF2B5EF4-FFF2-40B4-BE49-F238E27FC236}">
                <a16:creationId xmlns:a16="http://schemas.microsoft.com/office/drawing/2014/main" id="{5AC3E7E2-87ED-4004-A094-0D696E9C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5008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op-cape-gradient-17">
            <a:extLst xmlns:a="http://schemas.openxmlformats.org/drawingml/2006/main">
              <a:ext uri="{FF2B5EF4-FFF2-40B4-BE49-F238E27FC236}">
                <a16:creationId xmlns:a16="http://schemas.microsoft.com/office/drawing/2014/main" id="{85FF1A15-1DB8-45EF-88F5-68DF6B08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2675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C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op-cape-gradient-18">
            <a:extLst xmlns:a="http://schemas.openxmlformats.org/drawingml/2006/main">
              <a:ext uri="{FF2B5EF4-FFF2-40B4-BE49-F238E27FC236}">
                <a16:creationId xmlns:a16="http://schemas.microsoft.com/office/drawing/2014/main" id="{119548F2-DC8D-4FDA-B728-7638F3F3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0342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46F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op-cape-gradient-19">
            <a:extLst xmlns:a="http://schemas.openxmlformats.org/drawingml/2006/main">
              <a:ext uri="{FF2B5EF4-FFF2-40B4-BE49-F238E27FC236}">
                <a16:creationId xmlns:a16="http://schemas.microsoft.com/office/drawing/2014/main" id="{1E2910AA-C236-48BB-B6EB-9264FBC1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8009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572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op-cape-gradient-20">
            <a:extLst xmlns:a="http://schemas.openxmlformats.org/drawingml/2006/main">
              <a:ext uri="{FF2B5EF4-FFF2-40B4-BE49-F238E27FC236}">
                <a16:creationId xmlns:a16="http://schemas.microsoft.com/office/drawing/2014/main" id="{4940D176-A33C-40DA-929D-2DB7A414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5677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675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op-cape-gradient-21">
            <a:extLst xmlns:a="http://schemas.openxmlformats.org/drawingml/2006/main">
              <a:ext uri="{FF2B5EF4-FFF2-40B4-BE49-F238E27FC236}">
                <a16:creationId xmlns:a16="http://schemas.microsoft.com/office/drawing/2014/main" id="{42C0A5A2-91F4-480F-A296-06256332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3344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77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op-cape-gradient-22">
            <a:extLst xmlns:a="http://schemas.openxmlformats.org/drawingml/2006/main">
              <a:ext uri="{FF2B5EF4-FFF2-40B4-BE49-F238E27FC236}">
                <a16:creationId xmlns:a16="http://schemas.microsoft.com/office/drawing/2014/main" id="{0B9D9614-6B1A-4EED-BF92-75963D18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1011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7C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op-cape-gradient-23">
            <a:extLst xmlns:a="http://schemas.openxmlformats.org/drawingml/2006/main">
              <a:ext uri="{FF2B5EF4-FFF2-40B4-BE49-F238E27FC236}">
                <a16:creationId xmlns:a16="http://schemas.microsoft.com/office/drawing/2014/main" id="{C53F7D9F-89AE-4A4B-96B3-6DBF701A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8678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082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op-cape-gradient-24">
            <a:extLst xmlns:a="http://schemas.openxmlformats.org/drawingml/2006/main">
              <a:ext uri="{FF2B5EF4-FFF2-40B4-BE49-F238E27FC236}">
                <a16:creationId xmlns:a16="http://schemas.microsoft.com/office/drawing/2014/main" id="{6370485A-C6EB-4E0C-A1DE-B889537B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6345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78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op-cape-gradient-25">
            <a:extLst xmlns:a="http://schemas.openxmlformats.org/drawingml/2006/main">
              <a:ext uri="{FF2B5EF4-FFF2-40B4-BE49-F238E27FC236}">
                <a16:creationId xmlns:a16="http://schemas.microsoft.com/office/drawing/2014/main" id="{992AC921-A419-4671-A87A-F9A7214C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04013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D8E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op-cape-gradient-26">
            <a:extLst xmlns:a="http://schemas.openxmlformats.org/drawingml/2006/main">
              <a:ext uri="{FF2B5EF4-FFF2-40B4-BE49-F238E27FC236}">
                <a16:creationId xmlns:a16="http://schemas.microsoft.com/office/drawing/2014/main" id="{4C362996-F8A9-41C5-9AEE-50726373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1680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39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op-cape-gradient-27">
            <a:extLst xmlns:a="http://schemas.openxmlformats.org/drawingml/2006/main">
              <a:ext uri="{FF2B5EF4-FFF2-40B4-BE49-F238E27FC236}">
                <a16:creationId xmlns:a16="http://schemas.microsoft.com/office/drawing/2014/main" id="{4F76D274-80AF-4447-87A5-DF2561E4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9347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A9A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op-cape-gradient-28">
            <a:extLst xmlns:a="http://schemas.openxmlformats.org/drawingml/2006/main">
              <a:ext uri="{FF2B5EF4-FFF2-40B4-BE49-F238E27FC236}">
                <a16:creationId xmlns:a16="http://schemas.microsoft.com/office/drawing/2014/main" id="{B559E937-3CBE-4800-A78E-3EB40DA8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7014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0A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op-cape-gradient-29">
            <a:extLst xmlns:a="http://schemas.openxmlformats.org/drawingml/2006/main">
              <a:ext uri="{FF2B5EF4-FFF2-40B4-BE49-F238E27FC236}">
                <a16:creationId xmlns:a16="http://schemas.microsoft.com/office/drawing/2014/main" id="{AEE4CEAB-EA77-46E8-8EB8-A19C32B0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4681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6A6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op-cape-gradient-30">
            <a:extLst xmlns:a="http://schemas.openxmlformats.org/drawingml/2006/main">
              <a:ext uri="{FF2B5EF4-FFF2-40B4-BE49-F238E27FC236}">
                <a16:creationId xmlns:a16="http://schemas.microsoft.com/office/drawing/2014/main" id="{567F8B42-1541-4702-B15D-E46985C5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2348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CA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op-cape-gradient-31">
            <a:extLst xmlns:a="http://schemas.openxmlformats.org/drawingml/2006/main">
              <a:ext uri="{FF2B5EF4-FFF2-40B4-BE49-F238E27FC236}">
                <a16:creationId xmlns:a16="http://schemas.microsoft.com/office/drawing/2014/main" id="{B8325059-EADD-49EF-A8C3-5D2113D9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0016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3B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op-cape-gradient-32">
            <a:extLst xmlns:a="http://schemas.openxmlformats.org/drawingml/2006/main">
              <a:ext uri="{FF2B5EF4-FFF2-40B4-BE49-F238E27FC236}">
                <a16:creationId xmlns:a16="http://schemas.microsoft.com/office/drawing/2014/main" id="{9DC9DAA1-B38F-49BB-B89B-D6172187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7683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9B8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eader-cape-gradient-1">
            <a:extLst xmlns:a="http://schemas.openxmlformats.org/drawingml/2006/main">
              <a:ext uri="{FF2B5EF4-FFF2-40B4-BE49-F238E27FC236}">
                <a16:creationId xmlns:a16="http://schemas.microsoft.com/office/drawing/2014/main" id="{8DD7A3EC-4489-4C93-8EF9-1EC7A1EA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93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header-cape-gradient-2">
            <a:extLst xmlns:a="http://schemas.openxmlformats.org/drawingml/2006/main">
              <a:ext uri="{FF2B5EF4-FFF2-40B4-BE49-F238E27FC236}">
                <a16:creationId xmlns:a16="http://schemas.microsoft.com/office/drawing/2014/main" id="{25BDD68B-0A81-4D83-8BD9-D22304A9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667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42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header-cape-gradient-3">
            <a:extLst xmlns:a="http://schemas.openxmlformats.org/drawingml/2006/main">
              <a:ext uri="{FF2B5EF4-FFF2-40B4-BE49-F238E27FC236}">
                <a16:creationId xmlns:a16="http://schemas.microsoft.com/office/drawing/2014/main" id="{65D83542-FD69-4A75-B18A-CFA5C7B1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334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D4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header-cape-gradient-4">
            <a:extLst xmlns:a="http://schemas.openxmlformats.org/drawingml/2006/main">
              <a:ext uri="{FF2B5EF4-FFF2-40B4-BE49-F238E27FC236}">
                <a16:creationId xmlns:a16="http://schemas.microsoft.com/office/drawing/2014/main" id="{05380A7B-955F-4509-A33D-0328AACE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002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F4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header-cape-gradient-5">
            <a:extLst xmlns:a="http://schemas.openxmlformats.org/drawingml/2006/main">
              <a:ext uri="{FF2B5EF4-FFF2-40B4-BE49-F238E27FC236}">
                <a16:creationId xmlns:a16="http://schemas.microsoft.com/office/drawing/2014/main" id="{384FC2A4-029F-4629-9949-CB741120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669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1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eader-cape-gradient-6">
            <a:extLst xmlns:a="http://schemas.openxmlformats.org/drawingml/2006/main">
              <a:ext uri="{FF2B5EF4-FFF2-40B4-BE49-F238E27FC236}">
                <a16:creationId xmlns:a16="http://schemas.microsoft.com/office/drawing/2014/main" id="{B183A6C7-2F6C-4119-80AA-E41847AE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336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34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eader-cape-gradient-7">
            <a:extLst xmlns:a="http://schemas.openxmlformats.org/drawingml/2006/main">
              <a:ext uri="{FF2B5EF4-FFF2-40B4-BE49-F238E27FC236}">
                <a16:creationId xmlns:a16="http://schemas.microsoft.com/office/drawing/2014/main" id="{B7E8E7C8-DD33-4C7A-8052-F3F3EFE1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003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550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header-cape-gradient-8">
            <a:extLst xmlns:a="http://schemas.openxmlformats.org/drawingml/2006/main">
              <a:ext uri="{FF2B5EF4-FFF2-40B4-BE49-F238E27FC236}">
                <a16:creationId xmlns:a16="http://schemas.microsoft.com/office/drawing/2014/main" id="{F7696F3A-ECBE-4C9A-93A1-B1F0BE9F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70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75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eader-cape-gradient-9">
            <a:extLst xmlns:a="http://schemas.openxmlformats.org/drawingml/2006/main">
              <a:ext uri="{FF2B5EF4-FFF2-40B4-BE49-F238E27FC236}">
                <a16:creationId xmlns:a16="http://schemas.microsoft.com/office/drawing/2014/main" id="{1AF8CFFE-4C6F-40DB-9140-7CCAFA8A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1338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95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eader-cape-gradient-10">
            <a:extLst xmlns:a="http://schemas.openxmlformats.org/drawingml/2006/main">
              <a:ext uri="{FF2B5EF4-FFF2-40B4-BE49-F238E27FC236}">
                <a16:creationId xmlns:a16="http://schemas.microsoft.com/office/drawing/2014/main" id="{74B0026D-1E97-4E54-9D7C-36E5B8B4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005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B5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header-cape-gradient-11">
            <a:extLst xmlns:a="http://schemas.openxmlformats.org/drawingml/2006/main">
              <a:ext uri="{FF2B5EF4-FFF2-40B4-BE49-F238E27FC236}">
                <a16:creationId xmlns:a16="http://schemas.microsoft.com/office/drawing/2014/main" id="{1A39FCB4-8AD6-44AC-A673-1C50D2B3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6672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D5B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header-cape-gradient-12">
            <a:extLst xmlns:a="http://schemas.openxmlformats.org/drawingml/2006/main">
              <a:ext uri="{FF2B5EF4-FFF2-40B4-BE49-F238E27FC236}">
                <a16:creationId xmlns:a16="http://schemas.microsoft.com/office/drawing/2014/main" id="{EEE4087F-29D5-4887-97C2-5E9EAA66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4339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F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header-cape-gradient-13">
            <a:extLst xmlns:a="http://schemas.openxmlformats.org/drawingml/2006/main">
              <a:ext uri="{FF2B5EF4-FFF2-40B4-BE49-F238E27FC236}">
                <a16:creationId xmlns:a16="http://schemas.microsoft.com/office/drawing/2014/main" id="{86298CE3-29DC-4166-B132-5E81688E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2006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061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eader-cape-gradient-14">
            <a:extLst xmlns:a="http://schemas.openxmlformats.org/drawingml/2006/main">
              <a:ext uri="{FF2B5EF4-FFF2-40B4-BE49-F238E27FC236}">
                <a16:creationId xmlns:a16="http://schemas.microsoft.com/office/drawing/2014/main" id="{0708E3C8-FB46-4587-B592-0E666D76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9673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1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eader-cape-gradient-15">
            <a:extLst xmlns:a="http://schemas.openxmlformats.org/drawingml/2006/main">
              <a:ext uri="{FF2B5EF4-FFF2-40B4-BE49-F238E27FC236}">
                <a16:creationId xmlns:a16="http://schemas.microsoft.com/office/drawing/2014/main" id="{036BFF58-9F92-4492-9DF4-E35DF265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7341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26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header-cape-gradient-16">
            <a:extLst xmlns:a="http://schemas.openxmlformats.org/drawingml/2006/main">
              <a:ext uri="{FF2B5EF4-FFF2-40B4-BE49-F238E27FC236}">
                <a16:creationId xmlns:a16="http://schemas.microsoft.com/office/drawing/2014/main" id="{23B6BE10-EE57-4C00-BFAF-B780BF88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5008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eader-cape-gradient-17">
            <a:extLst xmlns:a="http://schemas.openxmlformats.org/drawingml/2006/main">
              <a:ext uri="{FF2B5EF4-FFF2-40B4-BE49-F238E27FC236}">
                <a16:creationId xmlns:a16="http://schemas.microsoft.com/office/drawing/2014/main" id="{23E769A5-8897-46FA-B28E-59377D4B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2675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C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header-cape-gradient-18">
            <a:extLst xmlns:a="http://schemas.openxmlformats.org/drawingml/2006/main">
              <a:ext uri="{FF2B5EF4-FFF2-40B4-BE49-F238E27FC236}">
                <a16:creationId xmlns:a16="http://schemas.microsoft.com/office/drawing/2014/main" id="{0B2D608F-07F1-41FA-A045-800FA4E8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0342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46F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header-cape-gradient-19">
            <a:extLst xmlns:a="http://schemas.openxmlformats.org/drawingml/2006/main">
              <a:ext uri="{FF2B5EF4-FFF2-40B4-BE49-F238E27FC236}">
                <a16:creationId xmlns:a16="http://schemas.microsoft.com/office/drawing/2014/main" id="{2C89686C-4ED9-4ECE-B2F3-F23CF840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8009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572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header-cape-gradient-20">
            <a:extLst xmlns:a="http://schemas.openxmlformats.org/drawingml/2006/main">
              <a:ext uri="{FF2B5EF4-FFF2-40B4-BE49-F238E27FC236}">
                <a16:creationId xmlns:a16="http://schemas.microsoft.com/office/drawing/2014/main" id="{837DD6CB-A7B8-4540-A6F9-11FF40AB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5677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675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header-cape-gradient-21">
            <a:extLst xmlns:a="http://schemas.openxmlformats.org/drawingml/2006/main">
              <a:ext uri="{FF2B5EF4-FFF2-40B4-BE49-F238E27FC236}">
                <a16:creationId xmlns:a16="http://schemas.microsoft.com/office/drawing/2014/main" id="{7B09DF9F-419E-46EB-BAA2-0A7E7423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3344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77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eader-cape-gradient-22">
            <a:extLst xmlns:a="http://schemas.openxmlformats.org/drawingml/2006/main">
              <a:ext uri="{FF2B5EF4-FFF2-40B4-BE49-F238E27FC236}">
                <a16:creationId xmlns:a16="http://schemas.microsoft.com/office/drawing/2014/main" id="{36A9C1F7-DFEC-4C4E-A606-C0A4D5E6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1011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7C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eader-cape-gradient-23">
            <a:extLst xmlns:a="http://schemas.openxmlformats.org/drawingml/2006/main">
              <a:ext uri="{FF2B5EF4-FFF2-40B4-BE49-F238E27FC236}">
                <a16:creationId xmlns:a16="http://schemas.microsoft.com/office/drawing/2014/main" id="{14F0A344-CBEC-4A14-B1C0-AA68334B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8678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082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header-cape-gradient-24">
            <a:extLst xmlns:a="http://schemas.openxmlformats.org/drawingml/2006/main">
              <a:ext uri="{FF2B5EF4-FFF2-40B4-BE49-F238E27FC236}">
                <a16:creationId xmlns:a16="http://schemas.microsoft.com/office/drawing/2014/main" id="{840D9315-3C2B-4170-BDE9-9438E647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6345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78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header-cape-gradient-25">
            <a:extLst xmlns:a="http://schemas.openxmlformats.org/drawingml/2006/main">
              <a:ext uri="{FF2B5EF4-FFF2-40B4-BE49-F238E27FC236}">
                <a16:creationId xmlns:a16="http://schemas.microsoft.com/office/drawing/2014/main" id="{3D8237B9-1E1E-4557-AA49-4DD2BF49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04013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D8E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header-cape-gradient-26">
            <a:extLst xmlns:a="http://schemas.openxmlformats.org/drawingml/2006/main">
              <a:ext uri="{FF2B5EF4-FFF2-40B4-BE49-F238E27FC236}">
                <a16:creationId xmlns:a16="http://schemas.microsoft.com/office/drawing/2014/main" id="{F38A5D78-6592-4F53-B17A-EAF01A5C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1680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39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header-cape-gradient-27">
            <a:extLst xmlns:a="http://schemas.openxmlformats.org/drawingml/2006/main">
              <a:ext uri="{FF2B5EF4-FFF2-40B4-BE49-F238E27FC236}">
                <a16:creationId xmlns:a16="http://schemas.microsoft.com/office/drawing/2014/main" id="{C475B277-3123-4958-8C84-68DDE255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9347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A9A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header-cape-gradient-28">
            <a:extLst xmlns:a="http://schemas.openxmlformats.org/drawingml/2006/main">
              <a:ext uri="{FF2B5EF4-FFF2-40B4-BE49-F238E27FC236}">
                <a16:creationId xmlns:a16="http://schemas.microsoft.com/office/drawing/2014/main" id="{999A6D95-6007-4873-8268-A59B3CC0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7014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0A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header-cape-gradient-29">
            <a:extLst xmlns:a="http://schemas.openxmlformats.org/drawingml/2006/main">
              <a:ext uri="{FF2B5EF4-FFF2-40B4-BE49-F238E27FC236}">
                <a16:creationId xmlns:a16="http://schemas.microsoft.com/office/drawing/2014/main" id="{DCC9204B-6BED-4B31-B2D5-734BEE8A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4681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6A6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header-cape-gradient-30">
            <a:extLst xmlns:a="http://schemas.openxmlformats.org/drawingml/2006/main">
              <a:ext uri="{FF2B5EF4-FFF2-40B4-BE49-F238E27FC236}">
                <a16:creationId xmlns:a16="http://schemas.microsoft.com/office/drawing/2014/main" id="{397B776E-6E6C-4CA8-A9DE-2191AFFD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2348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CA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header-cape-gradient-31">
            <a:extLst xmlns:a="http://schemas.openxmlformats.org/drawingml/2006/main">
              <a:ext uri="{FF2B5EF4-FFF2-40B4-BE49-F238E27FC236}">
                <a16:creationId xmlns:a16="http://schemas.microsoft.com/office/drawing/2014/main" id="{78395B9B-1E76-4F2E-8FAA-EE1CF12F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0016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3B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header-cape-gradient-32">
            <a:extLst xmlns:a="http://schemas.openxmlformats.org/drawingml/2006/main">
              <a:ext uri="{FF2B5EF4-FFF2-40B4-BE49-F238E27FC236}">
                <a16:creationId xmlns:a16="http://schemas.microsoft.com/office/drawing/2014/main" id="{302BAB73-00DC-43D6-A7C9-7DF6DF5A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7683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9B8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59A4D3EE-2359-44AB-BB3D-AA826194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"/>
            <a:ext cx="2971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AURORA-12: a fully synthetic benchmark for evidence-linked poster generation</a:t>
            </a:r>
          </a:p>
        </p:txBody>
      </p:sp>
      <p:sp>
        <p:nvSpPr>
          <p:cNvPr id="67" name="authors">
            <a:extLst xmlns:a="http://schemas.openxmlformats.org/drawingml/2006/main">
              <a:ext uri="{FF2B5EF4-FFF2-40B4-BE49-F238E27FC236}">
                <a16:creationId xmlns:a16="http://schemas.microsoft.com/office/drawing/2014/main" id="{12A33C00-07C6-4655-ABC7-9B9D20EC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2943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Source-grounded PostEx evaluation fixture</a:t>
            </a:r>
          </a:p>
        </p:txBody>
      </p:sp>
      <p:sp>
        <p:nvSpPr>
          <p:cNvPr id="68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4CBCEEC8-C723-411B-8EC9-8DEE5CFC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2943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2EE"/>
                </a:solidFill>
              </a:defRPr>
            </a:pPr>
            <a:r>
              <a:rPr sz="2175">
                <a:solidFill>
                  <a:srgbClr val="F6F2EE"/>
                </a:solidFill>
              </a:rPr>
              <a:t>Bioinformatics profile · CC0-1.0</a:t>
            </a:r>
          </a:p>
        </p:txBody>
      </p:sp>
      <p:sp>
        <p:nvSpPr>
          <p:cNvPr id="69" name="citation">
            <a:extLst xmlns:a="http://schemas.openxmlformats.org/drawingml/2006/main">
              <a:ext uri="{FF2B5EF4-FFF2-40B4-BE49-F238E27FC236}">
                <a16:creationId xmlns:a16="http://schemas.microsoft.com/office/drawing/2014/main" id="{18DA8CCE-9046-4B37-A1F7-B9E86F4C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2428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5BC6C"/>
                </a:solidFill>
              </a:defRPr>
            </a:pPr>
            <a:r>
              <a:rPr sz="1950" b="1">
                <a:solidFill>
                  <a:srgbClr val="E5BC6C"/>
                </a:solidFill>
              </a:rPr>
              <a:t>Synthetic ID POSTEX-SYNTH-2026-001</a:t>
            </a:r>
          </a:p>
        </p:txBody>
      </p:sp>
      <p:sp>
        <p:nvSpPr>
          <p:cNvPr id="70" name="logo-slot-institution-logo">
            <a:extLst xmlns:a="http://schemas.openxmlformats.org/drawingml/2006/main">
              <a:ext uri="{FF2B5EF4-FFF2-40B4-BE49-F238E27FC236}">
                <a16:creationId xmlns:a16="http://schemas.microsoft.com/office/drawing/2014/main" id="{2F5E89F8-1B10-48BD-AE7B-E49DE03C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552450"/>
            <a:ext cx="933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DE5E7"/>
            </a:solidFill>
            <a:prstDash val="solid"/>
          </a:ln>
        </p:spPr>
      </p:sp>
      <p:sp>
        <p:nvSpPr>
          <p:cNvPr id="71" name="logo-placeholder-institution-logo">
            <a:extLst xmlns:a="http://schemas.openxmlformats.org/drawingml/2006/main">
              <a:ext uri="{FF2B5EF4-FFF2-40B4-BE49-F238E27FC236}">
                <a16:creationId xmlns:a16="http://schemas.microsoft.com/office/drawing/2014/main" id="{ECB3B5B8-5699-42F3-B422-F8FFFCA4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3550" y="914400"/>
            <a:ext cx="910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E5C78"/>
                </a:solidFill>
              </a:defRPr>
            </a:pPr>
            <a:r>
              <a:rPr sz="2025" b="1">
                <a:solidFill>
                  <a:srgbClr val="3E5C78"/>
                </a:solidFill>
              </a:rPr>
              <a:t>Institution logo</a:t>
            </a:r>
          </a:p>
        </p:txBody>
      </p:sp>
      <p:sp>
        <p:nvSpPr>
          <p:cNvPr id="72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03300875-4BF6-4A0E-9061-36F0BFA4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2000250"/>
            <a:ext cx="9334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8D404532-AEB5-439A-B661-136B4D44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3E5C78"/>
                </a:solidFill>
              </a:defRPr>
            </a:pPr>
            <a:r>
              <a:rPr sz="5100" b="1">
                <a:solidFill>
                  <a:srgbClr val="3E5C78"/>
                </a:solidFill>
              </a:rPr>
              <a:t>1,240</a:t>
            </a:r>
          </a:p>
        </p:txBody>
      </p:sp>
      <p:sp>
        <p:nvSpPr>
          <p:cNvPr id="74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E7220522-BA9E-4E5D-A226-A07745AE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total profiles</a:t>
            </a:r>
          </a:p>
        </p:txBody>
      </p:sp>
      <p:sp>
        <p:nvSpPr>
          <p:cNvPr id="75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5027EF3F-E1C4-4693-B74D-B798B760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487AA1"/>
                </a:solidFill>
              </a:defRPr>
            </a:pPr>
            <a:r>
              <a:rPr sz="5100" b="1">
                <a:solidFill>
                  <a:srgbClr val="487AA1"/>
                </a:solidFill>
              </a:rPr>
              <a:t>12</a:t>
            </a:r>
          </a:p>
        </p:txBody>
      </p:sp>
      <p:sp>
        <p:nvSpPr>
          <p:cNvPr id="76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23D2074D-0264-4E6C-92B8-10712FC3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selected features</a:t>
            </a:r>
          </a:p>
        </p:txBody>
      </p:sp>
      <p:sp>
        <p:nvSpPr>
          <p:cNvPr id="77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D5E41185-F8A5-4B4A-96F4-571D210E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5BC6C"/>
                </a:solidFill>
              </a:defRPr>
            </a:pPr>
            <a:r>
              <a:rPr sz="5100" b="1">
                <a:solidFill>
                  <a:srgbClr val="E5BC6C"/>
                </a:solidFill>
              </a:rPr>
              <a:t>0.75</a:t>
            </a:r>
          </a:p>
        </p:txBody>
      </p:sp>
      <p:sp>
        <p:nvSpPr>
          <p:cNvPr id="78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9F08CAE4-6E4A-4A17-8A64-C07EC371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external c index a</a:t>
            </a:r>
          </a:p>
        </p:txBody>
      </p:sp>
      <p:sp>
        <p:nvSpPr>
          <p:cNvPr id="79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D4C0A82-6D6F-4637-9639-49F0702E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E5C78"/>
                </a:solidFill>
              </a:defRPr>
            </a:pPr>
            <a:r>
              <a:rPr sz="3600" b="1">
                <a:solidFill>
                  <a:srgbClr val="3E5C78"/>
                </a:solidFill>
              </a:rPr>
              <a:t>Communication objective</a:t>
            </a:r>
          </a:p>
        </p:txBody>
      </p:sp>
      <p:sp>
        <p:nvSpPr>
          <p:cNvPr id="80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7F49F4FF-E335-4E2B-9E36-3D2CE5A3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6790A6BD-BD57-4501-8A7F-609E4C1F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96050"/>
            <a:ext cx="11620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Present the paper's design, central evidence and interpretation boundary in a traceable conference-poster format.</a:t>
            </a:r>
          </a:p>
        </p:txBody>
      </p:sp>
      <p:sp>
        <p:nvSpPr>
          <p:cNvPr id="82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0DF8E1BD-1B47-4F4E-B519-FE1B20BC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86800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Evidence fixture: POSTEX-SYNTH-2026-001</a:t>
            </a:r>
          </a:p>
        </p:txBody>
      </p:sp>
      <p:sp>
        <p:nvSpPr>
          <p:cNvPr id="83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C6D0FD82-A1E8-4583-8B30-6AADBCF9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2392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E5C78"/>
                </a:solidFill>
              </a:defRPr>
            </a:pPr>
            <a:r>
              <a:rPr sz="3600" b="1">
                <a:solidFill>
                  <a:srgbClr val="3E5C78"/>
                </a:solidFill>
              </a:rPr>
              <a:t>Required evidence structure</a:t>
            </a:r>
          </a:p>
        </p:txBody>
      </p:sp>
      <p:sp>
        <p:nvSpPr>
          <p:cNvPr id="84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E858C7DD-DD6A-4419-B5CF-1F2F6029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8774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420584AA-80DA-45D2-83B1-AB423B8E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134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1FF72836-FDBD-471A-8440-A849A731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201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1</a:t>
            </a:r>
          </a:p>
        </p:txBody>
      </p:sp>
      <p:sp>
        <p:nvSpPr>
          <p:cNvPr id="87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FBA5CA6E-17C7-4453-B6AE-7CBBB12F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172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93F55"/>
                </a:solidFill>
              </a:defRPr>
            </a:pPr>
            <a:r>
              <a:rPr sz="2850" b="1">
                <a:solidFill>
                  <a:srgbClr val="293F55"/>
                </a:solidFill>
              </a:rPr>
              <a:t>Research Question</a:t>
            </a:r>
          </a:p>
        </p:txBody>
      </p:sp>
      <p:sp>
        <p:nvSpPr>
          <p:cNvPr id="88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D88383CF-49E7-4557-ABB5-374DFE59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896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ACD7105D-29FD-4E24-A7C2-245E9863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963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2</a:t>
            </a:r>
          </a:p>
        </p:txBody>
      </p:sp>
      <p:sp>
        <p:nvSpPr>
          <p:cNvPr id="90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4B00C66E-A0C6-46CB-BC61-66E095BA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934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93F55"/>
                </a:solidFill>
              </a:defRPr>
            </a:pPr>
            <a:r>
              <a:rPr sz="2850" b="1">
                <a:solidFill>
                  <a:srgbClr val="293F55"/>
                </a:solidFill>
              </a:rPr>
              <a:t>Datasets</a:t>
            </a:r>
          </a:p>
        </p:txBody>
      </p:sp>
      <p:sp>
        <p:nvSpPr>
          <p:cNvPr id="91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CE35BF52-9EBF-4B14-9A5E-67CC33BA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658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C47C3E77-8864-4019-B8FB-1637BC6B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725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3</a:t>
            </a:r>
          </a:p>
        </p:txBody>
      </p:sp>
      <p:sp>
        <p:nvSpPr>
          <p:cNvPr id="93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96AD221E-37F1-4AE4-901D-B3C8DF6B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1696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93F55"/>
                </a:solidFill>
              </a:defRPr>
            </a:pPr>
            <a:r>
              <a:rPr sz="2850" b="1">
                <a:solidFill>
                  <a:srgbClr val="293F55"/>
                </a:solidFill>
              </a:rPr>
              <a:t>Analysis Pipeline</a:t>
            </a:r>
          </a:p>
        </p:txBody>
      </p:sp>
      <p:sp>
        <p:nvSpPr>
          <p:cNvPr id="94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BA44082E-39B0-49CA-9D77-3F651C7B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20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4DD9060E-6E63-4670-8BEF-CE7C7F2A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87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4</a:t>
            </a:r>
          </a:p>
        </p:txBody>
      </p:sp>
      <p:sp>
        <p:nvSpPr>
          <p:cNvPr id="96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E8E5D84D-3A1D-4265-8524-1B1206DE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458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93F55"/>
                </a:solidFill>
              </a:defRPr>
            </a:pPr>
            <a:r>
              <a:rPr sz="2850" b="1">
                <a:solidFill>
                  <a:srgbClr val="293F55"/>
                </a:solidFill>
              </a:rPr>
              <a:t>Key Results</a:t>
            </a:r>
          </a:p>
        </p:txBody>
      </p:sp>
      <p:sp>
        <p:nvSpPr>
          <p:cNvPr id="97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F5EDAA25-F792-41C8-955E-DF10264A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430250"/>
            <a:ext cx="11620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DE5E7"/>
            </a:solidFill>
            <a:prstDash val="solid"/>
          </a:ln>
        </p:spPr>
      </p:sp>
      <p:sp>
        <p:nvSpPr>
          <p:cNvPr id="98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BD2B578B-6CF4-4521-BCF5-AE3A7330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E5C78"/>
                </a:solidFill>
              </a:defRPr>
            </a:pPr>
            <a:r>
              <a:rPr sz="2175" b="1">
                <a:solidFill>
                  <a:srgbClr val="3E5C78"/>
                </a:solidFill>
              </a:rPr>
              <a:t>SOURCE CONTRACT</a:t>
            </a:r>
          </a:p>
        </p:txBody>
      </p:sp>
      <p:sp>
        <p:nvSpPr>
          <p:cNvPr id="99" name="datasets">
            <a:extLst xmlns:a="http://schemas.openxmlformats.org/drawingml/2006/main">
              <a:ext uri="{FF2B5EF4-FFF2-40B4-BE49-F238E27FC236}">
                <a16:creationId xmlns:a16="http://schemas.microsoft.com/office/drawing/2014/main" id="{DAE2D3B5-453C-4F37-9788-08B5E052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239875"/>
            <a:ext cx="110871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Input: full paper</a:t>
            </a:r>
          </a:p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License: CC0-1.0</a:t>
            </a:r>
          </a:p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Profile: bioinformatics</a:t>
            </a:r>
          </a:p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Claims checked: 5</a:t>
            </a:r>
          </a:p>
        </p:txBody>
      </p:sp>
      <p:sp>
        <p:nvSpPr>
          <p:cNvPr id="100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059A3C6B-79C7-4EB6-A35E-B0F0D116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411575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examples/aurora-synthetic/AURORA-12-synthetic-manuscript.pdf</a:t>
            </a:r>
          </a:p>
        </p:txBody>
      </p:sp>
      <p:sp>
        <p:nvSpPr>
          <p:cNvPr id="101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1A931174-CACA-4DFA-BC70-2487250D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83125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E5C78"/>
                </a:solidFill>
              </a:defRPr>
            </a:pPr>
            <a:r>
              <a:rPr sz="3600" b="1">
                <a:solidFill>
                  <a:srgbClr val="3E5C78"/>
                </a:solidFill>
              </a:rPr>
              <a:t>Methods and source evidence</a:t>
            </a:r>
          </a:p>
        </p:txBody>
      </p:sp>
      <p:sp>
        <p:nvSpPr>
          <p:cNvPr id="102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1BFBBFB6-95AE-42F9-AF44-6602EF95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2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27A211F5-BCD5-44F9-8282-E3A0333D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40375"/>
            <a:ext cx="11620500" cy="9906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DE5E7"/>
            </a:solidFill>
            <a:prstDash val="solid"/>
          </a:ln>
        </p:spPr>
      </p:sp>
      <p:sp>
        <p:nvSpPr>
          <p:cNvPr id="104" name="figure-one-placeholder">
            <a:extLst xmlns:a="http://schemas.openxmlformats.org/drawingml/2006/main">
              <a:ext uri="{FF2B5EF4-FFF2-40B4-BE49-F238E27FC236}">
                <a16:creationId xmlns:a16="http://schemas.microsoft.com/office/drawing/2014/main" id="{27542B28-EFA4-49F4-993D-67C79557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430875"/>
            <a:ext cx="11239500" cy="8972550"/>
          </a:xfrm>
          <a:prstGeom xmlns:a="http://schemas.openxmlformats.org/drawingml/2006/main" prst="roundRect">
            <a:avLst>
              <a:gd name="adj" fmla="val 849"/>
            </a:avLst>
          </a:prstGeom>
          <a:solidFill xmlns:a="http://schemas.openxmlformats.org/drawingml/2006/main">
            <a:srgbClr val="F6F2EE"/>
          </a:solidFill>
          <a:ln xmlns:a="http://schemas.openxmlformats.org/drawingml/2006/main" w="19050">
            <a:solidFill>
              <a:srgbClr val="DDE5E7"/>
            </a:solidFill>
            <a:prstDash val="solid"/>
          </a:ln>
        </p:spPr>
      </p:sp>
      <p:sp>
        <p:nvSpPr>
          <p:cNvPr id="105" name="figure-one-placeholder-label">
            <a:extLst xmlns:a="http://schemas.openxmlformats.org/drawingml/2006/main">
              <a:ext uri="{FF2B5EF4-FFF2-40B4-BE49-F238E27FC236}">
                <a16:creationId xmlns:a16="http://schemas.microsoft.com/office/drawing/2014/main" id="{59189B2C-05F8-4FE0-8216-F8CE982F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621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487AA1"/>
                </a:solidFill>
              </a:defRPr>
            </a:pPr>
            <a:r>
              <a:rPr sz="2700" b="1">
                <a:solidFill>
                  <a:srgbClr val="487AA1"/>
                </a:solidFill>
              </a:rPr>
              <a:t>SOURCE FIGURE SLOT</a:t>
            </a:r>
          </a:p>
        </p:txBody>
      </p:sp>
      <p:sp>
        <p:nvSpPr>
          <p:cNvPr id="106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A8C1C2DD-04A8-4334-B05C-F97DD7D2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460575"/>
            <a:ext cx="1116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3F55"/>
                </a:solidFill>
              </a:defRPr>
            </a:pPr>
            <a:r>
              <a:rPr sz="2250" b="1">
                <a:solidFill>
                  <a:srgbClr val="293F55"/>
                </a:solidFill>
              </a:rPr>
              <a:t>Source figure selected during full-paper generation</a:t>
            </a:r>
          </a:p>
        </p:txBody>
      </p:sp>
      <p:sp>
        <p:nvSpPr>
          <p:cNvPr id="107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12229EEC-FB6B-4549-B160-710BED20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774900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Source: POSTEX-SYNTH-2026-001</a:t>
            </a:r>
          </a:p>
        </p:txBody>
      </p:sp>
      <p:sp>
        <p:nvSpPr>
          <p:cNvPr id="108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FDFA805F-BF7E-47E8-A98B-BCE78C9F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19750"/>
            <a:ext cx="13668375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takeaway-cape-gradient-1">
            <a:extLst xmlns:a="http://schemas.openxmlformats.org/drawingml/2006/main">
              <a:ext uri="{FF2B5EF4-FFF2-40B4-BE49-F238E27FC236}">
                <a16:creationId xmlns:a16="http://schemas.microsoft.com/office/drawing/2014/main" id="{C82CB38C-F124-4501-938A-8178565C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93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takeaway-cape-gradient-2">
            <a:extLst xmlns:a="http://schemas.openxmlformats.org/drawingml/2006/main">
              <a:ext uri="{FF2B5EF4-FFF2-40B4-BE49-F238E27FC236}">
                <a16:creationId xmlns:a16="http://schemas.microsoft.com/office/drawing/2014/main" id="{909A7879-EB83-453A-A8D7-32BE984C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637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42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takeaway-cape-gradient-3">
            <a:extLst xmlns:a="http://schemas.openxmlformats.org/drawingml/2006/main">
              <a:ext uri="{FF2B5EF4-FFF2-40B4-BE49-F238E27FC236}">
                <a16:creationId xmlns:a16="http://schemas.microsoft.com/office/drawing/2014/main" id="{6A706C3E-7EC1-4B3B-B4ED-F1052F79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9773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D4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takeaway-cape-gradient-4">
            <a:extLst xmlns:a="http://schemas.openxmlformats.org/drawingml/2006/main">
              <a:ext uri="{FF2B5EF4-FFF2-40B4-BE49-F238E27FC236}">
                <a16:creationId xmlns:a16="http://schemas.microsoft.com/office/drawing/2014/main" id="{7CA24A77-C4B9-4102-B3EB-A7CCB78A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6910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F4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takeaway-cape-gradient-5">
            <a:extLst xmlns:a="http://schemas.openxmlformats.org/drawingml/2006/main">
              <a:ext uri="{FF2B5EF4-FFF2-40B4-BE49-F238E27FC236}">
                <a16:creationId xmlns:a16="http://schemas.microsoft.com/office/drawing/2014/main" id="{0E9BEE8E-FCBB-4C23-8B66-EF03D209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4047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1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takeaway-cape-gradient-6">
            <a:extLst xmlns:a="http://schemas.openxmlformats.org/drawingml/2006/main">
              <a:ext uri="{FF2B5EF4-FFF2-40B4-BE49-F238E27FC236}">
                <a16:creationId xmlns:a16="http://schemas.microsoft.com/office/drawing/2014/main" id="{DD89AFCC-7DC2-4035-8610-5DF89F2A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1184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34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takeaway-cape-gradient-7">
            <a:extLst xmlns:a="http://schemas.openxmlformats.org/drawingml/2006/main">
              <a:ext uri="{FF2B5EF4-FFF2-40B4-BE49-F238E27FC236}">
                <a16:creationId xmlns:a16="http://schemas.microsoft.com/office/drawing/2014/main" id="{972D8019-EBD2-4F2D-BA4E-48CDC83F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8320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550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takeaway-cape-gradient-8">
            <a:extLst xmlns:a="http://schemas.openxmlformats.org/drawingml/2006/main">
              <a:ext uri="{FF2B5EF4-FFF2-40B4-BE49-F238E27FC236}">
                <a16:creationId xmlns:a16="http://schemas.microsoft.com/office/drawing/2014/main" id="{6AC37E25-AB5C-4736-8EE1-6852CD39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5457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75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takeaway-cape-gradient-9">
            <a:extLst xmlns:a="http://schemas.openxmlformats.org/drawingml/2006/main">
              <a:ext uri="{FF2B5EF4-FFF2-40B4-BE49-F238E27FC236}">
                <a16:creationId xmlns:a16="http://schemas.microsoft.com/office/drawing/2014/main" id="{BBBBD7B7-9E8E-4D1F-9D3D-FB328B8A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2594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95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takeaway-cape-gradient-10">
            <a:extLst xmlns:a="http://schemas.openxmlformats.org/drawingml/2006/main">
              <a:ext uri="{FF2B5EF4-FFF2-40B4-BE49-F238E27FC236}">
                <a16:creationId xmlns:a16="http://schemas.microsoft.com/office/drawing/2014/main" id="{2037D40C-87CF-4B8F-B0A9-C2366393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9730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B5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takeaway-cape-gradient-11">
            <a:extLst xmlns:a="http://schemas.openxmlformats.org/drawingml/2006/main">
              <a:ext uri="{FF2B5EF4-FFF2-40B4-BE49-F238E27FC236}">
                <a16:creationId xmlns:a16="http://schemas.microsoft.com/office/drawing/2014/main" id="{7C6EC7F0-D4A2-4F0B-AC47-B0D98959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6867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D5B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takeaway-cape-gradient-12">
            <a:extLst xmlns:a="http://schemas.openxmlformats.org/drawingml/2006/main">
              <a:ext uri="{FF2B5EF4-FFF2-40B4-BE49-F238E27FC236}">
                <a16:creationId xmlns:a16="http://schemas.microsoft.com/office/drawing/2014/main" id="{CBAFB51A-530B-453A-8EAA-2749633C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4004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F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takeaway-cape-gradient-13">
            <a:extLst xmlns:a="http://schemas.openxmlformats.org/drawingml/2006/main">
              <a:ext uri="{FF2B5EF4-FFF2-40B4-BE49-F238E27FC236}">
                <a16:creationId xmlns:a16="http://schemas.microsoft.com/office/drawing/2014/main" id="{7B99B9AA-CE4F-4030-A9FF-0EF99333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1141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061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takeaway-cape-gradient-14">
            <a:extLst xmlns:a="http://schemas.openxmlformats.org/drawingml/2006/main">
              <a:ext uri="{FF2B5EF4-FFF2-40B4-BE49-F238E27FC236}">
                <a16:creationId xmlns:a16="http://schemas.microsoft.com/office/drawing/2014/main" id="{01844BE9-F59D-4C88-8269-6F60DC22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8277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1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takeaway-cape-gradient-15">
            <a:extLst xmlns:a="http://schemas.openxmlformats.org/drawingml/2006/main">
              <a:ext uri="{FF2B5EF4-FFF2-40B4-BE49-F238E27FC236}">
                <a16:creationId xmlns:a16="http://schemas.microsoft.com/office/drawing/2014/main" id="{71F66F6B-2A2A-4897-915D-C7883148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5414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26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takeaway-cape-gradient-16">
            <a:extLst xmlns:a="http://schemas.openxmlformats.org/drawingml/2006/main">
              <a:ext uri="{FF2B5EF4-FFF2-40B4-BE49-F238E27FC236}">
                <a16:creationId xmlns:a16="http://schemas.microsoft.com/office/drawing/2014/main" id="{56BF1A42-729C-43E7-B34B-3E2D33C1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2551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takeaway-cape-gradient-17">
            <a:extLst xmlns:a="http://schemas.openxmlformats.org/drawingml/2006/main">
              <a:ext uri="{FF2B5EF4-FFF2-40B4-BE49-F238E27FC236}">
                <a16:creationId xmlns:a16="http://schemas.microsoft.com/office/drawing/2014/main" id="{727F92AB-A534-4E64-B0E9-9584371C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9688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C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takeaway-cape-gradient-18">
            <a:extLst xmlns:a="http://schemas.openxmlformats.org/drawingml/2006/main">
              <a:ext uri="{FF2B5EF4-FFF2-40B4-BE49-F238E27FC236}">
                <a16:creationId xmlns:a16="http://schemas.microsoft.com/office/drawing/2014/main" id="{7E04E69A-0D05-493F-B0CB-653C7822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6824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46F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takeaway-cape-gradient-19">
            <a:extLst xmlns:a="http://schemas.openxmlformats.org/drawingml/2006/main">
              <a:ext uri="{FF2B5EF4-FFF2-40B4-BE49-F238E27FC236}">
                <a16:creationId xmlns:a16="http://schemas.microsoft.com/office/drawing/2014/main" id="{1FDD5D9B-DA64-47BB-B902-C3D4606A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3961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572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takeaway-cape-gradient-20">
            <a:extLst xmlns:a="http://schemas.openxmlformats.org/drawingml/2006/main">
              <a:ext uri="{FF2B5EF4-FFF2-40B4-BE49-F238E27FC236}">
                <a16:creationId xmlns:a16="http://schemas.microsoft.com/office/drawing/2014/main" id="{76B8D5AF-C6E5-4E9D-B5D4-B4C1ACFF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1098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675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takeaway-cape-gradient-21">
            <a:extLst xmlns:a="http://schemas.openxmlformats.org/drawingml/2006/main">
              <a:ext uri="{FF2B5EF4-FFF2-40B4-BE49-F238E27FC236}">
                <a16:creationId xmlns:a16="http://schemas.microsoft.com/office/drawing/2014/main" id="{FAD0E776-E58E-4B87-9CC1-BFF6F9A4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68234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77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takeaway-cape-gradient-22">
            <a:extLst xmlns:a="http://schemas.openxmlformats.org/drawingml/2006/main">
              <a:ext uri="{FF2B5EF4-FFF2-40B4-BE49-F238E27FC236}">
                <a16:creationId xmlns:a16="http://schemas.microsoft.com/office/drawing/2014/main" id="{84C20EA2-39E1-4DD8-9342-28850430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5371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7C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takeaway-cape-gradient-23">
            <a:extLst xmlns:a="http://schemas.openxmlformats.org/drawingml/2006/main">
              <a:ext uri="{FF2B5EF4-FFF2-40B4-BE49-F238E27FC236}">
                <a16:creationId xmlns:a16="http://schemas.microsoft.com/office/drawing/2014/main" id="{CAFCFACE-7D2A-4BC1-ABE1-3E84A817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2508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082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takeaway-cape-gradient-24">
            <a:extLst xmlns:a="http://schemas.openxmlformats.org/drawingml/2006/main">
              <a:ext uri="{FF2B5EF4-FFF2-40B4-BE49-F238E27FC236}">
                <a16:creationId xmlns:a16="http://schemas.microsoft.com/office/drawing/2014/main" id="{B4DC301D-E5E2-47F8-98BA-9A2C84B6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9645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78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takeaway-cape-gradient-25">
            <a:extLst xmlns:a="http://schemas.openxmlformats.org/drawingml/2006/main">
              <a:ext uri="{FF2B5EF4-FFF2-40B4-BE49-F238E27FC236}">
                <a16:creationId xmlns:a16="http://schemas.microsoft.com/office/drawing/2014/main" id="{8E8E0163-159B-4A88-8139-BB26263D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6781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D8E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takeaway-cape-gradient-26">
            <a:extLst xmlns:a="http://schemas.openxmlformats.org/drawingml/2006/main">
              <a:ext uri="{FF2B5EF4-FFF2-40B4-BE49-F238E27FC236}">
                <a16:creationId xmlns:a16="http://schemas.microsoft.com/office/drawing/2014/main" id="{681E86CC-18D5-4E41-A5E3-84CE8A11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3918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39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takeaway-cape-gradient-27">
            <a:extLst xmlns:a="http://schemas.openxmlformats.org/drawingml/2006/main">
              <a:ext uri="{FF2B5EF4-FFF2-40B4-BE49-F238E27FC236}">
                <a16:creationId xmlns:a16="http://schemas.microsoft.com/office/drawing/2014/main" id="{45CF6733-46DA-4AEA-B1F1-6F098B63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1055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A9A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takeaway-cape-gradient-28">
            <a:extLst xmlns:a="http://schemas.openxmlformats.org/drawingml/2006/main">
              <a:ext uri="{FF2B5EF4-FFF2-40B4-BE49-F238E27FC236}">
                <a16:creationId xmlns:a16="http://schemas.microsoft.com/office/drawing/2014/main" id="{20274538-0F92-41BF-BE8E-E723976D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191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0A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takeaway-cape-gradient-29">
            <a:extLst xmlns:a="http://schemas.openxmlformats.org/drawingml/2006/main">
              <a:ext uri="{FF2B5EF4-FFF2-40B4-BE49-F238E27FC236}">
                <a16:creationId xmlns:a16="http://schemas.microsoft.com/office/drawing/2014/main" id="{750C7D64-49A0-4A0C-8BBE-F0D2DE2C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85328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6A6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takeaway-cape-gradient-30">
            <a:extLst xmlns:a="http://schemas.openxmlformats.org/drawingml/2006/main">
              <a:ext uri="{FF2B5EF4-FFF2-40B4-BE49-F238E27FC236}">
                <a16:creationId xmlns:a16="http://schemas.microsoft.com/office/drawing/2014/main" id="{EECFCE09-FB76-4E25-9D62-0BE98977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2465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CA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takeaway-cape-gradient-31">
            <a:extLst xmlns:a="http://schemas.openxmlformats.org/drawingml/2006/main">
              <a:ext uri="{FF2B5EF4-FFF2-40B4-BE49-F238E27FC236}">
                <a16:creationId xmlns:a16="http://schemas.microsoft.com/office/drawing/2014/main" id="{8192327D-08D5-4C7A-BD16-51AA5D98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9602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3B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takeaway-cape-gradient-32">
            <a:extLst xmlns:a="http://schemas.openxmlformats.org/drawingml/2006/main">
              <a:ext uri="{FF2B5EF4-FFF2-40B4-BE49-F238E27FC236}">
                <a16:creationId xmlns:a16="http://schemas.microsoft.com/office/drawing/2014/main" id="{A08DB35E-B483-4E78-B64C-F8992C04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6738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9B8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365FE4B7-06D3-49E7-8EC7-0E2EBBAD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953125"/>
            <a:ext cx="12830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293F55"/>
                </a:solidFill>
              </a:defRPr>
            </a:pPr>
            <a:r>
              <a:rPr sz="4125" b="1">
                <a:solidFill>
                  <a:srgbClr val="293F55"/>
                </a:solidFill>
              </a:rPr>
              <a:t>1,240</a:t>
            </a:r>
          </a:p>
        </p:txBody>
      </p:sp>
      <p:sp>
        <p:nvSpPr>
          <p:cNvPr id="142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487771B2-E655-4015-B1F0-6A6E9623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181850"/>
            <a:ext cx="1233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93F55"/>
                </a:solidFill>
              </a:defRPr>
            </a:pPr>
            <a:r>
              <a:rPr sz="2400" b="1">
                <a:solidFill>
                  <a:srgbClr val="293F55"/>
                </a:solidFill>
              </a:rPr>
              <a:t>Key facts remain bound to the source and study design</a:t>
            </a:r>
          </a:p>
        </p:txBody>
      </p:sp>
      <p:sp>
        <p:nvSpPr>
          <p:cNvPr id="143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31462797-76D9-47FE-B1BE-531670DF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7715250"/>
            <a:ext cx="12792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Evidence fixture: POSTEX-SYNTH-2026-001</a:t>
            </a:r>
          </a:p>
        </p:txBody>
      </p:sp>
      <p:sp>
        <p:nvSpPr>
          <p:cNvPr id="144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DFAA5787-CD55-40EB-AB29-4B1A5FB0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620125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E5C78"/>
                </a:solidFill>
              </a:defRPr>
            </a:pPr>
            <a:r>
              <a:rPr sz="3600" b="1">
                <a:solidFill>
                  <a:srgbClr val="3E5C78"/>
                </a:solidFill>
              </a:rPr>
              <a:t>Primary evidence</a:t>
            </a:r>
          </a:p>
        </p:txBody>
      </p:sp>
      <p:sp>
        <p:nvSpPr>
          <p:cNvPr id="145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AD1BEAE2-667B-4E69-A6B3-134FE708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258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62249B23-B898-4DE2-9B7D-7E4387DD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477375"/>
            <a:ext cx="13668375" cy="12715875"/>
          </a:xfrm>
          <a:prstGeom xmlns:a="http://schemas.openxmlformats.org/drawingml/2006/main" prst="roundRect">
            <a:avLst>
              <a:gd name="adj" fmla="val 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DE5E7"/>
            </a:solidFill>
            <a:prstDash val="solid"/>
          </a:ln>
        </p:spPr>
      </p:sp>
      <p:sp>
        <p:nvSpPr>
          <p:cNvPr id="147" name="figure-two-placeholder">
            <a:extLst xmlns:a="http://schemas.openxmlformats.org/drawingml/2006/main">
              <a:ext uri="{FF2B5EF4-FFF2-40B4-BE49-F238E27FC236}">
                <a16:creationId xmlns:a16="http://schemas.microsoft.com/office/drawing/2014/main" id="{875D7006-927A-49F0-A74D-C43F9E77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667875"/>
            <a:ext cx="13287375" cy="11782425"/>
          </a:xfrm>
          <a:prstGeom xmlns:a="http://schemas.openxmlformats.org/drawingml/2006/main" prst="roundRect">
            <a:avLst>
              <a:gd name="adj" fmla="val 647"/>
            </a:avLst>
          </a:prstGeom>
          <a:solidFill xmlns:a="http://schemas.openxmlformats.org/drawingml/2006/main">
            <a:srgbClr val="F6F2EE"/>
          </a:solidFill>
          <a:ln xmlns:a="http://schemas.openxmlformats.org/drawingml/2006/main" w="19050">
            <a:solidFill>
              <a:srgbClr val="DDE5E7"/>
            </a:solidFill>
            <a:prstDash val="solid"/>
          </a:ln>
        </p:spPr>
      </p:sp>
      <p:sp>
        <p:nvSpPr>
          <p:cNvPr id="148" name="figure-two-placeholder-label">
            <a:extLst xmlns:a="http://schemas.openxmlformats.org/drawingml/2006/main">
              <a:ext uri="{FF2B5EF4-FFF2-40B4-BE49-F238E27FC236}">
                <a16:creationId xmlns:a16="http://schemas.microsoft.com/office/drawing/2014/main" id="{551686ED-C2C7-426F-B627-60FEDECB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5263813"/>
            <a:ext cx="1252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487AA1"/>
                </a:solidFill>
              </a:defRPr>
            </a:pPr>
            <a:r>
              <a:rPr sz="2700" b="1">
                <a:solidFill>
                  <a:srgbClr val="487AA1"/>
                </a:solidFill>
              </a:rPr>
              <a:t>SOURCE FIGURE SLOT</a:t>
            </a:r>
          </a:p>
        </p:txBody>
      </p:sp>
      <p:sp>
        <p:nvSpPr>
          <p:cNvPr id="149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23259FC8-4455-4678-8382-DAEA2D1A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507450"/>
            <a:ext cx="13211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3F55"/>
                </a:solidFill>
              </a:defRPr>
            </a:pPr>
            <a:r>
              <a:rPr sz="2250" b="1">
                <a:solidFill>
                  <a:srgbClr val="293F55"/>
                </a:solidFill>
              </a:rPr>
              <a:t>Source figure selected during full-paper generation</a:t>
            </a:r>
          </a:p>
        </p:txBody>
      </p:sp>
      <p:sp>
        <p:nvSpPr>
          <p:cNvPr id="150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C395B675-BDD8-4774-BD82-E59CFA0E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821775"/>
            <a:ext cx="1321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Source: POSTEX-SYNTH-2026-001</a:t>
            </a:r>
          </a:p>
        </p:txBody>
      </p:sp>
      <p:sp>
        <p:nvSpPr>
          <p:cNvPr id="151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EA623759-CE2A-4E64-9639-C0791B1A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6695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E5C78"/>
                </a:solidFill>
              </a:defRPr>
            </a:pPr>
            <a:r>
              <a:rPr sz="3600" b="1">
                <a:solidFill>
                  <a:srgbClr val="3E5C78"/>
                </a:solidFill>
              </a:rPr>
              <a:t>Required factual anchors</a:t>
            </a:r>
          </a:p>
        </p:txBody>
      </p:sp>
      <p:sp>
        <p:nvSpPr>
          <p:cNvPr id="152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D0E79EA1-FDA8-4692-AC1E-69351403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30767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E9134C3E-6A4E-4C19-B861-BF73A6E1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526750"/>
            <a:ext cx="13668375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DE5E7"/>
            </a:solidFill>
            <a:prstDash val="solid"/>
          </a:ln>
        </p:spPr>
      </p:sp>
      <p:sp>
        <p:nvSpPr>
          <p:cNvPr id="154" name="validation">
            <a:extLst xmlns:a="http://schemas.openxmlformats.org/drawingml/2006/main">
              <a:ext uri="{FF2B5EF4-FFF2-40B4-BE49-F238E27FC236}">
                <a16:creationId xmlns:a16="http://schemas.microsoft.com/office/drawing/2014/main" id="{9EC4F1C0-2E5F-4241-9A56-30F5729F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3841075"/>
            <a:ext cx="129825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• total profiles: 1,240</a:t>
            </a:r>
          </a:p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• selected features: 12-feature</a:t>
            </a:r>
          </a:p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• external c index a: 0.75</a:t>
            </a:r>
          </a:p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• external c index b: 0.74</a:t>
            </a:r>
          </a:p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• sign stability: 92%</a:t>
            </a:r>
          </a:p>
        </p:txBody>
      </p:sp>
      <p:sp>
        <p:nvSpPr>
          <p:cNvPr id="155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C550C13B-89D4-45D4-8155-A3E4587B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7117675"/>
            <a:ext cx="12982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Ground-truth case: aurora-synthetic-benchmark</a:t>
            </a:r>
          </a:p>
        </p:txBody>
      </p:sp>
      <p:sp>
        <p:nvSpPr>
          <p:cNvPr id="156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7A17EBF2-18A8-45ED-AC91-37D378EC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908250"/>
            <a:ext cx="13668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3E5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5E64A3CD-40C0-4E39-9623-869DA9C6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28194000"/>
            <a:ext cx="13020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No unsupported numerical or causal expansion permitted</a:t>
            </a:r>
          </a:p>
        </p:txBody>
      </p:sp>
      <p:sp>
        <p:nvSpPr>
          <p:cNvPr id="158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8F47F01D-295B-4E98-825D-5831FE25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5619750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E5C78"/>
                </a:solidFill>
              </a:defRPr>
            </a:pPr>
            <a:r>
              <a:rPr sz="3600" b="1">
                <a:solidFill>
                  <a:srgbClr val="3E5C78"/>
                </a:solidFill>
              </a:rPr>
              <a:t>Fact checks</a:t>
            </a:r>
          </a:p>
        </p:txBody>
      </p:sp>
      <p:sp>
        <p:nvSpPr>
          <p:cNvPr id="159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E3652B84-8540-44F8-99EB-529BFA71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9F963A07-A716-4576-BD90-B45515A6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3E5C78"/>
                </a:solidFill>
              </a:defRPr>
            </a:pPr>
            <a:r>
              <a:rPr sz="5100" b="1">
                <a:solidFill>
                  <a:srgbClr val="3E5C78"/>
                </a:solidFill>
              </a:rPr>
              <a:t>1,240</a:t>
            </a:r>
          </a:p>
        </p:txBody>
      </p:sp>
      <p:sp>
        <p:nvSpPr>
          <p:cNvPr id="161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C6F32D63-FDE1-460A-B4B5-C565B558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total profiles</a:t>
            </a:r>
          </a:p>
        </p:txBody>
      </p:sp>
      <p:sp>
        <p:nvSpPr>
          <p:cNvPr id="162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0B38B32B-012C-47BD-8486-34C7D446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487AA1"/>
                </a:solidFill>
              </a:defRPr>
            </a:pPr>
            <a:r>
              <a:rPr sz="5100" b="1">
                <a:solidFill>
                  <a:srgbClr val="487AA1"/>
                </a:solidFill>
              </a:rPr>
              <a:t>12</a:t>
            </a:r>
          </a:p>
        </p:txBody>
      </p:sp>
      <p:sp>
        <p:nvSpPr>
          <p:cNvPr id="163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916D872D-F4AE-43F9-9DF5-57F3AA1A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selected features</a:t>
            </a:r>
          </a:p>
        </p:txBody>
      </p:sp>
      <p:sp>
        <p:nvSpPr>
          <p:cNvPr id="164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627D5554-A4C8-48AD-A5DD-C636E7BD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5BC6C"/>
                </a:solidFill>
              </a:defRPr>
            </a:pPr>
            <a:r>
              <a:rPr sz="5100" b="1">
                <a:solidFill>
                  <a:srgbClr val="E5BC6C"/>
                </a:solidFill>
              </a:rPr>
              <a:t>0.75</a:t>
            </a:r>
          </a:p>
        </p:txBody>
      </p:sp>
      <p:sp>
        <p:nvSpPr>
          <p:cNvPr id="165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003BEB55-7F72-438A-9C91-F886A849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external c index a</a:t>
            </a:r>
          </a:p>
        </p:txBody>
      </p:sp>
      <p:sp>
        <p:nvSpPr>
          <p:cNvPr id="166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269C402B-5E64-45BE-9F7A-E29B0129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8477250"/>
            <a:ext cx="1370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Machine-checkable evaluation fixture</a:t>
            </a:r>
          </a:p>
        </p:txBody>
      </p:sp>
      <p:sp>
        <p:nvSpPr>
          <p:cNvPr id="167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9F22C868-3180-4DC7-BF67-FEC6CFBE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9191625"/>
            <a:ext cx="13706475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DE5E7"/>
            </a:solidFill>
            <a:prstDash val="solid"/>
          </a:ln>
        </p:spPr>
      </p:sp>
      <p:sp>
        <p:nvSpPr>
          <p:cNvPr id="168" name="figure-three-placeholder">
            <a:extLst xmlns:a="http://schemas.openxmlformats.org/drawingml/2006/main">
              <a:ext uri="{FF2B5EF4-FFF2-40B4-BE49-F238E27FC236}">
                <a16:creationId xmlns:a16="http://schemas.microsoft.com/office/drawing/2014/main" id="{714204EA-06CA-4489-9828-E0F4622E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75" y="9382125"/>
            <a:ext cx="13325475" cy="5924550"/>
          </a:xfrm>
          <a:prstGeom xmlns:a="http://schemas.openxmlformats.org/drawingml/2006/main" prst="roundRect">
            <a:avLst>
              <a:gd name="adj" fmla="val 1286"/>
            </a:avLst>
          </a:prstGeom>
          <a:solidFill xmlns:a="http://schemas.openxmlformats.org/drawingml/2006/main">
            <a:srgbClr val="F6F2EE"/>
          </a:solidFill>
          <a:ln xmlns:a="http://schemas.openxmlformats.org/drawingml/2006/main" w="19050">
            <a:solidFill>
              <a:srgbClr val="DDE5E7"/>
            </a:solidFill>
            <a:prstDash val="solid"/>
          </a:ln>
        </p:spPr>
      </p:sp>
      <p:sp>
        <p:nvSpPr>
          <p:cNvPr id="169" name="figure-three-placeholder-label">
            <a:extLst xmlns:a="http://schemas.openxmlformats.org/drawingml/2006/main">
              <a:ext uri="{FF2B5EF4-FFF2-40B4-BE49-F238E27FC236}">
                <a16:creationId xmlns:a16="http://schemas.microsoft.com/office/drawing/2014/main" id="{E0784B35-6127-4AA0-8218-F620D90B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75" y="12049125"/>
            <a:ext cx="12563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487AA1"/>
                </a:solidFill>
              </a:defRPr>
            </a:pPr>
            <a:r>
              <a:rPr sz="2700" b="1">
                <a:solidFill>
                  <a:srgbClr val="487AA1"/>
                </a:solidFill>
              </a:rPr>
              <a:t>SOURCE FIGURE SLOT</a:t>
            </a:r>
          </a:p>
        </p:txBody>
      </p:sp>
      <p:sp>
        <p:nvSpPr>
          <p:cNvPr id="170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95AC3CFB-7606-45C0-A9EB-4C1D49BD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363825"/>
            <a:ext cx="13249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3F55"/>
                </a:solidFill>
              </a:defRPr>
            </a:pPr>
            <a:r>
              <a:rPr sz="2250" b="1">
                <a:solidFill>
                  <a:srgbClr val="293F55"/>
                </a:solidFill>
              </a:rPr>
              <a:t>Source figure selected during full-paper generation</a:t>
            </a:r>
          </a:p>
        </p:txBody>
      </p:sp>
      <p:sp>
        <p:nvSpPr>
          <p:cNvPr id="171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1893F62A-15E6-472B-8B99-5EEAE788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678150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Source: POSTEX-SYNTH-2026-001</a:t>
            </a:r>
          </a:p>
        </p:txBody>
      </p:sp>
      <p:sp>
        <p:nvSpPr>
          <p:cNvPr id="172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508F88D0-B61B-416A-BCC8-C172871E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652587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E5C78"/>
                </a:solidFill>
              </a:defRPr>
            </a:pPr>
            <a:r>
              <a:rPr sz="3600" b="1">
                <a:solidFill>
                  <a:srgbClr val="3E5C78"/>
                </a:solidFill>
              </a:rPr>
              <a:t>Independent evidence slot</a:t>
            </a:r>
          </a:p>
        </p:txBody>
      </p:sp>
      <p:sp>
        <p:nvSpPr>
          <p:cNvPr id="173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5F3E7E8C-F47D-4823-B7E3-B54D4B47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16405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F108CF47-C66C-417B-9729-FC3C9008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383125"/>
            <a:ext cx="13706475" cy="71437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DE5E7"/>
            </a:solidFill>
            <a:prstDash val="solid"/>
          </a:ln>
        </p:spPr>
      </p:sp>
      <p:sp>
        <p:nvSpPr>
          <p:cNvPr id="175" name="figure-four-placeholder">
            <a:extLst xmlns:a="http://schemas.openxmlformats.org/drawingml/2006/main">
              <a:ext uri="{FF2B5EF4-FFF2-40B4-BE49-F238E27FC236}">
                <a16:creationId xmlns:a16="http://schemas.microsoft.com/office/drawing/2014/main" id="{9F31614F-D1FD-416F-8993-2FF1FCB0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75" y="17573625"/>
            <a:ext cx="13325475" cy="6210300"/>
          </a:xfrm>
          <a:prstGeom xmlns:a="http://schemas.openxmlformats.org/drawingml/2006/main" prst="roundRect">
            <a:avLst>
              <a:gd name="adj" fmla="val 1227"/>
            </a:avLst>
          </a:prstGeom>
          <a:solidFill xmlns:a="http://schemas.openxmlformats.org/drawingml/2006/main">
            <a:srgbClr val="F6F2EE"/>
          </a:solidFill>
          <a:ln xmlns:a="http://schemas.openxmlformats.org/drawingml/2006/main" w="19050">
            <a:solidFill>
              <a:srgbClr val="DDE5E7"/>
            </a:solidFill>
            <a:prstDash val="solid"/>
          </a:ln>
        </p:spPr>
      </p:sp>
      <p:sp>
        <p:nvSpPr>
          <p:cNvPr id="176" name="figure-four-placeholder-label">
            <a:extLst xmlns:a="http://schemas.openxmlformats.org/drawingml/2006/main">
              <a:ext uri="{FF2B5EF4-FFF2-40B4-BE49-F238E27FC236}">
                <a16:creationId xmlns:a16="http://schemas.microsoft.com/office/drawing/2014/main" id="{2A555E50-1013-4797-9896-DBFDEAAB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75" y="20383500"/>
            <a:ext cx="12563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487AA1"/>
                </a:solidFill>
              </a:defRPr>
            </a:pPr>
            <a:r>
              <a:rPr sz="2700" b="1">
                <a:solidFill>
                  <a:srgbClr val="487AA1"/>
                </a:solidFill>
              </a:rPr>
              <a:t>SOURCE FIGURE SLOT</a:t>
            </a:r>
          </a:p>
        </p:txBody>
      </p:sp>
      <p:sp>
        <p:nvSpPr>
          <p:cNvPr id="177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EC8B747C-BCE0-477A-8915-71D4E9C0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3841075"/>
            <a:ext cx="13249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3F55"/>
                </a:solidFill>
              </a:defRPr>
            </a:pPr>
            <a:r>
              <a:rPr sz="2250" b="1">
                <a:solidFill>
                  <a:srgbClr val="293F55"/>
                </a:solidFill>
              </a:rPr>
              <a:t>Source figure selected during full-paper generation</a:t>
            </a:r>
          </a:p>
        </p:txBody>
      </p:sp>
      <p:sp>
        <p:nvSpPr>
          <p:cNvPr id="178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46645FC8-31D9-4099-98D3-28BB0012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4155400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Source: POSTEX-SYNTH-2026-001</a:t>
            </a:r>
          </a:p>
        </p:txBody>
      </p:sp>
      <p:sp>
        <p:nvSpPr>
          <p:cNvPr id="179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F6BB3DAA-A18A-42D5-9A4E-B1F6B216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00312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E5C78"/>
                </a:solidFill>
              </a:defRPr>
            </a:pPr>
            <a:r>
              <a:rPr sz="3600" b="1">
                <a:solidFill>
                  <a:srgbClr val="3E5C78"/>
                </a:solidFill>
              </a:rPr>
              <a:t>Interpretation boundary</a:t>
            </a:r>
          </a:p>
        </p:txBody>
      </p:sp>
      <p:sp>
        <p:nvSpPr>
          <p:cNvPr id="180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DAC6F5A7-9B4B-4C8A-B049-DC88859D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64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91BC81A7-3F9C-4B4F-BFB8-6572BE1C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860375"/>
            <a:ext cx="137064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DE5E7"/>
            </a:solidFill>
            <a:prstDash val="solid"/>
          </a:ln>
        </p:spPr>
      </p:sp>
      <p:sp>
        <p:nvSpPr>
          <p:cNvPr id="182" name="conclusion">
            <a:extLst xmlns:a="http://schemas.openxmlformats.org/drawingml/2006/main">
              <a:ext uri="{FF2B5EF4-FFF2-40B4-BE49-F238E27FC236}">
                <a16:creationId xmlns:a16="http://schemas.microsoft.com/office/drawing/2014/main" id="{00F1D23B-59A4-404E-9875-FC72F1A6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6174700"/>
            <a:ext cx="130587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Interpret findings only within the source study design, population, methods and reported uncertainty.</a:t>
            </a:r>
          </a:p>
        </p:txBody>
      </p:sp>
      <p:sp>
        <p:nvSpPr>
          <p:cNvPr id="183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931A488C-90D6-4771-AFE1-0710B7DA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8498800"/>
            <a:ext cx="1305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Source and license: POSTEX-SYNTH-2026-001 · CC0-1.0</a:t>
            </a:r>
          </a:p>
        </p:txBody>
      </p:sp>
      <p:sp>
        <p:nvSpPr>
          <p:cNvPr id="184" name="footer-band">
            <a:extLst xmlns:a="http://schemas.openxmlformats.org/drawingml/2006/main">
              <a:ext uri="{FF2B5EF4-FFF2-40B4-BE49-F238E27FC236}">
                <a16:creationId xmlns:a16="http://schemas.microsoft.com/office/drawing/2014/main" id="{B9B0BFA0-BB8A-453B-913E-F5373788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0"/>
            <a:ext cx="42805350" cy="9429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93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95A6E8F-7B24-4D9B-A279-5B70C8AC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94175"/>
            <a:ext cx="2857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AURORA-12: a fully synthetic benchmark for evidence-linked poster generation · CC0-1.0</a:t>
            </a:r>
          </a:p>
        </p:txBody>
      </p:sp>
      <p:sp>
        <p:nvSpPr>
          <p:cNvPr id="186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66A434DE-431F-4DA3-A81C-30BC8CE7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0" y="29594175"/>
            <a:ext cx="1171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E5BC6C"/>
                </a:solidFill>
              </a:defRPr>
            </a:pPr>
            <a:r>
              <a:rPr sz="1875" b="1">
                <a:solidFill>
                  <a:srgbClr val="E5BC6C"/>
                </a:solidFill>
              </a:rPr>
              <a:t>Evaluation preview · not a release poster</a:t>
            </a:r>
          </a:p>
        </p:txBody>
      </p:sp>
    </p:spTree>
    <p:extLst>
      <p:ext uri="{BB962C8B-B14F-4D97-AF65-F5344CB8AC3E}">
        <p14:creationId xmlns:p14="http://schemas.microsoft.com/office/powerpoint/2010/main" val="5734101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2026-08-08T08:54:23.6050000Z</dcterms:created>
  <dcterms:modified xsi:type="dcterms:W3CDTF">2026-08-08T08:54:23.6060000Z</dcterms:modified>
</coreProperties>
</file>