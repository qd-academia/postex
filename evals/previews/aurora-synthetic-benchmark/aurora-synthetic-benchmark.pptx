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464fc03f3344c25" /><Relationship Type="http://schemas.openxmlformats.org/officeDocument/2006/relationships/extended-properties" Target="/docProps/app.xml" Id="Ra483941db2cb4ae2" /><Relationship Type="http://schemas.openxmlformats.org/officeDocument/2006/relationships/officeDocument" Target="/ppt/presentation.xml" Id="R1ed019acdd784ae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d3a45125bec44a7"/>
  </p:sldMasterIdLst>
  <p:notesMasterIdLst>
    <p:notesMasterId xmlns:r="http://schemas.openxmlformats.org/officeDocument/2006/relationships" r:id="Re856f05cb4574522"/>
  </p:notesMasterIdLst>
  <p:sldIdLst>
    <p:sldId xmlns:r="http://schemas.openxmlformats.org/officeDocument/2006/relationships" id="256" r:id="Rdf958c27dbcd4aeb"/>
  </p:sldIdLst>
  <p:sldSz cx="42805350" cy="3027997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886fc6c74b94a85" /><Relationship Type="http://schemas.openxmlformats.org/officeDocument/2006/relationships/slideMaster" Target="/ppt/slideMasters/slideMaster1.xml" Id="R9d3a45125bec44a7" /><Relationship Type="http://schemas.openxmlformats.org/officeDocument/2006/relationships/notesMaster" Target="/ppt/notesMasters/notesMaster1.xml" Id="Re856f05cb4574522" /><Relationship Type="http://schemas.openxmlformats.org/officeDocument/2006/relationships/presProps" Target="/ppt/presProps.xml" Id="Rbe03495733fa40d0" /><Relationship Type="http://schemas.openxmlformats.org/officeDocument/2006/relationships/tableStyles" Target="/ppt/tableStyles.xml" Id="R248efd8f06054194" /><Relationship Type="http://schemas.openxmlformats.org/officeDocument/2006/relationships/slide" Target="/ppt/slides/slide1.xml" Id="Rdf958c27dbcd4a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9424855bc52476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e55113ca93d48d5" /><Relationship Type="http://schemas.openxmlformats.org/officeDocument/2006/relationships/notesMaster" Target="/ppt/notesMasters/notesMaster1.xml" Id="Rd556fe58c0a3483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examples/aurora-synthetic/AURORA-12-synthetic-manuscript.pdf</a:t>
            </a:r>
          </a:p>
          <a:p xmlns:a="http://schemas.openxmlformats.org/drawingml/2006/main">
            <a:r>
              <a:t>- License: CC0-1.0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7ebee5a8a14a4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5487f851e9e4523" /><Relationship Type="http://schemas.openxmlformats.org/officeDocument/2006/relationships/slideLayout" Target="/ppt/slideLayouts/slideLayout1.xml" Id="R81abc35f52dd4bf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abc35f52dd4bf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ebc55a7deb48ca" /><Relationship Type="http://schemas.openxmlformats.org/officeDocument/2006/relationships/notesSlide" Target="/ppt/notesSlides/notesSlide1.xml" Id="R7b2050c3df3d476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2" name="header-band">
            <a:extLst xmlns:a="http://schemas.openxmlformats.org/drawingml/2006/main">
              <a:ext uri="{FF2B5EF4-FFF2-40B4-BE49-F238E27FC236}">
                <a16:creationId xmlns:a16="http://schemas.microsoft.com/office/drawing/2014/main" id="{D5F4EED0-94E4-4C13-88F6-D35CC0B80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5350" cy="4953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F5F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8E58B154-3E92-4BA2-AE8B-5F1B58D28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5350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oster-title">
            <a:extLst xmlns:a="http://schemas.openxmlformats.org/drawingml/2006/main">
              <a:ext uri="{FF2B5EF4-FFF2-40B4-BE49-F238E27FC236}">
                <a16:creationId xmlns:a16="http://schemas.microsoft.com/office/drawing/2014/main" id="{7EFD8F26-FFA2-420C-AB14-76AA7D489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90550"/>
            <a:ext cx="29718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350" b="1">
                <a:solidFill>
                  <a:srgbClr val="FFFFFF"/>
                </a:solidFill>
              </a:defRPr>
            </a:pPr>
            <a:r>
              <a:rPr sz="7350" b="1">
                <a:solidFill>
                  <a:srgbClr val="FFFFFF"/>
                </a:solidFill>
              </a:rPr>
              <a:t>AURORA-12: a fully synthetic benchmark for evidence-linked poster generation</a:t>
            </a:r>
          </a:p>
        </p:txBody>
      </p:sp>
      <p:sp>
        <p:nvSpPr>
          <p:cNvPr id="4" name="authors">
            <a:extLst xmlns:a="http://schemas.openxmlformats.org/drawingml/2006/main">
              <a:ext uri="{FF2B5EF4-FFF2-40B4-BE49-F238E27FC236}">
                <a16:creationId xmlns:a16="http://schemas.microsoft.com/office/drawing/2014/main" id="{CA3C78B6-F320-433B-97DA-C1520840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914650"/>
            <a:ext cx="2943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FFFFFF"/>
                </a:solidFill>
              </a:defRPr>
            </a:pPr>
            <a:r>
              <a:rPr sz="2775" b="1">
                <a:solidFill>
                  <a:srgbClr val="FFFFFF"/>
                </a:solidFill>
              </a:rPr>
              <a:t>Source-grounded PostEx evaluation fixture</a:t>
            </a:r>
          </a:p>
        </p:txBody>
      </p:sp>
      <p:sp>
        <p:nvSpPr>
          <p:cNvPr id="5" name="affiliations">
            <a:extLst xmlns:a="http://schemas.openxmlformats.org/drawingml/2006/main">
              <a:ext uri="{FF2B5EF4-FFF2-40B4-BE49-F238E27FC236}">
                <a16:creationId xmlns:a16="http://schemas.microsoft.com/office/drawing/2014/main" id="{58A9EF36-FD36-4ACF-ABD7-4AC1C7171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38550"/>
            <a:ext cx="2943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F6F8FA"/>
                </a:solidFill>
              </a:defRPr>
            </a:pPr>
            <a:r>
              <a:rPr sz="2175">
                <a:solidFill>
                  <a:srgbClr val="F6F8FA"/>
                </a:solidFill>
              </a:rPr>
              <a:t>Bioinformatics profile · CC0-1.0</a:t>
            </a:r>
          </a:p>
        </p:txBody>
      </p:sp>
      <p:sp>
        <p:nvSpPr>
          <p:cNvPr id="6" name="citation">
            <a:extLst xmlns:a="http://schemas.openxmlformats.org/drawingml/2006/main">
              <a:ext uri="{FF2B5EF4-FFF2-40B4-BE49-F238E27FC236}">
                <a16:creationId xmlns:a16="http://schemas.microsoft.com/office/drawing/2014/main" id="{8DB50AB8-5716-4476-82B8-4DF549C4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238625"/>
            <a:ext cx="2428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E8B44C"/>
                </a:solidFill>
              </a:defRPr>
            </a:pPr>
            <a:r>
              <a:rPr sz="1950" b="1">
                <a:solidFill>
                  <a:srgbClr val="E8B44C"/>
                </a:solidFill>
              </a:rPr>
              <a:t>DOI POSTEX-SYNTH-2026-001</a:t>
            </a:r>
          </a:p>
        </p:txBody>
      </p:sp>
      <p:sp>
        <p:nvSpPr>
          <p:cNvPr id="7" name="logo-slot-institution-logo">
            <a:extLst xmlns:a="http://schemas.openxmlformats.org/drawingml/2006/main">
              <a:ext uri="{FF2B5EF4-FFF2-40B4-BE49-F238E27FC236}">
                <a16:creationId xmlns:a16="http://schemas.microsoft.com/office/drawing/2014/main" id="{2D965C94-6D88-477E-8EF5-2BF9462E3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0" y="552450"/>
            <a:ext cx="9334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8" name="logo-placeholder-institution-logo">
            <a:extLst xmlns:a="http://schemas.openxmlformats.org/drawingml/2006/main">
              <a:ext uri="{FF2B5EF4-FFF2-40B4-BE49-F238E27FC236}">
                <a16:creationId xmlns:a16="http://schemas.microsoft.com/office/drawing/2014/main" id="{206ADB59-5EAD-4331-A0F8-65CAF4815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13550" y="914400"/>
            <a:ext cx="910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F5F73"/>
                </a:solidFill>
              </a:defRPr>
            </a:pPr>
            <a:r>
              <a:rPr sz="2025" b="1">
                <a:solidFill>
                  <a:srgbClr val="0F5F73"/>
                </a:solidFill>
              </a:rPr>
              <a:t>Institution logo</a:t>
            </a:r>
          </a:p>
        </p:txBody>
      </p:sp>
      <p:sp>
        <p:nvSpPr>
          <p:cNvPr id="9" name="header-summary">
            <a:extLst xmlns:a="http://schemas.openxmlformats.org/drawingml/2006/main">
              <a:ext uri="{FF2B5EF4-FFF2-40B4-BE49-F238E27FC236}">
                <a16:creationId xmlns:a16="http://schemas.microsoft.com/office/drawing/2014/main" id="{72F85B8F-A0D6-40BC-A346-30ECCB867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0" y="2000250"/>
            <a:ext cx="9334500" cy="2286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eader-metric-1-value">
            <a:extLst xmlns:a="http://schemas.openxmlformats.org/drawingml/2006/main">
              <a:ext uri="{FF2B5EF4-FFF2-40B4-BE49-F238E27FC236}">
                <a16:creationId xmlns:a16="http://schemas.microsoft.com/office/drawing/2014/main" id="{E9E0F0C8-35DD-4BD7-B86B-BC95F6AA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0F5F73"/>
                </a:solidFill>
              </a:defRPr>
            </a:pPr>
            <a:r>
              <a:rPr sz="5100" b="1">
                <a:solidFill>
                  <a:srgbClr val="0F5F73"/>
                </a:solidFill>
              </a:rPr>
              <a:t>1,240</a:t>
            </a:r>
          </a:p>
        </p:txBody>
      </p:sp>
      <p:sp>
        <p:nvSpPr>
          <p:cNvPr id="11" name="header-metric-1-label">
            <a:extLst xmlns:a="http://schemas.openxmlformats.org/drawingml/2006/main">
              <a:ext uri="{FF2B5EF4-FFF2-40B4-BE49-F238E27FC236}">
                <a16:creationId xmlns:a16="http://schemas.microsoft.com/office/drawing/2014/main" id="{1A66B039-07CA-4580-BBB4-7A4CA292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0" y="30670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total profiles</a:t>
            </a:r>
          </a:p>
        </p:txBody>
      </p:sp>
      <p:sp>
        <p:nvSpPr>
          <p:cNvPr id="12" name="header-metric-2-value">
            <a:extLst xmlns:a="http://schemas.openxmlformats.org/drawingml/2006/main">
              <a:ext uri="{FF2B5EF4-FFF2-40B4-BE49-F238E27FC236}">
                <a16:creationId xmlns:a16="http://schemas.microsoft.com/office/drawing/2014/main" id="{F8E34B70-B1AF-4CFE-BB41-D53E4FF01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2C8C99"/>
                </a:solidFill>
              </a:defRPr>
            </a:pPr>
            <a:r>
              <a:rPr sz="5100" b="1">
                <a:solidFill>
                  <a:srgbClr val="2C8C99"/>
                </a:solidFill>
              </a:rPr>
              <a:t>12</a:t>
            </a:r>
          </a:p>
        </p:txBody>
      </p:sp>
      <p:sp>
        <p:nvSpPr>
          <p:cNvPr id="13" name="header-metric-2-label">
            <a:extLst xmlns:a="http://schemas.openxmlformats.org/drawingml/2006/main">
              <a:ext uri="{FF2B5EF4-FFF2-40B4-BE49-F238E27FC236}">
                <a16:creationId xmlns:a16="http://schemas.microsoft.com/office/drawing/2014/main" id="{6A0C7403-269A-4CB9-96D7-F1F13647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0" y="30670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selected features</a:t>
            </a:r>
          </a:p>
        </p:txBody>
      </p:sp>
      <p:sp>
        <p:nvSpPr>
          <p:cNvPr id="14" name="header-metric-3-value">
            <a:extLst xmlns:a="http://schemas.openxmlformats.org/drawingml/2006/main">
              <a:ext uri="{FF2B5EF4-FFF2-40B4-BE49-F238E27FC236}">
                <a16:creationId xmlns:a16="http://schemas.microsoft.com/office/drawing/2014/main" id="{E0EA2150-3D92-4EE3-8C31-96DE14FD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E8B44C"/>
                </a:solidFill>
              </a:defRPr>
            </a:pPr>
            <a:r>
              <a:rPr sz="5100" b="1">
                <a:solidFill>
                  <a:srgbClr val="E8B44C"/>
                </a:solidFill>
              </a:rPr>
              <a:t>0.75</a:t>
            </a:r>
          </a:p>
        </p:txBody>
      </p:sp>
      <p:sp>
        <p:nvSpPr>
          <p:cNvPr id="15" name="header-metric-3-label">
            <a:extLst xmlns:a="http://schemas.openxmlformats.org/drawingml/2006/main">
              <a:ext uri="{FF2B5EF4-FFF2-40B4-BE49-F238E27FC236}">
                <a16:creationId xmlns:a16="http://schemas.microsoft.com/office/drawing/2014/main" id="{8F2D3E5D-7E00-4374-9D6C-7DC3E123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0" y="30670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external c index a</a:t>
            </a:r>
          </a:p>
        </p:txBody>
      </p:sp>
      <p:sp>
        <p:nvSpPr>
          <p:cNvPr id="16" name="question-title">
            <a:extLst xmlns:a="http://schemas.openxmlformats.org/drawingml/2006/main">
              <a:ext uri="{FF2B5EF4-FFF2-40B4-BE49-F238E27FC236}">
                <a16:creationId xmlns:a16="http://schemas.microsoft.com/office/drawing/2014/main" id="{DDD0D857-5550-48F0-82EA-71947DE4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19750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Communication objective</a:t>
            </a:r>
          </a:p>
        </p:txBody>
      </p:sp>
      <p:sp>
        <p:nvSpPr>
          <p:cNvPr id="17" name="question-rule">
            <a:extLst xmlns:a="http://schemas.openxmlformats.org/drawingml/2006/main">
              <a:ext uri="{FF2B5EF4-FFF2-40B4-BE49-F238E27FC236}">
                <a16:creationId xmlns:a16="http://schemas.microsoft.com/office/drawing/2014/main" id="{18BB1C6F-13A3-4CDC-A02D-363D0398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2579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esearch-question">
            <a:extLst xmlns:a="http://schemas.openxmlformats.org/drawingml/2006/main">
              <a:ext uri="{FF2B5EF4-FFF2-40B4-BE49-F238E27FC236}">
                <a16:creationId xmlns:a16="http://schemas.microsoft.com/office/drawing/2014/main" id="{DDF2F0DB-DD44-46B7-BD06-BEA1BFAEB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496050"/>
            <a:ext cx="116205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Present the paper's design, central evidence and interpretation boundary in a traceable conference-poster format.</a:t>
            </a:r>
          </a:p>
        </p:txBody>
      </p:sp>
      <p:sp>
        <p:nvSpPr>
          <p:cNvPr id="19" name="question-evidence">
            <a:extLst xmlns:a="http://schemas.openxmlformats.org/drawingml/2006/main">
              <a:ext uri="{FF2B5EF4-FFF2-40B4-BE49-F238E27FC236}">
                <a16:creationId xmlns:a16="http://schemas.microsoft.com/office/drawing/2014/main" id="{10ADBB04-C5F0-4E0B-9B44-4E8891A9E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8686800"/>
            <a:ext cx="1162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Evidence fixture: POSTEX-SYNTH-2026-001</a:t>
            </a:r>
          </a:p>
        </p:txBody>
      </p:sp>
      <p:sp>
        <p:nvSpPr>
          <p:cNvPr id="20" name="pipeline-title">
            <a:extLst xmlns:a="http://schemas.openxmlformats.org/drawingml/2006/main">
              <a:ext uri="{FF2B5EF4-FFF2-40B4-BE49-F238E27FC236}">
                <a16:creationId xmlns:a16="http://schemas.microsoft.com/office/drawing/2014/main" id="{8B9BA2D7-E7D6-4423-93AB-574DC3406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239250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Required evidence structure</a:t>
            </a:r>
          </a:p>
        </p:txBody>
      </p:sp>
      <p:sp>
        <p:nvSpPr>
          <p:cNvPr id="21" name="pipeline-rule">
            <a:extLst xmlns:a="http://schemas.openxmlformats.org/drawingml/2006/main">
              <a:ext uri="{FF2B5EF4-FFF2-40B4-BE49-F238E27FC236}">
                <a16:creationId xmlns:a16="http://schemas.microsoft.com/office/drawing/2014/main" id="{B0F15EB7-0E77-4DA9-AC7A-B24FC0272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8774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ipeline-1-number-bg">
            <a:extLst xmlns:a="http://schemas.openxmlformats.org/drawingml/2006/main">
              <a:ext uri="{FF2B5EF4-FFF2-40B4-BE49-F238E27FC236}">
                <a16:creationId xmlns:a16="http://schemas.microsoft.com/office/drawing/2014/main" id="{F4E3E961-C43F-4E2A-AC56-4A4959FAD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134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ipeline-1-number">
            <a:extLst xmlns:a="http://schemas.openxmlformats.org/drawingml/2006/main">
              <a:ext uri="{FF2B5EF4-FFF2-40B4-BE49-F238E27FC236}">
                <a16:creationId xmlns:a16="http://schemas.microsoft.com/office/drawing/2014/main" id="{C546BA6E-E38C-4DFC-84B3-8ACFF3A9C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201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1</a:t>
            </a:r>
          </a:p>
        </p:txBody>
      </p:sp>
      <p:sp>
        <p:nvSpPr>
          <p:cNvPr id="24" name="pipeline-1-text">
            <a:extLst xmlns:a="http://schemas.openxmlformats.org/drawingml/2006/main">
              <a:ext uri="{FF2B5EF4-FFF2-40B4-BE49-F238E27FC236}">
                <a16:creationId xmlns:a16="http://schemas.microsoft.com/office/drawing/2014/main" id="{BC84808E-4C0E-4E3A-B0AC-BBF8847C0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0172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Research Question</a:t>
            </a:r>
          </a:p>
        </p:txBody>
      </p:sp>
      <p:sp>
        <p:nvSpPr>
          <p:cNvPr id="25" name="pipeline-2-number-bg">
            <a:extLst xmlns:a="http://schemas.openxmlformats.org/drawingml/2006/main">
              <a:ext uri="{FF2B5EF4-FFF2-40B4-BE49-F238E27FC236}">
                <a16:creationId xmlns:a16="http://schemas.microsoft.com/office/drawing/2014/main" id="{E625366C-433D-417A-ADD4-B3AB701A5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896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pipeline-2-number">
            <a:extLst xmlns:a="http://schemas.openxmlformats.org/drawingml/2006/main">
              <a:ext uri="{FF2B5EF4-FFF2-40B4-BE49-F238E27FC236}">
                <a16:creationId xmlns:a16="http://schemas.microsoft.com/office/drawing/2014/main" id="{B08AB636-BCA5-4195-9EDF-E7EB2FE66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963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2</a:t>
            </a:r>
          </a:p>
        </p:txBody>
      </p:sp>
      <p:sp>
        <p:nvSpPr>
          <p:cNvPr id="27" name="pipeline-2-text">
            <a:extLst xmlns:a="http://schemas.openxmlformats.org/drawingml/2006/main">
              <a:ext uri="{FF2B5EF4-FFF2-40B4-BE49-F238E27FC236}">
                <a16:creationId xmlns:a16="http://schemas.microsoft.com/office/drawing/2014/main" id="{AA1DAB5A-140C-4B78-9B74-060C152CB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0934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Datasets</a:t>
            </a:r>
          </a:p>
        </p:txBody>
      </p:sp>
      <p:sp>
        <p:nvSpPr>
          <p:cNvPr id="28" name="pipeline-3-number-bg">
            <a:extLst xmlns:a="http://schemas.openxmlformats.org/drawingml/2006/main">
              <a:ext uri="{FF2B5EF4-FFF2-40B4-BE49-F238E27FC236}">
                <a16:creationId xmlns:a16="http://schemas.microsoft.com/office/drawing/2014/main" id="{C1834EAC-B260-4FA3-A4B1-69A7D505E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658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ipeline-3-number">
            <a:extLst xmlns:a="http://schemas.openxmlformats.org/drawingml/2006/main">
              <a:ext uri="{FF2B5EF4-FFF2-40B4-BE49-F238E27FC236}">
                <a16:creationId xmlns:a16="http://schemas.microsoft.com/office/drawing/2014/main" id="{90EC0F46-6174-4DBC-AF59-3A19004A2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725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3</a:t>
            </a:r>
          </a:p>
        </p:txBody>
      </p:sp>
      <p:sp>
        <p:nvSpPr>
          <p:cNvPr id="30" name="pipeline-3-text">
            <a:extLst xmlns:a="http://schemas.openxmlformats.org/drawingml/2006/main">
              <a:ext uri="{FF2B5EF4-FFF2-40B4-BE49-F238E27FC236}">
                <a16:creationId xmlns:a16="http://schemas.microsoft.com/office/drawing/2014/main" id="{33B960BB-63C5-4793-B19A-F01D0C52B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1696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Analysis Pipeline</a:t>
            </a:r>
          </a:p>
        </p:txBody>
      </p:sp>
      <p:sp>
        <p:nvSpPr>
          <p:cNvPr id="31" name="pipeline-4-number-bg">
            <a:extLst xmlns:a="http://schemas.openxmlformats.org/drawingml/2006/main">
              <a:ext uri="{FF2B5EF4-FFF2-40B4-BE49-F238E27FC236}">
                <a16:creationId xmlns:a16="http://schemas.microsoft.com/office/drawing/2014/main" id="{DB82B77E-2C23-4C1A-A7E7-040886FB8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2420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pipeline-4-number">
            <a:extLst xmlns:a="http://schemas.openxmlformats.org/drawingml/2006/main">
              <a:ext uri="{FF2B5EF4-FFF2-40B4-BE49-F238E27FC236}">
                <a16:creationId xmlns:a16="http://schemas.microsoft.com/office/drawing/2014/main" id="{8DB87AD2-485C-4E76-8523-82F1E3E12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2487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4</a:t>
            </a:r>
          </a:p>
        </p:txBody>
      </p:sp>
      <p:sp>
        <p:nvSpPr>
          <p:cNvPr id="33" name="pipeline-4-text">
            <a:extLst xmlns:a="http://schemas.openxmlformats.org/drawingml/2006/main">
              <a:ext uri="{FF2B5EF4-FFF2-40B4-BE49-F238E27FC236}">
                <a16:creationId xmlns:a16="http://schemas.microsoft.com/office/drawing/2014/main" id="{29883B8C-826B-4985-981A-049E6BBB1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2458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Key Results</a:t>
            </a:r>
          </a:p>
        </p:txBody>
      </p:sp>
      <p:sp>
        <p:nvSpPr>
          <p:cNvPr id="34" name="dataset-panel">
            <a:extLst xmlns:a="http://schemas.openxmlformats.org/drawingml/2006/main">
              <a:ext uri="{FF2B5EF4-FFF2-40B4-BE49-F238E27FC236}">
                <a16:creationId xmlns:a16="http://schemas.microsoft.com/office/drawing/2014/main" id="{E5C666B7-7F91-45CC-9E76-3D0A20696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3430250"/>
            <a:ext cx="116205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35" name="dataset-kicker">
            <a:extLst xmlns:a="http://schemas.openxmlformats.org/drawingml/2006/main">
              <a:ext uri="{FF2B5EF4-FFF2-40B4-BE49-F238E27FC236}">
                <a16:creationId xmlns:a16="http://schemas.microsoft.com/office/drawing/2014/main" id="{9FF277AF-0670-451A-A6DC-3527D304D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3716000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0F5F73"/>
                </a:solidFill>
              </a:defRPr>
            </a:pPr>
            <a:r>
              <a:rPr sz="2175" b="1">
                <a:solidFill>
                  <a:srgbClr val="0F5F73"/>
                </a:solidFill>
              </a:rPr>
              <a:t>SOURCE CONTRACT</a:t>
            </a:r>
          </a:p>
        </p:txBody>
      </p:sp>
      <p:sp>
        <p:nvSpPr>
          <p:cNvPr id="36" name="datasets">
            <a:extLst xmlns:a="http://schemas.openxmlformats.org/drawingml/2006/main">
              <a:ext uri="{FF2B5EF4-FFF2-40B4-BE49-F238E27FC236}">
                <a16:creationId xmlns:a16="http://schemas.microsoft.com/office/drawing/2014/main" id="{B826FAD3-AB16-4E02-8EEE-3C5A5F41E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4239875"/>
            <a:ext cx="110871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Input: full paper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License: CC0-1.0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Profile: bioinformatics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Claims checked: 5</a:t>
            </a:r>
          </a:p>
        </p:txBody>
      </p:sp>
      <p:sp>
        <p:nvSpPr>
          <p:cNvPr id="37" name="dataset-evidence">
            <a:extLst xmlns:a="http://schemas.openxmlformats.org/drawingml/2006/main">
              <a:ext uri="{FF2B5EF4-FFF2-40B4-BE49-F238E27FC236}">
                <a16:creationId xmlns:a16="http://schemas.microsoft.com/office/drawing/2014/main" id="{DF6AE7CA-0D6B-4935-A46D-58E3CF0A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6411575"/>
            <a:ext cx="11087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examples/aurora-synthetic/AURORA-12-synthetic-manuscript.pdf</a:t>
            </a:r>
          </a:p>
        </p:txBody>
      </p:sp>
      <p:sp>
        <p:nvSpPr>
          <p:cNvPr id="38" name="figure-one-heading-title">
            <a:extLst xmlns:a="http://schemas.openxmlformats.org/drawingml/2006/main">
              <a:ext uri="{FF2B5EF4-FFF2-40B4-BE49-F238E27FC236}">
                <a16:creationId xmlns:a16="http://schemas.microsoft.com/office/drawing/2014/main" id="{48CAAF7B-BCCA-4103-A494-91A12EF7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383125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Methods and source evidence</a:t>
            </a:r>
          </a:p>
        </p:txBody>
      </p:sp>
      <p:sp>
        <p:nvSpPr>
          <p:cNvPr id="39" name="figure-one-heading-rule">
            <a:extLst xmlns:a="http://schemas.openxmlformats.org/drawingml/2006/main">
              <a:ext uri="{FF2B5EF4-FFF2-40B4-BE49-F238E27FC236}">
                <a16:creationId xmlns:a16="http://schemas.microsoft.com/office/drawing/2014/main" id="{431FE9D5-C94F-4822-8361-DCE3DAD63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021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figure-one-frame">
            <a:extLst xmlns:a="http://schemas.openxmlformats.org/drawingml/2006/main">
              <a:ext uri="{FF2B5EF4-FFF2-40B4-BE49-F238E27FC236}">
                <a16:creationId xmlns:a16="http://schemas.microsoft.com/office/drawing/2014/main" id="{0699AB8C-AA6E-4D8E-B82F-6B21C51E3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240375"/>
            <a:ext cx="11620500" cy="9906000"/>
          </a:xfrm>
          <a:prstGeom xmlns:a="http://schemas.openxmlformats.org/drawingml/2006/main" prst="roundRect">
            <a:avLst>
              <a:gd name="adj" fmla="val 1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41" name="figure-one-placeholder">
            <a:extLst xmlns:a="http://schemas.openxmlformats.org/drawingml/2006/main">
              <a:ext uri="{FF2B5EF4-FFF2-40B4-BE49-F238E27FC236}">
                <a16:creationId xmlns:a16="http://schemas.microsoft.com/office/drawing/2014/main" id="{AFE7E54F-BD61-4C0B-99B4-809B38FB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430875"/>
            <a:ext cx="11239500" cy="8972550"/>
          </a:xfrm>
          <a:prstGeom xmlns:a="http://schemas.openxmlformats.org/drawingml/2006/main" prst="roundRect">
            <a:avLst>
              <a:gd name="adj" fmla="val 849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42" name="figure-one-placeholder-label">
            <a:extLst xmlns:a="http://schemas.openxmlformats.org/drawingml/2006/main">
              <a:ext uri="{FF2B5EF4-FFF2-40B4-BE49-F238E27FC236}">
                <a16:creationId xmlns:a16="http://schemas.microsoft.com/office/drawing/2014/main" id="{31B0FC08-87E7-4B41-87A4-BCFAB2F02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2621875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SOURCE FIGURE SLOT</a:t>
            </a:r>
          </a:p>
        </p:txBody>
      </p:sp>
      <p:sp>
        <p:nvSpPr>
          <p:cNvPr id="43" name="figure-one-caption">
            <a:extLst xmlns:a="http://schemas.openxmlformats.org/drawingml/2006/main">
              <a:ext uri="{FF2B5EF4-FFF2-40B4-BE49-F238E27FC236}">
                <a16:creationId xmlns:a16="http://schemas.microsoft.com/office/drawing/2014/main" id="{524C511D-6A86-4CA1-8D28-F7F73F87A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460575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Source figure selected during full-paper generation</a:t>
            </a:r>
          </a:p>
        </p:txBody>
      </p:sp>
      <p:sp>
        <p:nvSpPr>
          <p:cNvPr id="44" name="figure-one-source">
            <a:extLst xmlns:a="http://schemas.openxmlformats.org/drawingml/2006/main">
              <a:ext uri="{FF2B5EF4-FFF2-40B4-BE49-F238E27FC236}">
                <a16:creationId xmlns:a16="http://schemas.microsoft.com/office/drawing/2014/main" id="{A012AEBF-FCA4-4CB7-AA50-55A4F5BC5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774900"/>
            <a:ext cx="11163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Source: POSTEX-SYNTH-2026-001</a:t>
            </a:r>
          </a:p>
        </p:txBody>
      </p:sp>
      <p:sp>
        <p:nvSpPr>
          <p:cNvPr id="45" name="central-takeaway">
            <a:extLst xmlns:a="http://schemas.openxmlformats.org/drawingml/2006/main">
              <a:ext uri="{FF2B5EF4-FFF2-40B4-BE49-F238E27FC236}">
                <a16:creationId xmlns:a16="http://schemas.microsoft.com/office/drawing/2014/main" id="{1E501206-9D31-4CBF-A060-77C8E77A1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5619750"/>
            <a:ext cx="13668375" cy="2524125"/>
          </a:xfrm>
          <a:prstGeom xmlns:a="http://schemas.openxmlformats.org/drawingml/2006/main" prst="roundRect">
            <a:avLst>
              <a:gd name="adj" fmla="val 6038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central-takeaway-title">
            <a:extLst xmlns:a="http://schemas.openxmlformats.org/drawingml/2006/main">
              <a:ext uri="{FF2B5EF4-FFF2-40B4-BE49-F238E27FC236}">
                <a16:creationId xmlns:a16="http://schemas.microsoft.com/office/drawing/2014/main" id="{23133A08-0F1B-4F4C-B67A-9F4BB54B5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44600" y="5953125"/>
            <a:ext cx="128301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125" b="1">
                <a:solidFill>
                  <a:srgbClr val="102A43"/>
                </a:solidFill>
              </a:defRPr>
            </a:pPr>
            <a:r>
              <a:rPr sz="4125" b="1">
                <a:solidFill>
                  <a:srgbClr val="102A43"/>
                </a:solidFill>
              </a:rPr>
              <a:t>1,240</a:t>
            </a:r>
          </a:p>
        </p:txBody>
      </p:sp>
      <p:sp>
        <p:nvSpPr>
          <p:cNvPr id="47" name="central-takeaway-subtitle">
            <a:extLst xmlns:a="http://schemas.openxmlformats.org/drawingml/2006/main">
              <a:ext uri="{FF2B5EF4-FFF2-40B4-BE49-F238E27FC236}">
                <a16:creationId xmlns:a16="http://schemas.microsoft.com/office/drawing/2014/main" id="{8C4D533C-5127-4235-B5CA-32556E05B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0" y="7181850"/>
            <a:ext cx="1233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43"/>
                </a:solidFill>
              </a:defRPr>
            </a:pPr>
            <a:r>
              <a:rPr sz="2400" b="1">
                <a:solidFill>
                  <a:srgbClr val="102A43"/>
                </a:solidFill>
              </a:rPr>
              <a:t>Key facts remain bound to the source and study design</a:t>
            </a:r>
          </a:p>
        </p:txBody>
      </p:sp>
      <p:sp>
        <p:nvSpPr>
          <p:cNvPr id="48" name="takeaway-evidence">
            <a:extLst xmlns:a="http://schemas.openxmlformats.org/drawingml/2006/main">
              <a:ext uri="{FF2B5EF4-FFF2-40B4-BE49-F238E27FC236}">
                <a16:creationId xmlns:a16="http://schemas.microsoft.com/office/drawing/2014/main" id="{09A0E524-0480-4651-9CF8-7EFEAA21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7715250"/>
            <a:ext cx="12792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Evidence fixture: POSTEX-SYNTH-2026-001</a:t>
            </a:r>
          </a:p>
        </p:txBody>
      </p:sp>
      <p:sp>
        <p:nvSpPr>
          <p:cNvPr id="49" name="figure-two-heading-title">
            <a:extLst xmlns:a="http://schemas.openxmlformats.org/drawingml/2006/main">
              <a:ext uri="{FF2B5EF4-FFF2-40B4-BE49-F238E27FC236}">
                <a16:creationId xmlns:a16="http://schemas.microsoft.com/office/drawing/2014/main" id="{D5BB8425-52CD-460A-AE71-B2465EF78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8620125"/>
            <a:ext cx="1366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Primary evidence</a:t>
            </a:r>
          </a:p>
        </p:txBody>
      </p:sp>
      <p:sp>
        <p:nvSpPr>
          <p:cNvPr id="50" name="figure-two-heading-rule">
            <a:extLst xmlns:a="http://schemas.openxmlformats.org/drawingml/2006/main">
              <a:ext uri="{FF2B5EF4-FFF2-40B4-BE49-F238E27FC236}">
                <a16:creationId xmlns:a16="http://schemas.microsoft.com/office/drawing/2014/main" id="{EEFB768A-29A2-4D51-90E2-6F2EB810A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9258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figure-two-frame">
            <a:extLst xmlns:a="http://schemas.openxmlformats.org/drawingml/2006/main">
              <a:ext uri="{FF2B5EF4-FFF2-40B4-BE49-F238E27FC236}">
                <a16:creationId xmlns:a16="http://schemas.microsoft.com/office/drawing/2014/main" id="{47D135D6-DD96-47D5-9734-D477C439F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9477375"/>
            <a:ext cx="13668375" cy="12715875"/>
          </a:xfrm>
          <a:prstGeom xmlns:a="http://schemas.openxmlformats.org/drawingml/2006/main" prst="roundRect">
            <a:avLst>
              <a:gd name="adj" fmla="val 8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52" name="figure-two-placeholder">
            <a:extLst xmlns:a="http://schemas.openxmlformats.org/drawingml/2006/main">
              <a:ext uri="{FF2B5EF4-FFF2-40B4-BE49-F238E27FC236}">
                <a16:creationId xmlns:a16="http://schemas.microsoft.com/office/drawing/2014/main" id="{D4107CAC-4365-4BCC-82A7-5FC95AF7A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9667875"/>
            <a:ext cx="13287375" cy="11782425"/>
          </a:xfrm>
          <a:prstGeom xmlns:a="http://schemas.openxmlformats.org/drawingml/2006/main" prst="roundRect">
            <a:avLst>
              <a:gd name="adj" fmla="val 647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53" name="figure-two-placeholder-label">
            <a:extLst xmlns:a="http://schemas.openxmlformats.org/drawingml/2006/main">
              <a:ext uri="{FF2B5EF4-FFF2-40B4-BE49-F238E27FC236}">
                <a16:creationId xmlns:a16="http://schemas.microsoft.com/office/drawing/2014/main" id="{099F1539-FA22-4E2B-8B74-5967DB47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15263813"/>
            <a:ext cx="12525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SOURCE FIGURE SLOT</a:t>
            </a:r>
          </a:p>
        </p:txBody>
      </p:sp>
      <p:sp>
        <p:nvSpPr>
          <p:cNvPr id="54" name="figure-two-caption">
            <a:extLst xmlns:a="http://schemas.openxmlformats.org/drawingml/2006/main">
              <a:ext uri="{FF2B5EF4-FFF2-40B4-BE49-F238E27FC236}">
                <a16:creationId xmlns:a16="http://schemas.microsoft.com/office/drawing/2014/main" id="{ECB58929-D14D-4085-9CE7-34255B0C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21507450"/>
            <a:ext cx="132111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Source figure selected during full-paper generation</a:t>
            </a:r>
          </a:p>
        </p:txBody>
      </p:sp>
      <p:sp>
        <p:nvSpPr>
          <p:cNvPr id="55" name="figure-two-source">
            <a:extLst xmlns:a="http://schemas.openxmlformats.org/drawingml/2006/main">
              <a:ext uri="{FF2B5EF4-FFF2-40B4-BE49-F238E27FC236}">
                <a16:creationId xmlns:a16="http://schemas.microsoft.com/office/drawing/2014/main" id="{B478D925-5182-4F7C-BDB9-A28352CD6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21821775"/>
            <a:ext cx="132111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Source: POSTEX-SYNTH-2026-001</a:t>
            </a:r>
          </a:p>
        </p:txBody>
      </p:sp>
      <p:sp>
        <p:nvSpPr>
          <p:cNvPr id="56" name="validation-heading-title">
            <a:extLst xmlns:a="http://schemas.openxmlformats.org/drawingml/2006/main">
              <a:ext uri="{FF2B5EF4-FFF2-40B4-BE49-F238E27FC236}">
                <a16:creationId xmlns:a16="http://schemas.microsoft.com/office/drawing/2014/main" id="{9B76C07C-E462-478A-9FEC-AF578788F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2669500"/>
            <a:ext cx="1366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Required factual anchors</a:t>
            </a:r>
          </a:p>
        </p:txBody>
      </p:sp>
      <p:sp>
        <p:nvSpPr>
          <p:cNvPr id="57" name="validation-heading-rule">
            <a:extLst xmlns:a="http://schemas.openxmlformats.org/drawingml/2006/main">
              <a:ext uri="{FF2B5EF4-FFF2-40B4-BE49-F238E27FC236}">
                <a16:creationId xmlns:a16="http://schemas.microsoft.com/office/drawing/2014/main" id="{3099C971-9893-4476-8D50-6DC970919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330767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validation-panel">
            <a:extLst xmlns:a="http://schemas.openxmlformats.org/drawingml/2006/main">
              <a:ext uri="{FF2B5EF4-FFF2-40B4-BE49-F238E27FC236}">
                <a16:creationId xmlns:a16="http://schemas.microsoft.com/office/drawing/2014/main" id="{D5508964-B2E7-4B6F-9CAD-2DD764E49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3526750"/>
            <a:ext cx="13668375" cy="4048125"/>
          </a:xfrm>
          <a:prstGeom xmlns:a="http://schemas.openxmlformats.org/drawingml/2006/main" prst="roundRect">
            <a:avLst>
              <a:gd name="adj" fmla="val 2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59" name="validation">
            <a:extLst xmlns:a="http://schemas.openxmlformats.org/drawingml/2006/main">
              <a:ext uri="{FF2B5EF4-FFF2-40B4-BE49-F238E27FC236}">
                <a16:creationId xmlns:a16="http://schemas.microsoft.com/office/drawing/2014/main" id="{0DF4FF2B-8637-419F-8E15-63F4DBDD6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23841075"/>
            <a:ext cx="1298257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total profiles: 1,240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selected features: 12-feature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external c index a: 0.75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external c index b: 0.74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sign stability: 92%</a:t>
            </a:r>
          </a:p>
        </p:txBody>
      </p:sp>
      <p:sp>
        <p:nvSpPr>
          <p:cNvPr id="60" name="validation-evidence">
            <a:extLst xmlns:a="http://schemas.openxmlformats.org/drawingml/2006/main">
              <a:ext uri="{FF2B5EF4-FFF2-40B4-BE49-F238E27FC236}">
                <a16:creationId xmlns:a16="http://schemas.microsoft.com/office/drawing/2014/main" id="{F7763289-43FF-4508-9961-8D14D80DA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27117675"/>
            <a:ext cx="129825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Ground-truth case: aurora-synthetic-benchmark</a:t>
            </a:r>
          </a:p>
        </p:txBody>
      </p:sp>
      <p:sp>
        <p:nvSpPr>
          <p:cNvPr id="61" name="performance-strip">
            <a:extLst xmlns:a="http://schemas.openxmlformats.org/drawingml/2006/main">
              <a:ext uri="{FF2B5EF4-FFF2-40B4-BE49-F238E27FC236}">
                <a16:creationId xmlns:a16="http://schemas.microsoft.com/office/drawing/2014/main" id="{14A11AB9-AB72-4320-9A31-9D596AAA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7908250"/>
            <a:ext cx="13668375" cy="1095375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0F5F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performance-strip-text">
            <a:extLst xmlns:a="http://schemas.openxmlformats.org/drawingml/2006/main">
              <a:ext uri="{FF2B5EF4-FFF2-40B4-BE49-F238E27FC236}">
                <a16:creationId xmlns:a16="http://schemas.microsoft.com/office/drawing/2014/main" id="{B3458204-EFED-4276-9F69-5458F988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9350" y="28194000"/>
            <a:ext cx="130206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No unsupported numerical or causal expansion permitted</a:t>
            </a:r>
          </a:p>
        </p:txBody>
      </p:sp>
      <p:sp>
        <p:nvSpPr>
          <p:cNvPr id="63" name="biology-heading-title">
            <a:extLst xmlns:a="http://schemas.openxmlformats.org/drawingml/2006/main">
              <a:ext uri="{FF2B5EF4-FFF2-40B4-BE49-F238E27FC236}">
                <a16:creationId xmlns:a16="http://schemas.microsoft.com/office/drawing/2014/main" id="{60B2DBB8-FD9D-4E17-8037-600B5921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5619750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Fact checks</a:t>
            </a:r>
          </a:p>
        </p:txBody>
      </p:sp>
      <p:sp>
        <p:nvSpPr>
          <p:cNvPr id="64" name="biology-heading-rule">
            <a:extLst xmlns:a="http://schemas.openxmlformats.org/drawingml/2006/main">
              <a:ext uri="{FF2B5EF4-FFF2-40B4-BE49-F238E27FC236}">
                <a16:creationId xmlns:a16="http://schemas.microsoft.com/office/drawing/2014/main" id="{3D4D1B6E-E0C3-4AD5-B25C-895C1FA96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62579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biology-1-value">
            <a:extLst xmlns:a="http://schemas.openxmlformats.org/drawingml/2006/main">
              <a:ext uri="{FF2B5EF4-FFF2-40B4-BE49-F238E27FC236}">
                <a16:creationId xmlns:a16="http://schemas.microsoft.com/office/drawing/2014/main" id="{8DD01C4C-F49F-4A81-AACA-5049E1353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0F5F73"/>
                </a:solidFill>
              </a:defRPr>
            </a:pPr>
            <a:r>
              <a:rPr sz="5100" b="1">
                <a:solidFill>
                  <a:srgbClr val="0F5F73"/>
                </a:solidFill>
              </a:rPr>
              <a:t>1,240</a:t>
            </a:r>
          </a:p>
        </p:txBody>
      </p:sp>
      <p:sp>
        <p:nvSpPr>
          <p:cNvPr id="66" name="biology-1-label">
            <a:extLst xmlns:a="http://schemas.openxmlformats.org/drawingml/2006/main">
              <a:ext uri="{FF2B5EF4-FFF2-40B4-BE49-F238E27FC236}">
                <a16:creationId xmlns:a16="http://schemas.microsoft.com/office/drawing/2014/main" id="{A33EB098-F353-4B94-BD7E-B4F3FBD69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73533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total profiles</a:t>
            </a:r>
          </a:p>
        </p:txBody>
      </p:sp>
      <p:sp>
        <p:nvSpPr>
          <p:cNvPr id="67" name="biology-2-value">
            <a:extLst xmlns:a="http://schemas.openxmlformats.org/drawingml/2006/main">
              <a:ext uri="{FF2B5EF4-FFF2-40B4-BE49-F238E27FC236}">
                <a16:creationId xmlns:a16="http://schemas.microsoft.com/office/drawing/2014/main" id="{48B65DA2-8960-4B29-9A6B-10E5BA5F4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0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2C8C99"/>
                </a:solidFill>
              </a:defRPr>
            </a:pPr>
            <a:r>
              <a:rPr sz="5100" b="1">
                <a:solidFill>
                  <a:srgbClr val="2C8C99"/>
                </a:solidFill>
              </a:rPr>
              <a:t>12</a:t>
            </a:r>
          </a:p>
        </p:txBody>
      </p:sp>
      <p:sp>
        <p:nvSpPr>
          <p:cNvPr id="68" name="biology-2-label">
            <a:extLst xmlns:a="http://schemas.openxmlformats.org/drawingml/2006/main">
              <a:ext uri="{FF2B5EF4-FFF2-40B4-BE49-F238E27FC236}">
                <a16:creationId xmlns:a16="http://schemas.microsoft.com/office/drawing/2014/main" id="{9307F4A4-C28C-4370-AB6B-D6DC1B2E8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0" y="73533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selected features</a:t>
            </a:r>
          </a:p>
        </p:txBody>
      </p:sp>
      <p:sp>
        <p:nvSpPr>
          <p:cNvPr id="69" name="biology-3-value">
            <a:extLst xmlns:a="http://schemas.openxmlformats.org/drawingml/2006/main">
              <a:ext uri="{FF2B5EF4-FFF2-40B4-BE49-F238E27FC236}">
                <a16:creationId xmlns:a16="http://schemas.microsoft.com/office/drawing/2014/main" id="{C02F6EE4-663F-4FE3-984C-B0D3DDBF3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4125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E8B44C"/>
                </a:solidFill>
              </a:defRPr>
            </a:pPr>
            <a:r>
              <a:rPr sz="5100" b="1">
                <a:solidFill>
                  <a:srgbClr val="E8B44C"/>
                </a:solidFill>
              </a:rPr>
              <a:t>0.75</a:t>
            </a:r>
          </a:p>
        </p:txBody>
      </p:sp>
      <p:sp>
        <p:nvSpPr>
          <p:cNvPr id="70" name="biology-3-label">
            <a:extLst xmlns:a="http://schemas.openxmlformats.org/drawingml/2006/main">
              <a:ext uri="{FF2B5EF4-FFF2-40B4-BE49-F238E27FC236}">
                <a16:creationId xmlns:a16="http://schemas.microsoft.com/office/drawing/2014/main" id="{786873D8-8691-4246-BC95-67509CCC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4125" y="73533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external c index a</a:t>
            </a:r>
          </a:p>
        </p:txBody>
      </p:sp>
      <p:sp>
        <p:nvSpPr>
          <p:cNvPr id="71" name="biology-evidence">
            <a:extLst xmlns:a="http://schemas.openxmlformats.org/drawingml/2006/main">
              <a:ext uri="{FF2B5EF4-FFF2-40B4-BE49-F238E27FC236}">
                <a16:creationId xmlns:a16="http://schemas.microsoft.com/office/drawing/2014/main" id="{EC70F5B3-0212-4829-81AD-564896374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8477250"/>
            <a:ext cx="137064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Machine-checkable evaluation fixture</a:t>
            </a:r>
          </a:p>
        </p:txBody>
      </p:sp>
      <p:sp>
        <p:nvSpPr>
          <p:cNvPr id="72" name="figure-three-frame">
            <a:extLst xmlns:a="http://schemas.openxmlformats.org/drawingml/2006/main">
              <a:ext uri="{FF2B5EF4-FFF2-40B4-BE49-F238E27FC236}">
                <a16:creationId xmlns:a16="http://schemas.microsoft.com/office/drawing/2014/main" id="{8B6334F0-1BA9-4279-AA34-4F9F6340C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9191625"/>
            <a:ext cx="13706475" cy="6858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73" name="figure-three-placeholder">
            <a:extLst xmlns:a="http://schemas.openxmlformats.org/drawingml/2006/main">
              <a:ext uri="{FF2B5EF4-FFF2-40B4-BE49-F238E27FC236}">
                <a16:creationId xmlns:a16="http://schemas.microsoft.com/office/drawing/2014/main" id="{89857F5E-FC36-49E2-B231-5862F3348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55875" y="9382125"/>
            <a:ext cx="13325475" cy="5924550"/>
          </a:xfrm>
          <a:prstGeom xmlns:a="http://schemas.openxmlformats.org/drawingml/2006/main" prst="roundRect">
            <a:avLst>
              <a:gd name="adj" fmla="val 1286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74" name="figure-three-placeholder-label">
            <a:extLst xmlns:a="http://schemas.openxmlformats.org/drawingml/2006/main">
              <a:ext uri="{FF2B5EF4-FFF2-40B4-BE49-F238E27FC236}">
                <a16:creationId xmlns:a16="http://schemas.microsoft.com/office/drawing/2014/main" id="{8B788331-3305-4E6C-9F8A-B5AF7FA9A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6875" y="12049125"/>
            <a:ext cx="125634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SOURCE FIGURE SLOT</a:t>
            </a:r>
          </a:p>
        </p:txBody>
      </p:sp>
      <p:sp>
        <p:nvSpPr>
          <p:cNvPr id="75" name="figure-three-caption">
            <a:extLst xmlns:a="http://schemas.openxmlformats.org/drawingml/2006/main">
              <a:ext uri="{FF2B5EF4-FFF2-40B4-BE49-F238E27FC236}">
                <a16:creationId xmlns:a16="http://schemas.microsoft.com/office/drawing/2014/main" id="{847F18A3-4A14-478B-82EC-41C1247D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15363825"/>
            <a:ext cx="132492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Source figure selected during full-paper generation</a:t>
            </a:r>
          </a:p>
        </p:txBody>
      </p:sp>
      <p:sp>
        <p:nvSpPr>
          <p:cNvPr id="76" name="figure-three-source">
            <a:extLst xmlns:a="http://schemas.openxmlformats.org/drawingml/2006/main">
              <a:ext uri="{FF2B5EF4-FFF2-40B4-BE49-F238E27FC236}">
                <a16:creationId xmlns:a16="http://schemas.microsoft.com/office/drawing/2014/main" id="{E59E2D19-E261-4F55-B60E-0B493FDFF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15678150"/>
            <a:ext cx="13249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Source: POSTEX-SYNTH-2026-001</a:t>
            </a:r>
          </a:p>
        </p:txBody>
      </p:sp>
      <p:sp>
        <p:nvSpPr>
          <p:cNvPr id="77" name="validation-visual-heading-title">
            <a:extLst xmlns:a="http://schemas.openxmlformats.org/drawingml/2006/main">
              <a:ext uri="{FF2B5EF4-FFF2-40B4-BE49-F238E27FC236}">
                <a16:creationId xmlns:a16="http://schemas.microsoft.com/office/drawing/2014/main" id="{C897AEF6-39F5-4692-867E-97939528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6525875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Independent evidence slot</a:t>
            </a:r>
          </a:p>
        </p:txBody>
      </p:sp>
      <p:sp>
        <p:nvSpPr>
          <p:cNvPr id="78" name="validation-visual-heading-rule">
            <a:extLst xmlns:a="http://schemas.openxmlformats.org/drawingml/2006/main">
              <a:ext uri="{FF2B5EF4-FFF2-40B4-BE49-F238E27FC236}">
                <a16:creationId xmlns:a16="http://schemas.microsoft.com/office/drawing/2014/main" id="{7FA189F5-0883-48B5-B931-E183036D5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716405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figure-four-frame">
            <a:extLst xmlns:a="http://schemas.openxmlformats.org/drawingml/2006/main">
              <a:ext uri="{FF2B5EF4-FFF2-40B4-BE49-F238E27FC236}">
                <a16:creationId xmlns:a16="http://schemas.microsoft.com/office/drawing/2014/main" id="{6E8970A8-E3C8-4DFD-A384-B5D48976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7383125"/>
            <a:ext cx="13706475" cy="714375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80" name="figure-four-placeholder">
            <a:extLst xmlns:a="http://schemas.openxmlformats.org/drawingml/2006/main">
              <a:ext uri="{FF2B5EF4-FFF2-40B4-BE49-F238E27FC236}">
                <a16:creationId xmlns:a16="http://schemas.microsoft.com/office/drawing/2014/main" id="{FCCED4E1-29D4-4B0C-829E-71A4E74C9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55875" y="17573625"/>
            <a:ext cx="13325475" cy="6210300"/>
          </a:xfrm>
          <a:prstGeom xmlns:a="http://schemas.openxmlformats.org/drawingml/2006/main" prst="roundRect">
            <a:avLst>
              <a:gd name="adj" fmla="val 1227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81" name="figure-four-placeholder-label">
            <a:extLst xmlns:a="http://schemas.openxmlformats.org/drawingml/2006/main">
              <a:ext uri="{FF2B5EF4-FFF2-40B4-BE49-F238E27FC236}">
                <a16:creationId xmlns:a16="http://schemas.microsoft.com/office/drawing/2014/main" id="{FD6B6915-5760-44B6-87F2-9B89BFEC8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6875" y="20383500"/>
            <a:ext cx="125634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SOURCE FIGURE SLOT</a:t>
            </a:r>
          </a:p>
        </p:txBody>
      </p:sp>
      <p:sp>
        <p:nvSpPr>
          <p:cNvPr id="82" name="figure-four-caption">
            <a:extLst xmlns:a="http://schemas.openxmlformats.org/drawingml/2006/main">
              <a:ext uri="{FF2B5EF4-FFF2-40B4-BE49-F238E27FC236}">
                <a16:creationId xmlns:a16="http://schemas.microsoft.com/office/drawing/2014/main" id="{91182C3B-459E-46D6-B22E-BD2B551AA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23841075"/>
            <a:ext cx="132492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Source figure selected during full-paper generation</a:t>
            </a:r>
          </a:p>
        </p:txBody>
      </p:sp>
      <p:sp>
        <p:nvSpPr>
          <p:cNvPr id="83" name="figure-four-source">
            <a:extLst xmlns:a="http://schemas.openxmlformats.org/drawingml/2006/main">
              <a:ext uri="{FF2B5EF4-FFF2-40B4-BE49-F238E27FC236}">
                <a16:creationId xmlns:a16="http://schemas.microsoft.com/office/drawing/2014/main" id="{656C78C4-EF8D-49FD-85D9-F4BF9F34D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24155400"/>
            <a:ext cx="13249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Source: POSTEX-SYNTH-2026-001</a:t>
            </a:r>
          </a:p>
        </p:txBody>
      </p:sp>
      <p:sp>
        <p:nvSpPr>
          <p:cNvPr id="84" name="conclusion-heading-title">
            <a:extLst xmlns:a="http://schemas.openxmlformats.org/drawingml/2006/main">
              <a:ext uri="{FF2B5EF4-FFF2-40B4-BE49-F238E27FC236}">
                <a16:creationId xmlns:a16="http://schemas.microsoft.com/office/drawing/2014/main" id="{86E2F1F4-D31C-42E5-9AB4-1223B6D55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003125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Interpretation boundary</a:t>
            </a:r>
          </a:p>
        </p:txBody>
      </p:sp>
      <p:sp>
        <p:nvSpPr>
          <p:cNvPr id="85" name="conclusion-heading-rule">
            <a:extLst xmlns:a="http://schemas.openxmlformats.org/drawingml/2006/main">
              <a:ext uri="{FF2B5EF4-FFF2-40B4-BE49-F238E27FC236}">
                <a16:creationId xmlns:a16="http://schemas.microsoft.com/office/drawing/2014/main" id="{7B27B5E4-87F9-405C-BB44-34136E1A9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641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conclusion-panel">
            <a:extLst xmlns:a="http://schemas.openxmlformats.org/drawingml/2006/main">
              <a:ext uri="{FF2B5EF4-FFF2-40B4-BE49-F238E27FC236}">
                <a16:creationId xmlns:a16="http://schemas.microsoft.com/office/drawing/2014/main" id="{BCBD5395-E5D2-4753-8931-6BB71304B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860375"/>
            <a:ext cx="13706475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87" name="conclusion">
            <a:extLst xmlns:a="http://schemas.openxmlformats.org/drawingml/2006/main">
              <a:ext uri="{FF2B5EF4-FFF2-40B4-BE49-F238E27FC236}">
                <a16:creationId xmlns:a16="http://schemas.microsoft.com/office/drawing/2014/main" id="{234B227D-39B4-48F2-8680-96E3DE9F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9225" y="26174700"/>
            <a:ext cx="1305877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Interpret findings only within the source study design, population, methods and reported uncertainty.</a:t>
            </a:r>
          </a:p>
        </p:txBody>
      </p:sp>
      <p:sp>
        <p:nvSpPr>
          <p:cNvPr id="88" name="conclusion-evidence">
            <a:extLst xmlns:a="http://schemas.openxmlformats.org/drawingml/2006/main">
              <a:ext uri="{FF2B5EF4-FFF2-40B4-BE49-F238E27FC236}">
                <a16:creationId xmlns:a16="http://schemas.microsoft.com/office/drawing/2014/main" id="{BBC80C51-C26E-4625-9358-1C78E2E2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9225" y="28498800"/>
            <a:ext cx="130587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 and license: POSTEX-SYNTH-2026-001 · CC0-1.0</a:t>
            </a:r>
          </a:p>
        </p:txBody>
      </p:sp>
      <p:sp>
        <p:nvSpPr>
          <p:cNvPr id="89" name="footer-band">
            <a:extLst xmlns:a="http://schemas.openxmlformats.org/drawingml/2006/main">
              <a:ext uri="{FF2B5EF4-FFF2-40B4-BE49-F238E27FC236}">
                <a16:creationId xmlns:a16="http://schemas.microsoft.com/office/drawing/2014/main" id="{DD05FEEC-C0B0-415C-BF9D-1B1A1C292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337000"/>
            <a:ext cx="42805350" cy="94297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1A5AE985-3092-40B9-AEB6-CE255266F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594175"/>
            <a:ext cx="2857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FFFFFF"/>
                </a:solidFill>
              </a:defRPr>
            </a:pPr>
            <a:r>
              <a:rPr sz="1950">
                <a:solidFill>
                  <a:srgbClr val="FFFFFF"/>
                </a:solidFill>
              </a:rPr>
              <a:t>AURORA-12: a fully synthetic benchmark for evidence-linked poster generation · CC0-1.0</a:t>
            </a:r>
          </a:p>
        </p:txBody>
      </p:sp>
      <p:sp>
        <p:nvSpPr>
          <p:cNvPr id="91" name="footer-status">
            <a:extLst xmlns:a="http://schemas.openxmlformats.org/drawingml/2006/main">
              <a:ext uri="{FF2B5EF4-FFF2-40B4-BE49-F238E27FC236}">
                <a16:creationId xmlns:a16="http://schemas.microsoft.com/office/drawing/2014/main" id="{62940CDC-6C5E-41D4-8B5C-9B5CBF267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0" y="29594175"/>
            <a:ext cx="1171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875" b="1">
                <a:solidFill>
                  <a:srgbClr val="E8B44C"/>
                </a:solidFill>
              </a:defRPr>
            </a:pPr>
            <a:r>
              <a:rPr sz="1875" b="1">
                <a:solidFill>
                  <a:srgbClr val="E8B44C"/>
                </a:solidFill>
              </a:rPr>
              <a:t>Evaluation preview · not a release poster</a:t>
            </a:r>
          </a:p>
        </p:txBody>
      </p:sp>
    </p:spTree>
    <p:extLst>
      <p:ext uri="{BB962C8B-B14F-4D97-AF65-F5344CB8AC3E}">
        <p14:creationId xmlns:p14="http://schemas.microsoft.com/office/powerpoint/2010/main" val="14590754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2026-08-08T08:04:06.2910000Z</dcterms:created>
  <dcterms:modified xsi:type="dcterms:W3CDTF">2026-08-08T08:04:06.2910000Z</dcterms:modified>
</coreProperties>
</file>