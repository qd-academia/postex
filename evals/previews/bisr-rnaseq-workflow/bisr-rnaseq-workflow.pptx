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a9a9b67959244d8" /><Relationship Type="http://schemas.openxmlformats.org/officeDocument/2006/relationships/extended-properties" Target="/docProps/app.xml" Id="R1b6c60f9b0214053" /><Relationship Type="http://schemas.openxmlformats.org/officeDocument/2006/relationships/officeDocument" Target="/ppt/presentation.xml" Id="R3075b64c80af404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3e67870904a430c"/>
  </p:sldMasterIdLst>
  <p:notesMasterIdLst>
    <p:notesMasterId xmlns:r="http://schemas.openxmlformats.org/officeDocument/2006/relationships" r:id="R59e84f7f514a4286"/>
  </p:notesMasterIdLst>
  <p:sldIdLst>
    <p:sldId xmlns:r="http://schemas.openxmlformats.org/officeDocument/2006/relationships" id="256" r:id="Rab3bd0cea10741bc"/>
  </p:sldIdLst>
  <p:sldSz cx="42805350" cy="30279975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34d70d2218a4369" /><Relationship Type="http://schemas.openxmlformats.org/officeDocument/2006/relationships/slideMaster" Target="/ppt/slideMasters/slideMaster1.xml" Id="R23e67870904a430c" /><Relationship Type="http://schemas.openxmlformats.org/officeDocument/2006/relationships/notesMaster" Target="/ppt/notesMasters/notesMaster1.xml" Id="R59e84f7f514a4286" /><Relationship Type="http://schemas.openxmlformats.org/officeDocument/2006/relationships/presProps" Target="/ppt/presProps.xml" Id="R5c64f9c25b3d4775" /><Relationship Type="http://schemas.openxmlformats.org/officeDocument/2006/relationships/tableStyles" Target="/ppt/tableStyles.xml" Id="R44e119971492491c" /><Relationship Type="http://schemas.openxmlformats.org/officeDocument/2006/relationships/slide" Target="/ppt/slides/slide1.xml" Id="Rab3bd0cea10741b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3e01c5e34934fe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410ac21e5424d68" /><Relationship Type="http://schemas.openxmlformats.org/officeDocument/2006/relationships/notesMaster" Target="/ppt/notesMasters/notesMaster1.xml" Id="R67a06a88aa9d47b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https://pmc.ncbi.nlm.nih.gov/articles/PMC6923898/</a:t>
            </a:r>
          </a:p>
          <a:p xmlns:a="http://schemas.openxmlformats.org/drawingml/2006/main">
            <a:r>
              <a:t>- License: CC BY 4.0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ca88fd25fe40a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79c3bbceebb4724" /><Relationship Type="http://schemas.openxmlformats.org/officeDocument/2006/relationships/slideLayout" Target="/ppt/slideLayouts/slideLayout1.xml" Id="Rf7c908aef52d456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7c908aef52d456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004ad836904192" /><Relationship Type="http://schemas.openxmlformats.org/officeDocument/2006/relationships/notesSlide" Target="/ppt/notesSlides/notesSlide1.xml" Id="R5601756d4d7c436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2" name="header-band">
            <a:extLst xmlns:a="http://schemas.openxmlformats.org/drawingml/2006/main">
              <a:ext uri="{FF2B5EF4-FFF2-40B4-BE49-F238E27FC236}">
                <a16:creationId xmlns:a16="http://schemas.microsoft.com/office/drawing/2014/main" id="{F981768E-8329-4600-96B1-F9B6F6D39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2805350" cy="4953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F5F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328AEC8B-F971-4574-ADF1-1A26711BE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2805350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oster-title">
            <a:extLst xmlns:a="http://schemas.openxmlformats.org/drawingml/2006/main">
              <a:ext uri="{FF2B5EF4-FFF2-40B4-BE49-F238E27FC236}">
                <a16:creationId xmlns:a16="http://schemas.microsoft.com/office/drawing/2014/main" id="{E74D1314-4768-46C6-8C57-837C13F17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90550"/>
            <a:ext cx="297180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350" b="1">
                <a:solidFill>
                  <a:srgbClr val="FFFFFF"/>
                </a:solidFill>
              </a:defRPr>
            </a:pPr>
            <a:r>
              <a:rPr sz="7350" b="1">
                <a:solidFill>
                  <a:srgbClr val="FFFFFF"/>
                </a:solidFill>
              </a:rPr>
              <a:t>BISR-RNAseq: an efficient and scalable RNAseq analysis workflow with interactive report generation</a:t>
            </a:r>
          </a:p>
        </p:txBody>
      </p:sp>
      <p:sp>
        <p:nvSpPr>
          <p:cNvPr id="4" name="authors">
            <a:extLst xmlns:a="http://schemas.openxmlformats.org/drawingml/2006/main">
              <a:ext uri="{FF2B5EF4-FFF2-40B4-BE49-F238E27FC236}">
                <a16:creationId xmlns:a16="http://schemas.microsoft.com/office/drawing/2014/main" id="{6C5BD845-7E34-4864-9298-20D9A8FA8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914650"/>
            <a:ext cx="29432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FFFFFF"/>
                </a:solidFill>
              </a:defRPr>
            </a:pPr>
            <a:r>
              <a:rPr sz="2775" b="1">
                <a:solidFill>
                  <a:srgbClr val="FFFFFF"/>
                </a:solidFill>
              </a:rPr>
              <a:t>Source-grounded PostEx evaluation fixture</a:t>
            </a:r>
          </a:p>
        </p:txBody>
      </p:sp>
      <p:sp>
        <p:nvSpPr>
          <p:cNvPr id="5" name="affiliations">
            <a:extLst xmlns:a="http://schemas.openxmlformats.org/drawingml/2006/main">
              <a:ext uri="{FF2B5EF4-FFF2-40B4-BE49-F238E27FC236}">
                <a16:creationId xmlns:a16="http://schemas.microsoft.com/office/drawing/2014/main" id="{AC8942EF-206D-4125-B484-6604BB13D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638550"/>
            <a:ext cx="2943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F6F8FA"/>
                </a:solidFill>
              </a:defRPr>
            </a:pPr>
            <a:r>
              <a:rPr sz="2175">
                <a:solidFill>
                  <a:srgbClr val="F6F8FA"/>
                </a:solidFill>
              </a:rPr>
              <a:t>Bioinformatics profile · CC BY 4.0</a:t>
            </a:r>
          </a:p>
        </p:txBody>
      </p:sp>
      <p:sp>
        <p:nvSpPr>
          <p:cNvPr id="6" name="citation">
            <a:extLst xmlns:a="http://schemas.openxmlformats.org/drawingml/2006/main">
              <a:ext uri="{FF2B5EF4-FFF2-40B4-BE49-F238E27FC236}">
                <a16:creationId xmlns:a16="http://schemas.microsoft.com/office/drawing/2014/main" id="{B683D5CA-24AC-49A6-B5C6-D323A5C30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238625"/>
            <a:ext cx="2428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E8B44C"/>
                </a:solidFill>
              </a:defRPr>
            </a:pPr>
            <a:r>
              <a:rPr sz="1950" b="1">
                <a:solidFill>
                  <a:srgbClr val="E8B44C"/>
                </a:solidFill>
              </a:rPr>
              <a:t>DOI 10.1186/s12859-019-3251-8</a:t>
            </a:r>
          </a:p>
        </p:txBody>
      </p:sp>
      <p:sp>
        <p:nvSpPr>
          <p:cNvPr id="7" name="logo-slot-institution-logo">
            <a:extLst xmlns:a="http://schemas.openxmlformats.org/drawingml/2006/main">
              <a:ext uri="{FF2B5EF4-FFF2-40B4-BE49-F238E27FC236}">
                <a16:creationId xmlns:a16="http://schemas.microsoft.com/office/drawing/2014/main" id="{2C115371-AC10-4879-A60A-4AC883A69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0" y="552450"/>
            <a:ext cx="9334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8" name="logo-placeholder-institution-logo">
            <a:extLst xmlns:a="http://schemas.openxmlformats.org/drawingml/2006/main">
              <a:ext uri="{FF2B5EF4-FFF2-40B4-BE49-F238E27FC236}">
                <a16:creationId xmlns:a16="http://schemas.microsoft.com/office/drawing/2014/main" id="{7BED3E60-7E80-412B-8934-518A4CEA6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13550" y="914400"/>
            <a:ext cx="910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F5F73"/>
                </a:solidFill>
              </a:defRPr>
            </a:pPr>
            <a:r>
              <a:rPr sz="2025" b="1">
                <a:solidFill>
                  <a:srgbClr val="0F5F73"/>
                </a:solidFill>
              </a:rPr>
              <a:t>Institution logo</a:t>
            </a:r>
          </a:p>
        </p:txBody>
      </p:sp>
      <p:sp>
        <p:nvSpPr>
          <p:cNvPr id="9" name="header-summary">
            <a:extLst xmlns:a="http://schemas.openxmlformats.org/drawingml/2006/main">
              <a:ext uri="{FF2B5EF4-FFF2-40B4-BE49-F238E27FC236}">
                <a16:creationId xmlns:a16="http://schemas.microsoft.com/office/drawing/2014/main" id="{A9014C42-4244-4BD9-A608-8F4532EC0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0" y="2000250"/>
            <a:ext cx="9334500" cy="2286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header-metric-1-value">
            <a:extLst xmlns:a="http://schemas.openxmlformats.org/drawingml/2006/main">
              <a:ext uri="{FF2B5EF4-FFF2-40B4-BE49-F238E27FC236}">
                <a16:creationId xmlns:a16="http://schemas.microsoft.com/office/drawing/2014/main" id="{C36FBCC2-9EC3-492F-BAD6-21CD9A67D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0" y="22860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0F5F73"/>
                </a:solidFill>
              </a:defRPr>
            </a:pPr>
            <a:r>
              <a:rPr sz="5100" b="1">
                <a:solidFill>
                  <a:srgbClr val="0F5F73"/>
                </a:solidFill>
              </a:rPr>
              <a:t>GSE48403</a:t>
            </a:r>
          </a:p>
        </p:txBody>
      </p:sp>
      <p:sp>
        <p:nvSpPr>
          <p:cNvPr id="11" name="header-metric-1-label">
            <a:extLst xmlns:a="http://schemas.openxmlformats.org/drawingml/2006/main">
              <a:ext uri="{FF2B5EF4-FFF2-40B4-BE49-F238E27FC236}">
                <a16:creationId xmlns:a16="http://schemas.microsoft.com/office/drawing/2014/main" id="{BB2687EC-4816-4887-BC50-B129E4ECA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0" y="30670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demo dataset</a:t>
            </a:r>
          </a:p>
        </p:txBody>
      </p:sp>
      <p:sp>
        <p:nvSpPr>
          <p:cNvPr id="12" name="header-metric-2-value">
            <a:extLst xmlns:a="http://schemas.openxmlformats.org/drawingml/2006/main">
              <a:ext uri="{FF2B5EF4-FFF2-40B4-BE49-F238E27FC236}">
                <a16:creationId xmlns:a16="http://schemas.microsoft.com/office/drawing/2014/main" id="{778C4F4B-45A6-4BBB-BDEE-2C602ACC5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0" y="22860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2C8C99"/>
                </a:solidFill>
              </a:defRPr>
            </a:pPr>
            <a:r>
              <a:rPr sz="5100" b="1">
                <a:solidFill>
                  <a:srgbClr val="2C8C99"/>
                </a:solidFill>
              </a:rPr>
              <a:t>HISAT2</a:t>
            </a:r>
          </a:p>
        </p:txBody>
      </p:sp>
      <p:sp>
        <p:nvSpPr>
          <p:cNvPr id="13" name="header-metric-2-label">
            <a:extLst xmlns:a="http://schemas.openxmlformats.org/drawingml/2006/main">
              <a:ext uri="{FF2B5EF4-FFF2-40B4-BE49-F238E27FC236}">
                <a16:creationId xmlns:a16="http://schemas.microsoft.com/office/drawing/2014/main" id="{8C35E728-A0D6-42C9-ACB0-C4D6AE8D7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0" y="30670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aligner</a:t>
            </a:r>
          </a:p>
        </p:txBody>
      </p:sp>
      <p:sp>
        <p:nvSpPr>
          <p:cNvPr id="14" name="header-metric-3-value">
            <a:extLst xmlns:a="http://schemas.openxmlformats.org/drawingml/2006/main">
              <a:ext uri="{FF2B5EF4-FFF2-40B4-BE49-F238E27FC236}">
                <a16:creationId xmlns:a16="http://schemas.microsoft.com/office/drawing/2014/main" id="{5A461B45-9656-4EC3-90B8-AFB6B8DED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0" y="22860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E8B44C"/>
                </a:solidFill>
              </a:defRPr>
            </a:pPr>
            <a:r>
              <a:rPr sz="5100" b="1">
                <a:solidFill>
                  <a:srgbClr val="E8B44C"/>
                </a:solidFill>
              </a:rPr>
              <a:t>R</a:t>
            </a:r>
          </a:p>
        </p:txBody>
      </p:sp>
      <p:sp>
        <p:nvSpPr>
          <p:cNvPr id="15" name="header-metric-3-label">
            <a:extLst xmlns:a="http://schemas.openxmlformats.org/drawingml/2006/main">
              <a:ext uri="{FF2B5EF4-FFF2-40B4-BE49-F238E27FC236}">
                <a16:creationId xmlns:a16="http://schemas.microsoft.com/office/drawing/2014/main" id="{24B6E4F9-95E2-46AC-9A36-C8A3AFA06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0" y="30670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report</a:t>
            </a:r>
          </a:p>
        </p:txBody>
      </p:sp>
      <p:sp>
        <p:nvSpPr>
          <p:cNvPr id="16" name="question-title">
            <a:extLst xmlns:a="http://schemas.openxmlformats.org/drawingml/2006/main">
              <a:ext uri="{FF2B5EF4-FFF2-40B4-BE49-F238E27FC236}">
                <a16:creationId xmlns:a16="http://schemas.microsoft.com/office/drawing/2014/main" id="{7731F396-6F36-4FCA-93A6-C83127695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619750"/>
            <a:ext cx="1162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Communication objective</a:t>
            </a:r>
          </a:p>
        </p:txBody>
      </p:sp>
      <p:sp>
        <p:nvSpPr>
          <p:cNvPr id="17" name="question-rule">
            <a:extLst xmlns:a="http://schemas.openxmlformats.org/drawingml/2006/main">
              <a:ext uri="{FF2B5EF4-FFF2-40B4-BE49-F238E27FC236}">
                <a16:creationId xmlns:a16="http://schemas.microsoft.com/office/drawing/2014/main" id="{004D4A5A-367E-452B-BE90-70FD44930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257925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research-question">
            <a:extLst xmlns:a="http://schemas.openxmlformats.org/drawingml/2006/main">
              <a:ext uri="{FF2B5EF4-FFF2-40B4-BE49-F238E27FC236}">
                <a16:creationId xmlns:a16="http://schemas.microsoft.com/office/drawing/2014/main" id="{0EC6F584-CC5A-4C78-93BC-FE325EB58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496050"/>
            <a:ext cx="116205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Present the paper's design, central evidence and interpretation boundary in a traceable conference-poster format.</a:t>
            </a:r>
          </a:p>
        </p:txBody>
      </p:sp>
      <p:sp>
        <p:nvSpPr>
          <p:cNvPr id="19" name="question-evidence">
            <a:extLst xmlns:a="http://schemas.openxmlformats.org/drawingml/2006/main">
              <a:ext uri="{FF2B5EF4-FFF2-40B4-BE49-F238E27FC236}">
                <a16:creationId xmlns:a16="http://schemas.microsoft.com/office/drawing/2014/main" id="{B750A705-D1C7-44C5-AAD9-BAE7BBDE2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8686800"/>
            <a:ext cx="1162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Evidence fixture: 10.1186/s12859-019-3251-8</a:t>
            </a:r>
          </a:p>
        </p:txBody>
      </p:sp>
      <p:sp>
        <p:nvSpPr>
          <p:cNvPr id="20" name="pipeline-title">
            <a:extLst xmlns:a="http://schemas.openxmlformats.org/drawingml/2006/main">
              <a:ext uri="{FF2B5EF4-FFF2-40B4-BE49-F238E27FC236}">
                <a16:creationId xmlns:a16="http://schemas.microsoft.com/office/drawing/2014/main" id="{8B87B353-E948-46C1-91D2-B2F1470D8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9239250"/>
            <a:ext cx="1162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Required evidence structure</a:t>
            </a:r>
          </a:p>
        </p:txBody>
      </p:sp>
      <p:sp>
        <p:nvSpPr>
          <p:cNvPr id="21" name="pipeline-rule">
            <a:extLst xmlns:a="http://schemas.openxmlformats.org/drawingml/2006/main">
              <a:ext uri="{FF2B5EF4-FFF2-40B4-BE49-F238E27FC236}">
                <a16:creationId xmlns:a16="http://schemas.microsoft.com/office/drawing/2014/main" id="{9B2F815E-5AF4-41F8-9FCB-9F82016FD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9877425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ipeline-1-number-bg">
            <a:extLst xmlns:a="http://schemas.openxmlformats.org/drawingml/2006/main">
              <a:ext uri="{FF2B5EF4-FFF2-40B4-BE49-F238E27FC236}">
                <a16:creationId xmlns:a16="http://schemas.microsoft.com/office/drawing/2014/main" id="{B6D963C0-B602-43C5-B61A-E1992FFD1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134600"/>
            <a:ext cx="590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pipeline-1-number">
            <a:extLst xmlns:a="http://schemas.openxmlformats.org/drawingml/2006/main">
              <a:ext uri="{FF2B5EF4-FFF2-40B4-BE49-F238E27FC236}">
                <a16:creationId xmlns:a16="http://schemas.microsoft.com/office/drawing/2014/main" id="{449D2B86-1AC6-4EBB-BA52-12B3FDDCE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2012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1</a:t>
            </a:r>
          </a:p>
        </p:txBody>
      </p:sp>
      <p:sp>
        <p:nvSpPr>
          <p:cNvPr id="24" name="pipeline-1-text">
            <a:extLst xmlns:a="http://schemas.openxmlformats.org/drawingml/2006/main">
              <a:ext uri="{FF2B5EF4-FFF2-40B4-BE49-F238E27FC236}">
                <a16:creationId xmlns:a16="http://schemas.microsoft.com/office/drawing/2014/main" id="{638B9453-ED9B-48EA-8523-FE41D6C6F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0172700"/>
            <a:ext cx="1083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Research Question</a:t>
            </a:r>
          </a:p>
        </p:txBody>
      </p:sp>
      <p:sp>
        <p:nvSpPr>
          <p:cNvPr id="25" name="pipeline-2-number-bg">
            <a:extLst xmlns:a="http://schemas.openxmlformats.org/drawingml/2006/main">
              <a:ext uri="{FF2B5EF4-FFF2-40B4-BE49-F238E27FC236}">
                <a16:creationId xmlns:a16="http://schemas.microsoft.com/office/drawing/2014/main" id="{91B5CC8B-96FE-449B-99EC-D68A35274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896600"/>
            <a:ext cx="590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pipeline-2-number">
            <a:extLst xmlns:a="http://schemas.openxmlformats.org/drawingml/2006/main">
              <a:ext uri="{FF2B5EF4-FFF2-40B4-BE49-F238E27FC236}">
                <a16:creationId xmlns:a16="http://schemas.microsoft.com/office/drawing/2014/main" id="{BFC357DB-8F83-4577-AA38-507508DCF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9632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2</a:t>
            </a:r>
          </a:p>
        </p:txBody>
      </p:sp>
      <p:sp>
        <p:nvSpPr>
          <p:cNvPr id="27" name="pipeline-2-text">
            <a:extLst xmlns:a="http://schemas.openxmlformats.org/drawingml/2006/main">
              <a:ext uri="{FF2B5EF4-FFF2-40B4-BE49-F238E27FC236}">
                <a16:creationId xmlns:a16="http://schemas.microsoft.com/office/drawing/2014/main" id="{0562BF99-41FE-4646-8547-81221D3CB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0934700"/>
            <a:ext cx="1083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Datasets</a:t>
            </a:r>
          </a:p>
        </p:txBody>
      </p:sp>
      <p:sp>
        <p:nvSpPr>
          <p:cNvPr id="28" name="pipeline-3-number-bg">
            <a:extLst xmlns:a="http://schemas.openxmlformats.org/drawingml/2006/main">
              <a:ext uri="{FF2B5EF4-FFF2-40B4-BE49-F238E27FC236}">
                <a16:creationId xmlns:a16="http://schemas.microsoft.com/office/drawing/2014/main" id="{C485767A-8F19-4BF6-A4D5-AAE7D9B13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1658600"/>
            <a:ext cx="590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pipeline-3-number">
            <a:extLst xmlns:a="http://schemas.openxmlformats.org/drawingml/2006/main">
              <a:ext uri="{FF2B5EF4-FFF2-40B4-BE49-F238E27FC236}">
                <a16:creationId xmlns:a16="http://schemas.microsoft.com/office/drawing/2014/main" id="{6C1FB792-3D01-49B6-81D2-F484EFBF4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17252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3</a:t>
            </a:r>
          </a:p>
        </p:txBody>
      </p:sp>
      <p:sp>
        <p:nvSpPr>
          <p:cNvPr id="30" name="pipeline-3-text">
            <a:extLst xmlns:a="http://schemas.openxmlformats.org/drawingml/2006/main">
              <a:ext uri="{FF2B5EF4-FFF2-40B4-BE49-F238E27FC236}">
                <a16:creationId xmlns:a16="http://schemas.microsoft.com/office/drawing/2014/main" id="{97B44BD3-F174-4487-9BB7-F50AE80F6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1696700"/>
            <a:ext cx="1083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Analysis Pipeline</a:t>
            </a:r>
          </a:p>
        </p:txBody>
      </p:sp>
      <p:sp>
        <p:nvSpPr>
          <p:cNvPr id="31" name="pipeline-4-number-bg">
            <a:extLst xmlns:a="http://schemas.openxmlformats.org/drawingml/2006/main">
              <a:ext uri="{FF2B5EF4-FFF2-40B4-BE49-F238E27FC236}">
                <a16:creationId xmlns:a16="http://schemas.microsoft.com/office/drawing/2014/main" id="{EAE7B9FB-B33F-4FB1-B559-AAB4CC401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2420600"/>
            <a:ext cx="590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pipeline-4-number">
            <a:extLst xmlns:a="http://schemas.openxmlformats.org/drawingml/2006/main">
              <a:ext uri="{FF2B5EF4-FFF2-40B4-BE49-F238E27FC236}">
                <a16:creationId xmlns:a16="http://schemas.microsoft.com/office/drawing/2014/main" id="{E446F215-F198-48DB-8FBB-56C492391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24872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4</a:t>
            </a:r>
          </a:p>
        </p:txBody>
      </p:sp>
      <p:sp>
        <p:nvSpPr>
          <p:cNvPr id="33" name="pipeline-4-text">
            <a:extLst xmlns:a="http://schemas.openxmlformats.org/drawingml/2006/main">
              <a:ext uri="{FF2B5EF4-FFF2-40B4-BE49-F238E27FC236}">
                <a16:creationId xmlns:a16="http://schemas.microsoft.com/office/drawing/2014/main" id="{D32182E7-F293-49D4-A3B1-EA9222E1E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2458700"/>
            <a:ext cx="1083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Key Results</a:t>
            </a:r>
          </a:p>
        </p:txBody>
      </p:sp>
      <p:sp>
        <p:nvSpPr>
          <p:cNvPr id="34" name="dataset-panel">
            <a:extLst xmlns:a="http://schemas.openxmlformats.org/drawingml/2006/main">
              <a:ext uri="{FF2B5EF4-FFF2-40B4-BE49-F238E27FC236}">
                <a16:creationId xmlns:a16="http://schemas.microsoft.com/office/drawing/2014/main" id="{CDB5C55E-3C65-4F8F-97D9-8A243203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3430250"/>
            <a:ext cx="11620500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35" name="dataset-kicker">
            <a:extLst xmlns:a="http://schemas.openxmlformats.org/drawingml/2006/main">
              <a:ext uri="{FF2B5EF4-FFF2-40B4-BE49-F238E27FC236}">
                <a16:creationId xmlns:a16="http://schemas.microsoft.com/office/drawing/2014/main" id="{A2BE0721-3881-423C-BAA0-CAFFA529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3716000"/>
            <a:ext cx="438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0F5F73"/>
                </a:solidFill>
              </a:defRPr>
            </a:pPr>
            <a:r>
              <a:rPr sz="2175" b="1">
                <a:solidFill>
                  <a:srgbClr val="0F5F73"/>
                </a:solidFill>
              </a:rPr>
              <a:t>SOURCE CONTRACT</a:t>
            </a:r>
          </a:p>
        </p:txBody>
      </p:sp>
      <p:sp>
        <p:nvSpPr>
          <p:cNvPr id="36" name="datasets">
            <a:extLst xmlns:a="http://schemas.openxmlformats.org/drawingml/2006/main">
              <a:ext uri="{FF2B5EF4-FFF2-40B4-BE49-F238E27FC236}">
                <a16:creationId xmlns:a16="http://schemas.microsoft.com/office/drawing/2014/main" id="{FBACEB52-17B8-431F-BB3D-4AD8FEADD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4239875"/>
            <a:ext cx="110871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Input: full paper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License: CC BY 4.0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Profile: bioinformatics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Claims checked: 3</a:t>
            </a:r>
          </a:p>
        </p:txBody>
      </p:sp>
      <p:sp>
        <p:nvSpPr>
          <p:cNvPr id="37" name="dataset-evidence">
            <a:extLst xmlns:a="http://schemas.openxmlformats.org/drawingml/2006/main">
              <a:ext uri="{FF2B5EF4-FFF2-40B4-BE49-F238E27FC236}">
                <a16:creationId xmlns:a16="http://schemas.microsoft.com/office/drawing/2014/main" id="{78B4637B-86E0-41FE-8FF7-CC5B7E919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6411575"/>
            <a:ext cx="11087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https://pmc.ncbi.nlm.nih.gov/articles/PMC6923898/</a:t>
            </a:r>
          </a:p>
        </p:txBody>
      </p:sp>
      <p:sp>
        <p:nvSpPr>
          <p:cNvPr id="38" name="figure-one-heading-title">
            <a:extLst xmlns:a="http://schemas.openxmlformats.org/drawingml/2006/main">
              <a:ext uri="{FF2B5EF4-FFF2-40B4-BE49-F238E27FC236}">
                <a16:creationId xmlns:a16="http://schemas.microsoft.com/office/drawing/2014/main" id="{DB3B186F-9129-49FE-AF6A-EA9DDDF5B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383125"/>
            <a:ext cx="1162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Methods and source evidence</a:t>
            </a:r>
          </a:p>
        </p:txBody>
      </p:sp>
      <p:sp>
        <p:nvSpPr>
          <p:cNvPr id="39" name="figure-one-heading-rule">
            <a:extLst xmlns:a="http://schemas.openxmlformats.org/drawingml/2006/main">
              <a:ext uri="{FF2B5EF4-FFF2-40B4-BE49-F238E27FC236}">
                <a16:creationId xmlns:a16="http://schemas.microsoft.com/office/drawing/2014/main" id="{3F8ADD8C-327C-480B-B113-7CA86F371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8021300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figure-one-frame">
            <a:extLst xmlns:a="http://schemas.openxmlformats.org/drawingml/2006/main">
              <a:ext uri="{FF2B5EF4-FFF2-40B4-BE49-F238E27FC236}">
                <a16:creationId xmlns:a16="http://schemas.microsoft.com/office/drawing/2014/main" id="{04618E49-F0D4-47FF-AFC9-89B98771A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8240375"/>
            <a:ext cx="11620500" cy="9906000"/>
          </a:xfrm>
          <a:prstGeom xmlns:a="http://schemas.openxmlformats.org/drawingml/2006/main" prst="roundRect">
            <a:avLst>
              <a:gd name="adj" fmla="val 1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41" name="figure-one-placeholder">
            <a:extLst xmlns:a="http://schemas.openxmlformats.org/drawingml/2006/main">
              <a:ext uri="{FF2B5EF4-FFF2-40B4-BE49-F238E27FC236}">
                <a16:creationId xmlns:a16="http://schemas.microsoft.com/office/drawing/2014/main" id="{01F4EA40-22D3-468D-8D8B-E961700DB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8430875"/>
            <a:ext cx="11239500" cy="8972550"/>
          </a:xfrm>
          <a:prstGeom xmlns:a="http://schemas.openxmlformats.org/drawingml/2006/main" prst="roundRect">
            <a:avLst>
              <a:gd name="adj" fmla="val 849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42" name="figure-one-placeholder-label">
            <a:extLst xmlns:a="http://schemas.openxmlformats.org/drawingml/2006/main">
              <a:ext uri="{FF2B5EF4-FFF2-40B4-BE49-F238E27FC236}">
                <a16:creationId xmlns:a16="http://schemas.microsoft.com/office/drawing/2014/main" id="{36B73C0A-754A-4A00-9C7F-BEA9C5B24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2621875"/>
            <a:ext cx="1047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2C8C99"/>
                </a:solidFill>
              </a:defRPr>
            </a:pPr>
            <a:r>
              <a:rPr sz="2700" b="1">
                <a:solidFill>
                  <a:srgbClr val="2C8C99"/>
                </a:solidFill>
              </a:rPr>
              <a:t>SOURCE FIGURE SLOT</a:t>
            </a:r>
          </a:p>
        </p:txBody>
      </p:sp>
      <p:sp>
        <p:nvSpPr>
          <p:cNvPr id="43" name="figure-one-caption">
            <a:extLst xmlns:a="http://schemas.openxmlformats.org/drawingml/2006/main">
              <a:ext uri="{FF2B5EF4-FFF2-40B4-BE49-F238E27FC236}">
                <a16:creationId xmlns:a16="http://schemas.microsoft.com/office/drawing/2014/main" id="{FE786731-758F-4DA8-99CF-FFEAAEF90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7460575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Source figure selected during full-paper generation</a:t>
            </a:r>
          </a:p>
        </p:txBody>
      </p:sp>
      <p:sp>
        <p:nvSpPr>
          <p:cNvPr id="44" name="figure-one-source">
            <a:extLst xmlns:a="http://schemas.openxmlformats.org/drawingml/2006/main">
              <a:ext uri="{FF2B5EF4-FFF2-40B4-BE49-F238E27FC236}">
                <a16:creationId xmlns:a16="http://schemas.microsoft.com/office/drawing/2014/main" id="{4EEE8B35-B974-4D33-8026-411AF6655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7774900"/>
            <a:ext cx="11163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Source: 10.1186/s12859-019-3251-8</a:t>
            </a:r>
          </a:p>
        </p:txBody>
      </p:sp>
      <p:sp>
        <p:nvSpPr>
          <p:cNvPr id="45" name="central-takeaway">
            <a:extLst xmlns:a="http://schemas.openxmlformats.org/drawingml/2006/main">
              <a:ext uri="{FF2B5EF4-FFF2-40B4-BE49-F238E27FC236}">
                <a16:creationId xmlns:a16="http://schemas.microsoft.com/office/drawing/2014/main" id="{F808D64D-82FD-4133-B8E2-1098CC2F1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5619750"/>
            <a:ext cx="13668375" cy="2524125"/>
          </a:xfrm>
          <a:prstGeom xmlns:a="http://schemas.openxmlformats.org/drawingml/2006/main" prst="roundRect">
            <a:avLst>
              <a:gd name="adj" fmla="val 6038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central-takeaway-title">
            <a:extLst xmlns:a="http://schemas.openxmlformats.org/drawingml/2006/main">
              <a:ext uri="{FF2B5EF4-FFF2-40B4-BE49-F238E27FC236}">
                <a16:creationId xmlns:a16="http://schemas.microsoft.com/office/drawing/2014/main" id="{EE7603D6-2F83-4338-B137-1E00DB684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44600" y="5953125"/>
            <a:ext cx="128301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125" b="1">
                <a:solidFill>
                  <a:srgbClr val="102A43"/>
                </a:solidFill>
              </a:defRPr>
            </a:pPr>
            <a:r>
              <a:rPr sz="4125" b="1">
                <a:solidFill>
                  <a:srgbClr val="102A43"/>
                </a:solidFill>
              </a:rPr>
              <a:t>GSE48403</a:t>
            </a:r>
          </a:p>
        </p:txBody>
      </p:sp>
      <p:sp>
        <p:nvSpPr>
          <p:cNvPr id="47" name="central-takeaway-subtitle">
            <a:extLst xmlns:a="http://schemas.openxmlformats.org/drawingml/2006/main">
              <a:ext uri="{FF2B5EF4-FFF2-40B4-BE49-F238E27FC236}">
                <a16:creationId xmlns:a16="http://schemas.microsoft.com/office/drawing/2014/main" id="{520FA040-E5E5-4CA8-B34E-99C97660A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0" y="7181850"/>
            <a:ext cx="1233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02A43"/>
                </a:solidFill>
              </a:defRPr>
            </a:pPr>
            <a:r>
              <a:rPr sz="2400" b="1">
                <a:solidFill>
                  <a:srgbClr val="102A43"/>
                </a:solidFill>
              </a:rPr>
              <a:t>Key facts remain bound to the source and study design</a:t>
            </a:r>
          </a:p>
        </p:txBody>
      </p:sp>
      <p:sp>
        <p:nvSpPr>
          <p:cNvPr id="48" name="takeaway-evidence">
            <a:extLst xmlns:a="http://schemas.openxmlformats.org/drawingml/2006/main">
              <a:ext uri="{FF2B5EF4-FFF2-40B4-BE49-F238E27FC236}">
                <a16:creationId xmlns:a16="http://schemas.microsoft.com/office/drawing/2014/main" id="{52CA42D6-D990-4A0A-8FD0-D1A1686FD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3650" y="7715250"/>
            <a:ext cx="127920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Evidence fixture: 10.1186/s12859-019-3251-8</a:t>
            </a:r>
          </a:p>
        </p:txBody>
      </p:sp>
      <p:sp>
        <p:nvSpPr>
          <p:cNvPr id="49" name="figure-two-heading-title">
            <a:extLst xmlns:a="http://schemas.openxmlformats.org/drawingml/2006/main">
              <a:ext uri="{FF2B5EF4-FFF2-40B4-BE49-F238E27FC236}">
                <a16:creationId xmlns:a16="http://schemas.microsoft.com/office/drawing/2014/main" id="{4F46CAC8-125D-4140-A213-7BA43D57C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8620125"/>
            <a:ext cx="13668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Primary evidence</a:t>
            </a:r>
          </a:p>
        </p:txBody>
      </p:sp>
      <p:sp>
        <p:nvSpPr>
          <p:cNvPr id="50" name="figure-two-heading-rule">
            <a:extLst xmlns:a="http://schemas.openxmlformats.org/drawingml/2006/main">
              <a:ext uri="{FF2B5EF4-FFF2-40B4-BE49-F238E27FC236}">
                <a16:creationId xmlns:a16="http://schemas.microsoft.com/office/drawing/2014/main" id="{CFD2E33D-FE06-45EC-93A5-7D9D8AD15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9258300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figure-two-frame">
            <a:extLst xmlns:a="http://schemas.openxmlformats.org/drawingml/2006/main">
              <a:ext uri="{FF2B5EF4-FFF2-40B4-BE49-F238E27FC236}">
                <a16:creationId xmlns:a16="http://schemas.microsoft.com/office/drawing/2014/main" id="{2FD65C67-F6EB-4E20-8653-8F97B2EF3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9477375"/>
            <a:ext cx="13668375" cy="12715875"/>
          </a:xfrm>
          <a:prstGeom xmlns:a="http://schemas.openxmlformats.org/drawingml/2006/main" prst="roundRect">
            <a:avLst>
              <a:gd name="adj" fmla="val 89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52" name="figure-two-placeholder">
            <a:extLst xmlns:a="http://schemas.openxmlformats.org/drawingml/2006/main">
              <a:ext uri="{FF2B5EF4-FFF2-40B4-BE49-F238E27FC236}">
                <a16:creationId xmlns:a16="http://schemas.microsoft.com/office/drawing/2014/main" id="{7345368A-B996-40CA-AFDD-D8F051A22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9667875"/>
            <a:ext cx="13287375" cy="11782425"/>
          </a:xfrm>
          <a:prstGeom xmlns:a="http://schemas.openxmlformats.org/drawingml/2006/main" prst="roundRect">
            <a:avLst>
              <a:gd name="adj" fmla="val 647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53" name="figure-two-placeholder-label">
            <a:extLst xmlns:a="http://schemas.openxmlformats.org/drawingml/2006/main">
              <a:ext uri="{FF2B5EF4-FFF2-40B4-BE49-F238E27FC236}">
                <a16:creationId xmlns:a16="http://schemas.microsoft.com/office/drawing/2014/main" id="{97F49522-A8E5-4E49-9696-E796EE3EA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15263813"/>
            <a:ext cx="12525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2C8C99"/>
                </a:solidFill>
              </a:defRPr>
            </a:pPr>
            <a:r>
              <a:rPr sz="2700" b="1">
                <a:solidFill>
                  <a:srgbClr val="2C8C99"/>
                </a:solidFill>
              </a:rPr>
              <a:t>SOURCE FIGURE SLOT</a:t>
            </a:r>
          </a:p>
        </p:txBody>
      </p:sp>
      <p:sp>
        <p:nvSpPr>
          <p:cNvPr id="54" name="figure-two-caption">
            <a:extLst xmlns:a="http://schemas.openxmlformats.org/drawingml/2006/main">
              <a:ext uri="{FF2B5EF4-FFF2-40B4-BE49-F238E27FC236}">
                <a16:creationId xmlns:a16="http://schemas.microsoft.com/office/drawing/2014/main" id="{4831CCB0-B2C0-4D66-A1FE-FD374CCFE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21507450"/>
            <a:ext cx="132111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Source figure selected during full-paper generation</a:t>
            </a:r>
          </a:p>
        </p:txBody>
      </p:sp>
      <p:sp>
        <p:nvSpPr>
          <p:cNvPr id="55" name="figure-two-source">
            <a:extLst xmlns:a="http://schemas.openxmlformats.org/drawingml/2006/main">
              <a:ext uri="{FF2B5EF4-FFF2-40B4-BE49-F238E27FC236}">
                <a16:creationId xmlns:a16="http://schemas.microsoft.com/office/drawing/2014/main" id="{DCB54A76-405A-4592-9352-460BDE72A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21821775"/>
            <a:ext cx="132111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Source: 10.1186/s12859-019-3251-8</a:t>
            </a:r>
          </a:p>
        </p:txBody>
      </p:sp>
      <p:sp>
        <p:nvSpPr>
          <p:cNvPr id="56" name="validation-heading-title">
            <a:extLst xmlns:a="http://schemas.openxmlformats.org/drawingml/2006/main">
              <a:ext uri="{FF2B5EF4-FFF2-40B4-BE49-F238E27FC236}">
                <a16:creationId xmlns:a16="http://schemas.microsoft.com/office/drawing/2014/main" id="{19FE260E-2FD2-4D16-B61F-D60721C9A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2669500"/>
            <a:ext cx="13668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Required factual anchors</a:t>
            </a:r>
          </a:p>
        </p:txBody>
      </p:sp>
      <p:sp>
        <p:nvSpPr>
          <p:cNvPr id="57" name="validation-heading-rule">
            <a:extLst xmlns:a="http://schemas.openxmlformats.org/drawingml/2006/main">
              <a:ext uri="{FF2B5EF4-FFF2-40B4-BE49-F238E27FC236}">
                <a16:creationId xmlns:a16="http://schemas.microsoft.com/office/drawing/2014/main" id="{3AA8E295-97D0-48F2-A2EE-76F0DE2C6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3307675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validation-panel">
            <a:extLst xmlns:a="http://schemas.openxmlformats.org/drawingml/2006/main">
              <a:ext uri="{FF2B5EF4-FFF2-40B4-BE49-F238E27FC236}">
                <a16:creationId xmlns:a16="http://schemas.microsoft.com/office/drawing/2014/main" id="{78DFC1D6-E808-447E-B732-3240CCEA8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3526750"/>
            <a:ext cx="13668375" cy="4048125"/>
          </a:xfrm>
          <a:prstGeom xmlns:a="http://schemas.openxmlformats.org/drawingml/2006/main" prst="roundRect">
            <a:avLst>
              <a:gd name="adj" fmla="val 2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59" name="validation">
            <a:extLst xmlns:a="http://schemas.openxmlformats.org/drawingml/2006/main">
              <a:ext uri="{FF2B5EF4-FFF2-40B4-BE49-F238E27FC236}">
                <a16:creationId xmlns:a16="http://schemas.microsoft.com/office/drawing/2014/main" id="{7584C1AA-87FE-4BCF-82B4-D7D5B81F0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23841075"/>
            <a:ext cx="1298257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• demo dataset: GSE48403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• aligner: HISAT2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• report: R Shiny</a:t>
            </a:r>
          </a:p>
        </p:txBody>
      </p:sp>
      <p:sp>
        <p:nvSpPr>
          <p:cNvPr id="60" name="validation-evidence">
            <a:extLst xmlns:a="http://schemas.openxmlformats.org/drawingml/2006/main">
              <a:ext uri="{FF2B5EF4-FFF2-40B4-BE49-F238E27FC236}">
                <a16:creationId xmlns:a16="http://schemas.microsoft.com/office/drawing/2014/main" id="{7572D798-6BE7-4111-8067-9701F4EE6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27117675"/>
            <a:ext cx="129825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Ground-truth case: bisr-rnaseq-workflow</a:t>
            </a:r>
          </a:p>
        </p:txBody>
      </p:sp>
      <p:sp>
        <p:nvSpPr>
          <p:cNvPr id="61" name="performance-strip">
            <a:extLst xmlns:a="http://schemas.openxmlformats.org/drawingml/2006/main">
              <a:ext uri="{FF2B5EF4-FFF2-40B4-BE49-F238E27FC236}">
                <a16:creationId xmlns:a16="http://schemas.microsoft.com/office/drawing/2014/main" id="{A4764D25-6C26-48E7-A1F8-A58F3CC81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7908250"/>
            <a:ext cx="13668375" cy="1095375"/>
          </a:xfrm>
          <a:prstGeom xmlns:a="http://schemas.openxmlformats.org/drawingml/2006/main" prst="roundRect">
            <a:avLst>
              <a:gd name="adj" fmla="val 10435"/>
            </a:avLst>
          </a:prstGeom>
          <a:solidFill xmlns:a="http://schemas.openxmlformats.org/drawingml/2006/main">
            <a:srgbClr val="0F5F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performance-strip-text">
            <a:extLst xmlns:a="http://schemas.openxmlformats.org/drawingml/2006/main">
              <a:ext uri="{FF2B5EF4-FFF2-40B4-BE49-F238E27FC236}">
                <a16:creationId xmlns:a16="http://schemas.microsoft.com/office/drawing/2014/main" id="{7EB3169B-B28E-49FE-A61D-9A9E18BA7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49350" y="28194000"/>
            <a:ext cx="130206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No unsupported numerical or causal expansion permitted</a:t>
            </a:r>
          </a:p>
        </p:txBody>
      </p:sp>
      <p:sp>
        <p:nvSpPr>
          <p:cNvPr id="63" name="biology-heading-title">
            <a:extLst xmlns:a="http://schemas.openxmlformats.org/drawingml/2006/main">
              <a:ext uri="{FF2B5EF4-FFF2-40B4-BE49-F238E27FC236}">
                <a16:creationId xmlns:a16="http://schemas.microsoft.com/office/drawing/2014/main" id="{52AD9FD2-95B3-4017-82DF-89D9696C9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5619750"/>
            <a:ext cx="137064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Fact checks</a:t>
            </a:r>
          </a:p>
        </p:txBody>
      </p:sp>
      <p:sp>
        <p:nvSpPr>
          <p:cNvPr id="64" name="biology-heading-rule">
            <a:extLst xmlns:a="http://schemas.openxmlformats.org/drawingml/2006/main">
              <a:ext uri="{FF2B5EF4-FFF2-40B4-BE49-F238E27FC236}">
                <a16:creationId xmlns:a16="http://schemas.microsoft.com/office/drawing/2014/main" id="{69CEFE59-2B6E-482F-9CD9-2E07C00D0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6257925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biology-1-value">
            <a:extLst xmlns:a="http://schemas.openxmlformats.org/drawingml/2006/main">
              <a:ext uri="{FF2B5EF4-FFF2-40B4-BE49-F238E27FC236}">
                <a16:creationId xmlns:a16="http://schemas.microsoft.com/office/drawing/2014/main" id="{0BBA2AAD-6B8C-418D-9FB1-F758FA837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6572250"/>
            <a:ext cx="400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0F5F73"/>
                </a:solidFill>
              </a:defRPr>
            </a:pPr>
            <a:r>
              <a:rPr sz="5100" b="1">
                <a:solidFill>
                  <a:srgbClr val="0F5F73"/>
                </a:solidFill>
              </a:rPr>
              <a:t>GSE48403</a:t>
            </a:r>
          </a:p>
        </p:txBody>
      </p:sp>
      <p:sp>
        <p:nvSpPr>
          <p:cNvPr id="66" name="biology-1-label">
            <a:extLst xmlns:a="http://schemas.openxmlformats.org/drawingml/2006/main">
              <a:ext uri="{FF2B5EF4-FFF2-40B4-BE49-F238E27FC236}">
                <a16:creationId xmlns:a16="http://schemas.microsoft.com/office/drawing/2014/main" id="{0938CFFE-B19C-4F51-A878-836F3C1C5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7353300"/>
            <a:ext cx="400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demo dataset</a:t>
            </a:r>
          </a:p>
        </p:txBody>
      </p:sp>
      <p:sp>
        <p:nvSpPr>
          <p:cNvPr id="67" name="biology-2-value">
            <a:extLst xmlns:a="http://schemas.openxmlformats.org/drawingml/2006/main">
              <a:ext uri="{FF2B5EF4-FFF2-40B4-BE49-F238E27FC236}">
                <a16:creationId xmlns:a16="http://schemas.microsoft.com/office/drawing/2014/main" id="{D4A70663-0A64-428E-887A-FA5C7574A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0" y="6572250"/>
            <a:ext cx="400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2C8C99"/>
                </a:solidFill>
              </a:defRPr>
            </a:pPr>
            <a:r>
              <a:rPr sz="5100" b="1">
                <a:solidFill>
                  <a:srgbClr val="2C8C99"/>
                </a:solidFill>
              </a:rPr>
              <a:t>HISAT2</a:t>
            </a:r>
          </a:p>
        </p:txBody>
      </p:sp>
      <p:sp>
        <p:nvSpPr>
          <p:cNvPr id="68" name="biology-2-label">
            <a:extLst xmlns:a="http://schemas.openxmlformats.org/drawingml/2006/main">
              <a:ext uri="{FF2B5EF4-FFF2-40B4-BE49-F238E27FC236}">
                <a16:creationId xmlns:a16="http://schemas.microsoft.com/office/drawing/2014/main" id="{1984FF37-EA4E-41C0-80AF-429B0525B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0" y="7353300"/>
            <a:ext cx="400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aligner</a:t>
            </a:r>
          </a:p>
        </p:txBody>
      </p:sp>
      <p:sp>
        <p:nvSpPr>
          <p:cNvPr id="69" name="biology-3-value">
            <a:extLst xmlns:a="http://schemas.openxmlformats.org/drawingml/2006/main">
              <a:ext uri="{FF2B5EF4-FFF2-40B4-BE49-F238E27FC236}">
                <a16:creationId xmlns:a16="http://schemas.microsoft.com/office/drawing/2014/main" id="{66A93584-B5FD-4848-9460-EB4681F2C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14125" y="6572250"/>
            <a:ext cx="400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E8B44C"/>
                </a:solidFill>
              </a:defRPr>
            </a:pPr>
            <a:r>
              <a:rPr sz="5100" b="1">
                <a:solidFill>
                  <a:srgbClr val="E8B44C"/>
                </a:solidFill>
              </a:rPr>
              <a:t>R</a:t>
            </a:r>
          </a:p>
        </p:txBody>
      </p:sp>
      <p:sp>
        <p:nvSpPr>
          <p:cNvPr id="70" name="biology-3-label">
            <a:extLst xmlns:a="http://schemas.openxmlformats.org/drawingml/2006/main">
              <a:ext uri="{FF2B5EF4-FFF2-40B4-BE49-F238E27FC236}">
                <a16:creationId xmlns:a16="http://schemas.microsoft.com/office/drawing/2014/main" id="{7D15C167-3082-4225-B237-4653E4F9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14125" y="7353300"/>
            <a:ext cx="400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report</a:t>
            </a:r>
          </a:p>
        </p:txBody>
      </p:sp>
      <p:sp>
        <p:nvSpPr>
          <p:cNvPr id="71" name="biology-evidence">
            <a:extLst xmlns:a="http://schemas.openxmlformats.org/drawingml/2006/main">
              <a:ext uri="{FF2B5EF4-FFF2-40B4-BE49-F238E27FC236}">
                <a16:creationId xmlns:a16="http://schemas.microsoft.com/office/drawing/2014/main" id="{840AEC64-C203-4344-AB03-3C5A4F41E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8477250"/>
            <a:ext cx="137064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Machine-checkable evaluation fixture</a:t>
            </a:r>
          </a:p>
        </p:txBody>
      </p:sp>
      <p:sp>
        <p:nvSpPr>
          <p:cNvPr id="72" name="figure-three-frame">
            <a:extLst xmlns:a="http://schemas.openxmlformats.org/drawingml/2006/main">
              <a:ext uri="{FF2B5EF4-FFF2-40B4-BE49-F238E27FC236}">
                <a16:creationId xmlns:a16="http://schemas.microsoft.com/office/drawing/2014/main" id="{48E8D3AF-DCB3-47F6-B6BE-C7259C291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9191625"/>
            <a:ext cx="13706475" cy="685800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73" name="figure-three-placeholder">
            <a:extLst xmlns:a="http://schemas.openxmlformats.org/drawingml/2006/main">
              <a:ext uri="{FF2B5EF4-FFF2-40B4-BE49-F238E27FC236}">
                <a16:creationId xmlns:a16="http://schemas.microsoft.com/office/drawing/2014/main" id="{6E7D7F95-36EC-4101-BA9D-07BD491DE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55875" y="9382125"/>
            <a:ext cx="13325475" cy="5924550"/>
          </a:xfrm>
          <a:prstGeom xmlns:a="http://schemas.openxmlformats.org/drawingml/2006/main" prst="roundRect">
            <a:avLst>
              <a:gd name="adj" fmla="val 1286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74" name="figure-three-placeholder-label">
            <a:extLst xmlns:a="http://schemas.openxmlformats.org/drawingml/2006/main">
              <a:ext uri="{FF2B5EF4-FFF2-40B4-BE49-F238E27FC236}">
                <a16:creationId xmlns:a16="http://schemas.microsoft.com/office/drawing/2014/main" id="{EBCFCC3C-23DE-41DA-B879-BC677A428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36875" y="12049125"/>
            <a:ext cx="125634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2C8C99"/>
                </a:solidFill>
              </a:defRPr>
            </a:pPr>
            <a:r>
              <a:rPr sz="2700" b="1">
                <a:solidFill>
                  <a:srgbClr val="2C8C99"/>
                </a:solidFill>
              </a:rPr>
              <a:t>SOURCE FIGURE SLOT</a:t>
            </a:r>
          </a:p>
        </p:txBody>
      </p:sp>
      <p:sp>
        <p:nvSpPr>
          <p:cNvPr id="75" name="figure-three-caption">
            <a:extLst xmlns:a="http://schemas.openxmlformats.org/drawingml/2006/main">
              <a:ext uri="{FF2B5EF4-FFF2-40B4-BE49-F238E27FC236}">
                <a16:creationId xmlns:a16="http://schemas.microsoft.com/office/drawing/2014/main" id="{9CBD4085-AE2D-481A-9680-161B63F3A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3975" y="15363825"/>
            <a:ext cx="132492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Source figure selected during full-paper generation</a:t>
            </a:r>
          </a:p>
        </p:txBody>
      </p:sp>
      <p:sp>
        <p:nvSpPr>
          <p:cNvPr id="76" name="figure-three-source">
            <a:extLst xmlns:a="http://schemas.openxmlformats.org/drawingml/2006/main">
              <a:ext uri="{FF2B5EF4-FFF2-40B4-BE49-F238E27FC236}">
                <a16:creationId xmlns:a16="http://schemas.microsoft.com/office/drawing/2014/main" id="{31ED88B3-506D-4F6D-AAEA-EE5DD971D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3975" y="15678150"/>
            <a:ext cx="132492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Source: 10.1186/s12859-019-3251-8</a:t>
            </a:r>
          </a:p>
        </p:txBody>
      </p:sp>
      <p:sp>
        <p:nvSpPr>
          <p:cNvPr id="77" name="validation-visual-heading-title">
            <a:extLst xmlns:a="http://schemas.openxmlformats.org/drawingml/2006/main">
              <a:ext uri="{FF2B5EF4-FFF2-40B4-BE49-F238E27FC236}">
                <a16:creationId xmlns:a16="http://schemas.microsoft.com/office/drawing/2014/main" id="{7DF85E32-75F8-4061-A79D-45B783D8A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16525875"/>
            <a:ext cx="137064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Independent evidence slot</a:t>
            </a:r>
          </a:p>
        </p:txBody>
      </p:sp>
      <p:sp>
        <p:nvSpPr>
          <p:cNvPr id="78" name="validation-visual-heading-rule">
            <a:extLst xmlns:a="http://schemas.openxmlformats.org/drawingml/2006/main">
              <a:ext uri="{FF2B5EF4-FFF2-40B4-BE49-F238E27FC236}">
                <a16:creationId xmlns:a16="http://schemas.microsoft.com/office/drawing/2014/main" id="{4CE15F0B-FC5E-450D-BC28-B6DAEC938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17164050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figure-four-frame">
            <a:extLst xmlns:a="http://schemas.openxmlformats.org/drawingml/2006/main">
              <a:ext uri="{FF2B5EF4-FFF2-40B4-BE49-F238E27FC236}">
                <a16:creationId xmlns:a16="http://schemas.microsoft.com/office/drawing/2014/main" id="{62B16923-F70A-4F27-92EF-30A0EC803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17383125"/>
            <a:ext cx="13706475" cy="7143750"/>
          </a:xfrm>
          <a:prstGeom xmlns:a="http://schemas.openxmlformats.org/drawingml/2006/main" prst="roundRect">
            <a:avLst>
              <a:gd name="adj" fmla="val 1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80" name="figure-four-placeholder">
            <a:extLst xmlns:a="http://schemas.openxmlformats.org/drawingml/2006/main">
              <a:ext uri="{FF2B5EF4-FFF2-40B4-BE49-F238E27FC236}">
                <a16:creationId xmlns:a16="http://schemas.microsoft.com/office/drawing/2014/main" id="{88D2164E-1E46-46A6-A5B7-DC8DC89B1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55875" y="17573625"/>
            <a:ext cx="13325475" cy="6210300"/>
          </a:xfrm>
          <a:prstGeom xmlns:a="http://schemas.openxmlformats.org/drawingml/2006/main" prst="roundRect">
            <a:avLst>
              <a:gd name="adj" fmla="val 1227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81" name="figure-four-placeholder-label">
            <a:extLst xmlns:a="http://schemas.openxmlformats.org/drawingml/2006/main">
              <a:ext uri="{FF2B5EF4-FFF2-40B4-BE49-F238E27FC236}">
                <a16:creationId xmlns:a16="http://schemas.microsoft.com/office/drawing/2014/main" id="{4A87CF42-5736-4476-A596-19602206F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36875" y="20383500"/>
            <a:ext cx="125634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2C8C99"/>
                </a:solidFill>
              </a:defRPr>
            </a:pPr>
            <a:r>
              <a:rPr sz="2700" b="1">
                <a:solidFill>
                  <a:srgbClr val="2C8C99"/>
                </a:solidFill>
              </a:rPr>
              <a:t>SOURCE FIGURE SLOT</a:t>
            </a:r>
          </a:p>
        </p:txBody>
      </p:sp>
      <p:sp>
        <p:nvSpPr>
          <p:cNvPr id="82" name="figure-four-caption">
            <a:extLst xmlns:a="http://schemas.openxmlformats.org/drawingml/2006/main">
              <a:ext uri="{FF2B5EF4-FFF2-40B4-BE49-F238E27FC236}">
                <a16:creationId xmlns:a16="http://schemas.microsoft.com/office/drawing/2014/main" id="{6B257C2D-CC70-4796-8F42-95D3A8E80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3975" y="23841075"/>
            <a:ext cx="132492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Source figure selected during full-paper generation</a:t>
            </a:r>
          </a:p>
        </p:txBody>
      </p:sp>
      <p:sp>
        <p:nvSpPr>
          <p:cNvPr id="83" name="figure-four-source">
            <a:extLst xmlns:a="http://schemas.openxmlformats.org/drawingml/2006/main">
              <a:ext uri="{FF2B5EF4-FFF2-40B4-BE49-F238E27FC236}">
                <a16:creationId xmlns:a16="http://schemas.microsoft.com/office/drawing/2014/main" id="{E36AF510-CE23-44CF-9B2A-4E5D3FF75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3975" y="24155400"/>
            <a:ext cx="132492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Source: 10.1186/s12859-019-3251-8</a:t>
            </a:r>
          </a:p>
        </p:txBody>
      </p:sp>
      <p:sp>
        <p:nvSpPr>
          <p:cNvPr id="84" name="conclusion-heading-title">
            <a:extLst xmlns:a="http://schemas.openxmlformats.org/drawingml/2006/main">
              <a:ext uri="{FF2B5EF4-FFF2-40B4-BE49-F238E27FC236}">
                <a16:creationId xmlns:a16="http://schemas.microsoft.com/office/drawing/2014/main" id="{D7CA8C67-7650-4277-AF04-F55A4B0EA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25003125"/>
            <a:ext cx="137064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Interpretation boundary</a:t>
            </a:r>
          </a:p>
        </p:txBody>
      </p:sp>
      <p:sp>
        <p:nvSpPr>
          <p:cNvPr id="85" name="conclusion-heading-rule">
            <a:extLst xmlns:a="http://schemas.openxmlformats.org/drawingml/2006/main">
              <a:ext uri="{FF2B5EF4-FFF2-40B4-BE49-F238E27FC236}">
                <a16:creationId xmlns:a16="http://schemas.microsoft.com/office/drawing/2014/main" id="{0397BC4C-752F-4D6E-A2FA-D739AF164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25641300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conclusion-panel">
            <a:extLst xmlns:a="http://schemas.openxmlformats.org/drawingml/2006/main">
              <a:ext uri="{FF2B5EF4-FFF2-40B4-BE49-F238E27FC236}">
                <a16:creationId xmlns:a16="http://schemas.microsoft.com/office/drawing/2014/main" id="{857B9AC0-14D9-4380-B66F-D438AF03B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25860375"/>
            <a:ext cx="13706475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87" name="conclusion">
            <a:extLst xmlns:a="http://schemas.openxmlformats.org/drawingml/2006/main">
              <a:ext uri="{FF2B5EF4-FFF2-40B4-BE49-F238E27FC236}">
                <a16:creationId xmlns:a16="http://schemas.microsoft.com/office/drawing/2014/main" id="{874015C8-FDA0-4DDF-8664-7328C4F51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89225" y="26174700"/>
            <a:ext cx="13058775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Interpret findings only within the source study design, population, methods and reported uncertainty.</a:t>
            </a:r>
          </a:p>
        </p:txBody>
      </p:sp>
      <p:sp>
        <p:nvSpPr>
          <p:cNvPr id="88" name="conclusion-evidence">
            <a:extLst xmlns:a="http://schemas.openxmlformats.org/drawingml/2006/main">
              <a:ext uri="{FF2B5EF4-FFF2-40B4-BE49-F238E27FC236}">
                <a16:creationId xmlns:a16="http://schemas.microsoft.com/office/drawing/2014/main" id="{B79C4170-C7A6-4C94-9281-D1E26EB3F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89225" y="28498800"/>
            <a:ext cx="130587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Source and license: 10.1186/s12859-019-3251-8 · CC BY 4.0</a:t>
            </a:r>
          </a:p>
        </p:txBody>
      </p:sp>
      <p:sp>
        <p:nvSpPr>
          <p:cNvPr id="89" name="footer-band">
            <a:extLst xmlns:a="http://schemas.openxmlformats.org/drawingml/2006/main">
              <a:ext uri="{FF2B5EF4-FFF2-40B4-BE49-F238E27FC236}">
                <a16:creationId xmlns:a16="http://schemas.microsoft.com/office/drawing/2014/main" id="{9283DFBE-4C56-4CE1-BACB-0609E97E3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337000"/>
            <a:ext cx="42805350" cy="942975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footer-source">
            <a:extLst xmlns:a="http://schemas.openxmlformats.org/drawingml/2006/main">
              <a:ext uri="{FF2B5EF4-FFF2-40B4-BE49-F238E27FC236}">
                <a16:creationId xmlns:a16="http://schemas.microsoft.com/office/drawing/2014/main" id="{3EA411DA-30C6-4BB4-90B1-040E0E406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9594175"/>
            <a:ext cx="2857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FFFFFF"/>
                </a:solidFill>
              </a:defRPr>
            </a:pPr>
            <a:r>
              <a:rPr sz="1950">
                <a:solidFill>
                  <a:srgbClr val="FFFFFF"/>
                </a:solidFill>
              </a:rPr>
              <a:t>BISR-RNAseq: an efficient and scalable RNAseq analysis workflow with interactive report generation · CC BY 4.0</a:t>
            </a:r>
          </a:p>
        </p:txBody>
      </p:sp>
      <p:sp>
        <p:nvSpPr>
          <p:cNvPr id="91" name="footer-status">
            <a:extLst xmlns:a="http://schemas.openxmlformats.org/drawingml/2006/main">
              <a:ext uri="{FF2B5EF4-FFF2-40B4-BE49-F238E27FC236}">
                <a16:creationId xmlns:a16="http://schemas.microsoft.com/office/drawing/2014/main" id="{E132A481-179D-4F28-8790-0A4B1226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0" y="29594175"/>
            <a:ext cx="1171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875" b="1">
                <a:solidFill>
                  <a:srgbClr val="E8B44C"/>
                </a:solidFill>
              </a:defRPr>
            </a:pPr>
            <a:r>
              <a:rPr sz="1875" b="1">
                <a:solidFill>
                  <a:srgbClr val="E8B44C"/>
                </a:solidFill>
              </a:rPr>
              <a:t>Evaluation preview · not a release poster</a:t>
            </a:r>
          </a:p>
        </p:txBody>
      </p:sp>
    </p:spTree>
    <p:extLst>
      <p:ext uri="{BB962C8B-B14F-4D97-AF65-F5344CB8AC3E}">
        <p14:creationId xmlns:p14="http://schemas.microsoft.com/office/powerpoint/2010/main" val="10296990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2026-08-08T08:04:19.1140000Z</dcterms:created>
  <dcterms:modified xsi:type="dcterms:W3CDTF">2026-08-08T08:04:19.1140000Z</dcterms:modified>
</coreProperties>
</file>