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c4c0fed44394526" /><Relationship Type="http://schemas.openxmlformats.org/officeDocument/2006/relationships/extended-properties" Target="/docProps/app.xml" Id="Re01e03d9f4e84fb9" /><Relationship Type="http://schemas.openxmlformats.org/officeDocument/2006/relationships/officeDocument" Target="/ppt/presentation.xml" Id="Raf1eb27f109e4e3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2dea6ff72a74027"/>
  </p:sldMasterIdLst>
  <p:notesMasterIdLst>
    <p:notesMasterId xmlns:r="http://schemas.openxmlformats.org/officeDocument/2006/relationships" r:id="R90f9d45a98734cfa"/>
  </p:notesMasterIdLst>
  <p:sldIdLst>
    <p:sldId xmlns:r="http://schemas.openxmlformats.org/officeDocument/2006/relationships" id="256" r:id="R77e5b632166a414e"/>
  </p:sldIdLst>
  <p:sldSz cx="42805350" cy="302799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8ab450a779b46a8" /><Relationship Type="http://schemas.openxmlformats.org/officeDocument/2006/relationships/slideMaster" Target="/ppt/slideMasters/slideMaster1.xml" Id="R32dea6ff72a74027" /><Relationship Type="http://schemas.openxmlformats.org/officeDocument/2006/relationships/notesMaster" Target="/ppt/notesMasters/notesMaster1.xml" Id="R90f9d45a98734cfa" /><Relationship Type="http://schemas.openxmlformats.org/officeDocument/2006/relationships/presProps" Target="/ppt/presProps.xml" Id="R34030ee362714df8" /><Relationship Type="http://schemas.openxmlformats.org/officeDocument/2006/relationships/tableStyles" Target="/ppt/tableStyles.xml" Id="R672b26831c1c4ae3" /><Relationship Type="http://schemas.openxmlformats.org/officeDocument/2006/relationships/slide" Target="/ppt/slides/slide1.xml" Id="R77e5b632166a414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f44fc0ca1da4f0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bd4c1cb4621432c" /><Relationship Type="http://schemas.openxmlformats.org/officeDocument/2006/relationships/notesMaster" Target="/ppt/notesMasters/notesMaster1.xml" Id="Rd4d95de6cf4b44e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https://pmc.ncbi.nlm.nih.gov/articles/PMC4623509/</a:t>
            </a:r>
          </a:p>
          <a:p xmlns:a="http://schemas.openxmlformats.org/drawingml/2006/main">
            <a:r>
              <a:t>- License: CC BY 4.0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d8739f5de04c6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7b5972f54574704" /><Relationship Type="http://schemas.openxmlformats.org/officeDocument/2006/relationships/slideLayout" Target="/ppt/slideLayouts/slideLayout1.xml" Id="Rf4bed66f30004bb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4bed66f30004bb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713687fef44773" /><Relationship Type="http://schemas.openxmlformats.org/officeDocument/2006/relationships/notesSlide" Target="/ppt/notesSlides/notesSlide1.xml" Id="R61716d8984a5495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2" name="header-band">
            <a:extLst xmlns:a="http://schemas.openxmlformats.org/drawingml/2006/main">
              <a:ext uri="{FF2B5EF4-FFF2-40B4-BE49-F238E27FC236}">
                <a16:creationId xmlns:a16="http://schemas.microsoft.com/office/drawing/2014/main" id="{5EFCDD7C-9206-46BF-9484-3197C6FC8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2805350" cy="4953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F5F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E0120A37-7491-44A9-BFB4-54DB5B926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2805350" cy="2857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oster-title">
            <a:extLst xmlns:a="http://schemas.openxmlformats.org/drawingml/2006/main">
              <a:ext uri="{FF2B5EF4-FFF2-40B4-BE49-F238E27FC236}">
                <a16:creationId xmlns:a16="http://schemas.microsoft.com/office/drawing/2014/main" id="{4D801C1A-C681-4EF0-A306-5FFEB8F2B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90550"/>
            <a:ext cx="29718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350" b="1">
                <a:solidFill>
                  <a:srgbClr val="FFFFFF"/>
                </a:solidFill>
              </a:defRPr>
            </a:pPr>
            <a:r>
              <a:rPr sz="7350" b="1">
                <a:solidFill>
                  <a:srgbClr val="FFFFFF"/>
                </a:solidFill>
              </a:rPr>
              <a:t>Circulating Concentrations of Vitamin B6 and Kidney Cancer Prognosis: A Prospective Case-Cohort Study</a:t>
            </a:r>
          </a:p>
        </p:txBody>
      </p:sp>
      <p:sp>
        <p:nvSpPr>
          <p:cNvPr id="4" name="authors">
            <a:extLst xmlns:a="http://schemas.openxmlformats.org/drawingml/2006/main">
              <a:ext uri="{FF2B5EF4-FFF2-40B4-BE49-F238E27FC236}">
                <a16:creationId xmlns:a16="http://schemas.microsoft.com/office/drawing/2014/main" id="{C056D09D-B2DD-4465-A5E2-31F24DF69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914650"/>
            <a:ext cx="2943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FFFFF"/>
                </a:solidFill>
              </a:defRPr>
            </a:pPr>
            <a:r>
              <a:rPr sz="2775" b="1">
                <a:solidFill>
                  <a:srgbClr val="FFFFFF"/>
                </a:solidFill>
              </a:rPr>
              <a:t>Source-grounded PostEx evaluation fixture</a:t>
            </a:r>
          </a:p>
        </p:txBody>
      </p:sp>
      <p:sp>
        <p:nvSpPr>
          <p:cNvPr id="5" name="affiliations">
            <a:extLst xmlns:a="http://schemas.openxmlformats.org/drawingml/2006/main">
              <a:ext uri="{FF2B5EF4-FFF2-40B4-BE49-F238E27FC236}">
                <a16:creationId xmlns:a16="http://schemas.microsoft.com/office/drawing/2014/main" id="{CCB9E5A4-DB08-4064-8FE4-D17F905E3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638550"/>
            <a:ext cx="2943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6F8FA"/>
                </a:solidFill>
              </a:defRPr>
            </a:pPr>
            <a:r>
              <a:rPr sz="2175">
                <a:solidFill>
                  <a:srgbClr val="F6F8FA"/>
                </a:solidFill>
              </a:rPr>
              <a:t>Observational profile · CC BY 4.0</a:t>
            </a:r>
          </a:p>
        </p:txBody>
      </p:sp>
      <p:sp>
        <p:nvSpPr>
          <p:cNvPr id="6" name="citation">
            <a:extLst xmlns:a="http://schemas.openxmlformats.org/drawingml/2006/main">
              <a:ext uri="{FF2B5EF4-FFF2-40B4-BE49-F238E27FC236}">
                <a16:creationId xmlns:a16="http://schemas.microsoft.com/office/drawing/2014/main" id="{E7237882-D872-461F-8CCD-17457B4B5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238625"/>
            <a:ext cx="2428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E8B44C"/>
                </a:solidFill>
              </a:defRPr>
            </a:pPr>
            <a:r>
              <a:rPr sz="1950" b="1">
                <a:solidFill>
                  <a:srgbClr val="E8B44C"/>
                </a:solidFill>
              </a:rPr>
              <a:t>DOI 10.1371/journal.pone.0140677</a:t>
            </a:r>
          </a:p>
        </p:txBody>
      </p:sp>
      <p:sp>
        <p:nvSpPr>
          <p:cNvPr id="7" name="logo-slot-institution-logo">
            <a:extLst xmlns:a="http://schemas.openxmlformats.org/drawingml/2006/main">
              <a:ext uri="{FF2B5EF4-FFF2-40B4-BE49-F238E27FC236}">
                <a16:creationId xmlns:a16="http://schemas.microsoft.com/office/drawing/2014/main" id="{6DD918D1-4FE3-45C6-8165-6A838A654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0" y="552450"/>
            <a:ext cx="93345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E2EC"/>
            </a:solidFill>
            <a:prstDash val="solid"/>
          </a:ln>
        </p:spPr>
      </p:sp>
      <p:sp>
        <p:nvSpPr>
          <p:cNvPr id="8" name="logo-placeholder-institution-logo">
            <a:extLst xmlns:a="http://schemas.openxmlformats.org/drawingml/2006/main">
              <a:ext uri="{FF2B5EF4-FFF2-40B4-BE49-F238E27FC236}">
                <a16:creationId xmlns:a16="http://schemas.microsoft.com/office/drawing/2014/main" id="{18C872C1-C826-4F3E-9F0E-D7B930091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13550" y="914400"/>
            <a:ext cx="9105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F5F73"/>
                </a:solidFill>
              </a:defRPr>
            </a:pPr>
            <a:r>
              <a:rPr sz="2025" b="1">
                <a:solidFill>
                  <a:srgbClr val="0F5F73"/>
                </a:solidFill>
              </a:rPr>
              <a:t>Institution logo</a:t>
            </a:r>
          </a:p>
        </p:txBody>
      </p:sp>
      <p:sp>
        <p:nvSpPr>
          <p:cNvPr id="9" name="header-summary">
            <a:extLst xmlns:a="http://schemas.openxmlformats.org/drawingml/2006/main">
              <a:ext uri="{FF2B5EF4-FFF2-40B4-BE49-F238E27FC236}">
                <a16:creationId xmlns:a16="http://schemas.microsoft.com/office/drawing/2014/main" id="{D0E428E3-9460-44EF-905D-0AA6321D8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0" y="2000250"/>
            <a:ext cx="9334500" cy="2286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header-metric-1-value">
            <a:extLst xmlns:a="http://schemas.openxmlformats.org/drawingml/2006/main">
              <a:ext uri="{FF2B5EF4-FFF2-40B4-BE49-F238E27FC236}">
                <a16:creationId xmlns:a16="http://schemas.microsoft.com/office/drawing/2014/main" id="{9890E3C0-C61C-4019-A7EE-E7185F7EE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0" y="2286000"/>
            <a:ext cx="247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0F5F73"/>
                </a:solidFill>
              </a:defRPr>
            </a:pPr>
            <a:r>
              <a:rPr sz="5100" b="1">
                <a:solidFill>
                  <a:srgbClr val="0F5F73"/>
                </a:solidFill>
              </a:rPr>
              <a:t>630</a:t>
            </a:r>
          </a:p>
        </p:txBody>
      </p:sp>
      <p:sp>
        <p:nvSpPr>
          <p:cNvPr id="11" name="header-metric-1-label">
            <a:extLst xmlns:a="http://schemas.openxmlformats.org/drawingml/2006/main">
              <a:ext uri="{FF2B5EF4-FFF2-40B4-BE49-F238E27FC236}">
                <a16:creationId xmlns:a16="http://schemas.microsoft.com/office/drawing/2014/main" id="{865B2B61-62EA-41C4-9022-92170D232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0" y="3067050"/>
            <a:ext cx="2476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02A43"/>
                </a:solidFill>
              </a:defRPr>
            </a:pPr>
            <a:r>
              <a:rPr sz="2325" b="1">
                <a:solidFill>
                  <a:srgbClr val="102A43"/>
                </a:solidFill>
              </a:rPr>
              <a:t>sample size</a:t>
            </a:r>
          </a:p>
        </p:txBody>
      </p:sp>
      <p:sp>
        <p:nvSpPr>
          <p:cNvPr id="12" name="header-metric-2-value">
            <a:extLst xmlns:a="http://schemas.openxmlformats.org/drawingml/2006/main">
              <a:ext uri="{FF2B5EF4-FFF2-40B4-BE49-F238E27FC236}">
                <a16:creationId xmlns:a16="http://schemas.microsoft.com/office/drawing/2014/main" id="{358E818C-B8F2-4F39-9ACC-319BEC78A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0" y="2286000"/>
            <a:ext cx="247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2C8C99"/>
                </a:solidFill>
              </a:defRPr>
            </a:pPr>
            <a:r>
              <a:rPr sz="5100" b="1">
                <a:solidFill>
                  <a:srgbClr val="2C8C99"/>
                </a:solidFill>
              </a:rPr>
              <a:t>0.33</a:t>
            </a:r>
          </a:p>
        </p:txBody>
      </p:sp>
      <p:sp>
        <p:nvSpPr>
          <p:cNvPr id="13" name="header-metric-2-label">
            <a:extLst xmlns:a="http://schemas.openxmlformats.org/drawingml/2006/main">
              <a:ext uri="{FF2B5EF4-FFF2-40B4-BE49-F238E27FC236}">
                <a16:creationId xmlns:a16="http://schemas.microsoft.com/office/drawing/2014/main" id="{E4AEDA92-B212-4EC5-829D-91BE1CFE3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0" y="3067050"/>
            <a:ext cx="2476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02A43"/>
                </a:solidFill>
              </a:defRPr>
            </a:pPr>
            <a:r>
              <a:rPr sz="2325" b="1">
                <a:solidFill>
                  <a:srgbClr val="102A43"/>
                </a:solidFill>
              </a:rPr>
              <a:t>all cause hr</a:t>
            </a:r>
          </a:p>
        </p:txBody>
      </p:sp>
      <p:sp>
        <p:nvSpPr>
          <p:cNvPr id="14" name="header-metric-3-value">
            <a:extLst xmlns:a="http://schemas.openxmlformats.org/drawingml/2006/main">
              <a:ext uri="{FF2B5EF4-FFF2-40B4-BE49-F238E27FC236}">
                <a16:creationId xmlns:a16="http://schemas.microsoft.com/office/drawing/2014/main" id="{70DAAC2C-ABA9-47F5-8A21-2DBB6F881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0" y="2286000"/>
            <a:ext cx="247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E8B44C"/>
                </a:solidFill>
              </a:defRPr>
            </a:pPr>
            <a:r>
              <a:rPr sz="5100" b="1">
                <a:solidFill>
                  <a:srgbClr val="E8B44C"/>
                </a:solidFill>
              </a:rPr>
              <a:t>0.18</a:t>
            </a:r>
          </a:p>
        </p:txBody>
      </p:sp>
      <p:sp>
        <p:nvSpPr>
          <p:cNvPr id="15" name="header-metric-3-label">
            <a:extLst xmlns:a="http://schemas.openxmlformats.org/drawingml/2006/main">
              <a:ext uri="{FF2B5EF4-FFF2-40B4-BE49-F238E27FC236}">
                <a16:creationId xmlns:a16="http://schemas.microsoft.com/office/drawing/2014/main" id="{84DC702C-AF9A-49ED-8B7B-D25D59E25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0" y="3067050"/>
            <a:ext cx="2476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02A43"/>
                </a:solidFill>
              </a:defRPr>
            </a:pPr>
            <a:r>
              <a:rPr sz="2325" b="1">
                <a:solidFill>
                  <a:srgbClr val="102A43"/>
                </a:solidFill>
              </a:rPr>
              <a:t>all cause ci</a:t>
            </a:r>
          </a:p>
        </p:txBody>
      </p:sp>
      <p:sp>
        <p:nvSpPr>
          <p:cNvPr id="16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B1B01912-40DB-464F-B98D-BB9614FFB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619750"/>
            <a:ext cx="1162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F5F73"/>
                </a:solidFill>
              </a:defRPr>
            </a:pPr>
            <a:r>
              <a:rPr sz="3600" b="1">
                <a:solidFill>
                  <a:srgbClr val="0F5F73"/>
                </a:solidFill>
              </a:rPr>
              <a:t>Communication objective</a:t>
            </a:r>
          </a:p>
        </p:txBody>
      </p:sp>
      <p:sp>
        <p:nvSpPr>
          <p:cNvPr id="17" name="question-rule">
            <a:extLst xmlns:a="http://schemas.openxmlformats.org/drawingml/2006/main">
              <a:ext uri="{FF2B5EF4-FFF2-40B4-BE49-F238E27FC236}">
                <a16:creationId xmlns:a16="http://schemas.microsoft.com/office/drawing/2014/main" id="{A0D7F093-3BBA-4652-81FD-BA22ABB19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257925"/>
            <a:ext cx="3143250" cy="95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research-question">
            <a:extLst xmlns:a="http://schemas.openxmlformats.org/drawingml/2006/main">
              <a:ext uri="{FF2B5EF4-FFF2-40B4-BE49-F238E27FC236}">
                <a16:creationId xmlns:a16="http://schemas.microsoft.com/office/drawing/2014/main" id="{BA91390C-A263-4DC3-A9E3-8780021CE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496050"/>
            <a:ext cx="1162050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102A43"/>
                </a:solidFill>
              </a:defRPr>
            </a:pPr>
            <a:r>
              <a:rPr sz="2850">
                <a:solidFill>
                  <a:srgbClr val="102A43"/>
                </a:solidFill>
              </a:rPr>
              <a:t>Present the paper's design, central evidence and interpretation boundary in a traceable conference-poster format.</a:t>
            </a:r>
          </a:p>
        </p:txBody>
      </p:sp>
      <p:sp>
        <p:nvSpPr>
          <p:cNvPr id="19" name="question-evidence">
            <a:extLst xmlns:a="http://schemas.openxmlformats.org/drawingml/2006/main">
              <a:ext uri="{FF2B5EF4-FFF2-40B4-BE49-F238E27FC236}">
                <a16:creationId xmlns:a16="http://schemas.microsoft.com/office/drawing/2014/main" id="{DCE9A971-ED59-4546-8432-F03F3F70C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8686800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i="1">
                <a:solidFill>
                  <a:srgbClr val="2C8C99"/>
                </a:solidFill>
              </a:defRPr>
            </a:pPr>
            <a:r>
              <a:rPr sz="1875" i="1">
                <a:solidFill>
                  <a:srgbClr val="2C8C99"/>
                </a:solidFill>
              </a:rPr>
              <a:t>Evidence fixture: 10.1371/journal.pone.0140677</a:t>
            </a:r>
          </a:p>
        </p:txBody>
      </p:sp>
      <p:sp>
        <p:nvSpPr>
          <p:cNvPr id="20" name="pipeline-title">
            <a:extLst xmlns:a="http://schemas.openxmlformats.org/drawingml/2006/main">
              <a:ext uri="{FF2B5EF4-FFF2-40B4-BE49-F238E27FC236}">
                <a16:creationId xmlns:a16="http://schemas.microsoft.com/office/drawing/2014/main" id="{4491A785-309D-4550-A1E6-DE14ED804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9239250"/>
            <a:ext cx="1162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F5F73"/>
                </a:solidFill>
              </a:defRPr>
            </a:pPr>
            <a:r>
              <a:rPr sz="3600" b="1">
                <a:solidFill>
                  <a:srgbClr val="0F5F73"/>
                </a:solidFill>
              </a:rPr>
              <a:t>Required evidence structure</a:t>
            </a:r>
          </a:p>
        </p:txBody>
      </p:sp>
      <p:sp>
        <p:nvSpPr>
          <p:cNvPr id="21" name="pipeline-rule">
            <a:extLst xmlns:a="http://schemas.openxmlformats.org/drawingml/2006/main">
              <a:ext uri="{FF2B5EF4-FFF2-40B4-BE49-F238E27FC236}">
                <a16:creationId xmlns:a16="http://schemas.microsoft.com/office/drawing/2014/main" id="{C8385738-0C9C-4019-AF19-DA4F7E49D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9877425"/>
            <a:ext cx="3143250" cy="95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pipeline-1-number-bg">
            <a:extLst xmlns:a="http://schemas.openxmlformats.org/drawingml/2006/main">
              <a:ext uri="{FF2B5EF4-FFF2-40B4-BE49-F238E27FC236}">
                <a16:creationId xmlns:a16="http://schemas.microsoft.com/office/drawing/2014/main" id="{BF990D47-288E-4849-8FEE-A9DA8F82A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0134600"/>
            <a:ext cx="5905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ipeline-1-number">
            <a:extLst xmlns:a="http://schemas.openxmlformats.org/drawingml/2006/main">
              <a:ext uri="{FF2B5EF4-FFF2-40B4-BE49-F238E27FC236}">
                <a16:creationId xmlns:a16="http://schemas.microsoft.com/office/drawing/2014/main" id="{AA2497C8-2F2F-495C-BD00-B5AB5A5D0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0201275"/>
            <a:ext cx="590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02A43"/>
                </a:solidFill>
              </a:defRPr>
            </a:pPr>
            <a:r>
              <a:rPr sz="2325" b="1">
                <a:solidFill>
                  <a:srgbClr val="102A43"/>
                </a:solidFill>
              </a:rPr>
              <a:t>1</a:t>
            </a:r>
          </a:p>
        </p:txBody>
      </p:sp>
      <p:sp>
        <p:nvSpPr>
          <p:cNvPr id="24" name="pipeline-1-text">
            <a:extLst xmlns:a="http://schemas.openxmlformats.org/drawingml/2006/main">
              <a:ext uri="{FF2B5EF4-FFF2-40B4-BE49-F238E27FC236}">
                <a16:creationId xmlns:a16="http://schemas.microsoft.com/office/drawing/2014/main" id="{7FA4597A-1BDD-4485-BD90-FECA3D916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10172700"/>
            <a:ext cx="1083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2A43"/>
                </a:solidFill>
              </a:defRPr>
            </a:pPr>
            <a:r>
              <a:rPr sz="2850" b="1">
                <a:solidFill>
                  <a:srgbClr val="102A43"/>
                </a:solidFill>
              </a:rPr>
              <a:t>Background</a:t>
            </a:r>
          </a:p>
        </p:txBody>
      </p:sp>
      <p:sp>
        <p:nvSpPr>
          <p:cNvPr id="25" name="pipeline-2-number-bg">
            <a:extLst xmlns:a="http://schemas.openxmlformats.org/drawingml/2006/main">
              <a:ext uri="{FF2B5EF4-FFF2-40B4-BE49-F238E27FC236}">
                <a16:creationId xmlns:a16="http://schemas.microsoft.com/office/drawing/2014/main" id="{94E1590E-92DF-482F-9A03-C2BB1726B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0896600"/>
            <a:ext cx="5905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pipeline-2-number">
            <a:extLst xmlns:a="http://schemas.openxmlformats.org/drawingml/2006/main">
              <a:ext uri="{FF2B5EF4-FFF2-40B4-BE49-F238E27FC236}">
                <a16:creationId xmlns:a16="http://schemas.microsoft.com/office/drawing/2014/main" id="{341345FC-2051-43F4-8F63-18200C0B7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0963275"/>
            <a:ext cx="590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02A43"/>
                </a:solidFill>
              </a:defRPr>
            </a:pPr>
            <a:r>
              <a:rPr sz="2325" b="1">
                <a:solidFill>
                  <a:srgbClr val="102A43"/>
                </a:solidFill>
              </a:rPr>
              <a:t>2</a:t>
            </a:r>
          </a:p>
        </p:txBody>
      </p:sp>
      <p:sp>
        <p:nvSpPr>
          <p:cNvPr id="27" name="pipeline-2-text">
            <a:extLst xmlns:a="http://schemas.openxmlformats.org/drawingml/2006/main">
              <a:ext uri="{FF2B5EF4-FFF2-40B4-BE49-F238E27FC236}">
                <a16:creationId xmlns:a16="http://schemas.microsoft.com/office/drawing/2014/main" id="{88A8100D-7AEA-4967-9E3D-4527FAC6B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10934700"/>
            <a:ext cx="1083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2A43"/>
                </a:solidFill>
              </a:defRPr>
            </a:pPr>
            <a:r>
              <a:rPr sz="2850" b="1">
                <a:solidFill>
                  <a:srgbClr val="102A43"/>
                </a:solidFill>
              </a:rPr>
              <a:t>Cohort Construction</a:t>
            </a:r>
          </a:p>
        </p:txBody>
      </p:sp>
      <p:sp>
        <p:nvSpPr>
          <p:cNvPr id="28" name="pipeline-3-number-bg">
            <a:extLst xmlns:a="http://schemas.openxmlformats.org/drawingml/2006/main">
              <a:ext uri="{FF2B5EF4-FFF2-40B4-BE49-F238E27FC236}">
                <a16:creationId xmlns:a16="http://schemas.microsoft.com/office/drawing/2014/main" id="{7B2BE355-EEEF-461F-A847-EC2B76E07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1658600"/>
            <a:ext cx="5905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pipeline-3-number">
            <a:extLst xmlns:a="http://schemas.openxmlformats.org/drawingml/2006/main">
              <a:ext uri="{FF2B5EF4-FFF2-40B4-BE49-F238E27FC236}">
                <a16:creationId xmlns:a16="http://schemas.microsoft.com/office/drawing/2014/main" id="{034D3538-3CCA-4132-9A3C-AB807A173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1725275"/>
            <a:ext cx="590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02A43"/>
                </a:solidFill>
              </a:defRPr>
            </a:pPr>
            <a:r>
              <a:rPr sz="2325" b="1">
                <a:solidFill>
                  <a:srgbClr val="102A43"/>
                </a:solidFill>
              </a:rPr>
              <a:t>3</a:t>
            </a:r>
          </a:p>
        </p:txBody>
      </p:sp>
      <p:sp>
        <p:nvSpPr>
          <p:cNvPr id="30" name="pipeline-3-text">
            <a:extLst xmlns:a="http://schemas.openxmlformats.org/drawingml/2006/main">
              <a:ext uri="{FF2B5EF4-FFF2-40B4-BE49-F238E27FC236}">
                <a16:creationId xmlns:a16="http://schemas.microsoft.com/office/drawing/2014/main" id="{2548914E-A39B-4C26-8D6B-2419000B0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11696700"/>
            <a:ext cx="1083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2A43"/>
                </a:solidFill>
              </a:defRPr>
            </a:pPr>
            <a:r>
              <a:rPr sz="2850" b="1">
                <a:solidFill>
                  <a:srgbClr val="102A43"/>
                </a:solidFill>
              </a:rPr>
              <a:t>Baseline Characteristics</a:t>
            </a:r>
          </a:p>
        </p:txBody>
      </p:sp>
      <p:sp>
        <p:nvSpPr>
          <p:cNvPr id="31" name="pipeline-4-number-bg">
            <a:extLst xmlns:a="http://schemas.openxmlformats.org/drawingml/2006/main">
              <a:ext uri="{FF2B5EF4-FFF2-40B4-BE49-F238E27FC236}">
                <a16:creationId xmlns:a16="http://schemas.microsoft.com/office/drawing/2014/main" id="{A5BA5E0D-E991-4250-A028-958223003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2420600"/>
            <a:ext cx="5905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pipeline-4-number">
            <a:extLst xmlns:a="http://schemas.openxmlformats.org/drawingml/2006/main">
              <a:ext uri="{FF2B5EF4-FFF2-40B4-BE49-F238E27FC236}">
                <a16:creationId xmlns:a16="http://schemas.microsoft.com/office/drawing/2014/main" id="{34C0F48C-A98B-4DBA-8936-13B3661C5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2487275"/>
            <a:ext cx="590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02A43"/>
                </a:solidFill>
              </a:defRPr>
            </a:pPr>
            <a:r>
              <a:rPr sz="2325" b="1">
                <a:solidFill>
                  <a:srgbClr val="102A43"/>
                </a:solidFill>
              </a:rPr>
              <a:t>4</a:t>
            </a:r>
          </a:p>
        </p:txBody>
      </p:sp>
      <p:sp>
        <p:nvSpPr>
          <p:cNvPr id="33" name="pipeline-4-text">
            <a:extLst xmlns:a="http://schemas.openxmlformats.org/drawingml/2006/main">
              <a:ext uri="{FF2B5EF4-FFF2-40B4-BE49-F238E27FC236}">
                <a16:creationId xmlns:a16="http://schemas.microsoft.com/office/drawing/2014/main" id="{A9AB7657-29A4-4FCE-9DC6-8C7506EC9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12458700"/>
            <a:ext cx="1083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2A43"/>
                </a:solidFill>
              </a:defRPr>
            </a:pPr>
            <a:r>
              <a:rPr sz="2850" b="1">
                <a:solidFill>
                  <a:srgbClr val="102A43"/>
                </a:solidFill>
              </a:rPr>
              <a:t>Statistical Model</a:t>
            </a:r>
          </a:p>
        </p:txBody>
      </p:sp>
      <p:sp>
        <p:nvSpPr>
          <p:cNvPr id="34" name="dataset-panel">
            <a:extLst xmlns:a="http://schemas.openxmlformats.org/drawingml/2006/main">
              <a:ext uri="{FF2B5EF4-FFF2-40B4-BE49-F238E27FC236}">
                <a16:creationId xmlns:a16="http://schemas.microsoft.com/office/drawing/2014/main" id="{E57E1D31-B40A-495B-AB3C-1E9C1AE15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3430250"/>
            <a:ext cx="116205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D9E2EC"/>
            </a:solidFill>
            <a:prstDash val="solid"/>
          </a:ln>
        </p:spPr>
      </p:sp>
      <p:sp>
        <p:nvSpPr>
          <p:cNvPr id="35" name="dataset-kicker">
            <a:extLst xmlns:a="http://schemas.openxmlformats.org/drawingml/2006/main">
              <a:ext uri="{FF2B5EF4-FFF2-40B4-BE49-F238E27FC236}">
                <a16:creationId xmlns:a16="http://schemas.microsoft.com/office/drawing/2014/main" id="{4F06675D-C4B0-44D5-B1B8-82FB3B26D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3716000"/>
            <a:ext cx="438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F5F73"/>
                </a:solidFill>
              </a:defRPr>
            </a:pPr>
            <a:r>
              <a:rPr sz="2175" b="1">
                <a:solidFill>
                  <a:srgbClr val="0F5F73"/>
                </a:solidFill>
              </a:rPr>
              <a:t>SOURCE CONTRACT</a:t>
            </a:r>
          </a:p>
        </p:txBody>
      </p:sp>
      <p:sp>
        <p:nvSpPr>
          <p:cNvPr id="36" name="datasets">
            <a:extLst xmlns:a="http://schemas.openxmlformats.org/drawingml/2006/main">
              <a:ext uri="{FF2B5EF4-FFF2-40B4-BE49-F238E27FC236}">
                <a16:creationId xmlns:a16="http://schemas.microsoft.com/office/drawing/2014/main" id="{34135BC2-DCDB-4D0F-81DA-1B8B11822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4239875"/>
            <a:ext cx="110871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102A43"/>
                </a:solidFill>
              </a:defRPr>
            </a:pPr>
            <a:r>
              <a:rPr sz="2850">
                <a:solidFill>
                  <a:srgbClr val="102A43"/>
                </a:solidFill>
              </a:rPr>
              <a:t>Input: full paper</a:t>
            </a:r>
          </a:p>
          <a:p xmlns:a="http://schemas.openxmlformats.org/drawingml/2006/main">
            <a:pPr>
              <a:defRPr sz="2850">
                <a:solidFill>
                  <a:srgbClr val="102A43"/>
                </a:solidFill>
              </a:defRPr>
            </a:pPr>
            <a:r>
              <a:rPr sz="2850">
                <a:solidFill>
                  <a:srgbClr val="102A43"/>
                </a:solidFill>
              </a:rPr>
              <a:t>License: CC BY 4.0</a:t>
            </a:r>
          </a:p>
          <a:p xmlns:a="http://schemas.openxmlformats.org/drawingml/2006/main">
            <a:pPr>
              <a:defRPr sz="2850">
                <a:solidFill>
                  <a:srgbClr val="102A43"/>
                </a:solidFill>
              </a:defRPr>
            </a:pPr>
            <a:r>
              <a:rPr sz="2850">
                <a:solidFill>
                  <a:srgbClr val="102A43"/>
                </a:solidFill>
              </a:rPr>
              <a:t>Profile: observational</a:t>
            </a:r>
          </a:p>
          <a:p xmlns:a="http://schemas.openxmlformats.org/drawingml/2006/main">
            <a:pPr>
              <a:defRPr sz="2850">
                <a:solidFill>
                  <a:srgbClr val="102A43"/>
                </a:solidFill>
              </a:defRPr>
            </a:pPr>
            <a:r>
              <a:rPr sz="2850">
                <a:solidFill>
                  <a:srgbClr val="102A43"/>
                </a:solidFill>
              </a:rPr>
              <a:t>Claims checked: 4</a:t>
            </a:r>
          </a:p>
        </p:txBody>
      </p:sp>
      <p:sp>
        <p:nvSpPr>
          <p:cNvPr id="37" name="dataset-evidence">
            <a:extLst xmlns:a="http://schemas.openxmlformats.org/drawingml/2006/main">
              <a:ext uri="{FF2B5EF4-FFF2-40B4-BE49-F238E27FC236}">
                <a16:creationId xmlns:a16="http://schemas.microsoft.com/office/drawing/2014/main" id="{3158D8D0-5857-4858-B0C0-74B36209F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6411575"/>
            <a:ext cx="11087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i="1">
                <a:solidFill>
                  <a:srgbClr val="2C8C99"/>
                </a:solidFill>
              </a:defRPr>
            </a:pPr>
            <a:r>
              <a:rPr sz="1875" i="1">
                <a:solidFill>
                  <a:srgbClr val="2C8C99"/>
                </a:solidFill>
              </a:rPr>
              <a:t>https://pmc.ncbi.nlm.nih.gov/articles/PMC4623509/</a:t>
            </a:r>
          </a:p>
        </p:txBody>
      </p:sp>
      <p:sp>
        <p:nvSpPr>
          <p:cNvPr id="38" name="figure-one-heading-title">
            <a:extLst xmlns:a="http://schemas.openxmlformats.org/drawingml/2006/main">
              <a:ext uri="{FF2B5EF4-FFF2-40B4-BE49-F238E27FC236}">
                <a16:creationId xmlns:a16="http://schemas.microsoft.com/office/drawing/2014/main" id="{EF0347B3-2A9C-42AB-93A9-C44D8FF95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7383125"/>
            <a:ext cx="1162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F5F73"/>
                </a:solidFill>
              </a:defRPr>
            </a:pPr>
            <a:r>
              <a:rPr sz="3600" b="1">
                <a:solidFill>
                  <a:srgbClr val="0F5F73"/>
                </a:solidFill>
              </a:rPr>
              <a:t>Methods and source evidence</a:t>
            </a:r>
          </a:p>
        </p:txBody>
      </p:sp>
      <p:sp>
        <p:nvSpPr>
          <p:cNvPr id="39" name="figure-one-heading-rule">
            <a:extLst xmlns:a="http://schemas.openxmlformats.org/drawingml/2006/main">
              <a:ext uri="{FF2B5EF4-FFF2-40B4-BE49-F238E27FC236}">
                <a16:creationId xmlns:a16="http://schemas.microsoft.com/office/drawing/2014/main" id="{F3B5E008-694A-4BB7-A6EE-07EB833A8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8021300"/>
            <a:ext cx="3143250" cy="95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figure-one-frame">
            <a:extLst xmlns:a="http://schemas.openxmlformats.org/drawingml/2006/main">
              <a:ext uri="{FF2B5EF4-FFF2-40B4-BE49-F238E27FC236}">
                <a16:creationId xmlns:a16="http://schemas.microsoft.com/office/drawing/2014/main" id="{A86229F8-DB1F-4208-BB35-4F588022C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8240375"/>
            <a:ext cx="11620500" cy="9906000"/>
          </a:xfrm>
          <a:prstGeom xmlns:a="http://schemas.openxmlformats.org/drawingml/2006/main" prst="roundRect">
            <a:avLst>
              <a:gd name="adj" fmla="val 1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D9E2EC"/>
            </a:solidFill>
            <a:prstDash val="solid"/>
          </a:ln>
        </p:spPr>
      </p:sp>
      <p:sp>
        <p:nvSpPr>
          <p:cNvPr id="41" name="figure-one-placeholder">
            <a:extLst xmlns:a="http://schemas.openxmlformats.org/drawingml/2006/main">
              <a:ext uri="{FF2B5EF4-FFF2-40B4-BE49-F238E27FC236}">
                <a16:creationId xmlns:a16="http://schemas.microsoft.com/office/drawing/2014/main" id="{F9089166-4834-480A-9BE9-4656C7C03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8430875"/>
            <a:ext cx="11239500" cy="8972550"/>
          </a:xfrm>
          <a:prstGeom xmlns:a="http://schemas.openxmlformats.org/drawingml/2006/main" prst="roundRect">
            <a:avLst>
              <a:gd name="adj" fmla="val 849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19050">
            <a:solidFill>
              <a:srgbClr val="D9E2EC"/>
            </a:solidFill>
            <a:prstDash val="solid"/>
          </a:ln>
        </p:spPr>
      </p:sp>
      <p:sp>
        <p:nvSpPr>
          <p:cNvPr id="42" name="figure-one-placeholder-label">
            <a:extLst xmlns:a="http://schemas.openxmlformats.org/drawingml/2006/main">
              <a:ext uri="{FF2B5EF4-FFF2-40B4-BE49-F238E27FC236}">
                <a16:creationId xmlns:a16="http://schemas.microsoft.com/office/drawing/2014/main" id="{C3F42599-9273-4CB5-8C3C-39D305CD0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2621875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2C8C99"/>
                </a:solidFill>
              </a:defRPr>
            </a:pPr>
            <a:r>
              <a:rPr sz="2700" b="1">
                <a:solidFill>
                  <a:srgbClr val="2C8C99"/>
                </a:solidFill>
              </a:rPr>
              <a:t>SOURCE FIGURE SLOT</a:t>
            </a:r>
          </a:p>
        </p:txBody>
      </p:sp>
      <p:sp>
        <p:nvSpPr>
          <p:cNvPr id="43" name="figure-one-caption">
            <a:extLst xmlns:a="http://schemas.openxmlformats.org/drawingml/2006/main">
              <a:ext uri="{FF2B5EF4-FFF2-40B4-BE49-F238E27FC236}">
                <a16:creationId xmlns:a16="http://schemas.microsoft.com/office/drawing/2014/main" id="{751BA952-EADD-48FE-B7DC-921058A62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460575"/>
            <a:ext cx="11163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02A43"/>
                </a:solidFill>
              </a:defRPr>
            </a:pPr>
            <a:r>
              <a:rPr sz="2250" b="1">
                <a:solidFill>
                  <a:srgbClr val="102A43"/>
                </a:solidFill>
              </a:rPr>
              <a:t>Source figure selected during full-paper generation</a:t>
            </a:r>
          </a:p>
        </p:txBody>
      </p:sp>
      <p:sp>
        <p:nvSpPr>
          <p:cNvPr id="44" name="figure-one-source">
            <a:extLst xmlns:a="http://schemas.openxmlformats.org/drawingml/2006/main">
              <a:ext uri="{FF2B5EF4-FFF2-40B4-BE49-F238E27FC236}">
                <a16:creationId xmlns:a16="http://schemas.microsoft.com/office/drawing/2014/main" id="{F2D8F881-EFB5-4188-A173-548EFE9CC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774900"/>
            <a:ext cx="11163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i="1">
                <a:solidFill>
                  <a:srgbClr val="2C8C99"/>
                </a:solidFill>
              </a:defRPr>
            </a:pPr>
            <a:r>
              <a:rPr sz="1875" i="1">
                <a:solidFill>
                  <a:srgbClr val="2C8C99"/>
                </a:solidFill>
              </a:rPr>
              <a:t>Source: 10.1371/journal.pone.0140677</a:t>
            </a:r>
          </a:p>
        </p:txBody>
      </p:sp>
      <p:sp>
        <p:nvSpPr>
          <p:cNvPr id="45" name="central-takeaway">
            <a:extLst xmlns:a="http://schemas.openxmlformats.org/drawingml/2006/main">
              <a:ext uri="{FF2B5EF4-FFF2-40B4-BE49-F238E27FC236}">
                <a16:creationId xmlns:a16="http://schemas.microsoft.com/office/drawing/2014/main" id="{F59C1009-AE45-4D69-81BE-D8E7AE7B0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5619750"/>
            <a:ext cx="13668375" cy="2524125"/>
          </a:xfrm>
          <a:prstGeom xmlns:a="http://schemas.openxmlformats.org/drawingml/2006/main" prst="roundRect">
            <a:avLst>
              <a:gd name="adj" fmla="val 6038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central-takeaway-title">
            <a:extLst xmlns:a="http://schemas.openxmlformats.org/drawingml/2006/main">
              <a:ext uri="{FF2B5EF4-FFF2-40B4-BE49-F238E27FC236}">
                <a16:creationId xmlns:a16="http://schemas.microsoft.com/office/drawing/2014/main" id="{084F917B-5324-423A-BE7C-346DD8C79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4600" y="5953125"/>
            <a:ext cx="128301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125" b="1">
                <a:solidFill>
                  <a:srgbClr val="102A43"/>
                </a:solidFill>
              </a:defRPr>
            </a:pPr>
            <a:r>
              <a:rPr sz="4125" b="1">
                <a:solidFill>
                  <a:srgbClr val="102A43"/>
                </a:solidFill>
              </a:rPr>
              <a:t>630</a:t>
            </a:r>
          </a:p>
        </p:txBody>
      </p:sp>
      <p:sp>
        <p:nvSpPr>
          <p:cNvPr id="47" name="central-takeaway-subtitle">
            <a:extLst xmlns:a="http://schemas.openxmlformats.org/drawingml/2006/main">
              <a:ext uri="{FF2B5EF4-FFF2-40B4-BE49-F238E27FC236}">
                <a16:creationId xmlns:a16="http://schemas.microsoft.com/office/drawing/2014/main" id="{D8F6E717-D52E-4CE7-A865-0EF86523A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7181850"/>
            <a:ext cx="12334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02A43"/>
                </a:solidFill>
              </a:defRPr>
            </a:pPr>
            <a:r>
              <a:rPr sz="2400" b="1">
                <a:solidFill>
                  <a:srgbClr val="102A43"/>
                </a:solidFill>
              </a:rPr>
              <a:t>Key facts remain bound to the source and study design</a:t>
            </a:r>
          </a:p>
        </p:txBody>
      </p:sp>
      <p:sp>
        <p:nvSpPr>
          <p:cNvPr id="48" name="takeaway-evidence">
            <a:extLst xmlns:a="http://schemas.openxmlformats.org/drawingml/2006/main">
              <a:ext uri="{FF2B5EF4-FFF2-40B4-BE49-F238E27FC236}">
                <a16:creationId xmlns:a16="http://schemas.microsoft.com/office/drawing/2014/main" id="{A2546701-C737-44A4-A271-A2746C606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3650" y="7715250"/>
            <a:ext cx="127920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i="1">
                <a:solidFill>
                  <a:srgbClr val="2C8C99"/>
                </a:solidFill>
              </a:defRPr>
            </a:pPr>
            <a:r>
              <a:rPr sz="1875" i="1">
                <a:solidFill>
                  <a:srgbClr val="2C8C99"/>
                </a:solidFill>
              </a:rPr>
              <a:t>Evidence fixture: 10.1371/journal.pone.0140677</a:t>
            </a:r>
          </a:p>
        </p:txBody>
      </p:sp>
      <p:sp>
        <p:nvSpPr>
          <p:cNvPr id="49" name="figure-two-heading-title">
            <a:extLst xmlns:a="http://schemas.openxmlformats.org/drawingml/2006/main">
              <a:ext uri="{FF2B5EF4-FFF2-40B4-BE49-F238E27FC236}">
                <a16:creationId xmlns:a16="http://schemas.microsoft.com/office/drawing/2014/main" id="{717B6AD2-F59C-4179-AA36-015E80042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8620125"/>
            <a:ext cx="13668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F5F73"/>
                </a:solidFill>
              </a:defRPr>
            </a:pPr>
            <a:r>
              <a:rPr sz="3600" b="1">
                <a:solidFill>
                  <a:srgbClr val="0F5F73"/>
                </a:solidFill>
              </a:rPr>
              <a:t>Primary evidence</a:t>
            </a:r>
          </a:p>
        </p:txBody>
      </p:sp>
      <p:sp>
        <p:nvSpPr>
          <p:cNvPr id="50" name="figure-two-heading-rule">
            <a:extLst xmlns:a="http://schemas.openxmlformats.org/drawingml/2006/main">
              <a:ext uri="{FF2B5EF4-FFF2-40B4-BE49-F238E27FC236}">
                <a16:creationId xmlns:a16="http://schemas.microsoft.com/office/drawing/2014/main" id="{4D1F716D-0AD1-4AAC-BCB7-A56C2334D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9258300"/>
            <a:ext cx="3143250" cy="95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figure-two-frame">
            <a:extLst xmlns:a="http://schemas.openxmlformats.org/drawingml/2006/main">
              <a:ext uri="{FF2B5EF4-FFF2-40B4-BE49-F238E27FC236}">
                <a16:creationId xmlns:a16="http://schemas.microsoft.com/office/drawing/2014/main" id="{09472AB2-7F6A-44C1-97C9-4FA93938A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9477375"/>
            <a:ext cx="13668375" cy="12715875"/>
          </a:xfrm>
          <a:prstGeom xmlns:a="http://schemas.openxmlformats.org/drawingml/2006/main" prst="roundRect">
            <a:avLst>
              <a:gd name="adj" fmla="val 89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D9E2EC"/>
            </a:solidFill>
            <a:prstDash val="solid"/>
          </a:ln>
        </p:spPr>
      </p:sp>
      <p:sp>
        <p:nvSpPr>
          <p:cNvPr id="52" name="figure-two-placeholder">
            <a:extLst xmlns:a="http://schemas.openxmlformats.org/drawingml/2006/main">
              <a:ext uri="{FF2B5EF4-FFF2-40B4-BE49-F238E27FC236}">
                <a16:creationId xmlns:a16="http://schemas.microsoft.com/office/drawing/2014/main" id="{2A90CD33-BAF3-4CA7-B1D2-C6314CF7F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667875"/>
            <a:ext cx="13287375" cy="11782425"/>
          </a:xfrm>
          <a:prstGeom xmlns:a="http://schemas.openxmlformats.org/drawingml/2006/main" prst="roundRect">
            <a:avLst>
              <a:gd name="adj" fmla="val 647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19050">
            <a:solidFill>
              <a:srgbClr val="D9E2EC"/>
            </a:solidFill>
            <a:prstDash val="solid"/>
          </a:ln>
        </p:spPr>
      </p:sp>
      <p:sp>
        <p:nvSpPr>
          <p:cNvPr id="53" name="figure-two-placeholder-label">
            <a:extLst xmlns:a="http://schemas.openxmlformats.org/drawingml/2006/main">
              <a:ext uri="{FF2B5EF4-FFF2-40B4-BE49-F238E27FC236}">
                <a16:creationId xmlns:a16="http://schemas.microsoft.com/office/drawing/2014/main" id="{465BA7A3-9894-462B-9E0A-F609F141D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15263813"/>
            <a:ext cx="12525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2C8C99"/>
                </a:solidFill>
              </a:defRPr>
            </a:pPr>
            <a:r>
              <a:rPr sz="2700" b="1">
                <a:solidFill>
                  <a:srgbClr val="2C8C99"/>
                </a:solidFill>
              </a:rPr>
              <a:t>SOURCE FIGURE SLOT</a:t>
            </a:r>
          </a:p>
        </p:txBody>
      </p:sp>
      <p:sp>
        <p:nvSpPr>
          <p:cNvPr id="54" name="figure-two-caption">
            <a:extLst xmlns:a="http://schemas.openxmlformats.org/drawingml/2006/main">
              <a:ext uri="{FF2B5EF4-FFF2-40B4-BE49-F238E27FC236}">
                <a16:creationId xmlns:a16="http://schemas.microsoft.com/office/drawing/2014/main" id="{BBDAF7B7-2FDA-43EC-A490-DBCC6DE79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54100" y="21507450"/>
            <a:ext cx="132111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02A43"/>
                </a:solidFill>
              </a:defRPr>
            </a:pPr>
            <a:r>
              <a:rPr sz="2250" b="1">
                <a:solidFill>
                  <a:srgbClr val="102A43"/>
                </a:solidFill>
              </a:rPr>
              <a:t>Source figure selected during full-paper generation</a:t>
            </a:r>
          </a:p>
        </p:txBody>
      </p:sp>
      <p:sp>
        <p:nvSpPr>
          <p:cNvPr id="55" name="figure-two-source">
            <a:extLst xmlns:a="http://schemas.openxmlformats.org/drawingml/2006/main">
              <a:ext uri="{FF2B5EF4-FFF2-40B4-BE49-F238E27FC236}">
                <a16:creationId xmlns:a16="http://schemas.microsoft.com/office/drawing/2014/main" id="{56583A78-79D4-493C-8A09-CDB767029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54100" y="21821775"/>
            <a:ext cx="132111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i="1">
                <a:solidFill>
                  <a:srgbClr val="2C8C99"/>
                </a:solidFill>
              </a:defRPr>
            </a:pPr>
            <a:r>
              <a:rPr sz="1875" i="1">
                <a:solidFill>
                  <a:srgbClr val="2C8C99"/>
                </a:solidFill>
              </a:rPr>
              <a:t>Source: 10.1371/journal.pone.0140677</a:t>
            </a:r>
          </a:p>
        </p:txBody>
      </p:sp>
      <p:sp>
        <p:nvSpPr>
          <p:cNvPr id="56" name="validation-heading-title">
            <a:extLst xmlns:a="http://schemas.openxmlformats.org/drawingml/2006/main">
              <a:ext uri="{FF2B5EF4-FFF2-40B4-BE49-F238E27FC236}">
                <a16:creationId xmlns:a16="http://schemas.microsoft.com/office/drawing/2014/main" id="{AC44521B-4543-476B-A898-B9411EAFB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22669500"/>
            <a:ext cx="13668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F5F73"/>
                </a:solidFill>
              </a:defRPr>
            </a:pPr>
            <a:r>
              <a:rPr sz="3600" b="1">
                <a:solidFill>
                  <a:srgbClr val="0F5F73"/>
                </a:solidFill>
              </a:rPr>
              <a:t>Required factual anchors</a:t>
            </a:r>
          </a:p>
        </p:txBody>
      </p:sp>
      <p:sp>
        <p:nvSpPr>
          <p:cNvPr id="57" name="validation-heading-rule">
            <a:extLst xmlns:a="http://schemas.openxmlformats.org/drawingml/2006/main">
              <a:ext uri="{FF2B5EF4-FFF2-40B4-BE49-F238E27FC236}">
                <a16:creationId xmlns:a16="http://schemas.microsoft.com/office/drawing/2014/main" id="{314F9A0E-6479-484B-B3BC-6DB37A93E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23307675"/>
            <a:ext cx="3143250" cy="95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validation-panel">
            <a:extLst xmlns:a="http://schemas.openxmlformats.org/drawingml/2006/main">
              <a:ext uri="{FF2B5EF4-FFF2-40B4-BE49-F238E27FC236}">
                <a16:creationId xmlns:a16="http://schemas.microsoft.com/office/drawing/2014/main" id="{E8FD92B7-B56E-4AE7-8751-BAF56204C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23526750"/>
            <a:ext cx="13668375" cy="4048125"/>
          </a:xfrm>
          <a:prstGeom xmlns:a="http://schemas.openxmlformats.org/drawingml/2006/main" prst="roundRect">
            <a:avLst>
              <a:gd name="adj" fmla="val 28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D9E2EC"/>
            </a:solidFill>
            <a:prstDash val="solid"/>
          </a:ln>
        </p:spPr>
      </p:sp>
      <p:sp>
        <p:nvSpPr>
          <p:cNvPr id="59" name="validation">
            <a:extLst xmlns:a="http://schemas.openxmlformats.org/drawingml/2006/main">
              <a:ext uri="{FF2B5EF4-FFF2-40B4-BE49-F238E27FC236}">
                <a16:creationId xmlns:a16="http://schemas.microsoft.com/office/drawing/2014/main" id="{31B692D0-5C48-4140-A64B-272139908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400" y="23841075"/>
            <a:ext cx="12982575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102A43"/>
                </a:solidFill>
              </a:defRPr>
            </a:pPr>
            <a:r>
              <a:rPr sz="2850">
                <a:solidFill>
                  <a:srgbClr val="102A43"/>
                </a:solidFill>
              </a:rPr>
              <a:t>• sample size: 630</a:t>
            </a:r>
          </a:p>
          <a:p xmlns:a="http://schemas.openxmlformats.org/drawingml/2006/main">
            <a:pPr>
              <a:defRPr sz="2850">
                <a:solidFill>
                  <a:srgbClr val="102A43"/>
                </a:solidFill>
              </a:defRPr>
            </a:pPr>
            <a:r>
              <a:rPr sz="2850">
                <a:solidFill>
                  <a:srgbClr val="102A43"/>
                </a:solidFill>
              </a:rPr>
              <a:t>• all cause hr: 0.33</a:t>
            </a:r>
          </a:p>
          <a:p xmlns:a="http://schemas.openxmlformats.org/drawingml/2006/main">
            <a:pPr>
              <a:defRPr sz="2850">
                <a:solidFill>
                  <a:srgbClr val="102A43"/>
                </a:solidFill>
              </a:defRPr>
            </a:pPr>
            <a:r>
              <a:rPr sz="2850">
                <a:solidFill>
                  <a:srgbClr val="102A43"/>
                </a:solidFill>
              </a:rPr>
              <a:t>• all cause ci: 0.18, 0.60</a:t>
            </a:r>
          </a:p>
          <a:p xmlns:a="http://schemas.openxmlformats.org/drawingml/2006/main">
            <a:pPr>
              <a:defRPr sz="2850">
                <a:solidFill>
                  <a:srgbClr val="102A43"/>
                </a:solidFill>
              </a:defRPr>
            </a:pPr>
            <a:r>
              <a:rPr sz="2850">
                <a:solidFill>
                  <a:srgbClr val="102A43"/>
                </a:solidFill>
              </a:rPr>
              <a:t>• rcc death hr: 0.22</a:t>
            </a:r>
          </a:p>
        </p:txBody>
      </p:sp>
      <p:sp>
        <p:nvSpPr>
          <p:cNvPr id="60" name="validation-evidence">
            <a:extLst xmlns:a="http://schemas.openxmlformats.org/drawingml/2006/main">
              <a:ext uri="{FF2B5EF4-FFF2-40B4-BE49-F238E27FC236}">
                <a16:creationId xmlns:a16="http://schemas.microsoft.com/office/drawing/2014/main" id="{D243439A-5256-493C-AC8B-EDB804662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400" y="27117675"/>
            <a:ext cx="129825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i="1">
                <a:solidFill>
                  <a:srgbClr val="2C8C99"/>
                </a:solidFill>
              </a:defRPr>
            </a:pPr>
            <a:r>
              <a:rPr sz="1875" i="1">
                <a:solidFill>
                  <a:srgbClr val="2C8C99"/>
                </a:solidFill>
              </a:rPr>
              <a:t>Ground-truth case: vitamin-b6-kidney-prognosis</a:t>
            </a:r>
          </a:p>
        </p:txBody>
      </p:sp>
      <p:sp>
        <p:nvSpPr>
          <p:cNvPr id="61" name="performance-strip">
            <a:extLst xmlns:a="http://schemas.openxmlformats.org/drawingml/2006/main">
              <a:ext uri="{FF2B5EF4-FFF2-40B4-BE49-F238E27FC236}">
                <a16:creationId xmlns:a16="http://schemas.microsoft.com/office/drawing/2014/main" id="{1350A027-C5B8-4466-A981-9717FFD7E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27908250"/>
            <a:ext cx="13668375" cy="1095375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0F5F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performance-strip-text">
            <a:extLst xmlns:a="http://schemas.openxmlformats.org/drawingml/2006/main">
              <a:ext uri="{FF2B5EF4-FFF2-40B4-BE49-F238E27FC236}">
                <a16:creationId xmlns:a16="http://schemas.microsoft.com/office/drawing/2014/main" id="{825567CC-5E84-4655-A28E-9A726F2A8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49350" y="28194000"/>
            <a:ext cx="130206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No unsupported numerical or causal expansion permitted</a:t>
            </a:r>
          </a:p>
        </p:txBody>
      </p:sp>
      <p:sp>
        <p:nvSpPr>
          <p:cNvPr id="63" name="biology-heading-title">
            <a:extLst xmlns:a="http://schemas.openxmlformats.org/drawingml/2006/main">
              <a:ext uri="{FF2B5EF4-FFF2-40B4-BE49-F238E27FC236}">
                <a16:creationId xmlns:a16="http://schemas.microsoft.com/office/drawing/2014/main" id="{46B0517E-3537-4BD3-AA47-321B1477E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75" y="5619750"/>
            <a:ext cx="137064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F5F73"/>
                </a:solidFill>
              </a:defRPr>
            </a:pPr>
            <a:r>
              <a:rPr sz="3600" b="1">
                <a:solidFill>
                  <a:srgbClr val="0F5F73"/>
                </a:solidFill>
              </a:rPr>
              <a:t>Fact checks</a:t>
            </a:r>
          </a:p>
        </p:txBody>
      </p:sp>
      <p:sp>
        <p:nvSpPr>
          <p:cNvPr id="64" name="biology-heading-rule">
            <a:extLst xmlns:a="http://schemas.openxmlformats.org/drawingml/2006/main">
              <a:ext uri="{FF2B5EF4-FFF2-40B4-BE49-F238E27FC236}">
                <a16:creationId xmlns:a16="http://schemas.microsoft.com/office/drawing/2014/main" id="{271102CC-CE8F-484D-96A8-7CD848BFF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75" y="6257925"/>
            <a:ext cx="3143250" cy="95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biology-1-value">
            <a:extLst xmlns:a="http://schemas.openxmlformats.org/drawingml/2006/main">
              <a:ext uri="{FF2B5EF4-FFF2-40B4-BE49-F238E27FC236}">
                <a16:creationId xmlns:a16="http://schemas.microsoft.com/office/drawing/2014/main" id="{023C3F7B-A1A8-45B5-BBC6-0A49859D0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75" y="6572250"/>
            <a:ext cx="4000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0F5F73"/>
                </a:solidFill>
              </a:defRPr>
            </a:pPr>
            <a:r>
              <a:rPr sz="5100" b="1">
                <a:solidFill>
                  <a:srgbClr val="0F5F73"/>
                </a:solidFill>
              </a:rPr>
              <a:t>630</a:t>
            </a:r>
          </a:p>
        </p:txBody>
      </p:sp>
      <p:sp>
        <p:nvSpPr>
          <p:cNvPr id="66" name="biology-1-label">
            <a:extLst xmlns:a="http://schemas.openxmlformats.org/drawingml/2006/main">
              <a:ext uri="{FF2B5EF4-FFF2-40B4-BE49-F238E27FC236}">
                <a16:creationId xmlns:a16="http://schemas.microsoft.com/office/drawing/2014/main" id="{3B6F47E5-5CAB-4E8C-8783-886BCDEE0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75" y="7353300"/>
            <a:ext cx="4000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02A43"/>
                </a:solidFill>
              </a:defRPr>
            </a:pPr>
            <a:r>
              <a:rPr sz="2325" b="1">
                <a:solidFill>
                  <a:srgbClr val="102A43"/>
                </a:solidFill>
              </a:rPr>
              <a:t>sample size</a:t>
            </a:r>
          </a:p>
        </p:txBody>
      </p:sp>
      <p:sp>
        <p:nvSpPr>
          <p:cNvPr id="67" name="biology-2-value">
            <a:extLst xmlns:a="http://schemas.openxmlformats.org/drawingml/2006/main">
              <a:ext uri="{FF2B5EF4-FFF2-40B4-BE49-F238E27FC236}">
                <a16:creationId xmlns:a16="http://schemas.microsoft.com/office/drawing/2014/main" id="{B43EFAC4-437C-41C3-A13A-90736C158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0" y="6572250"/>
            <a:ext cx="4000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2C8C99"/>
                </a:solidFill>
              </a:defRPr>
            </a:pPr>
            <a:r>
              <a:rPr sz="5100" b="1">
                <a:solidFill>
                  <a:srgbClr val="2C8C99"/>
                </a:solidFill>
              </a:rPr>
              <a:t>0.33</a:t>
            </a:r>
          </a:p>
        </p:txBody>
      </p:sp>
      <p:sp>
        <p:nvSpPr>
          <p:cNvPr id="68" name="biology-2-label">
            <a:extLst xmlns:a="http://schemas.openxmlformats.org/drawingml/2006/main">
              <a:ext uri="{FF2B5EF4-FFF2-40B4-BE49-F238E27FC236}">
                <a16:creationId xmlns:a16="http://schemas.microsoft.com/office/drawing/2014/main" id="{E53DEEA4-28FE-4645-8F74-35352E993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0" y="7353300"/>
            <a:ext cx="4000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02A43"/>
                </a:solidFill>
              </a:defRPr>
            </a:pPr>
            <a:r>
              <a:rPr sz="2325" b="1">
                <a:solidFill>
                  <a:srgbClr val="102A43"/>
                </a:solidFill>
              </a:rPr>
              <a:t>all cause hr</a:t>
            </a:r>
          </a:p>
        </p:txBody>
      </p:sp>
      <p:sp>
        <p:nvSpPr>
          <p:cNvPr id="69" name="biology-3-value">
            <a:extLst xmlns:a="http://schemas.openxmlformats.org/drawingml/2006/main">
              <a:ext uri="{FF2B5EF4-FFF2-40B4-BE49-F238E27FC236}">
                <a16:creationId xmlns:a16="http://schemas.microsoft.com/office/drawing/2014/main" id="{D71FF842-8EC0-4FAA-8D4F-32B0DD553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14125" y="6572250"/>
            <a:ext cx="4000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E8B44C"/>
                </a:solidFill>
              </a:defRPr>
            </a:pPr>
            <a:r>
              <a:rPr sz="5100" b="1">
                <a:solidFill>
                  <a:srgbClr val="E8B44C"/>
                </a:solidFill>
              </a:rPr>
              <a:t>0.18</a:t>
            </a:r>
          </a:p>
        </p:txBody>
      </p:sp>
      <p:sp>
        <p:nvSpPr>
          <p:cNvPr id="70" name="biology-3-label">
            <a:extLst xmlns:a="http://schemas.openxmlformats.org/drawingml/2006/main">
              <a:ext uri="{FF2B5EF4-FFF2-40B4-BE49-F238E27FC236}">
                <a16:creationId xmlns:a16="http://schemas.microsoft.com/office/drawing/2014/main" id="{91D7C09C-965E-4A54-B4B6-094CFC8BC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14125" y="7353300"/>
            <a:ext cx="4000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02A43"/>
                </a:solidFill>
              </a:defRPr>
            </a:pPr>
            <a:r>
              <a:rPr sz="2325" b="1">
                <a:solidFill>
                  <a:srgbClr val="102A43"/>
                </a:solidFill>
              </a:rPr>
              <a:t>all cause ci</a:t>
            </a:r>
          </a:p>
        </p:txBody>
      </p:sp>
      <p:sp>
        <p:nvSpPr>
          <p:cNvPr id="71" name="biology-evidence">
            <a:extLst xmlns:a="http://schemas.openxmlformats.org/drawingml/2006/main">
              <a:ext uri="{FF2B5EF4-FFF2-40B4-BE49-F238E27FC236}">
                <a16:creationId xmlns:a16="http://schemas.microsoft.com/office/drawing/2014/main" id="{96966E9A-00B6-434F-A5CA-44B1D7B99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75" y="8477250"/>
            <a:ext cx="137064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i="1">
                <a:solidFill>
                  <a:srgbClr val="2C8C99"/>
                </a:solidFill>
              </a:defRPr>
            </a:pPr>
            <a:r>
              <a:rPr sz="1875" i="1">
                <a:solidFill>
                  <a:srgbClr val="2C8C99"/>
                </a:solidFill>
              </a:rPr>
              <a:t>Machine-checkable evaluation fixture</a:t>
            </a:r>
          </a:p>
        </p:txBody>
      </p:sp>
      <p:sp>
        <p:nvSpPr>
          <p:cNvPr id="72" name="figure-three-frame">
            <a:extLst xmlns:a="http://schemas.openxmlformats.org/drawingml/2006/main">
              <a:ext uri="{FF2B5EF4-FFF2-40B4-BE49-F238E27FC236}">
                <a16:creationId xmlns:a16="http://schemas.microsoft.com/office/drawing/2014/main" id="{4DB8106E-4244-405D-A7B8-F26C13D93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75" y="9191625"/>
            <a:ext cx="13706475" cy="6858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D9E2EC"/>
            </a:solidFill>
            <a:prstDash val="solid"/>
          </a:ln>
        </p:spPr>
      </p:sp>
      <p:sp>
        <p:nvSpPr>
          <p:cNvPr id="73" name="figure-three-placeholder">
            <a:extLst xmlns:a="http://schemas.openxmlformats.org/drawingml/2006/main">
              <a:ext uri="{FF2B5EF4-FFF2-40B4-BE49-F238E27FC236}">
                <a16:creationId xmlns:a16="http://schemas.microsoft.com/office/drawing/2014/main" id="{05A5DF2E-8EE0-4496-B7E5-829A067CF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55875" y="9382125"/>
            <a:ext cx="13325475" cy="5924550"/>
          </a:xfrm>
          <a:prstGeom xmlns:a="http://schemas.openxmlformats.org/drawingml/2006/main" prst="roundRect">
            <a:avLst>
              <a:gd name="adj" fmla="val 1286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19050">
            <a:solidFill>
              <a:srgbClr val="D9E2EC"/>
            </a:solidFill>
            <a:prstDash val="solid"/>
          </a:ln>
        </p:spPr>
      </p:sp>
      <p:sp>
        <p:nvSpPr>
          <p:cNvPr id="74" name="figure-three-placeholder-label">
            <a:extLst xmlns:a="http://schemas.openxmlformats.org/drawingml/2006/main">
              <a:ext uri="{FF2B5EF4-FFF2-40B4-BE49-F238E27FC236}">
                <a16:creationId xmlns:a16="http://schemas.microsoft.com/office/drawing/2014/main" id="{CDE39118-86A1-40FB-A05A-C64B2332E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36875" y="12049125"/>
            <a:ext cx="125634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2C8C99"/>
                </a:solidFill>
              </a:defRPr>
            </a:pPr>
            <a:r>
              <a:rPr sz="2700" b="1">
                <a:solidFill>
                  <a:srgbClr val="2C8C99"/>
                </a:solidFill>
              </a:rPr>
              <a:t>SOURCE FIGURE SLOT</a:t>
            </a:r>
          </a:p>
        </p:txBody>
      </p:sp>
      <p:sp>
        <p:nvSpPr>
          <p:cNvPr id="75" name="figure-three-caption">
            <a:extLst xmlns:a="http://schemas.openxmlformats.org/drawingml/2006/main">
              <a:ext uri="{FF2B5EF4-FFF2-40B4-BE49-F238E27FC236}">
                <a16:creationId xmlns:a16="http://schemas.microsoft.com/office/drawing/2014/main" id="{E3165AD2-5B91-4E72-9F91-4068299B1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3975" y="15363825"/>
            <a:ext cx="132492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02A43"/>
                </a:solidFill>
              </a:defRPr>
            </a:pPr>
            <a:r>
              <a:rPr sz="2250" b="1">
                <a:solidFill>
                  <a:srgbClr val="102A43"/>
                </a:solidFill>
              </a:rPr>
              <a:t>Source figure selected during full-paper generation</a:t>
            </a:r>
          </a:p>
        </p:txBody>
      </p:sp>
      <p:sp>
        <p:nvSpPr>
          <p:cNvPr id="76" name="figure-three-source">
            <a:extLst xmlns:a="http://schemas.openxmlformats.org/drawingml/2006/main">
              <a:ext uri="{FF2B5EF4-FFF2-40B4-BE49-F238E27FC236}">
                <a16:creationId xmlns:a16="http://schemas.microsoft.com/office/drawing/2014/main" id="{0B5DFCB7-7A06-4A10-BA2A-37BE2ACB9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3975" y="15678150"/>
            <a:ext cx="132492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i="1">
                <a:solidFill>
                  <a:srgbClr val="2C8C99"/>
                </a:solidFill>
              </a:defRPr>
            </a:pPr>
            <a:r>
              <a:rPr sz="1875" i="1">
                <a:solidFill>
                  <a:srgbClr val="2C8C99"/>
                </a:solidFill>
              </a:rPr>
              <a:t>Source: 10.1371/journal.pone.0140677</a:t>
            </a:r>
          </a:p>
        </p:txBody>
      </p:sp>
      <p:sp>
        <p:nvSpPr>
          <p:cNvPr id="77" name="validation-visual-heading-title">
            <a:extLst xmlns:a="http://schemas.openxmlformats.org/drawingml/2006/main">
              <a:ext uri="{FF2B5EF4-FFF2-40B4-BE49-F238E27FC236}">
                <a16:creationId xmlns:a16="http://schemas.microsoft.com/office/drawing/2014/main" id="{54C293A7-3E9E-4070-98D1-39F015B79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75" y="16525875"/>
            <a:ext cx="137064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F5F73"/>
                </a:solidFill>
              </a:defRPr>
            </a:pPr>
            <a:r>
              <a:rPr sz="3600" b="1">
                <a:solidFill>
                  <a:srgbClr val="0F5F73"/>
                </a:solidFill>
              </a:rPr>
              <a:t>Independent evidence slot</a:t>
            </a:r>
          </a:p>
        </p:txBody>
      </p:sp>
      <p:sp>
        <p:nvSpPr>
          <p:cNvPr id="78" name="validation-visual-heading-rule">
            <a:extLst xmlns:a="http://schemas.openxmlformats.org/drawingml/2006/main">
              <a:ext uri="{FF2B5EF4-FFF2-40B4-BE49-F238E27FC236}">
                <a16:creationId xmlns:a16="http://schemas.microsoft.com/office/drawing/2014/main" id="{3932B15B-63FA-469B-AC7D-112104732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75" y="17164050"/>
            <a:ext cx="3143250" cy="95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figure-four-frame">
            <a:extLst xmlns:a="http://schemas.openxmlformats.org/drawingml/2006/main">
              <a:ext uri="{FF2B5EF4-FFF2-40B4-BE49-F238E27FC236}">
                <a16:creationId xmlns:a16="http://schemas.microsoft.com/office/drawing/2014/main" id="{5B10B87E-AFFF-443C-8B15-90CCB3134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75" y="17383125"/>
            <a:ext cx="13706475" cy="7143750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D9E2EC"/>
            </a:solidFill>
            <a:prstDash val="solid"/>
          </a:ln>
        </p:spPr>
      </p:sp>
      <p:sp>
        <p:nvSpPr>
          <p:cNvPr id="80" name="figure-four-placeholder">
            <a:extLst xmlns:a="http://schemas.openxmlformats.org/drawingml/2006/main">
              <a:ext uri="{FF2B5EF4-FFF2-40B4-BE49-F238E27FC236}">
                <a16:creationId xmlns:a16="http://schemas.microsoft.com/office/drawing/2014/main" id="{5582A00B-0B84-4849-A6B7-09DCAD2A1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55875" y="17573625"/>
            <a:ext cx="13325475" cy="6210300"/>
          </a:xfrm>
          <a:prstGeom xmlns:a="http://schemas.openxmlformats.org/drawingml/2006/main" prst="roundRect">
            <a:avLst>
              <a:gd name="adj" fmla="val 1227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19050">
            <a:solidFill>
              <a:srgbClr val="D9E2EC"/>
            </a:solidFill>
            <a:prstDash val="solid"/>
          </a:ln>
        </p:spPr>
      </p:sp>
      <p:sp>
        <p:nvSpPr>
          <p:cNvPr id="81" name="figure-four-placeholder-label">
            <a:extLst xmlns:a="http://schemas.openxmlformats.org/drawingml/2006/main">
              <a:ext uri="{FF2B5EF4-FFF2-40B4-BE49-F238E27FC236}">
                <a16:creationId xmlns:a16="http://schemas.microsoft.com/office/drawing/2014/main" id="{31D35071-AD3D-406B-B361-AAED3AE88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36875" y="20383500"/>
            <a:ext cx="125634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2C8C99"/>
                </a:solidFill>
              </a:defRPr>
            </a:pPr>
            <a:r>
              <a:rPr sz="2700" b="1">
                <a:solidFill>
                  <a:srgbClr val="2C8C99"/>
                </a:solidFill>
              </a:rPr>
              <a:t>SOURCE FIGURE SLOT</a:t>
            </a:r>
          </a:p>
        </p:txBody>
      </p:sp>
      <p:sp>
        <p:nvSpPr>
          <p:cNvPr id="82" name="figure-four-caption">
            <a:extLst xmlns:a="http://schemas.openxmlformats.org/drawingml/2006/main">
              <a:ext uri="{FF2B5EF4-FFF2-40B4-BE49-F238E27FC236}">
                <a16:creationId xmlns:a16="http://schemas.microsoft.com/office/drawing/2014/main" id="{0EC04942-3336-4BBF-A2DA-484772E3C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3975" y="23841075"/>
            <a:ext cx="132492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02A43"/>
                </a:solidFill>
              </a:defRPr>
            </a:pPr>
            <a:r>
              <a:rPr sz="2250" b="1">
                <a:solidFill>
                  <a:srgbClr val="102A43"/>
                </a:solidFill>
              </a:rPr>
              <a:t>Source figure selected during full-paper generation</a:t>
            </a:r>
          </a:p>
        </p:txBody>
      </p:sp>
      <p:sp>
        <p:nvSpPr>
          <p:cNvPr id="83" name="figure-four-source">
            <a:extLst xmlns:a="http://schemas.openxmlformats.org/drawingml/2006/main">
              <a:ext uri="{FF2B5EF4-FFF2-40B4-BE49-F238E27FC236}">
                <a16:creationId xmlns:a16="http://schemas.microsoft.com/office/drawing/2014/main" id="{CF34B9B8-04B2-47D3-8018-07FBB59B9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3975" y="24155400"/>
            <a:ext cx="132492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i="1">
                <a:solidFill>
                  <a:srgbClr val="2C8C99"/>
                </a:solidFill>
              </a:defRPr>
            </a:pPr>
            <a:r>
              <a:rPr sz="1875" i="1">
                <a:solidFill>
                  <a:srgbClr val="2C8C99"/>
                </a:solidFill>
              </a:rPr>
              <a:t>Source: 10.1371/journal.pone.0140677</a:t>
            </a:r>
          </a:p>
        </p:txBody>
      </p:sp>
      <p:sp>
        <p:nvSpPr>
          <p:cNvPr id="84" name="conclusion-heading-title">
            <a:extLst xmlns:a="http://schemas.openxmlformats.org/drawingml/2006/main">
              <a:ext uri="{FF2B5EF4-FFF2-40B4-BE49-F238E27FC236}">
                <a16:creationId xmlns:a16="http://schemas.microsoft.com/office/drawing/2014/main" id="{66C2540D-7AAC-4944-94B1-E20ED0673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75" y="25003125"/>
            <a:ext cx="137064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F5F73"/>
                </a:solidFill>
              </a:defRPr>
            </a:pPr>
            <a:r>
              <a:rPr sz="3600" b="1">
                <a:solidFill>
                  <a:srgbClr val="0F5F73"/>
                </a:solidFill>
              </a:rPr>
              <a:t>Interpretation boundary</a:t>
            </a:r>
          </a:p>
        </p:txBody>
      </p:sp>
      <p:sp>
        <p:nvSpPr>
          <p:cNvPr id="85" name="conclusion-heading-rule">
            <a:extLst xmlns:a="http://schemas.openxmlformats.org/drawingml/2006/main">
              <a:ext uri="{FF2B5EF4-FFF2-40B4-BE49-F238E27FC236}">
                <a16:creationId xmlns:a16="http://schemas.microsoft.com/office/drawing/2014/main" id="{D6DE98E8-1F7B-468C-976B-124187AFD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75" y="25641300"/>
            <a:ext cx="3143250" cy="95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conclusion-panel">
            <a:extLst xmlns:a="http://schemas.openxmlformats.org/drawingml/2006/main">
              <a:ext uri="{FF2B5EF4-FFF2-40B4-BE49-F238E27FC236}">
                <a16:creationId xmlns:a16="http://schemas.microsoft.com/office/drawing/2014/main" id="{B608A95A-0451-4E5C-A58B-6A0BCA68F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75" y="25860375"/>
            <a:ext cx="13706475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D9E2EC"/>
            </a:solidFill>
            <a:prstDash val="solid"/>
          </a:ln>
        </p:spPr>
      </p:sp>
      <p:sp>
        <p:nvSpPr>
          <p:cNvPr id="87" name="conclusion">
            <a:extLst xmlns:a="http://schemas.openxmlformats.org/drawingml/2006/main">
              <a:ext uri="{FF2B5EF4-FFF2-40B4-BE49-F238E27FC236}">
                <a16:creationId xmlns:a16="http://schemas.microsoft.com/office/drawing/2014/main" id="{6E0D664C-B539-473B-A6D7-12800E2C8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89225" y="26174700"/>
            <a:ext cx="13058775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102A43"/>
                </a:solidFill>
              </a:defRPr>
            </a:pPr>
            <a:r>
              <a:rPr sz="2850">
                <a:solidFill>
                  <a:srgbClr val="102A43"/>
                </a:solidFill>
              </a:rPr>
              <a:t>Interpret findings only within the source study design, population, methods and reported uncertainty.</a:t>
            </a:r>
          </a:p>
        </p:txBody>
      </p:sp>
      <p:sp>
        <p:nvSpPr>
          <p:cNvPr id="88" name="conclusion-evidence">
            <a:extLst xmlns:a="http://schemas.openxmlformats.org/drawingml/2006/main">
              <a:ext uri="{FF2B5EF4-FFF2-40B4-BE49-F238E27FC236}">
                <a16:creationId xmlns:a16="http://schemas.microsoft.com/office/drawing/2014/main" id="{FBE5C254-F0DB-471E-91FF-4161EA6C2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89225" y="28498800"/>
            <a:ext cx="130587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i="1">
                <a:solidFill>
                  <a:srgbClr val="2C8C99"/>
                </a:solidFill>
              </a:defRPr>
            </a:pPr>
            <a:r>
              <a:rPr sz="1875" i="1">
                <a:solidFill>
                  <a:srgbClr val="2C8C99"/>
                </a:solidFill>
              </a:rPr>
              <a:t>Source and license: 10.1371/journal.pone.0140677 · CC BY 4.0</a:t>
            </a:r>
          </a:p>
        </p:txBody>
      </p:sp>
      <p:sp>
        <p:nvSpPr>
          <p:cNvPr id="89" name="footer-band">
            <a:extLst xmlns:a="http://schemas.openxmlformats.org/drawingml/2006/main">
              <a:ext uri="{FF2B5EF4-FFF2-40B4-BE49-F238E27FC236}">
                <a16:creationId xmlns:a16="http://schemas.microsoft.com/office/drawing/2014/main" id="{7813C82A-0A74-451D-90F9-04C38B60A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9337000"/>
            <a:ext cx="42805350" cy="94297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772AF40B-EF65-45BC-83DA-FB397B77C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9594175"/>
            <a:ext cx="2857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FFFFFF"/>
                </a:solidFill>
              </a:defRPr>
            </a:pPr>
            <a:r>
              <a:rPr sz="1950">
                <a:solidFill>
                  <a:srgbClr val="FFFFFF"/>
                </a:solidFill>
              </a:rPr>
              <a:t>Circulating Concentrations of Vitamin B6 and Kidney Cancer Prognosis: A Prospective Case-Cohort Study · CC BY 4.0</a:t>
            </a:r>
          </a:p>
        </p:txBody>
      </p:sp>
      <p:sp>
        <p:nvSpPr>
          <p:cNvPr id="91" name="footer-status">
            <a:extLst xmlns:a="http://schemas.openxmlformats.org/drawingml/2006/main">
              <a:ext uri="{FF2B5EF4-FFF2-40B4-BE49-F238E27FC236}">
                <a16:creationId xmlns:a16="http://schemas.microsoft.com/office/drawing/2014/main" id="{D7A27266-2FA1-4855-8C3C-E5196F005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0" y="29594175"/>
            <a:ext cx="1171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E8B44C"/>
                </a:solidFill>
              </a:defRPr>
            </a:pPr>
            <a:r>
              <a:rPr sz="1875" b="1">
                <a:solidFill>
                  <a:srgbClr val="E8B44C"/>
                </a:solidFill>
              </a:rPr>
              <a:t>Evaluation preview · not a release poster</a:t>
            </a:r>
          </a:p>
        </p:txBody>
      </p:sp>
    </p:spTree>
    <p:extLst>
      <p:ext uri="{BB962C8B-B14F-4D97-AF65-F5344CB8AC3E}">
        <p14:creationId xmlns:p14="http://schemas.microsoft.com/office/powerpoint/2010/main" val="61199666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2026-08-08T08:05:10.9490000Z</dcterms:created>
  <dcterms:modified xsi:type="dcterms:W3CDTF">2026-08-08T08:05:10.9490000Z</dcterms:modified>
</coreProperties>
</file>