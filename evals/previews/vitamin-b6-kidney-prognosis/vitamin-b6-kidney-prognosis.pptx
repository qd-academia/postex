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99f030bd64d49b9" /><Relationship Type="http://schemas.openxmlformats.org/officeDocument/2006/relationships/extended-properties" Target="/docProps/app.xml" Id="Rb28a2ae9cc5e4d54" /><Relationship Type="http://schemas.openxmlformats.org/officeDocument/2006/relationships/officeDocument" Target="/ppt/presentation.xml" Id="R99215aaa4ccb488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85a85aa88d0433f"/>
  </p:sldMasterIdLst>
  <p:notesMasterIdLst>
    <p:notesMasterId xmlns:r="http://schemas.openxmlformats.org/officeDocument/2006/relationships" r:id="R6cf1874262a04c74"/>
  </p:notesMasterIdLst>
  <p:sldIdLst>
    <p:sldId xmlns:r="http://schemas.openxmlformats.org/officeDocument/2006/relationships" id="256" r:id="R5dba95d234c34496"/>
  </p:sldIdLst>
  <p:sldSz cx="42805350" cy="3027997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3ebaff838e94fa1" /><Relationship Type="http://schemas.openxmlformats.org/officeDocument/2006/relationships/slideMaster" Target="/ppt/slideMasters/slideMaster1.xml" Id="Ra85a85aa88d0433f" /><Relationship Type="http://schemas.openxmlformats.org/officeDocument/2006/relationships/notesMaster" Target="/ppt/notesMasters/notesMaster1.xml" Id="R6cf1874262a04c74" /><Relationship Type="http://schemas.openxmlformats.org/officeDocument/2006/relationships/presProps" Target="/ppt/presProps.xml" Id="Rb74fb9fd5e2a4b90" /><Relationship Type="http://schemas.openxmlformats.org/officeDocument/2006/relationships/tableStyles" Target="/ppt/tableStyles.xml" Id="Ra71537c1ceff4989" /><Relationship Type="http://schemas.openxmlformats.org/officeDocument/2006/relationships/slide" Target="/ppt/slides/slide1.xml" Id="R5dba95d234c344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03bc5ba863c4c8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6571665c78d406d" /><Relationship Type="http://schemas.openxmlformats.org/officeDocument/2006/relationships/notesMaster" Target="/ppt/notesMasters/notesMaster1.xml" Id="R47fe6714a4254dc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https://pmc.ncbi.nlm.nih.gov/articles/PMC4623509/</a:t>
            </a:r>
          </a:p>
          <a:p xmlns:a="http://schemas.openxmlformats.org/drawingml/2006/main">
            <a:r>
              <a:t>- License: CC BY 4.0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a79540b2944fa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8f235fd61394ca1" /><Relationship Type="http://schemas.openxmlformats.org/officeDocument/2006/relationships/slideLayout" Target="/ppt/slideLayouts/slideLayout1.xml" Id="R43638baff169454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638baff169454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d5084c54514963" /><Relationship Type="http://schemas.openxmlformats.org/officeDocument/2006/relationships/notesSlide" Target="/ppt/notesSlides/notesSlide1.xml" Id="Rd993aea7d35446b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2" name="header-band">
            <a:extLst xmlns:a="http://schemas.openxmlformats.org/drawingml/2006/main">
              <a:ext uri="{FF2B5EF4-FFF2-40B4-BE49-F238E27FC236}">
                <a16:creationId xmlns:a16="http://schemas.microsoft.com/office/drawing/2014/main" id="{95CD55AD-134C-4AC0-BC61-A2403242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5350" cy="4953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F5F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A6215A6C-AEF2-49E0-BB4C-92E8D1F6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5350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oster-title">
            <a:extLst xmlns:a="http://schemas.openxmlformats.org/drawingml/2006/main">
              <a:ext uri="{FF2B5EF4-FFF2-40B4-BE49-F238E27FC236}">
                <a16:creationId xmlns:a16="http://schemas.microsoft.com/office/drawing/2014/main" id="{12EF15FD-B766-42AD-ACAD-8219D7A04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90550"/>
            <a:ext cx="29718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350" b="1">
                <a:solidFill>
                  <a:srgbClr val="FFFFFF"/>
                </a:solidFill>
              </a:defRPr>
            </a:pPr>
            <a:r>
              <a:rPr sz="7350" b="1">
                <a:solidFill>
                  <a:srgbClr val="FFFFFF"/>
                </a:solidFill>
              </a:rPr>
              <a:t>Circulating Concentrations of Vitamin B6 and Kidney Cancer Prognosis: A Prospective Case-Cohort Study</a:t>
            </a:r>
          </a:p>
        </p:txBody>
      </p:sp>
      <p:sp>
        <p:nvSpPr>
          <p:cNvPr id="4" name="authors">
            <a:extLst xmlns:a="http://schemas.openxmlformats.org/drawingml/2006/main">
              <a:ext uri="{FF2B5EF4-FFF2-40B4-BE49-F238E27FC236}">
                <a16:creationId xmlns:a16="http://schemas.microsoft.com/office/drawing/2014/main" id="{A6CC6D5B-FC44-4926-9918-5BF06CB63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914650"/>
            <a:ext cx="2943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FFFFFF"/>
                </a:solidFill>
              </a:defRPr>
            </a:pPr>
            <a:r>
              <a:rPr sz="2775" b="1">
                <a:solidFill>
                  <a:srgbClr val="FFFFFF"/>
                </a:solidFill>
              </a:rPr>
              <a:t>Source-grounded PostEx evaluation fixture</a:t>
            </a:r>
          </a:p>
        </p:txBody>
      </p:sp>
      <p:sp>
        <p:nvSpPr>
          <p:cNvPr id="5" name="affiliations">
            <a:extLst xmlns:a="http://schemas.openxmlformats.org/drawingml/2006/main">
              <a:ext uri="{FF2B5EF4-FFF2-40B4-BE49-F238E27FC236}">
                <a16:creationId xmlns:a16="http://schemas.microsoft.com/office/drawing/2014/main" id="{78EBBB42-F34C-4996-83B3-2A946F32C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38550"/>
            <a:ext cx="2943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F6F8FA"/>
                </a:solidFill>
              </a:defRPr>
            </a:pPr>
            <a:r>
              <a:rPr sz="2175">
                <a:solidFill>
                  <a:srgbClr val="F6F8FA"/>
                </a:solidFill>
              </a:rPr>
              <a:t>Observational profile · CC BY 4.0</a:t>
            </a:r>
          </a:p>
        </p:txBody>
      </p:sp>
      <p:sp>
        <p:nvSpPr>
          <p:cNvPr id="6" name="citation">
            <a:extLst xmlns:a="http://schemas.openxmlformats.org/drawingml/2006/main">
              <a:ext uri="{FF2B5EF4-FFF2-40B4-BE49-F238E27FC236}">
                <a16:creationId xmlns:a16="http://schemas.microsoft.com/office/drawing/2014/main" id="{50B8C388-6468-45A2-A504-F46CFCF9E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238625"/>
            <a:ext cx="2428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E8B44C"/>
                </a:solidFill>
              </a:defRPr>
            </a:pPr>
            <a:r>
              <a:rPr sz="1950" b="1">
                <a:solidFill>
                  <a:srgbClr val="E8B44C"/>
                </a:solidFill>
              </a:rPr>
              <a:t>DOI 10.1371/journal.pone.0140677</a:t>
            </a:r>
          </a:p>
        </p:txBody>
      </p:sp>
      <p:sp>
        <p:nvSpPr>
          <p:cNvPr id="7" name="logo-slot-institution-logo">
            <a:extLst xmlns:a="http://schemas.openxmlformats.org/drawingml/2006/main">
              <a:ext uri="{FF2B5EF4-FFF2-40B4-BE49-F238E27FC236}">
                <a16:creationId xmlns:a16="http://schemas.microsoft.com/office/drawing/2014/main" id="{E58B11BD-2C7B-4CF2-8835-B9CEF5AC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0" y="552450"/>
            <a:ext cx="9334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8" name="logo-placeholder-institution-logo">
            <a:extLst xmlns:a="http://schemas.openxmlformats.org/drawingml/2006/main">
              <a:ext uri="{FF2B5EF4-FFF2-40B4-BE49-F238E27FC236}">
                <a16:creationId xmlns:a16="http://schemas.microsoft.com/office/drawing/2014/main" id="{65239BD0-64E7-410B-865D-7265704F0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13550" y="914400"/>
            <a:ext cx="910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F5F73"/>
                </a:solidFill>
              </a:defRPr>
            </a:pPr>
            <a:r>
              <a:rPr sz="2025" b="1">
                <a:solidFill>
                  <a:srgbClr val="0F5F73"/>
                </a:solidFill>
              </a:rPr>
              <a:t>Institution logo</a:t>
            </a:r>
          </a:p>
        </p:txBody>
      </p:sp>
      <p:sp>
        <p:nvSpPr>
          <p:cNvPr id="9" name="header-summary">
            <a:extLst xmlns:a="http://schemas.openxmlformats.org/drawingml/2006/main">
              <a:ext uri="{FF2B5EF4-FFF2-40B4-BE49-F238E27FC236}">
                <a16:creationId xmlns:a16="http://schemas.microsoft.com/office/drawing/2014/main" id="{695D43E2-A261-4070-A009-2804BBDF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0" y="2000250"/>
            <a:ext cx="9334500" cy="2286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eader-metric-1-value">
            <a:extLst xmlns:a="http://schemas.openxmlformats.org/drawingml/2006/main">
              <a:ext uri="{FF2B5EF4-FFF2-40B4-BE49-F238E27FC236}">
                <a16:creationId xmlns:a16="http://schemas.microsoft.com/office/drawing/2014/main" id="{3E87073E-E4FC-436A-B431-22F43180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0F5F73"/>
                </a:solidFill>
              </a:defRPr>
            </a:pPr>
            <a:r>
              <a:rPr sz="5100" b="1">
                <a:solidFill>
                  <a:srgbClr val="0F5F73"/>
                </a:solidFill>
              </a:rPr>
              <a:t>630</a:t>
            </a:r>
          </a:p>
        </p:txBody>
      </p:sp>
      <p:sp>
        <p:nvSpPr>
          <p:cNvPr id="11" name="header-metric-1-label">
            <a:extLst xmlns:a="http://schemas.openxmlformats.org/drawingml/2006/main">
              <a:ext uri="{FF2B5EF4-FFF2-40B4-BE49-F238E27FC236}">
                <a16:creationId xmlns:a16="http://schemas.microsoft.com/office/drawing/2014/main" id="{D836AB94-971C-4EE4-A33B-C4733F43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0" y="30670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sample size</a:t>
            </a:r>
          </a:p>
        </p:txBody>
      </p:sp>
      <p:sp>
        <p:nvSpPr>
          <p:cNvPr id="12" name="header-metric-2-value">
            <a:extLst xmlns:a="http://schemas.openxmlformats.org/drawingml/2006/main">
              <a:ext uri="{FF2B5EF4-FFF2-40B4-BE49-F238E27FC236}">
                <a16:creationId xmlns:a16="http://schemas.microsoft.com/office/drawing/2014/main" id="{9AFE5372-D871-4BFC-B0CF-B95BCA79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C8C99"/>
                </a:solidFill>
              </a:defRPr>
            </a:pPr>
            <a:r>
              <a:rPr sz="5100" b="1">
                <a:solidFill>
                  <a:srgbClr val="2C8C99"/>
                </a:solidFill>
              </a:rPr>
              <a:t>0.33</a:t>
            </a:r>
          </a:p>
        </p:txBody>
      </p:sp>
      <p:sp>
        <p:nvSpPr>
          <p:cNvPr id="13" name="header-metric-2-label">
            <a:extLst xmlns:a="http://schemas.openxmlformats.org/drawingml/2006/main">
              <a:ext uri="{FF2B5EF4-FFF2-40B4-BE49-F238E27FC236}">
                <a16:creationId xmlns:a16="http://schemas.microsoft.com/office/drawing/2014/main" id="{5F9FF2CE-A433-4F12-963C-CF7A21981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0" y="30670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all cause hr</a:t>
            </a:r>
          </a:p>
        </p:txBody>
      </p:sp>
      <p:sp>
        <p:nvSpPr>
          <p:cNvPr id="14" name="header-metric-3-value">
            <a:extLst xmlns:a="http://schemas.openxmlformats.org/drawingml/2006/main">
              <a:ext uri="{FF2B5EF4-FFF2-40B4-BE49-F238E27FC236}">
                <a16:creationId xmlns:a16="http://schemas.microsoft.com/office/drawing/2014/main" id="{FB18B0EC-7C09-4531-8663-DB8E51BD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E8B44C"/>
                </a:solidFill>
              </a:defRPr>
            </a:pPr>
            <a:r>
              <a:rPr sz="5100" b="1">
                <a:solidFill>
                  <a:srgbClr val="E8B44C"/>
                </a:solidFill>
              </a:rPr>
              <a:t>0.18</a:t>
            </a:r>
          </a:p>
        </p:txBody>
      </p:sp>
      <p:sp>
        <p:nvSpPr>
          <p:cNvPr id="15" name="header-metric-3-label">
            <a:extLst xmlns:a="http://schemas.openxmlformats.org/drawingml/2006/main">
              <a:ext uri="{FF2B5EF4-FFF2-40B4-BE49-F238E27FC236}">
                <a16:creationId xmlns:a16="http://schemas.microsoft.com/office/drawing/2014/main" id="{B04CEDA8-6F1D-462E-BF84-99111F9C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0" y="30670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all cause ci</a:t>
            </a:r>
          </a:p>
        </p:txBody>
      </p:sp>
      <p:sp>
        <p:nvSpPr>
          <p:cNvPr id="16" name="question-title">
            <a:extLst xmlns:a="http://schemas.openxmlformats.org/drawingml/2006/main">
              <a:ext uri="{FF2B5EF4-FFF2-40B4-BE49-F238E27FC236}">
                <a16:creationId xmlns:a16="http://schemas.microsoft.com/office/drawing/2014/main" id="{135B3D7F-57DC-4AC3-8911-AB3E49BA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19750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Communication objective</a:t>
            </a:r>
          </a:p>
        </p:txBody>
      </p:sp>
      <p:sp>
        <p:nvSpPr>
          <p:cNvPr id="17" name="question-rule">
            <a:extLst xmlns:a="http://schemas.openxmlformats.org/drawingml/2006/main">
              <a:ext uri="{FF2B5EF4-FFF2-40B4-BE49-F238E27FC236}">
                <a16:creationId xmlns:a16="http://schemas.microsoft.com/office/drawing/2014/main" id="{B090AB90-0B4C-4FEF-87FD-9D4A5131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2579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esearch-question">
            <a:extLst xmlns:a="http://schemas.openxmlformats.org/drawingml/2006/main">
              <a:ext uri="{FF2B5EF4-FFF2-40B4-BE49-F238E27FC236}">
                <a16:creationId xmlns:a16="http://schemas.microsoft.com/office/drawing/2014/main" id="{0D812259-8C10-4541-BAE7-6A565F5DA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496050"/>
            <a:ext cx="11620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Present the paper's design, central evidence and interpretation boundary in a traceable conference-poster format.</a:t>
            </a:r>
          </a:p>
        </p:txBody>
      </p:sp>
      <p:sp>
        <p:nvSpPr>
          <p:cNvPr id="19" name="question-evidence">
            <a:extLst xmlns:a="http://schemas.openxmlformats.org/drawingml/2006/main">
              <a:ext uri="{FF2B5EF4-FFF2-40B4-BE49-F238E27FC236}">
                <a16:creationId xmlns:a16="http://schemas.microsoft.com/office/drawing/2014/main" id="{3B231DEC-DACA-44DB-A328-51409650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8686800"/>
            <a:ext cx="1162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Evidence fixture: 10.1371/journal.pone.0140677</a:t>
            </a:r>
          </a:p>
        </p:txBody>
      </p:sp>
      <p:sp>
        <p:nvSpPr>
          <p:cNvPr id="20" name="pipeline-title">
            <a:extLst xmlns:a="http://schemas.openxmlformats.org/drawingml/2006/main">
              <a:ext uri="{FF2B5EF4-FFF2-40B4-BE49-F238E27FC236}">
                <a16:creationId xmlns:a16="http://schemas.microsoft.com/office/drawing/2014/main" id="{EC5550B6-1414-47CC-9223-DC50061EA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239250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Required evidence structure</a:t>
            </a:r>
          </a:p>
        </p:txBody>
      </p:sp>
      <p:sp>
        <p:nvSpPr>
          <p:cNvPr id="21" name="pipeline-rule">
            <a:extLst xmlns:a="http://schemas.openxmlformats.org/drawingml/2006/main">
              <a:ext uri="{FF2B5EF4-FFF2-40B4-BE49-F238E27FC236}">
                <a16:creationId xmlns:a16="http://schemas.microsoft.com/office/drawing/2014/main" id="{908E2B8A-6FDD-4F94-AA7A-D46DA8947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8774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ipeline-1-number-bg">
            <a:extLst xmlns:a="http://schemas.openxmlformats.org/drawingml/2006/main">
              <a:ext uri="{FF2B5EF4-FFF2-40B4-BE49-F238E27FC236}">
                <a16:creationId xmlns:a16="http://schemas.microsoft.com/office/drawing/2014/main" id="{A7CB36C1-7E03-4207-92BA-922477444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134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ipeline-1-number">
            <a:extLst xmlns:a="http://schemas.openxmlformats.org/drawingml/2006/main">
              <a:ext uri="{FF2B5EF4-FFF2-40B4-BE49-F238E27FC236}">
                <a16:creationId xmlns:a16="http://schemas.microsoft.com/office/drawing/2014/main" id="{D324A6F2-660A-4764-84E9-9DD38D5A7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201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1</a:t>
            </a:r>
          </a:p>
        </p:txBody>
      </p:sp>
      <p:sp>
        <p:nvSpPr>
          <p:cNvPr id="24" name="pipeline-1-text">
            <a:extLst xmlns:a="http://schemas.openxmlformats.org/drawingml/2006/main">
              <a:ext uri="{FF2B5EF4-FFF2-40B4-BE49-F238E27FC236}">
                <a16:creationId xmlns:a16="http://schemas.microsoft.com/office/drawing/2014/main" id="{96B65DB7-2235-4A43-8526-332C7C36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0172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Background</a:t>
            </a:r>
          </a:p>
        </p:txBody>
      </p:sp>
      <p:sp>
        <p:nvSpPr>
          <p:cNvPr id="25" name="pipeline-2-number-bg">
            <a:extLst xmlns:a="http://schemas.openxmlformats.org/drawingml/2006/main">
              <a:ext uri="{FF2B5EF4-FFF2-40B4-BE49-F238E27FC236}">
                <a16:creationId xmlns:a16="http://schemas.microsoft.com/office/drawing/2014/main" id="{41BC2DA4-70FF-4CB6-A87A-786DB920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896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pipeline-2-number">
            <a:extLst xmlns:a="http://schemas.openxmlformats.org/drawingml/2006/main">
              <a:ext uri="{FF2B5EF4-FFF2-40B4-BE49-F238E27FC236}">
                <a16:creationId xmlns:a16="http://schemas.microsoft.com/office/drawing/2014/main" id="{4D263EBD-B55F-4487-9385-791343CD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963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2</a:t>
            </a:r>
          </a:p>
        </p:txBody>
      </p:sp>
      <p:sp>
        <p:nvSpPr>
          <p:cNvPr id="27" name="pipeline-2-text">
            <a:extLst xmlns:a="http://schemas.openxmlformats.org/drawingml/2006/main">
              <a:ext uri="{FF2B5EF4-FFF2-40B4-BE49-F238E27FC236}">
                <a16:creationId xmlns:a16="http://schemas.microsoft.com/office/drawing/2014/main" id="{19B6EFE1-0B33-4966-9CE0-5AA17B7F9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0934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Cohort Construction</a:t>
            </a:r>
          </a:p>
        </p:txBody>
      </p:sp>
      <p:sp>
        <p:nvSpPr>
          <p:cNvPr id="28" name="pipeline-3-number-bg">
            <a:extLst xmlns:a="http://schemas.openxmlformats.org/drawingml/2006/main">
              <a:ext uri="{FF2B5EF4-FFF2-40B4-BE49-F238E27FC236}">
                <a16:creationId xmlns:a16="http://schemas.microsoft.com/office/drawing/2014/main" id="{637E5C4A-AB75-4CE6-9FDD-6B82D1AF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658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ipeline-3-number">
            <a:extLst xmlns:a="http://schemas.openxmlformats.org/drawingml/2006/main">
              <a:ext uri="{FF2B5EF4-FFF2-40B4-BE49-F238E27FC236}">
                <a16:creationId xmlns:a16="http://schemas.microsoft.com/office/drawing/2014/main" id="{5A7D27AC-854C-4882-B063-8FBDE2F0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725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3</a:t>
            </a:r>
          </a:p>
        </p:txBody>
      </p:sp>
      <p:sp>
        <p:nvSpPr>
          <p:cNvPr id="30" name="pipeline-3-text">
            <a:extLst xmlns:a="http://schemas.openxmlformats.org/drawingml/2006/main">
              <a:ext uri="{FF2B5EF4-FFF2-40B4-BE49-F238E27FC236}">
                <a16:creationId xmlns:a16="http://schemas.microsoft.com/office/drawing/2014/main" id="{4EBAF7BC-C837-401F-B691-9CF7E0B0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1696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Baseline Characteristics</a:t>
            </a:r>
          </a:p>
        </p:txBody>
      </p:sp>
      <p:sp>
        <p:nvSpPr>
          <p:cNvPr id="31" name="pipeline-4-number-bg">
            <a:extLst xmlns:a="http://schemas.openxmlformats.org/drawingml/2006/main">
              <a:ext uri="{FF2B5EF4-FFF2-40B4-BE49-F238E27FC236}">
                <a16:creationId xmlns:a16="http://schemas.microsoft.com/office/drawing/2014/main" id="{01CBACD2-8AE4-42D6-AB48-D41B18F60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420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pipeline-4-number">
            <a:extLst xmlns:a="http://schemas.openxmlformats.org/drawingml/2006/main">
              <a:ext uri="{FF2B5EF4-FFF2-40B4-BE49-F238E27FC236}">
                <a16:creationId xmlns:a16="http://schemas.microsoft.com/office/drawing/2014/main" id="{A07B7C2D-DD59-4FEE-9C97-72EE4DE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487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4</a:t>
            </a:r>
          </a:p>
        </p:txBody>
      </p:sp>
      <p:sp>
        <p:nvSpPr>
          <p:cNvPr id="33" name="pipeline-4-text">
            <a:extLst xmlns:a="http://schemas.openxmlformats.org/drawingml/2006/main">
              <a:ext uri="{FF2B5EF4-FFF2-40B4-BE49-F238E27FC236}">
                <a16:creationId xmlns:a16="http://schemas.microsoft.com/office/drawing/2014/main" id="{E4A6EEDE-84A3-45A1-AC7C-0F21D94B6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2458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Statistical Model</a:t>
            </a:r>
          </a:p>
        </p:txBody>
      </p:sp>
      <p:sp>
        <p:nvSpPr>
          <p:cNvPr id="34" name="dataset-panel">
            <a:extLst xmlns:a="http://schemas.openxmlformats.org/drawingml/2006/main">
              <a:ext uri="{FF2B5EF4-FFF2-40B4-BE49-F238E27FC236}">
                <a16:creationId xmlns:a16="http://schemas.microsoft.com/office/drawing/2014/main" id="{A9D87746-A00C-4C7A-8C32-BC78EC5B2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3430250"/>
            <a:ext cx="116205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35" name="dataset-kicker">
            <a:extLst xmlns:a="http://schemas.openxmlformats.org/drawingml/2006/main">
              <a:ext uri="{FF2B5EF4-FFF2-40B4-BE49-F238E27FC236}">
                <a16:creationId xmlns:a16="http://schemas.microsoft.com/office/drawing/2014/main" id="{A5BB8DB8-14F9-4243-A093-BC94631C2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3716000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0F5F73"/>
                </a:solidFill>
              </a:defRPr>
            </a:pPr>
            <a:r>
              <a:rPr sz="2175" b="1">
                <a:solidFill>
                  <a:srgbClr val="0F5F73"/>
                </a:solidFill>
              </a:rPr>
              <a:t>SOURCE CONTRACT</a:t>
            </a:r>
          </a:p>
        </p:txBody>
      </p:sp>
      <p:sp>
        <p:nvSpPr>
          <p:cNvPr id="36" name="datasets">
            <a:extLst xmlns:a="http://schemas.openxmlformats.org/drawingml/2006/main">
              <a:ext uri="{FF2B5EF4-FFF2-40B4-BE49-F238E27FC236}">
                <a16:creationId xmlns:a16="http://schemas.microsoft.com/office/drawing/2014/main" id="{1E57A6B6-3C32-4932-A82D-733673BD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4239875"/>
            <a:ext cx="110871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Input: full paper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License: CC BY 4.0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Profile: observational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Claims checked: 4</a:t>
            </a:r>
          </a:p>
        </p:txBody>
      </p:sp>
      <p:sp>
        <p:nvSpPr>
          <p:cNvPr id="37" name="dataset-evidence">
            <a:extLst xmlns:a="http://schemas.openxmlformats.org/drawingml/2006/main">
              <a:ext uri="{FF2B5EF4-FFF2-40B4-BE49-F238E27FC236}">
                <a16:creationId xmlns:a16="http://schemas.microsoft.com/office/drawing/2014/main" id="{61928C69-A8B4-47FE-83BE-A3DE922D9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6411575"/>
            <a:ext cx="11087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https://pmc.ncbi.nlm.nih.gov/articles/PMC4623509/</a:t>
            </a:r>
          </a:p>
        </p:txBody>
      </p:sp>
      <p:sp>
        <p:nvSpPr>
          <p:cNvPr id="38" name="figure-one-heading-title">
            <a:extLst xmlns:a="http://schemas.openxmlformats.org/drawingml/2006/main">
              <a:ext uri="{FF2B5EF4-FFF2-40B4-BE49-F238E27FC236}">
                <a16:creationId xmlns:a16="http://schemas.microsoft.com/office/drawing/2014/main" id="{017CF475-48AE-4146-8DF5-80E8BCD3A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383125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Methods and source evidence</a:t>
            </a:r>
          </a:p>
        </p:txBody>
      </p:sp>
      <p:sp>
        <p:nvSpPr>
          <p:cNvPr id="39" name="figure-one-heading-rule">
            <a:extLst xmlns:a="http://schemas.openxmlformats.org/drawingml/2006/main">
              <a:ext uri="{FF2B5EF4-FFF2-40B4-BE49-F238E27FC236}">
                <a16:creationId xmlns:a16="http://schemas.microsoft.com/office/drawing/2014/main" id="{FFCABF6C-9F87-462C-A601-5EA1791E5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021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figure-one-frame">
            <a:extLst xmlns:a="http://schemas.openxmlformats.org/drawingml/2006/main">
              <a:ext uri="{FF2B5EF4-FFF2-40B4-BE49-F238E27FC236}">
                <a16:creationId xmlns:a16="http://schemas.microsoft.com/office/drawing/2014/main" id="{59A36451-FB82-4971-B135-74E06E3CF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240375"/>
            <a:ext cx="11620500" cy="9906000"/>
          </a:xfrm>
          <a:prstGeom xmlns:a="http://schemas.openxmlformats.org/drawingml/2006/main" prst="roundRect">
            <a:avLst>
              <a:gd name="adj" fmla="val 1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41" name="figure-one-placeholder">
            <a:extLst xmlns:a="http://schemas.openxmlformats.org/drawingml/2006/main">
              <a:ext uri="{FF2B5EF4-FFF2-40B4-BE49-F238E27FC236}">
                <a16:creationId xmlns:a16="http://schemas.microsoft.com/office/drawing/2014/main" id="{98547A86-0FF0-4915-BF1F-B128E7F6A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430875"/>
            <a:ext cx="11239500" cy="8972550"/>
          </a:xfrm>
          <a:prstGeom xmlns:a="http://schemas.openxmlformats.org/drawingml/2006/main" prst="roundRect">
            <a:avLst>
              <a:gd name="adj" fmla="val 849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42" name="figure-one-placeholder-label">
            <a:extLst xmlns:a="http://schemas.openxmlformats.org/drawingml/2006/main">
              <a:ext uri="{FF2B5EF4-FFF2-40B4-BE49-F238E27FC236}">
                <a16:creationId xmlns:a16="http://schemas.microsoft.com/office/drawing/2014/main" id="{D7B14BD0-4C11-4397-A90D-3448BEBB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2621875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SOURCE FIGURE SLOT</a:t>
            </a:r>
          </a:p>
        </p:txBody>
      </p:sp>
      <p:sp>
        <p:nvSpPr>
          <p:cNvPr id="43" name="figure-one-caption">
            <a:extLst xmlns:a="http://schemas.openxmlformats.org/drawingml/2006/main">
              <a:ext uri="{FF2B5EF4-FFF2-40B4-BE49-F238E27FC236}">
                <a16:creationId xmlns:a16="http://schemas.microsoft.com/office/drawing/2014/main" id="{457CDB46-9AFA-45BF-AA5D-1A04A6259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460575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Source figure selected during full-paper generation</a:t>
            </a:r>
          </a:p>
        </p:txBody>
      </p:sp>
      <p:sp>
        <p:nvSpPr>
          <p:cNvPr id="44" name="figure-one-source">
            <a:extLst xmlns:a="http://schemas.openxmlformats.org/drawingml/2006/main">
              <a:ext uri="{FF2B5EF4-FFF2-40B4-BE49-F238E27FC236}">
                <a16:creationId xmlns:a16="http://schemas.microsoft.com/office/drawing/2014/main" id="{0A96DA60-6106-4832-9DA7-3A61062D3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774900"/>
            <a:ext cx="11163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Source: 10.1371/journal.pone.0140677</a:t>
            </a:r>
          </a:p>
        </p:txBody>
      </p:sp>
      <p:sp>
        <p:nvSpPr>
          <p:cNvPr id="45" name="central-takeaway">
            <a:extLst xmlns:a="http://schemas.openxmlformats.org/drawingml/2006/main">
              <a:ext uri="{FF2B5EF4-FFF2-40B4-BE49-F238E27FC236}">
                <a16:creationId xmlns:a16="http://schemas.microsoft.com/office/drawing/2014/main" id="{D6D6B5B4-735B-4F1F-965E-289722977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619750"/>
            <a:ext cx="13668375" cy="2524125"/>
          </a:xfrm>
          <a:prstGeom xmlns:a="http://schemas.openxmlformats.org/drawingml/2006/main" prst="roundRect">
            <a:avLst>
              <a:gd name="adj" fmla="val 6038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central-takeaway-title">
            <a:extLst xmlns:a="http://schemas.openxmlformats.org/drawingml/2006/main">
              <a:ext uri="{FF2B5EF4-FFF2-40B4-BE49-F238E27FC236}">
                <a16:creationId xmlns:a16="http://schemas.microsoft.com/office/drawing/2014/main" id="{C999008D-885B-4B54-9719-0716D237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44600" y="5953125"/>
            <a:ext cx="128301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125" b="1">
                <a:solidFill>
                  <a:srgbClr val="102A43"/>
                </a:solidFill>
              </a:defRPr>
            </a:pPr>
            <a:r>
              <a:rPr sz="4125" b="1">
                <a:solidFill>
                  <a:srgbClr val="102A43"/>
                </a:solidFill>
              </a:rPr>
              <a:t>630</a:t>
            </a:r>
          </a:p>
        </p:txBody>
      </p:sp>
      <p:sp>
        <p:nvSpPr>
          <p:cNvPr id="47" name="central-takeaway-subtitle">
            <a:extLst xmlns:a="http://schemas.openxmlformats.org/drawingml/2006/main">
              <a:ext uri="{FF2B5EF4-FFF2-40B4-BE49-F238E27FC236}">
                <a16:creationId xmlns:a16="http://schemas.microsoft.com/office/drawing/2014/main" id="{177CD1B9-64DE-41BF-ABA2-068FB063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7181850"/>
            <a:ext cx="1233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43"/>
                </a:solidFill>
              </a:defRPr>
            </a:pPr>
            <a:r>
              <a:rPr sz="2400" b="1">
                <a:solidFill>
                  <a:srgbClr val="102A43"/>
                </a:solidFill>
              </a:rPr>
              <a:t>Key facts remain bound to the source and study design</a:t>
            </a:r>
          </a:p>
        </p:txBody>
      </p:sp>
      <p:sp>
        <p:nvSpPr>
          <p:cNvPr id="48" name="takeaway-evidence">
            <a:extLst xmlns:a="http://schemas.openxmlformats.org/drawingml/2006/main">
              <a:ext uri="{FF2B5EF4-FFF2-40B4-BE49-F238E27FC236}">
                <a16:creationId xmlns:a16="http://schemas.microsoft.com/office/drawing/2014/main" id="{5B07DCA3-EFD7-4EAC-BCAF-379B9A818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7715250"/>
            <a:ext cx="12792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Evidence fixture: 10.1371/journal.pone.0140677</a:t>
            </a:r>
          </a:p>
        </p:txBody>
      </p:sp>
      <p:sp>
        <p:nvSpPr>
          <p:cNvPr id="49" name="figure-two-heading-title">
            <a:extLst xmlns:a="http://schemas.openxmlformats.org/drawingml/2006/main">
              <a:ext uri="{FF2B5EF4-FFF2-40B4-BE49-F238E27FC236}">
                <a16:creationId xmlns:a16="http://schemas.microsoft.com/office/drawing/2014/main" id="{5EA6D48C-99C8-47D2-A305-6AA3D72E2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8620125"/>
            <a:ext cx="1366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Primary evidence</a:t>
            </a:r>
          </a:p>
        </p:txBody>
      </p:sp>
      <p:sp>
        <p:nvSpPr>
          <p:cNvPr id="50" name="figure-two-heading-rule">
            <a:extLst xmlns:a="http://schemas.openxmlformats.org/drawingml/2006/main">
              <a:ext uri="{FF2B5EF4-FFF2-40B4-BE49-F238E27FC236}">
                <a16:creationId xmlns:a16="http://schemas.microsoft.com/office/drawing/2014/main" id="{89AEC676-9BBF-48E3-BBEF-63D6F1AAE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9258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figure-two-frame">
            <a:extLst xmlns:a="http://schemas.openxmlformats.org/drawingml/2006/main">
              <a:ext uri="{FF2B5EF4-FFF2-40B4-BE49-F238E27FC236}">
                <a16:creationId xmlns:a16="http://schemas.microsoft.com/office/drawing/2014/main" id="{A53D1326-F4CD-4EFC-AB8E-1FB9A184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9477375"/>
            <a:ext cx="13668375" cy="12715875"/>
          </a:xfrm>
          <a:prstGeom xmlns:a="http://schemas.openxmlformats.org/drawingml/2006/main" prst="roundRect">
            <a:avLst>
              <a:gd name="adj" fmla="val 8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52" name="figure-two-placeholder">
            <a:extLst xmlns:a="http://schemas.openxmlformats.org/drawingml/2006/main">
              <a:ext uri="{FF2B5EF4-FFF2-40B4-BE49-F238E27FC236}">
                <a16:creationId xmlns:a16="http://schemas.microsoft.com/office/drawing/2014/main" id="{58EF8560-0429-49A1-A745-1ADFF0A10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9667875"/>
            <a:ext cx="13287375" cy="11782425"/>
          </a:xfrm>
          <a:prstGeom xmlns:a="http://schemas.openxmlformats.org/drawingml/2006/main" prst="roundRect">
            <a:avLst>
              <a:gd name="adj" fmla="val 647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53" name="figure-two-placeholder-label">
            <a:extLst xmlns:a="http://schemas.openxmlformats.org/drawingml/2006/main">
              <a:ext uri="{FF2B5EF4-FFF2-40B4-BE49-F238E27FC236}">
                <a16:creationId xmlns:a16="http://schemas.microsoft.com/office/drawing/2014/main" id="{12EE0AB8-BC56-4557-9A6A-237C81F90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15263813"/>
            <a:ext cx="12525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SOURCE FIGURE SLOT</a:t>
            </a:r>
          </a:p>
        </p:txBody>
      </p:sp>
      <p:sp>
        <p:nvSpPr>
          <p:cNvPr id="54" name="figure-two-caption">
            <a:extLst xmlns:a="http://schemas.openxmlformats.org/drawingml/2006/main">
              <a:ext uri="{FF2B5EF4-FFF2-40B4-BE49-F238E27FC236}">
                <a16:creationId xmlns:a16="http://schemas.microsoft.com/office/drawing/2014/main" id="{F302D08C-5FAC-4901-8004-34E2506D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21507450"/>
            <a:ext cx="13211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Source figure selected during full-paper generation</a:t>
            </a:r>
          </a:p>
        </p:txBody>
      </p:sp>
      <p:sp>
        <p:nvSpPr>
          <p:cNvPr id="55" name="figure-two-source">
            <a:extLst xmlns:a="http://schemas.openxmlformats.org/drawingml/2006/main">
              <a:ext uri="{FF2B5EF4-FFF2-40B4-BE49-F238E27FC236}">
                <a16:creationId xmlns:a16="http://schemas.microsoft.com/office/drawing/2014/main" id="{EF613D8B-C987-4FF7-8B09-EADC254B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21821775"/>
            <a:ext cx="13211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Source: 10.1371/journal.pone.0140677</a:t>
            </a:r>
          </a:p>
        </p:txBody>
      </p:sp>
      <p:sp>
        <p:nvSpPr>
          <p:cNvPr id="56" name="validation-heading-title">
            <a:extLst xmlns:a="http://schemas.openxmlformats.org/drawingml/2006/main">
              <a:ext uri="{FF2B5EF4-FFF2-40B4-BE49-F238E27FC236}">
                <a16:creationId xmlns:a16="http://schemas.microsoft.com/office/drawing/2014/main" id="{9F0643EC-4304-4A4F-B43F-EF8DE5396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2669500"/>
            <a:ext cx="1366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Required factual anchors</a:t>
            </a:r>
          </a:p>
        </p:txBody>
      </p:sp>
      <p:sp>
        <p:nvSpPr>
          <p:cNvPr id="57" name="validation-heading-rule">
            <a:extLst xmlns:a="http://schemas.openxmlformats.org/drawingml/2006/main">
              <a:ext uri="{FF2B5EF4-FFF2-40B4-BE49-F238E27FC236}">
                <a16:creationId xmlns:a16="http://schemas.microsoft.com/office/drawing/2014/main" id="{17693C87-4CD9-468A-B057-49180C9A2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330767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validation-panel">
            <a:extLst xmlns:a="http://schemas.openxmlformats.org/drawingml/2006/main">
              <a:ext uri="{FF2B5EF4-FFF2-40B4-BE49-F238E27FC236}">
                <a16:creationId xmlns:a16="http://schemas.microsoft.com/office/drawing/2014/main" id="{842E5057-15DE-4707-AD17-41E04DBF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3526750"/>
            <a:ext cx="13668375" cy="4048125"/>
          </a:xfrm>
          <a:prstGeom xmlns:a="http://schemas.openxmlformats.org/drawingml/2006/main" prst="roundRect">
            <a:avLst>
              <a:gd name="adj" fmla="val 2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59" name="validation">
            <a:extLst xmlns:a="http://schemas.openxmlformats.org/drawingml/2006/main">
              <a:ext uri="{FF2B5EF4-FFF2-40B4-BE49-F238E27FC236}">
                <a16:creationId xmlns:a16="http://schemas.microsoft.com/office/drawing/2014/main" id="{4C506AF6-44B6-41A6-B86D-EDDDFCBB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23841075"/>
            <a:ext cx="129825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sample size: 630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all cause hr: 0.33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all cause ci: 0.18, 0.60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rcc death hr: 0.22</a:t>
            </a:r>
          </a:p>
        </p:txBody>
      </p:sp>
      <p:sp>
        <p:nvSpPr>
          <p:cNvPr id="60" name="validation-evidence">
            <a:extLst xmlns:a="http://schemas.openxmlformats.org/drawingml/2006/main">
              <a:ext uri="{FF2B5EF4-FFF2-40B4-BE49-F238E27FC236}">
                <a16:creationId xmlns:a16="http://schemas.microsoft.com/office/drawing/2014/main" id="{6DE25810-46EC-449B-BB55-44175E0A9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27117675"/>
            <a:ext cx="12982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Ground-truth case: vitamin-b6-kidney-prognosis</a:t>
            </a:r>
          </a:p>
        </p:txBody>
      </p:sp>
      <p:sp>
        <p:nvSpPr>
          <p:cNvPr id="61" name="performance-strip">
            <a:extLst xmlns:a="http://schemas.openxmlformats.org/drawingml/2006/main">
              <a:ext uri="{FF2B5EF4-FFF2-40B4-BE49-F238E27FC236}">
                <a16:creationId xmlns:a16="http://schemas.microsoft.com/office/drawing/2014/main" id="{223707A6-8870-4CA0-9DED-D43DE3380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7908250"/>
            <a:ext cx="13668375" cy="1095375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0F5F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performance-strip-text">
            <a:extLst xmlns:a="http://schemas.openxmlformats.org/drawingml/2006/main">
              <a:ext uri="{FF2B5EF4-FFF2-40B4-BE49-F238E27FC236}">
                <a16:creationId xmlns:a16="http://schemas.microsoft.com/office/drawing/2014/main" id="{DFAADAD3-8A84-4EB6-9B36-37E3B67A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9350" y="28194000"/>
            <a:ext cx="130206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No unsupported numerical or causal expansion permitted</a:t>
            </a:r>
          </a:p>
        </p:txBody>
      </p:sp>
      <p:sp>
        <p:nvSpPr>
          <p:cNvPr id="63" name="biology-heading-title">
            <a:extLst xmlns:a="http://schemas.openxmlformats.org/drawingml/2006/main">
              <a:ext uri="{FF2B5EF4-FFF2-40B4-BE49-F238E27FC236}">
                <a16:creationId xmlns:a16="http://schemas.microsoft.com/office/drawing/2014/main" id="{429FA9E1-64F8-423D-A3CC-A9EB82802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5619750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Fact checks</a:t>
            </a:r>
          </a:p>
        </p:txBody>
      </p:sp>
      <p:sp>
        <p:nvSpPr>
          <p:cNvPr id="64" name="biology-heading-rule">
            <a:extLst xmlns:a="http://schemas.openxmlformats.org/drawingml/2006/main">
              <a:ext uri="{FF2B5EF4-FFF2-40B4-BE49-F238E27FC236}">
                <a16:creationId xmlns:a16="http://schemas.microsoft.com/office/drawing/2014/main" id="{F288CA67-F90B-4AED-A08A-03C1D7B1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62579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biology-1-value">
            <a:extLst xmlns:a="http://schemas.openxmlformats.org/drawingml/2006/main">
              <a:ext uri="{FF2B5EF4-FFF2-40B4-BE49-F238E27FC236}">
                <a16:creationId xmlns:a16="http://schemas.microsoft.com/office/drawing/2014/main" id="{96109C7D-076F-44BF-82BE-C7AADD29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0F5F73"/>
                </a:solidFill>
              </a:defRPr>
            </a:pPr>
            <a:r>
              <a:rPr sz="5100" b="1">
                <a:solidFill>
                  <a:srgbClr val="0F5F73"/>
                </a:solidFill>
              </a:rPr>
              <a:t>630</a:t>
            </a:r>
          </a:p>
        </p:txBody>
      </p:sp>
      <p:sp>
        <p:nvSpPr>
          <p:cNvPr id="66" name="biology-1-label">
            <a:extLst xmlns:a="http://schemas.openxmlformats.org/drawingml/2006/main">
              <a:ext uri="{FF2B5EF4-FFF2-40B4-BE49-F238E27FC236}">
                <a16:creationId xmlns:a16="http://schemas.microsoft.com/office/drawing/2014/main" id="{6B356703-6C09-43A1-B880-2BAAEDB5F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73533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sample size</a:t>
            </a:r>
          </a:p>
        </p:txBody>
      </p:sp>
      <p:sp>
        <p:nvSpPr>
          <p:cNvPr id="67" name="biology-2-value">
            <a:extLst xmlns:a="http://schemas.openxmlformats.org/drawingml/2006/main">
              <a:ext uri="{FF2B5EF4-FFF2-40B4-BE49-F238E27FC236}">
                <a16:creationId xmlns:a16="http://schemas.microsoft.com/office/drawing/2014/main" id="{FD1D1A00-1C0B-4F2A-8476-F35B046F9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0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C8C99"/>
                </a:solidFill>
              </a:defRPr>
            </a:pPr>
            <a:r>
              <a:rPr sz="5100" b="1">
                <a:solidFill>
                  <a:srgbClr val="2C8C99"/>
                </a:solidFill>
              </a:rPr>
              <a:t>0.33</a:t>
            </a:r>
          </a:p>
        </p:txBody>
      </p:sp>
      <p:sp>
        <p:nvSpPr>
          <p:cNvPr id="68" name="biology-2-label">
            <a:extLst xmlns:a="http://schemas.openxmlformats.org/drawingml/2006/main">
              <a:ext uri="{FF2B5EF4-FFF2-40B4-BE49-F238E27FC236}">
                <a16:creationId xmlns:a16="http://schemas.microsoft.com/office/drawing/2014/main" id="{B4A84DE9-903D-4C6F-A414-D96F41C1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0" y="73533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all cause hr</a:t>
            </a:r>
          </a:p>
        </p:txBody>
      </p:sp>
      <p:sp>
        <p:nvSpPr>
          <p:cNvPr id="69" name="biology-3-value">
            <a:extLst xmlns:a="http://schemas.openxmlformats.org/drawingml/2006/main">
              <a:ext uri="{FF2B5EF4-FFF2-40B4-BE49-F238E27FC236}">
                <a16:creationId xmlns:a16="http://schemas.microsoft.com/office/drawing/2014/main" id="{1616ADD5-CF9E-46E2-B4FF-8DFAAE421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4125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E8B44C"/>
                </a:solidFill>
              </a:defRPr>
            </a:pPr>
            <a:r>
              <a:rPr sz="5100" b="1">
                <a:solidFill>
                  <a:srgbClr val="E8B44C"/>
                </a:solidFill>
              </a:rPr>
              <a:t>0.18</a:t>
            </a:r>
          </a:p>
        </p:txBody>
      </p:sp>
      <p:sp>
        <p:nvSpPr>
          <p:cNvPr id="70" name="biology-3-label">
            <a:extLst xmlns:a="http://schemas.openxmlformats.org/drawingml/2006/main">
              <a:ext uri="{FF2B5EF4-FFF2-40B4-BE49-F238E27FC236}">
                <a16:creationId xmlns:a16="http://schemas.microsoft.com/office/drawing/2014/main" id="{A6B30D89-1F12-455A-926F-6990317D1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4125" y="73533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all cause ci</a:t>
            </a:r>
          </a:p>
        </p:txBody>
      </p:sp>
      <p:sp>
        <p:nvSpPr>
          <p:cNvPr id="71" name="biology-evidence">
            <a:extLst xmlns:a="http://schemas.openxmlformats.org/drawingml/2006/main">
              <a:ext uri="{FF2B5EF4-FFF2-40B4-BE49-F238E27FC236}">
                <a16:creationId xmlns:a16="http://schemas.microsoft.com/office/drawing/2014/main" id="{BD639280-5C66-4544-8A07-F1E7D82EB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8477250"/>
            <a:ext cx="137064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Machine-checkable evaluation fixture</a:t>
            </a:r>
          </a:p>
        </p:txBody>
      </p:sp>
      <p:sp>
        <p:nvSpPr>
          <p:cNvPr id="72" name="figure-three-frame">
            <a:extLst xmlns:a="http://schemas.openxmlformats.org/drawingml/2006/main">
              <a:ext uri="{FF2B5EF4-FFF2-40B4-BE49-F238E27FC236}">
                <a16:creationId xmlns:a16="http://schemas.microsoft.com/office/drawing/2014/main" id="{F431F94F-76D8-49FB-AF4D-E76559B47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9191625"/>
            <a:ext cx="13706475" cy="6858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73" name="figure-three-placeholder">
            <a:extLst xmlns:a="http://schemas.openxmlformats.org/drawingml/2006/main">
              <a:ext uri="{FF2B5EF4-FFF2-40B4-BE49-F238E27FC236}">
                <a16:creationId xmlns:a16="http://schemas.microsoft.com/office/drawing/2014/main" id="{926C5650-8997-4FBE-A909-748B2EB2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55875" y="9382125"/>
            <a:ext cx="13325475" cy="5924550"/>
          </a:xfrm>
          <a:prstGeom xmlns:a="http://schemas.openxmlformats.org/drawingml/2006/main" prst="roundRect">
            <a:avLst>
              <a:gd name="adj" fmla="val 1286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74" name="figure-three-placeholder-label">
            <a:extLst xmlns:a="http://schemas.openxmlformats.org/drawingml/2006/main">
              <a:ext uri="{FF2B5EF4-FFF2-40B4-BE49-F238E27FC236}">
                <a16:creationId xmlns:a16="http://schemas.microsoft.com/office/drawing/2014/main" id="{CC49A5C6-F946-4519-B904-A2E852C54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6875" y="12049125"/>
            <a:ext cx="125634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SOURCE FIGURE SLOT</a:t>
            </a:r>
          </a:p>
        </p:txBody>
      </p:sp>
      <p:sp>
        <p:nvSpPr>
          <p:cNvPr id="75" name="figure-three-caption">
            <a:extLst xmlns:a="http://schemas.openxmlformats.org/drawingml/2006/main">
              <a:ext uri="{FF2B5EF4-FFF2-40B4-BE49-F238E27FC236}">
                <a16:creationId xmlns:a16="http://schemas.microsoft.com/office/drawing/2014/main" id="{D04A7E58-FA73-4A25-8466-4EB1C854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15363825"/>
            <a:ext cx="132492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Source figure selected during full-paper generation</a:t>
            </a:r>
          </a:p>
        </p:txBody>
      </p:sp>
      <p:sp>
        <p:nvSpPr>
          <p:cNvPr id="76" name="figure-three-source">
            <a:extLst xmlns:a="http://schemas.openxmlformats.org/drawingml/2006/main">
              <a:ext uri="{FF2B5EF4-FFF2-40B4-BE49-F238E27FC236}">
                <a16:creationId xmlns:a16="http://schemas.microsoft.com/office/drawing/2014/main" id="{789D8E5C-50F5-4679-9A02-93C592275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15678150"/>
            <a:ext cx="13249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Source: 10.1371/journal.pone.0140677</a:t>
            </a:r>
          </a:p>
        </p:txBody>
      </p:sp>
      <p:sp>
        <p:nvSpPr>
          <p:cNvPr id="77" name="validation-visual-heading-title">
            <a:extLst xmlns:a="http://schemas.openxmlformats.org/drawingml/2006/main">
              <a:ext uri="{FF2B5EF4-FFF2-40B4-BE49-F238E27FC236}">
                <a16:creationId xmlns:a16="http://schemas.microsoft.com/office/drawing/2014/main" id="{671DE505-FF70-47E6-9CD2-88F3F018C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6525875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Independent evidence slot</a:t>
            </a:r>
          </a:p>
        </p:txBody>
      </p:sp>
      <p:sp>
        <p:nvSpPr>
          <p:cNvPr id="78" name="validation-visual-heading-rule">
            <a:extLst xmlns:a="http://schemas.openxmlformats.org/drawingml/2006/main">
              <a:ext uri="{FF2B5EF4-FFF2-40B4-BE49-F238E27FC236}">
                <a16:creationId xmlns:a16="http://schemas.microsoft.com/office/drawing/2014/main" id="{07CA9436-EDF8-4414-A64A-8D975ABED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716405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figure-four-frame">
            <a:extLst xmlns:a="http://schemas.openxmlformats.org/drawingml/2006/main">
              <a:ext uri="{FF2B5EF4-FFF2-40B4-BE49-F238E27FC236}">
                <a16:creationId xmlns:a16="http://schemas.microsoft.com/office/drawing/2014/main" id="{8DF030C2-3EC1-4C4E-B515-A92F320EE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7383125"/>
            <a:ext cx="13706475" cy="714375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80" name="figure-four-placeholder">
            <a:extLst xmlns:a="http://schemas.openxmlformats.org/drawingml/2006/main">
              <a:ext uri="{FF2B5EF4-FFF2-40B4-BE49-F238E27FC236}">
                <a16:creationId xmlns:a16="http://schemas.microsoft.com/office/drawing/2014/main" id="{F5A44B23-A41E-47F6-BEF4-D4F3C5B8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55875" y="17573625"/>
            <a:ext cx="13325475" cy="6210300"/>
          </a:xfrm>
          <a:prstGeom xmlns:a="http://schemas.openxmlformats.org/drawingml/2006/main" prst="roundRect">
            <a:avLst>
              <a:gd name="adj" fmla="val 1227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81" name="figure-four-placeholder-label">
            <a:extLst xmlns:a="http://schemas.openxmlformats.org/drawingml/2006/main">
              <a:ext uri="{FF2B5EF4-FFF2-40B4-BE49-F238E27FC236}">
                <a16:creationId xmlns:a16="http://schemas.microsoft.com/office/drawing/2014/main" id="{7984BB9F-FFE9-4ABF-B04A-A11071D8C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6875" y="20383500"/>
            <a:ext cx="125634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SOURCE FIGURE SLOT</a:t>
            </a:r>
          </a:p>
        </p:txBody>
      </p:sp>
      <p:sp>
        <p:nvSpPr>
          <p:cNvPr id="82" name="figure-four-caption">
            <a:extLst xmlns:a="http://schemas.openxmlformats.org/drawingml/2006/main">
              <a:ext uri="{FF2B5EF4-FFF2-40B4-BE49-F238E27FC236}">
                <a16:creationId xmlns:a16="http://schemas.microsoft.com/office/drawing/2014/main" id="{EBEB99C9-6CF7-4391-A312-F743855B4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23841075"/>
            <a:ext cx="132492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Source figure selected during full-paper generation</a:t>
            </a:r>
          </a:p>
        </p:txBody>
      </p:sp>
      <p:sp>
        <p:nvSpPr>
          <p:cNvPr id="83" name="figure-four-source">
            <a:extLst xmlns:a="http://schemas.openxmlformats.org/drawingml/2006/main">
              <a:ext uri="{FF2B5EF4-FFF2-40B4-BE49-F238E27FC236}">
                <a16:creationId xmlns:a16="http://schemas.microsoft.com/office/drawing/2014/main" id="{35085A35-E725-4B4E-93C8-942050EB4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24155400"/>
            <a:ext cx="13249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Source: 10.1371/journal.pone.0140677</a:t>
            </a:r>
          </a:p>
        </p:txBody>
      </p:sp>
      <p:sp>
        <p:nvSpPr>
          <p:cNvPr id="84" name="conclusion-heading-title">
            <a:extLst xmlns:a="http://schemas.openxmlformats.org/drawingml/2006/main">
              <a:ext uri="{FF2B5EF4-FFF2-40B4-BE49-F238E27FC236}">
                <a16:creationId xmlns:a16="http://schemas.microsoft.com/office/drawing/2014/main" id="{EC03AB3F-7FFC-48E7-A2A2-B0A62A7E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003125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Interpretation boundary</a:t>
            </a:r>
          </a:p>
        </p:txBody>
      </p:sp>
      <p:sp>
        <p:nvSpPr>
          <p:cNvPr id="85" name="conclusion-heading-rule">
            <a:extLst xmlns:a="http://schemas.openxmlformats.org/drawingml/2006/main">
              <a:ext uri="{FF2B5EF4-FFF2-40B4-BE49-F238E27FC236}">
                <a16:creationId xmlns:a16="http://schemas.microsoft.com/office/drawing/2014/main" id="{415E5D0F-A3EA-4ADB-905A-076B74AA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641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conclusion-panel">
            <a:extLst xmlns:a="http://schemas.openxmlformats.org/drawingml/2006/main">
              <a:ext uri="{FF2B5EF4-FFF2-40B4-BE49-F238E27FC236}">
                <a16:creationId xmlns:a16="http://schemas.microsoft.com/office/drawing/2014/main" id="{D750D394-D865-4024-B651-DA6BC5E7D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860375"/>
            <a:ext cx="13706475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87" name="conclusion">
            <a:extLst xmlns:a="http://schemas.openxmlformats.org/drawingml/2006/main">
              <a:ext uri="{FF2B5EF4-FFF2-40B4-BE49-F238E27FC236}">
                <a16:creationId xmlns:a16="http://schemas.microsoft.com/office/drawing/2014/main" id="{FC290EF4-9A8D-4719-8920-96AD52C25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9225" y="26174700"/>
            <a:ext cx="1305877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Interpret findings only within the source study design, population, methods and reported uncertainty.</a:t>
            </a:r>
          </a:p>
        </p:txBody>
      </p:sp>
      <p:sp>
        <p:nvSpPr>
          <p:cNvPr id="88" name="conclusion-evidence">
            <a:extLst xmlns:a="http://schemas.openxmlformats.org/drawingml/2006/main">
              <a:ext uri="{FF2B5EF4-FFF2-40B4-BE49-F238E27FC236}">
                <a16:creationId xmlns:a16="http://schemas.microsoft.com/office/drawing/2014/main" id="{F221A575-318F-4649-85D9-E97ABDE6E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9225" y="28498800"/>
            <a:ext cx="130587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 and license: 10.1371/journal.pone.0140677 · CC BY 4.0</a:t>
            </a:r>
          </a:p>
        </p:txBody>
      </p:sp>
      <p:sp>
        <p:nvSpPr>
          <p:cNvPr id="89" name="footer-band">
            <a:extLst xmlns:a="http://schemas.openxmlformats.org/drawingml/2006/main">
              <a:ext uri="{FF2B5EF4-FFF2-40B4-BE49-F238E27FC236}">
                <a16:creationId xmlns:a16="http://schemas.microsoft.com/office/drawing/2014/main" id="{3E01503C-6CE6-4CC0-9AD1-118FDEFC9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337000"/>
            <a:ext cx="42805350" cy="94297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9B5E604C-984A-4235-864B-6D5CBAAB5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594175"/>
            <a:ext cx="2857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FFFFFF"/>
                </a:solidFill>
              </a:defRPr>
            </a:pPr>
            <a:r>
              <a:rPr sz="1950">
                <a:solidFill>
                  <a:srgbClr val="FFFFFF"/>
                </a:solidFill>
              </a:rPr>
              <a:t>Circulating Concentrations of Vitamin B6 and Kidney Cancer Prognosis: A Prospective Case-Cohort Study · CC BY 4.0</a:t>
            </a:r>
          </a:p>
        </p:txBody>
      </p:sp>
      <p:sp>
        <p:nvSpPr>
          <p:cNvPr id="91" name="footer-status">
            <a:extLst xmlns:a="http://schemas.openxmlformats.org/drawingml/2006/main">
              <a:ext uri="{FF2B5EF4-FFF2-40B4-BE49-F238E27FC236}">
                <a16:creationId xmlns:a16="http://schemas.microsoft.com/office/drawing/2014/main" id="{3F7CBBBE-E602-4062-A299-BB15A9B1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0" y="29594175"/>
            <a:ext cx="1171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E8B44C"/>
                </a:solidFill>
              </a:defRPr>
            </a:pPr>
            <a:r>
              <a:rPr sz="1875" b="1">
                <a:solidFill>
                  <a:srgbClr val="E8B44C"/>
                </a:solidFill>
              </a:rPr>
              <a:t>Evaluation preview · not a release poster</a:t>
            </a:r>
          </a:p>
        </p:txBody>
      </p:sp>
    </p:spTree>
    <p:extLst>
      <p:ext uri="{BB962C8B-B14F-4D97-AF65-F5344CB8AC3E}">
        <p14:creationId xmlns:p14="http://schemas.microsoft.com/office/powerpoint/2010/main" val="16400762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2026-08-07T04:17:21.6790000Z</dcterms:created>
  <dcterms:modified xsi:type="dcterms:W3CDTF">2026-08-07T04:17:21.6790000Z</dcterms:modified>
</coreProperties>
</file>