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acc394f44a421b" /><Relationship Type="http://schemas.openxmlformats.org/officeDocument/2006/relationships/extended-properties" Target="/docProps/app.xml" Id="R19bc0d601c4a4eda" /><Relationship Type="http://schemas.openxmlformats.org/officeDocument/2006/relationships/officeDocument" Target="/ppt/presentation.xml" Id="R3aac1d79507243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15e9d437324136"/>
  </p:sldMasterIdLst>
  <p:notesMasterIdLst>
    <p:notesMasterId xmlns:r="http://schemas.openxmlformats.org/officeDocument/2006/relationships" r:id="R8002ffde83a84658"/>
  </p:notesMasterIdLst>
  <p:sldIdLst>
    <p:sldId xmlns:r="http://schemas.openxmlformats.org/officeDocument/2006/relationships" id="256" r:id="Re9de3e03750447a4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8a4b946df34bba" /><Relationship Type="http://schemas.openxmlformats.org/officeDocument/2006/relationships/slideMaster" Target="/ppt/slideMasters/slideMaster1.xml" Id="R6015e9d437324136" /><Relationship Type="http://schemas.openxmlformats.org/officeDocument/2006/relationships/notesMaster" Target="/ppt/notesMasters/notesMaster1.xml" Id="R8002ffde83a84658" /><Relationship Type="http://schemas.openxmlformats.org/officeDocument/2006/relationships/presProps" Target="/ppt/presProps.xml" Id="R843608d31c3b4cdc" /><Relationship Type="http://schemas.openxmlformats.org/officeDocument/2006/relationships/tableStyles" Target="/ppt/tableStyles.xml" Id="Rb2c3b98c90694474" /><Relationship Type="http://schemas.openxmlformats.org/officeDocument/2006/relationships/slide" Target="/ppt/slides/slide1.xml" Id="Re9de3e03750447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138d0d681f4c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b4e09fe88f4a87" /><Relationship Type="http://schemas.openxmlformats.org/officeDocument/2006/relationships/notesMaster" Target="/ppt/notesMasters/notesMaster1.xml" Id="R401844b8cc174a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https://journals.plos.org/ploscompbiol/article?id=10.1371/journal.pcbi.1008770</a:t>
            </a:r>
          </a:p>
          <a:p xmlns:a="http://schemas.openxmlformats.org/drawingml/2006/main">
            <a:r>
              <a:t>- License: CC BY 4.0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91bee33f0444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0d3d7e6e9841c7" /><Relationship Type="http://schemas.openxmlformats.org/officeDocument/2006/relationships/slideLayout" Target="/ppt/slideLayouts/slideLayout1.xml" Id="R0e974ec2f93344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974ec2f93344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e070ea77b4728" /><Relationship Type="http://schemas.openxmlformats.org/officeDocument/2006/relationships/notesSlide" Target="/ppt/notesSlides/notesSlide1.xml" Id="R1b6708adebcb4e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header-band">
            <a:extLst xmlns:a="http://schemas.openxmlformats.org/drawingml/2006/main">
              <a:ext uri="{FF2B5EF4-FFF2-40B4-BE49-F238E27FC236}">
                <a16:creationId xmlns:a16="http://schemas.microsoft.com/office/drawing/2014/main" id="{C092C8BE-9126-46E9-B7B1-635987C1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422C3C69-36CB-41D2-AF7A-0425152D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66158135-EEFE-4EAB-9641-03FA6CEF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Principles for data analysis workflows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074B8D52-288A-4ADC-AB71-179A7518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Source-grounded PostEx evaluation fixture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AA64794F-3855-4772-9CD2-376525B0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6F8FA"/>
                </a:solidFill>
              </a:defRPr>
            </a:pPr>
            <a:r>
              <a:rPr sz="2175">
                <a:solidFill>
                  <a:srgbClr val="F6F8FA"/>
                </a:solidFill>
              </a:rPr>
              <a:t>Bioinformatics profile · CC BY 4.0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CDA1975B-ED50-4885-AE3B-3B7F1F05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8B44C"/>
                </a:solidFill>
              </a:defRPr>
            </a:pPr>
            <a:r>
              <a:rPr sz="1950" b="1">
                <a:solidFill>
                  <a:srgbClr val="E8B44C"/>
                </a:solidFill>
              </a:rPr>
              <a:t>DOI 10.1371/journal.pcbi.1008770</a:t>
            </a:r>
          </a:p>
        </p:txBody>
      </p:sp>
      <p:sp>
        <p:nvSpPr>
          <p:cNvPr id="7" name="logo-slot-institution-logo">
            <a:extLst xmlns:a="http://schemas.openxmlformats.org/drawingml/2006/main">
              <a:ext uri="{FF2B5EF4-FFF2-40B4-BE49-F238E27FC236}">
                <a16:creationId xmlns:a16="http://schemas.microsoft.com/office/drawing/2014/main" id="{077E0D10-67DF-4235-AC1A-B9FBAE44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" name="logo-placeholder-institution-logo">
            <a:extLst xmlns:a="http://schemas.openxmlformats.org/drawingml/2006/main">
              <a:ext uri="{FF2B5EF4-FFF2-40B4-BE49-F238E27FC236}">
                <a16:creationId xmlns:a16="http://schemas.microsoft.com/office/drawing/2014/main" id="{497D079A-46F0-49BB-9297-0B8647E0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5F73"/>
                </a:solidFill>
              </a:defRPr>
            </a:pPr>
            <a:r>
              <a:rPr sz="2025" b="1">
                <a:solidFill>
                  <a:srgbClr val="0F5F73"/>
                </a:solidFill>
              </a:rPr>
              <a:t>Institution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6C99F9AB-FBB5-4358-85BF-9E3F6D69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CDB0B2C1-C38B-4137-8993-5CF8A9F9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Explore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CE65A49C-C78F-46B1-96E1-9F93377E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phase explore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F2C97EE0-7C11-435F-B54C-43779FC7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Refine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461259CE-5828-48A8-9A97-32860A04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phase refine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8CAB5F4C-D3F4-406F-9545-F8011966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Produce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DA7F388E-E1E0-4DF3-B090-EBCCBDEB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phase produce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3F18D7DA-73B0-4150-BC5B-3582DFBB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Communication objective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0FADE3B0-13D7-49E8-8D3A-88477660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6E3B851E-017A-477B-B65F-34FEA09C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Present the paper's design, central evidence and interpretation boundary in a traceable conference-poster format.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D1CCE178-8CFA-402B-ADA8-A3180C4D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10.1371/journal.pcbi.1008770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1F8F255C-0CB0-48D2-808D-F9991D49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evidence structure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389D688D-7854-411F-B77A-E1E95E31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2A6AD321-E653-400E-9E53-ECB9474C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88FBB8E8-DF0B-4EFF-8225-9AE26E23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DE590DF1-4503-40AD-B02D-75A0C71C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Research Question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C7698172-AC9F-41AE-96F8-E95809C4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B7777E6D-49E4-436F-AA1D-DA37220C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9F9BABA6-45F3-4F7F-A179-C2D48557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Datasets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CE0A8493-9FB3-4080-B2BA-C98A1A9E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30210101-4718-4AFA-85A8-E03D974C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51A23ABD-9FB5-447D-882A-73E4AA2A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Analysis Pipeline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38D2486F-58BE-4B33-AA78-2BB50754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6834C152-EBE8-474A-8FCC-ACA50258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408A502C-6170-41BD-9112-8D9B6EBD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Key Results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696DC141-0E7D-43B2-BFC8-3D9C308F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12F306D0-C151-4A59-9752-181088D3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F5F73"/>
                </a:solidFill>
              </a:defRPr>
            </a:pPr>
            <a:r>
              <a:rPr sz="2175" b="1">
                <a:solidFill>
                  <a:srgbClr val="0F5F73"/>
                </a:solidFill>
              </a:rPr>
              <a:t>SOURCE CONTRACT</a:t>
            </a:r>
          </a:p>
        </p:txBody>
      </p:sp>
      <p:sp>
        <p:nvSpPr>
          <p:cNvPr id="36" name="datasets">
            <a:extLst xmlns:a="http://schemas.openxmlformats.org/drawingml/2006/main">
              <a:ext uri="{FF2B5EF4-FFF2-40B4-BE49-F238E27FC236}">
                <a16:creationId xmlns:a16="http://schemas.microsoft.com/office/drawing/2014/main" id="{403F9CAA-7FAC-4B0C-A89C-4DB995C6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Input: full paper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License: CC BY 4.0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Profile: bioinformatics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Claims checked: 3</a:t>
            </a:r>
          </a:p>
        </p:txBody>
      </p:sp>
      <p:sp>
        <p:nvSpPr>
          <p:cNvPr id="37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C2C0A812-99CC-496E-A127-174681BA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https://journals.plos.org/ploscompbiol/article?id=10.1371/journal.pcbi.1008770</a:t>
            </a:r>
          </a:p>
        </p:txBody>
      </p:sp>
      <p:sp>
        <p:nvSpPr>
          <p:cNvPr id="38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33836ED2-D418-4288-A4A8-FBFF7C73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Methods and source evidence</a:t>
            </a:r>
          </a:p>
        </p:txBody>
      </p:sp>
      <p:sp>
        <p:nvSpPr>
          <p:cNvPr id="39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7BA43B6F-AC6E-4168-A06E-2520FC0D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607242FC-1CC8-4DE4-A696-C5DBC0CE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41" name="figure-one-placeholder">
            <a:extLst xmlns:a="http://schemas.openxmlformats.org/drawingml/2006/main">
              <a:ext uri="{FF2B5EF4-FFF2-40B4-BE49-F238E27FC236}">
                <a16:creationId xmlns:a16="http://schemas.microsoft.com/office/drawing/2014/main" id="{D0550CC6-D831-4A77-B7B3-579A0258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oundRect">
            <a:avLst>
              <a:gd name="adj" fmla="val 849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42" name="figure-one-placeholder-label">
            <a:extLst xmlns:a="http://schemas.openxmlformats.org/drawingml/2006/main">
              <a:ext uri="{FF2B5EF4-FFF2-40B4-BE49-F238E27FC236}">
                <a16:creationId xmlns:a16="http://schemas.microsoft.com/office/drawing/2014/main" id="{8D9DE2DD-F497-4594-A549-11B37FB4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2187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0A261FEE-9041-486A-8834-0EF8BE39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55D96D85-7CB4-429F-AE46-71A44342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749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10.1371/journal.pcbi.1008770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B98D031B-A350-46F9-ADE4-3D5BAB94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4F809D32-4329-4963-96CA-3CBBD1C9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Explore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F8E700A3-C293-469D-9779-F55FABD1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43"/>
                </a:solidFill>
              </a:defRPr>
            </a:pPr>
            <a:r>
              <a:rPr sz="2400" b="1">
                <a:solidFill>
                  <a:srgbClr val="102A43"/>
                </a:solidFill>
              </a:rPr>
              <a:t>Key facts remain bound to the source and study design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5C34590A-4D63-4F2B-82E8-F71E5476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10.1371/journal.pcbi.1008770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E3FB0AAE-2546-41F5-A94E-EFBBBD25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Primary evidence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D1E9138F-1050-4061-97E7-370AAEE0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ECE7AC57-B712-40BD-B88E-7D6A1D68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2" name="figure-two-placeholder">
            <a:extLst xmlns:a="http://schemas.openxmlformats.org/drawingml/2006/main">
              <a:ext uri="{FF2B5EF4-FFF2-40B4-BE49-F238E27FC236}">
                <a16:creationId xmlns:a16="http://schemas.microsoft.com/office/drawing/2014/main" id="{F53F2704-0C77-468E-AEA3-0771A110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oundRect">
            <a:avLst>
              <a:gd name="adj" fmla="val 64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53" name="figure-two-placeholder-label">
            <a:extLst xmlns:a="http://schemas.openxmlformats.org/drawingml/2006/main">
              <a:ext uri="{FF2B5EF4-FFF2-40B4-BE49-F238E27FC236}">
                <a16:creationId xmlns:a16="http://schemas.microsoft.com/office/drawing/2014/main" id="{746ADBEA-7BA8-4BA5-803F-192DB4DC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15263813"/>
            <a:ext cx="1252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54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5FD91206-AECE-42B5-8B9B-2242B8DE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55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1C4FBD9E-9343-44FB-AA72-C9CDCA1A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21775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10.1371/journal.pcbi.1008770</a:t>
            </a:r>
          </a:p>
        </p:txBody>
      </p:sp>
      <p:sp>
        <p:nvSpPr>
          <p:cNvPr id="56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15B290E7-F0C4-4AE6-80A8-E2621BE7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factual anchors</a:t>
            </a:r>
          </a:p>
        </p:txBody>
      </p:sp>
      <p:sp>
        <p:nvSpPr>
          <p:cNvPr id="57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4E3A2A27-0999-47CD-9A26-22EB34A3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65F852C5-5526-4F9E-B1A3-0AF3C987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9" name="validation">
            <a:extLst xmlns:a="http://schemas.openxmlformats.org/drawingml/2006/main">
              <a:ext uri="{FF2B5EF4-FFF2-40B4-BE49-F238E27FC236}">
                <a16:creationId xmlns:a16="http://schemas.microsoft.com/office/drawing/2014/main" id="{852A81A2-0658-4024-B925-52D9139D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phase explore: Explore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phase refine: Refine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phase produce: Produce</a:t>
            </a:r>
          </a:p>
        </p:txBody>
      </p:sp>
      <p:sp>
        <p:nvSpPr>
          <p:cNvPr id="60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536D50B0-7A43-45A8-A4F9-2DC771F6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Ground-truth case: plos-data-analysis-workflows</a:t>
            </a:r>
          </a:p>
        </p:txBody>
      </p:sp>
      <p:sp>
        <p:nvSpPr>
          <p:cNvPr id="61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EE046299-5286-44F2-AF1A-39069991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2E17E3E6-69CA-448D-AADC-C32E550F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No unsupported numerical or causal expansion permitted</a:t>
            </a:r>
          </a:p>
        </p:txBody>
      </p:sp>
      <p:sp>
        <p:nvSpPr>
          <p:cNvPr id="63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B718EB6A-59F0-46A5-84A4-06B011E4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Fact checks</a:t>
            </a:r>
          </a:p>
        </p:txBody>
      </p:sp>
      <p:sp>
        <p:nvSpPr>
          <p:cNvPr id="64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9B0A11E2-1B12-4B09-AA0D-10B8CE59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73DDB09E-4FBA-44CB-AF2C-0F6352ED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Explore</a:t>
            </a:r>
          </a:p>
        </p:txBody>
      </p:sp>
      <p:sp>
        <p:nvSpPr>
          <p:cNvPr id="66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4EE38460-6B2A-40ED-AB01-5D6D0BAB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phase explore</a:t>
            </a:r>
          </a:p>
        </p:txBody>
      </p:sp>
      <p:sp>
        <p:nvSpPr>
          <p:cNvPr id="67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9432B7F3-F545-4841-AE24-CBDAA4AE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Refine</a:t>
            </a:r>
          </a:p>
        </p:txBody>
      </p:sp>
      <p:sp>
        <p:nvSpPr>
          <p:cNvPr id="68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6528CE57-4B37-40D2-9ED3-9BBA9A59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phase refine</a:t>
            </a:r>
          </a:p>
        </p:txBody>
      </p:sp>
      <p:sp>
        <p:nvSpPr>
          <p:cNvPr id="69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DE3ED3B8-7BB0-4F14-A916-1019032C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Produce</a:t>
            </a:r>
          </a:p>
        </p:txBody>
      </p:sp>
      <p:sp>
        <p:nvSpPr>
          <p:cNvPr id="70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D49BBFE1-C310-47EF-8885-2E9F801F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phase produce</a:t>
            </a:r>
          </a:p>
        </p:txBody>
      </p:sp>
      <p:sp>
        <p:nvSpPr>
          <p:cNvPr id="71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91B3C65B-641E-4782-90F2-9B7EE3D6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Machine-checkable evaluation fixture</a:t>
            </a:r>
          </a:p>
        </p:txBody>
      </p:sp>
      <p:sp>
        <p:nvSpPr>
          <p:cNvPr id="72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07A7FDDC-27AB-476E-9495-0A86662E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73" name="figure-three-placeholder">
            <a:extLst xmlns:a="http://schemas.openxmlformats.org/drawingml/2006/main">
              <a:ext uri="{FF2B5EF4-FFF2-40B4-BE49-F238E27FC236}">
                <a16:creationId xmlns:a16="http://schemas.microsoft.com/office/drawing/2014/main" id="{1CF5F4C8-3BD7-4EF5-9473-F7628894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oundRect">
            <a:avLst>
              <a:gd name="adj" fmla="val 128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74" name="figure-three-placeholder-label">
            <a:extLst xmlns:a="http://schemas.openxmlformats.org/drawingml/2006/main">
              <a:ext uri="{FF2B5EF4-FFF2-40B4-BE49-F238E27FC236}">
                <a16:creationId xmlns:a16="http://schemas.microsoft.com/office/drawing/2014/main" id="{E9F9F3FC-BDE1-4C4C-8DE6-DD68BE09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12049125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75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B9173E3C-6320-4C3C-855C-23612492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76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8B79C14A-2C72-45C0-849B-FD570E9C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7815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10.1371/journal.pcbi.1008770</a:t>
            </a:r>
          </a:p>
        </p:txBody>
      </p:sp>
      <p:sp>
        <p:nvSpPr>
          <p:cNvPr id="77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16C226A3-9A9F-400C-950B-38E245DD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Independent evidence slot</a:t>
            </a:r>
          </a:p>
        </p:txBody>
      </p:sp>
      <p:sp>
        <p:nvSpPr>
          <p:cNvPr id="78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456C4669-BB90-45AB-9E46-D270B949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EEF765AE-0E6A-4704-B437-8FD3316A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0" name="figure-four-placeholder">
            <a:extLst xmlns:a="http://schemas.openxmlformats.org/drawingml/2006/main">
              <a:ext uri="{FF2B5EF4-FFF2-40B4-BE49-F238E27FC236}">
                <a16:creationId xmlns:a16="http://schemas.microsoft.com/office/drawing/2014/main" id="{58A2A8FE-97A1-4EB3-B830-22F8687B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oundRect">
            <a:avLst>
              <a:gd name="adj" fmla="val 122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1" name="figure-four-placeholder-label">
            <a:extLst xmlns:a="http://schemas.openxmlformats.org/drawingml/2006/main">
              <a:ext uri="{FF2B5EF4-FFF2-40B4-BE49-F238E27FC236}">
                <a16:creationId xmlns:a16="http://schemas.microsoft.com/office/drawing/2014/main" id="{CF3B771F-2E0C-4DA8-A907-8C176FB3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20383500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82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ADDE8C6D-692A-4B38-A30A-1848147B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83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AF1F4F71-F937-4080-9EFC-DF29892B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5540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10.1371/journal.pcbi.1008770</a:t>
            </a:r>
          </a:p>
        </p:txBody>
      </p:sp>
      <p:sp>
        <p:nvSpPr>
          <p:cNvPr id="84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865BB500-4EA2-4DD6-91C2-925B5802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Interpretation boundary</a:t>
            </a:r>
          </a:p>
        </p:txBody>
      </p:sp>
      <p:sp>
        <p:nvSpPr>
          <p:cNvPr id="85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E197297F-7D31-41C6-B4C9-D103CDFB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4C0BF0C3-2F06-45F7-96A3-D1C3F2F0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7" name="conclusion">
            <a:extLst xmlns:a="http://schemas.openxmlformats.org/drawingml/2006/main">
              <a:ext uri="{FF2B5EF4-FFF2-40B4-BE49-F238E27FC236}">
                <a16:creationId xmlns:a16="http://schemas.microsoft.com/office/drawing/2014/main" id="{831A3FD4-2C35-4E62-8D25-2124B22B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Interpret findings only within the source study design, population, methods and reported uncertainty.</a:t>
            </a:r>
          </a:p>
        </p:txBody>
      </p:sp>
      <p:sp>
        <p:nvSpPr>
          <p:cNvPr id="88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B1678E51-0303-4992-ABF0-34F68A93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 and license: 10.1371/journal.pcbi.1008770 · CC BY 4.0</a:t>
            </a:r>
          </a:p>
        </p:txBody>
      </p:sp>
      <p:sp>
        <p:nvSpPr>
          <p:cNvPr id="89" name="footer-band">
            <a:extLst xmlns:a="http://schemas.openxmlformats.org/drawingml/2006/main">
              <a:ext uri="{FF2B5EF4-FFF2-40B4-BE49-F238E27FC236}">
                <a16:creationId xmlns:a16="http://schemas.microsoft.com/office/drawing/2014/main" id="{34343522-840F-4D39-8CF7-1C87E19C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C0958340-FB78-4834-8D6F-77684669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57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Principles for data analysis workflows · CC BY 4.0</a:t>
            </a:r>
          </a:p>
        </p:txBody>
      </p:sp>
      <p:sp>
        <p:nvSpPr>
          <p:cNvPr id="91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0191B8C7-2AA1-49C3-B0CF-91DE828E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E8B44C"/>
                </a:solidFill>
              </a:defRPr>
            </a:pPr>
            <a:r>
              <a:rPr sz="1875" b="1">
                <a:solidFill>
                  <a:srgbClr val="E8B44C"/>
                </a:solidFill>
              </a:rPr>
              <a:t>Evaluation preview · not a release poster</a:t>
            </a:r>
          </a:p>
        </p:txBody>
      </p:sp>
    </p:spTree>
    <p:extLst>
      <p:ext uri="{BB962C8B-B14F-4D97-AF65-F5344CB8AC3E}">
        <p14:creationId xmlns:p14="http://schemas.microsoft.com/office/powerpoint/2010/main" val="2466065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2026-08-08T08:04:32.0380000Z</dcterms:created>
  <dcterms:modified xsi:type="dcterms:W3CDTF">2026-08-08T08:04:32.0380000Z</dcterms:modified>
</coreProperties>
</file>