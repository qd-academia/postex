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2f54d235984b11" /><Relationship Type="http://schemas.openxmlformats.org/officeDocument/2006/relationships/extended-properties" Target="/docProps/app.xml" Id="R6b0a230babaa414d" /><Relationship Type="http://schemas.openxmlformats.org/officeDocument/2006/relationships/officeDocument" Target="/ppt/presentation.xml" Id="R9aec5ebfc9c546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0f6850c9a946e1"/>
  </p:sldMasterIdLst>
  <p:notesMasterIdLst>
    <p:notesMasterId xmlns:r="http://schemas.openxmlformats.org/officeDocument/2006/relationships" r:id="R3537b31fe0bd4231"/>
  </p:notesMasterIdLst>
  <p:sldIdLst>
    <p:sldId xmlns:r="http://schemas.openxmlformats.org/officeDocument/2006/relationships" id="256" r:id="R3e5f54e294b844e4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515f28741049f9" /><Relationship Type="http://schemas.openxmlformats.org/officeDocument/2006/relationships/slideMaster" Target="/ppt/slideMasters/slideMaster1.xml" Id="R240f6850c9a946e1" /><Relationship Type="http://schemas.openxmlformats.org/officeDocument/2006/relationships/notesMaster" Target="/ppt/notesMasters/notesMaster1.xml" Id="R3537b31fe0bd4231" /><Relationship Type="http://schemas.openxmlformats.org/officeDocument/2006/relationships/presProps" Target="/ppt/presProps.xml" Id="R304de29b6edf4a40" /><Relationship Type="http://schemas.openxmlformats.org/officeDocument/2006/relationships/tableStyles" Target="/ppt/tableStyles.xml" Id="Rfbb00b86368b4fd3" /><Relationship Type="http://schemas.openxmlformats.org/officeDocument/2006/relationships/slide" Target="/ppt/slides/slide1.xml" Id="R3e5f54e294b844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29c6471abd44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ef94dcc85d4409" /><Relationship Type="http://schemas.openxmlformats.org/officeDocument/2006/relationships/notesMaster" Target="/ppt/notesMasters/notesMaster1.xml" Id="R2be4811044bd42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examples/homepage-fictional-evidence/lumen-24-source.yaml</a:t>
            </a:r>
          </a:p>
          <a:p xmlns:a="http://schemas.openxmlformats.org/drawingml/2006/main">
            <a:r>
              <a:t>- License: CC0-1.0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cae4e1ea541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4748e02e8b4901" /><Relationship Type="http://schemas.openxmlformats.org/officeDocument/2006/relationships/slideLayout" Target="/ppt/slideLayouts/slideLayout1.xml" Id="R67e5ed38a8ca4b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5ed38a8ca4b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5dc6de25640f6" /><Relationship Type="http://schemas.openxmlformats.org/officeDocument/2006/relationships/notesSlide" Target="/ppt/notesSlides/notesSlide1.xml" Id="R2209378f933b44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4919D56-4387-4609-A55E-DE0CACFD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cape-gradient-1">
            <a:extLst xmlns:a="http://schemas.openxmlformats.org/drawingml/2006/main">
              <a:ext uri="{FF2B5EF4-FFF2-40B4-BE49-F238E27FC236}">
                <a16:creationId xmlns:a16="http://schemas.microsoft.com/office/drawing/2014/main" id="{FCAABD92-3536-4F4A-8A49-7664C666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cape-gradient-2">
            <a:extLst xmlns:a="http://schemas.openxmlformats.org/drawingml/2006/main">
              <a:ext uri="{FF2B5EF4-FFF2-40B4-BE49-F238E27FC236}">
                <a16:creationId xmlns:a16="http://schemas.microsoft.com/office/drawing/2014/main" id="{7DE04A9B-E7C1-49D4-9CC0-BB4F5AE4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op-cape-gradient-3">
            <a:extLst xmlns:a="http://schemas.openxmlformats.org/drawingml/2006/main">
              <a:ext uri="{FF2B5EF4-FFF2-40B4-BE49-F238E27FC236}">
                <a16:creationId xmlns:a16="http://schemas.microsoft.com/office/drawing/2014/main" id="{BC2596A2-9808-4700-9C39-43D9718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op-cape-gradient-4">
            <a:extLst xmlns:a="http://schemas.openxmlformats.org/drawingml/2006/main">
              <a:ext uri="{FF2B5EF4-FFF2-40B4-BE49-F238E27FC236}">
                <a16:creationId xmlns:a16="http://schemas.microsoft.com/office/drawing/2014/main" id="{A59653FE-6ADD-4BEE-A394-86C82BB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op-cape-gradient-5">
            <a:extLst xmlns:a="http://schemas.openxmlformats.org/drawingml/2006/main">
              <a:ext uri="{FF2B5EF4-FFF2-40B4-BE49-F238E27FC236}">
                <a16:creationId xmlns:a16="http://schemas.microsoft.com/office/drawing/2014/main" id="{7857A621-BCF5-4237-BF2B-3017707E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66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cape-gradient-6">
            <a:extLst xmlns:a="http://schemas.openxmlformats.org/drawingml/2006/main">
              <a:ext uri="{FF2B5EF4-FFF2-40B4-BE49-F238E27FC236}">
                <a16:creationId xmlns:a16="http://schemas.microsoft.com/office/drawing/2014/main" id="{ED7691E6-0BBA-45F6-BBB9-27486C5C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33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p-cape-gradient-7">
            <a:extLst xmlns:a="http://schemas.openxmlformats.org/drawingml/2006/main">
              <a:ext uri="{FF2B5EF4-FFF2-40B4-BE49-F238E27FC236}">
                <a16:creationId xmlns:a16="http://schemas.microsoft.com/office/drawing/2014/main" id="{06926991-F1A3-4B25-A8CF-3704992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0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p-cape-gradient-8">
            <a:extLst xmlns:a="http://schemas.openxmlformats.org/drawingml/2006/main">
              <a:ext uri="{FF2B5EF4-FFF2-40B4-BE49-F238E27FC236}">
                <a16:creationId xmlns:a16="http://schemas.microsoft.com/office/drawing/2014/main" id="{BF70B138-3139-465E-86C2-46BADFCC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7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op-cape-gradient-9">
            <a:extLst xmlns:a="http://schemas.openxmlformats.org/drawingml/2006/main">
              <a:ext uri="{FF2B5EF4-FFF2-40B4-BE49-F238E27FC236}">
                <a16:creationId xmlns:a16="http://schemas.microsoft.com/office/drawing/2014/main" id="{7D57F5B6-EC62-4C3D-81F6-EF853E32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op-cape-gradient-10">
            <a:extLst xmlns:a="http://schemas.openxmlformats.org/drawingml/2006/main">
              <a:ext uri="{FF2B5EF4-FFF2-40B4-BE49-F238E27FC236}">
                <a16:creationId xmlns:a16="http://schemas.microsoft.com/office/drawing/2014/main" id="{408AC1D0-DE7D-4F69-8888-6312042F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00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p-cape-gradient-11">
            <a:extLst xmlns:a="http://schemas.openxmlformats.org/drawingml/2006/main">
              <a:ext uri="{FF2B5EF4-FFF2-40B4-BE49-F238E27FC236}">
                <a16:creationId xmlns:a16="http://schemas.microsoft.com/office/drawing/2014/main" id="{7F0E2309-18FC-42A0-9A39-E110BE81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p-cape-gradient-12">
            <a:extLst xmlns:a="http://schemas.openxmlformats.org/drawingml/2006/main">
              <a:ext uri="{FF2B5EF4-FFF2-40B4-BE49-F238E27FC236}">
                <a16:creationId xmlns:a16="http://schemas.microsoft.com/office/drawing/2014/main" id="{F7F9D580-BA1D-4DEF-B6D5-BF8055BD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33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p-cape-gradient-13">
            <a:extLst xmlns:a="http://schemas.openxmlformats.org/drawingml/2006/main">
              <a:ext uri="{FF2B5EF4-FFF2-40B4-BE49-F238E27FC236}">
                <a16:creationId xmlns:a16="http://schemas.microsoft.com/office/drawing/2014/main" id="{39A9AAEB-97D2-4595-9CDC-9A9DD48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00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p-cape-gradient-14">
            <a:extLst xmlns:a="http://schemas.openxmlformats.org/drawingml/2006/main">
              <a:ext uri="{FF2B5EF4-FFF2-40B4-BE49-F238E27FC236}">
                <a16:creationId xmlns:a16="http://schemas.microsoft.com/office/drawing/2014/main" id="{013B71B9-86B9-4EED-9955-7113EEA9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67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p-cape-gradient-15">
            <a:extLst xmlns:a="http://schemas.openxmlformats.org/drawingml/2006/main">
              <a:ext uri="{FF2B5EF4-FFF2-40B4-BE49-F238E27FC236}">
                <a16:creationId xmlns:a16="http://schemas.microsoft.com/office/drawing/2014/main" id="{FE0FDCD4-0FF1-45B8-BEFA-C706B144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734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p-cape-gradient-16">
            <a:extLst xmlns:a="http://schemas.openxmlformats.org/drawingml/2006/main">
              <a:ext uri="{FF2B5EF4-FFF2-40B4-BE49-F238E27FC236}">
                <a16:creationId xmlns:a16="http://schemas.microsoft.com/office/drawing/2014/main" id="{1CDA0CC4-4D09-44F5-AF7C-AA39D8E4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00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p-cape-gradient-17">
            <a:extLst xmlns:a="http://schemas.openxmlformats.org/drawingml/2006/main">
              <a:ext uri="{FF2B5EF4-FFF2-40B4-BE49-F238E27FC236}">
                <a16:creationId xmlns:a16="http://schemas.microsoft.com/office/drawing/2014/main" id="{7FC36259-A563-4B3E-B13E-E1551C54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7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op-cape-gradient-18">
            <a:extLst xmlns:a="http://schemas.openxmlformats.org/drawingml/2006/main">
              <a:ext uri="{FF2B5EF4-FFF2-40B4-BE49-F238E27FC236}">
                <a16:creationId xmlns:a16="http://schemas.microsoft.com/office/drawing/2014/main" id="{A2C96E81-4CBF-4818-AF11-AB13AD21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34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op-cape-gradient-19">
            <a:extLst xmlns:a="http://schemas.openxmlformats.org/drawingml/2006/main">
              <a:ext uri="{FF2B5EF4-FFF2-40B4-BE49-F238E27FC236}">
                <a16:creationId xmlns:a16="http://schemas.microsoft.com/office/drawing/2014/main" id="{F1BC4DA3-E2A9-44EE-93FE-9346209F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800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op-cape-gradient-20">
            <a:extLst xmlns:a="http://schemas.openxmlformats.org/drawingml/2006/main">
              <a:ext uri="{FF2B5EF4-FFF2-40B4-BE49-F238E27FC236}">
                <a16:creationId xmlns:a16="http://schemas.microsoft.com/office/drawing/2014/main" id="{5D291C6A-A762-4BEF-A155-439BC32F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567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op-cape-gradient-21">
            <a:extLst xmlns:a="http://schemas.openxmlformats.org/drawingml/2006/main">
              <a:ext uri="{FF2B5EF4-FFF2-40B4-BE49-F238E27FC236}">
                <a16:creationId xmlns:a16="http://schemas.microsoft.com/office/drawing/2014/main" id="{3ECDE81C-5BA8-4199-AEC7-096B06DA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p-cape-gradient-22">
            <a:extLst xmlns:a="http://schemas.openxmlformats.org/drawingml/2006/main">
              <a:ext uri="{FF2B5EF4-FFF2-40B4-BE49-F238E27FC236}">
                <a16:creationId xmlns:a16="http://schemas.microsoft.com/office/drawing/2014/main" id="{E11C5D3A-F281-4E2A-8452-FA5E4CD4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01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p-cape-gradient-23">
            <a:extLst xmlns:a="http://schemas.openxmlformats.org/drawingml/2006/main">
              <a:ext uri="{FF2B5EF4-FFF2-40B4-BE49-F238E27FC236}">
                <a16:creationId xmlns:a16="http://schemas.microsoft.com/office/drawing/2014/main" id="{9CE7C6FA-543B-4CB3-8EE5-10DEB7BF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867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op-cape-gradient-24">
            <a:extLst xmlns:a="http://schemas.openxmlformats.org/drawingml/2006/main">
              <a:ext uri="{FF2B5EF4-FFF2-40B4-BE49-F238E27FC236}">
                <a16:creationId xmlns:a16="http://schemas.microsoft.com/office/drawing/2014/main" id="{6371C673-1138-4902-950B-557B673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34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p-cape-gradient-25">
            <a:extLst xmlns:a="http://schemas.openxmlformats.org/drawingml/2006/main">
              <a:ext uri="{FF2B5EF4-FFF2-40B4-BE49-F238E27FC236}">
                <a16:creationId xmlns:a16="http://schemas.microsoft.com/office/drawing/2014/main" id="{449EBEB7-0C55-4964-9B5D-E545CB28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401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p-cape-gradient-26">
            <a:extLst xmlns:a="http://schemas.openxmlformats.org/drawingml/2006/main">
              <a:ext uri="{FF2B5EF4-FFF2-40B4-BE49-F238E27FC236}">
                <a16:creationId xmlns:a16="http://schemas.microsoft.com/office/drawing/2014/main" id="{02C5E39A-A5FA-4701-A182-96EF44CF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168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p-cape-gradient-27">
            <a:extLst xmlns:a="http://schemas.openxmlformats.org/drawingml/2006/main">
              <a:ext uri="{FF2B5EF4-FFF2-40B4-BE49-F238E27FC236}">
                <a16:creationId xmlns:a16="http://schemas.microsoft.com/office/drawing/2014/main" id="{432DDE9F-636C-4128-AA2E-8C4C82A2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34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op-cape-gradient-28">
            <a:extLst xmlns:a="http://schemas.openxmlformats.org/drawingml/2006/main">
              <a:ext uri="{FF2B5EF4-FFF2-40B4-BE49-F238E27FC236}">
                <a16:creationId xmlns:a16="http://schemas.microsoft.com/office/drawing/2014/main" id="{5E5E9D54-4DBB-48F0-9B31-E2911A71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701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op-cape-gradient-29">
            <a:extLst xmlns:a="http://schemas.openxmlformats.org/drawingml/2006/main">
              <a:ext uri="{FF2B5EF4-FFF2-40B4-BE49-F238E27FC236}">
                <a16:creationId xmlns:a16="http://schemas.microsoft.com/office/drawing/2014/main" id="{CE168A6A-CE80-4AA7-B378-72B491BE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468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op-cape-gradient-30">
            <a:extLst xmlns:a="http://schemas.openxmlformats.org/drawingml/2006/main">
              <a:ext uri="{FF2B5EF4-FFF2-40B4-BE49-F238E27FC236}">
                <a16:creationId xmlns:a16="http://schemas.microsoft.com/office/drawing/2014/main" id="{2E377C6D-914C-418A-901D-A501F50C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34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op-cape-gradient-31">
            <a:extLst xmlns:a="http://schemas.openxmlformats.org/drawingml/2006/main">
              <a:ext uri="{FF2B5EF4-FFF2-40B4-BE49-F238E27FC236}">
                <a16:creationId xmlns:a16="http://schemas.microsoft.com/office/drawing/2014/main" id="{551390A1-12DA-4DB8-9F36-D96792E6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1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op-cape-gradient-32">
            <a:extLst xmlns:a="http://schemas.openxmlformats.org/drawingml/2006/main">
              <a:ext uri="{FF2B5EF4-FFF2-40B4-BE49-F238E27FC236}">
                <a16:creationId xmlns:a16="http://schemas.microsoft.com/office/drawing/2014/main" id="{1FAF1B49-3CF9-40B4-9F6F-D87EAC44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768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eader-cape-gradient-1">
            <a:extLst xmlns:a="http://schemas.openxmlformats.org/drawingml/2006/main">
              <a:ext uri="{FF2B5EF4-FFF2-40B4-BE49-F238E27FC236}">
                <a16:creationId xmlns:a16="http://schemas.microsoft.com/office/drawing/2014/main" id="{85578F0E-E0AD-4528-82C3-BD2E3E8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eader-cape-gradient-2">
            <a:extLst xmlns:a="http://schemas.openxmlformats.org/drawingml/2006/main">
              <a:ext uri="{FF2B5EF4-FFF2-40B4-BE49-F238E27FC236}">
                <a16:creationId xmlns:a16="http://schemas.microsoft.com/office/drawing/2014/main" id="{FAE8DDDC-2DFD-43A8-B25B-6E6757DA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eader-cape-gradient-3">
            <a:extLst xmlns:a="http://schemas.openxmlformats.org/drawingml/2006/main">
              <a:ext uri="{FF2B5EF4-FFF2-40B4-BE49-F238E27FC236}">
                <a16:creationId xmlns:a16="http://schemas.microsoft.com/office/drawing/2014/main" id="{96CF1025-3CFB-4F6F-966C-12B4FC61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eader-cape-gradient-4">
            <a:extLst xmlns:a="http://schemas.openxmlformats.org/drawingml/2006/main">
              <a:ext uri="{FF2B5EF4-FFF2-40B4-BE49-F238E27FC236}">
                <a16:creationId xmlns:a16="http://schemas.microsoft.com/office/drawing/2014/main" id="{791F822D-303C-4284-9019-8B304532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eader-cape-gradient-5">
            <a:extLst xmlns:a="http://schemas.openxmlformats.org/drawingml/2006/main">
              <a:ext uri="{FF2B5EF4-FFF2-40B4-BE49-F238E27FC236}">
                <a16:creationId xmlns:a16="http://schemas.microsoft.com/office/drawing/2014/main" id="{8863FF99-5851-4028-A68C-77AA52C1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66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ader-cape-gradient-6">
            <a:extLst xmlns:a="http://schemas.openxmlformats.org/drawingml/2006/main">
              <a:ext uri="{FF2B5EF4-FFF2-40B4-BE49-F238E27FC236}">
                <a16:creationId xmlns:a16="http://schemas.microsoft.com/office/drawing/2014/main" id="{C11376DE-B963-4037-9E81-62CD54EC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33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eader-cape-gradient-7">
            <a:extLst xmlns:a="http://schemas.openxmlformats.org/drawingml/2006/main">
              <a:ext uri="{FF2B5EF4-FFF2-40B4-BE49-F238E27FC236}">
                <a16:creationId xmlns:a16="http://schemas.microsoft.com/office/drawing/2014/main" id="{6E0EB8B2-9B97-4B58-A446-AA428D8F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0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eader-cape-gradient-8">
            <a:extLst xmlns:a="http://schemas.openxmlformats.org/drawingml/2006/main">
              <a:ext uri="{FF2B5EF4-FFF2-40B4-BE49-F238E27FC236}">
                <a16:creationId xmlns:a16="http://schemas.microsoft.com/office/drawing/2014/main" id="{9863C5F4-FA01-4EDF-9A23-99881E4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7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eader-cape-gradient-9">
            <a:extLst xmlns:a="http://schemas.openxmlformats.org/drawingml/2006/main">
              <a:ext uri="{FF2B5EF4-FFF2-40B4-BE49-F238E27FC236}">
                <a16:creationId xmlns:a16="http://schemas.microsoft.com/office/drawing/2014/main" id="{881ACB4B-652B-4CFC-81CD-8EF7670E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eader-cape-gradient-10">
            <a:extLst xmlns:a="http://schemas.openxmlformats.org/drawingml/2006/main">
              <a:ext uri="{FF2B5EF4-FFF2-40B4-BE49-F238E27FC236}">
                <a16:creationId xmlns:a16="http://schemas.microsoft.com/office/drawing/2014/main" id="{5D07B4DE-916E-44FA-9879-E77AD101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00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eader-cape-gradient-11">
            <a:extLst xmlns:a="http://schemas.openxmlformats.org/drawingml/2006/main">
              <a:ext uri="{FF2B5EF4-FFF2-40B4-BE49-F238E27FC236}">
                <a16:creationId xmlns:a16="http://schemas.microsoft.com/office/drawing/2014/main" id="{6305E88D-1824-4B5A-B175-24A099B6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eader-cape-gradient-12">
            <a:extLst xmlns:a="http://schemas.openxmlformats.org/drawingml/2006/main">
              <a:ext uri="{FF2B5EF4-FFF2-40B4-BE49-F238E27FC236}">
                <a16:creationId xmlns:a16="http://schemas.microsoft.com/office/drawing/2014/main" id="{A492376C-CF14-4B5C-98F0-8087F0B6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33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eader-cape-gradient-13">
            <a:extLst xmlns:a="http://schemas.openxmlformats.org/drawingml/2006/main">
              <a:ext uri="{FF2B5EF4-FFF2-40B4-BE49-F238E27FC236}">
                <a16:creationId xmlns:a16="http://schemas.microsoft.com/office/drawing/2014/main" id="{4EF15976-A03A-40FA-823C-C71BB8D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00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eader-cape-gradient-14">
            <a:extLst xmlns:a="http://schemas.openxmlformats.org/drawingml/2006/main">
              <a:ext uri="{FF2B5EF4-FFF2-40B4-BE49-F238E27FC236}">
                <a16:creationId xmlns:a16="http://schemas.microsoft.com/office/drawing/2014/main" id="{C556C9F1-C8D5-416C-B97C-5010136E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67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eader-cape-gradient-15">
            <a:extLst xmlns:a="http://schemas.openxmlformats.org/drawingml/2006/main">
              <a:ext uri="{FF2B5EF4-FFF2-40B4-BE49-F238E27FC236}">
                <a16:creationId xmlns:a16="http://schemas.microsoft.com/office/drawing/2014/main" id="{AA26732A-6AF3-4FFC-BECA-2B4ABB6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734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eader-cape-gradient-16">
            <a:extLst xmlns:a="http://schemas.openxmlformats.org/drawingml/2006/main">
              <a:ext uri="{FF2B5EF4-FFF2-40B4-BE49-F238E27FC236}">
                <a16:creationId xmlns:a16="http://schemas.microsoft.com/office/drawing/2014/main" id="{44D028AD-E87F-4B21-85E5-9822F8A6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00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eader-cape-gradient-17">
            <a:extLst xmlns:a="http://schemas.openxmlformats.org/drawingml/2006/main">
              <a:ext uri="{FF2B5EF4-FFF2-40B4-BE49-F238E27FC236}">
                <a16:creationId xmlns:a16="http://schemas.microsoft.com/office/drawing/2014/main" id="{DC0119D0-8D16-4FA8-9802-49F28EE7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7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eader-cape-gradient-18">
            <a:extLst xmlns:a="http://schemas.openxmlformats.org/drawingml/2006/main">
              <a:ext uri="{FF2B5EF4-FFF2-40B4-BE49-F238E27FC236}">
                <a16:creationId xmlns:a16="http://schemas.microsoft.com/office/drawing/2014/main" id="{2B9F0FCC-84FD-416B-A687-035F093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34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eader-cape-gradient-19">
            <a:extLst xmlns:a="http://schemas.openxmlformats.org/drawingml/2006/main">
              <a:ext uri="{FF2B5EF4-FFF2-40B4-BE49-F238E27FC236}">
                <a16:creationId xmlns:a16="http://schemas.microsoft.com/office/drawing/2014/main" id="{BB64C0C1-1DDD-4A25-BE90-4FC10FF1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800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eader-cape-gradient-20">
            <a:extLst xmlns:a="http://schemas.openxmlformats.org/drawingml/2006/main">
              <a:ext uri="{FF2B5EF4-FFF2-40B4-BE49-F238E27FC236}">
                <a16:creationId xmlns:a16="http://schemas.microsoft.com/office/drawing/2014/main" id="{A4FAE6B3-70EF-4AB7-B62C-4C404D66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567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eader-cape-gradient-21">
            <a:extLst xmlns:a="http://schemas.openxmlformats.org/drawingml/2006/main">
              <a:ext uri="{FF2B5EF4-FFF2-40B4-BE49-F238E27FC236}">
                <a16:creationId xmlns:a16="http://schemas.microsoft.com/office/drawing/2014/main" id="{ED7A09A1-F7AD-4768-9BAB-FE71C6F5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der-cape-gradient-22">
            <a:extLst xmlns:a="http://schemas.openxmlformats.org/drawingml/2006/main">
              <a:ext uri="{FF2B5EF4-FFF2-40B4-BE49-F238E27FC236}">
                <a16:creationId xmlns:a16="http://schemas.microsoft.com/office/drawing/2014/main" id="{BE1188C6-FB9A-49C1-B03D-19D49FFE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01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eader-cape-gradient-23">
            <a:extLst xmlns:a="http://schemas.openxmlformats.org/drawingml/2006/main">
              <a:ext uri="{FF2B5EF4-FFF2-40B4-BE49-F238E27FC236}">
                <a16:creationId xmlns:a16="http://schemas.microsoft.com/office/drawing/2014/main" id="{37543A87-4007-42A3-B63E-43C1436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867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eader-cape-gradient-24">
            <a:extLst xmlns:a="http://schemas.openxmlformats.org/drawingml/2006/main">
              <a:ext uri="{FF2B5EF4-FFF2-40B4-BE49-F238E27FC236}">
                <a16:creationId xmlns:a16="http://schemas.microsoft.com/office/drawing/2014/main" id="{EE8512A7-0248-4265-B5CA-FCE83C47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34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eader-cape-gradient-25">
            <a:extLst xmlns:a="http://schemas.openxmlformats.org/drawingml/2006/main">
              <a:ext uri="{FF2B5EF4-FFF2-40B4-BE49-F238E27FC236}">
                <a16:creationId xmlns:a16="http://schemas.microsoft.com/office/drawing/2014/main" id="{5D10E9E3-2BE1-4EA7-8F47-1E578504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401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eader-cape-gradient-26">
            <a:extLst xmlns:a="http://schemas.openxmlformats.org/drawingml/2006/main">
              <a:ext uri="{FF2B5EF4-FFF2-40B4-BE49-F238E27FC236}">
                <a16:creationId xmlns:a16="http://schemas.microsoft.com/office/drawing/2014/main" id="{A78D7BD9-E3EF-49C4-B742-BED6B54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168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eader-cape-gradient-27">
            <a:extLst xmlns:a="http://schemas.openxmlformats.org/drawingml/2006/main">
              <a:ext uri="{FF2B5EF4-FFF2-40B4-BE49-F238E27FC236}">
                <a16:creationId xmlns:a16="http://schemas.microsoft.com/office/drawing/2014/main" id="{907E0FAF-9059-43EB-8701-AB3F7A4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34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eader-cape-gradient-28">
            <a:extLst xmlns:a="http://schemas.openxmlformats.org/drawingml/2006/main">
              <a:ext uri="{FF2B5EF4-FFF2-40B4-BE49-F238E27FC236}">
                <a16:creationId xmlns:a16="http://schemas.microsoft.com/office/drawing/2014/main" id="{203F1A09-0C3E-4C1E-B632-EE04FEC5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701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eader-cape-gradient-29">
            <a:extLst xmlns:a="http://schemas.openxmlformats.org/drawingml/2006/main">
              <a:ext uri="{FF2B5EF4-FFF2-40B4-BE49-F238E27FC236}">
                <a16:creationId xmlns:a16="http://schemas.microsoft.com/office/drawing/2014/main" id="{625571DB-904E-4DF1-ABA2-CD7419D7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468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eader-cape-gradient-30">
            <a:extLst xmlns:a="http://schemas.openxmlformats.org/drawingml/2006/main">
              <a:ext uri="{FF2B5EF4-FFF2-40B4-BE49-F238E27FC236}">
                <a16:creationId xmlns:a16="http://schemas.microsoft.com/office/drawing/2014/main" id="{D5AA0ADE-D27B-445D-BA38-00DA907B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34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eader-cape-gradient-31">
            <a:extLst xmlns:a="http://schemas.openxmlformats.org/drawingml/2006/main">
              <a:ext uri="{FF2B5EF4-FFF2-40B4-BE49-F238E27FC236}">
                <a16:creationId xmlns:a16="http://schemas.microsoft.com/office/drawing/2014/main" id="{9DE24846-B94A-4049-9C00-69E9ACE9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1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eader-cape-gradient-32">
            <a:extLst xmlns:a="http://schemas.openxmlformats.org/drawingml/2006/main">
              <a:ext uri="{FF2B5EF4-FFF2-40B4-BE49-F238E27FC236}">
                <a16:creationId xmlns:a16="http://schemas.microsoft.com/office/drawing/2014/main" id="{14F2D386-7492-4593-BEE6-B5A0E1D7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768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BD62A073-EA39-4D20-BDDE-7ED24B5A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LUMEN-24: synthetic observational evidence audit</a:t>
            </a:r>
          </a:p>
        </p:txBody>
      </p:sp>
      <p:sp>
        <p:nvSpPr>
          <p:cNvPr id="67" name="authors">
            <a:extLst xmlns:a="http://schemas.openxmlformats.org/drawingml/2006/main">
              <a:ext uri="{FF2B5EF4-FFF2-40B4-BE49-F238E27FC236}">
                <a16:creationId xmlns:a16="http://schemas.microsoft.com/office/drawing/2014/main" id="{CF65071D-14BA-4D23-AA57-A5CFCA51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Source-grounded PostEx evaluation fixture</a:t>
            </a:r>
          </a:p>
        </p:txBody>
      </p:sp>
      <p:sp>
        <p:nvSpPr>
          <p:cNvPr id="68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158AF0BB-2DE6-493C-B5DA-5757F210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2EE"/>
                </a:solidFill>
              </a:defRPr>
            </a:pPr>
            <a:r>
              <a:rPr sz="2175">
                <a:solidFill>
                  <a:srgbClr val="F6F2EE"/>
                </a:solidFill>
              </a:rPr>
              <a:t>Observational profile · CC0-1.0</a:t>
            </a:r>
          </a:p>
        </p:txBody>
      </p:sp>
      <p:sp>
        <p:nvSpPr>
          <p:cNvPr id="69" name="citation">
            <a:extLst xmlns:a="http://schemas.openxmlformats.org/drawingml/2006/main">
              <a:ext uri="{FF2B5EF4-FFF2-40B4-BE49-F238E27FC236}">
                <a16:creationId xmlns:a16="http://schemas.microsoft.com/office/drawing/2014/main" id="{74A63330-0CCA-4109-B419-B0DE879F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5BC6C"/>
                </a:solidFill>
              </a:defRPr>
            </a:pPr>
            <a:r>
              <a:rPr sz="1950" b="1">
                <a:solidFill>
                  <a:srgbClr val="E5BC6C"/>
                </a:solidFill>
              </a:rPr>
              <a:t>Synthetic ID POSTEX-SYNTH-OBS-2026-001</a:t>
            </a:r>
          </a:p>
        </p:txBody>
      </p:sp>
      <p:sp>
        <p:nvSpPr>
          <p:cNvPr id="70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82FFA3A8-366D-4FB5-90ED-4A11912B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71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991C697B-7D23-49E7-B5F7-9B78CA74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E5C78"/>
                </a:solidFill>
              </a:defRPr>
            </a:pPr>
            <a:r>
              <a:rPr sz="2025" b="1">
                <a:solidFill>
                  <a:srgbClr val="3E5C78"/>
                </a:solidFill>
              </a:rPr>
              <a:t>Institution logo</a:t>
            </a:r>
          </a:p>
        </p:txBody>
      </p:sp>
      <p:sp>
        <p:nvSpPr>
          <p:cNvPr id="72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E63C138D-A1CD-48D4-B980-076FC19A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ECD3BCFE-4D7D-4467-ABA0-AB2AFB39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E5C78"/>
                </a:solidFill>
              </a:defRPr>
            </a:pPr>
            <a:r>
              <a:rPr sz="5100" b="1">
                <a:solidFill>
                  <a:srgbClr val="3E5C78"/>
                </a:solidFill>
              </a:rPr>
              <a:t>2,400</a:t>
            </a:r>
          </a:p>
        </p:txBody>
      </p:sp>
      <p:sp>
        <p:nvSpPr>
          <p:cNvPr id="74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0617B962-C21D-4FB1-BB34-D9FE8656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records</a:t>
            </a:r>
          </a:p>
        </p:txBody>
      </p:sp>
      <p:sp>
        <p:nvSpPr>
          <p:cNvPr id="75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DB96212D-A9EA-4B3B-B482-FDC96955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87AA1"/>
                </a:solidFill>
              </a:defRPr>
            </a:pPr>
            <a:r>
              <a:rPr sz="5100" b="1">
                <a:solidFill>
                  <a:srgbClr val="487AA1"/>
                </a:solidFill>
              </a:rPr>
              <a:t>3</a:t>
            </a:r>
          </a:p>
        </p:txBody>
      </p:sp>
      <p:sp>
        <p:nvSpPr>
          <p:cNvPr id="76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A281CC1D-2577-47A5-9531-D7D2982D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centers</a:t>
            </a:r>
          </a:p>
        </p:txBody>
      </p:sp>
      <p:sp>
        <p:nvSpPr>
          <p:cNvPr id="77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0C6B5702-9DA3-49A0-AE8B-69AD0E5A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E5BC6C"/>
                </a:solidFill>
              </a:defRPr>
            </a:pPr>
            <a:r>
              <a:rPr sz="4425" b="1">
                <a:solidFill>
                  <a:srgbClr val="E5BC6C"/>
                </a:solidFill>
              </a:rPr>
              <a:t>HR=1.18</a:t>
            </a:r>
          </a:p>
        </p:txBody>
      </p:sp>
      <p:sp>
        <p:nvSpPr>
          <p:cNvPr id="78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7FCA0A0C-0AE4-4233-96C6-6FF0D850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adjusted effect</a:t>
            </a:r>
          </a:p>
        </p:txBody>
      </p:sp>
      <p:sp>
        <p:nvSpPr>
          <p:cNvPr id="79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13647AB-4052-40CC-870F-A9536E93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Communication objective</a:t>
            </a:r>
          </a:p>
        </p:txBody>
      </p:sp>
      <p:sp>
        <p:nvSpPr>
          <p:cNvPr id="80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ED282D07-2EBE-40C7-A11B-7F419C99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0018B83E-1B2B-4695-B931-6A85F4E0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Present the paper's design, central evidence and interpretation boundary in a traceable conference-poster format.</a:t>
            </a:r>
          </a:p>
        </p:txBody>
      </p:sp>
      <p:sp>
        <p:nvSpPr>
          <p:cNvPr id="82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1E03228C-C4AA-4BBA-8377-3419C56A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 fixture: POSTEX-SYNTH-OBS-2026-001</a:t>
            </a:r>
          </a:p>
        </p:txBody>
      </p:sp>
      <p:sp>
        <p:nvSpPr>
          <p:cNvPr id="83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0D5DCD87-7F58-45E1-BD6B-B87A5F34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Required evidence structure</a:t>
            </a:r>
          </a:p>
        </p:txBody>
      </p:sp>
      <p:sp>
        <p:nvSpPr>
          <p:cNvPr id="84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BB090C60-5A36-4693-B1E3-E8F6CDB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83B19EAF-66CF-4304-B84D-D6C68082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F0757C63-62C7-4727-AAEA-828F5AA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1</a:t>
            </a:r>
          </a:p>
        </p:txBody>
      </p:sp>
      <p:sp>
        <p:nvSpPr>
          <p:cNvPr id="87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61E6D435-9E79-4696-B713-6202AE08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Research Question</a:t>
            </a:r>
          </a:p>
        </p:txBody>
      </p:sp>
      <p:sp>
        <p:nvSpPr>
          <p:cNvPr id="88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443C6379-0BBF-4EE4-AA18-0237B097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FEB58D6A-63DF-4D8C-B2AD-A56553F9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2</a:t>
            </a:r>
          </a:p>
        </p:txBody>
      </p:sp>
      <p:sp>
        <p:nvSpPr>
          <p:cNvPr id="90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9B0525DF-FB92-4199-8AA6-CACA179D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Datasets</a:t>
            </a:r>
          </a:p>
        </p:txBody>
      </p:sp>
      <p:sp>
        <p:nvSpPr>
          <p:cNvPr id="91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FBA0733A-ED7F-4681-BB24-878DA0A1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84A8FA7E-595C-4061-A07F-41A851BA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3</a:t>
            </a:r>
          </a:p>
        </p:txBody>
      </p:sp>
      <p:sp>
        <p:nvSpPr>
          <p:cNvPr id="93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9C905750-4EE5-4CD8-8FB8-B03D67D8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Analysis Pipeline</a:t>
            </a:r>
          </a:p>
        </p:txBody>
      </p:sp>
      <p:sp>
        <p:nvSpPr>
          <p:cNvPr id="94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2F35378A-3CD8-4EF9-B6AB-C78EDE8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97DD69B3-CA53-4EDA-B6C8-2706905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4</a:t>
            </a:r>
          </a:p>
        </p:txBody>
      </p:sp>
      <p:sp>
        <p:nvSpPr>
          <p:cNvPr id="96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B6BFB571-3F4E-472E-83A5-BEE9FC6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Key Results</a:t>
            </a:r>
          </a:p>
        </p:txBody>
      </p:sp>
      <p:sp>
        <p:nvSpPr>
          <p:cNvPr id="97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66F426E9-125C-4043-97CD-3AE996CB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98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6D3E1A28-C6C1-4DBF-AAB9-D9C4B7B8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E5C78"/>
                </a:solidFill>
              </a:defRPr>
            </a:pPr>
            <a:r>
              <a:rPr sz="2175" b="1">
                <a:solidFill>
                  <a:srgbClr val="3E5C78"/>
                </a:solidFill>
              </a:rPr>
              <a:t>SOURCE CONTRACT</a:t>
            </a:r>
          </a:p>
        </p:txBody>
      </p:sp>
      <p:sp>
        <p:nvSpPr>
          <p:cNvPr id="99" name="datasets">
            <a:extLst xmlns:a="http://schemas.openxmlformats.org/drawingml/2006/main">
              <a:ext uri="{FF2B5EF4-FFF2-40B4-BE49-F238E27FC236}">
                <a16:creationId xmlns:a16="http://schemas.microsoft.com/office/drawing/2014/main" id="{385D6278-EDA7-43ED-91EA-F35B410B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Input: full paper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License: CC0-1.0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Profile: observational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Claims checked: 5</a:t>
            </a:r>
          </a:p>
        </p:txBody>
      </p:sp>
      <p:sp>
        <p:nvSpPr>
          <p:cNvPr id="100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798D9C5D-C68C-4976-9AE7-B38A80AB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examples/homepage-fictional-evidence/lumen-24-source.yaml</a:t>
            </a:r>
          </a:p>
        </p:txBody>
      </p:sp>
      <p:sp>
        <p:nvSpPr>
          <p:cNvPr id="101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4BFAC185-ECCB-4F6D-9440-505CD027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Methods and source evidence</a:t>
            </a:r>
          </a:p>
        </p:txBody>
      </p:sp>
      <p:sp>
        <p:nvSpPr>
          <p:cNvPr id="102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A319DD5B-CE25-4987-A42C-501178CA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450FC13A-C8CB-4D91-AB70-9B08AACE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04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1E4F2722-1246-4EAD-A199-6C4C2228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2EE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105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CFB37229-1E46-4168-B991-A3F135A7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87AA1"/>
                </a:solidFill>
              </a:defRPr>
            </a:pPr>
            <a:r>
              <a:rPr sz="2700" b="1">
                <a:solidFill>
                  <a:srgbClr val="487AA1"/>
                </a:solidFill>
              </a:rPr>
              <a:t>SOURCE FIGURE SLOT</a:t>
            </a:r>
          </a:p>
        </p:txBody>
      </p:sp>
      <p:sp>
        <p:nvSpPr>
          <p:cNvPr id="106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0B12AF46-EF53-4B0A-AA68-85CC8643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Source figure selected during full-paper generation</a:t>
            </a:r>
          </a:p>
        </p:txBody>
      </p:sp>
      <p:sp>
        <p:nvSpPr>
          <p:cNvPr id="107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9C018EC1-470F-4403-BEF8-B0D49A05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Source: POSTEX-SYNTH-OBS-2026-001</a:t>
            </a:r>
          </a:p>
        </p:txBody>
      </p:sp>
      <p:sp>
        <p:nvSpPr>
          <p:cNvPr id="108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DC571405-BCEC-4B9F-8973-1D805BE3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akeaway-cape-gradient-1">
            <a:extLst xmlns:a="http://schemas.openxmlformats.org/drawingml/2006/main">
              <a:ext uri="{FF2B5EF4-FFF2-40B4-BE49-F238E27FC236}">
                <a16:creationId xmlns:a16="http://schemas.microsoft.com/office/drawing/2014/main" id="{10BEC705-6B4E-4A96-98A2-86CF6350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takeaway-cape-gradient-2">
            <a:extLst xmlns:a="http://schemas.openxmlformats.org/drawingml/2006/main">
              <a:ext uri="{FF2B5EF4-FFF2-40B4-BE49-F238E27FC236}">
                <a16:creationId xmlns:a16="http://schemas.microsoft.com/office/drawing/2014/main" id="{8E760058-3033-4C44-BE77-12105EB0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63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akeaway-cape-gradient-3">
            <a:extLst xmlns:a="http://schemas.openxmlformats.org/drawingml/2006/main">
              <a:ext uri="{FF2B5EF4-FFF2-40B4-BE49-F238E27FC236}">
                <a16:creationId xmlns:a16="http://schemas.microsoft.com/office/drawing/2014/main" id="{D097AB82-A94B-4AC4-AFE0-5E3EF37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773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takeaway-cape-gradient-4">
            <a:extLst xmlns:a="http://schemas.openxmlformats.org/drawingml/2006/main">
              <a:ext uri="{FF2B5EF4-FFF2-40B4-BE49-F238E27FC236}">
                <a16:creationId xmlns:a16="http://schemas.microsoft.com/office/drawing/2014/main" id="{393C82C7-D006-491B-822B-1F46BA6B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691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akeaway-cape-gradient-5">
            <a:extLst xmlns:a="http://schemas.openxmlformats.org/drawingml/2006/main">
              <a:ext uri="{FF2B5EF4-FFF2-40B4-BE49-F238E27FC236}">
                <a16:creationId xmlns:a16="http://schemas.microsoft.com/office/drawing/2014/main" id="{5062D7BA-4FFC-4BEA-AB7E-514A7AE5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404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takeaway-cape-gradient-6">
            <a:extLst xmlns:a="http://schemas.openxmlformats.org/drawingml/2006/main">
              <a:ext uri="{FF2B5EF4-FFF2-40B4-BE49-F238E27FC236}">
                <a16:creationId xmlns:a16="http://schemas.microsoft.com/office/drawing/2014/main" id="{10B58AA9-8D95-43F8-B0D4-C44A2161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118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akeaway-cape-gradient-7">
            <a:extLst xmlns:a="http://schemas.openxmlformats.org/drawingml/2006/main">
              <a:ext uri="{FF2B5EF4-FFF2-40B4-BE49-F238E27FC236}">
                <a16:creationId xmlns:a16="http://schemas.microsoft.com/office/drawing/2014/main" id="{B1FE9F46-F89B-4C12-9F6B-307F1D17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32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takeaway-cape-gradient-8">
            <a:extLst xmlns:a="http://schemas.openxmlformats.org/drawingml/2006/main">
              <a:ext uri="{FF2B5EF4-FFF2-40B4-BE49-F238E27FC236}">
                <a16:creationId xmlns:a16="http://schemas.microsoft.com/office/drawing/2014/main" id="{DA9976A6-D415-4977-95F8-8A6F3058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5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akeaway-cape-gradient-9">
            <a:extLst xmlns:a="http://schemas.openxmlformats.org/drawingml/2006/main">
              <a:ext uri="{FF2B5EF4-FFF2-40B4-BE49-F238E27FC236}">
                <a16:creationId xmlns:a16="http://schemas.microsoft.com/office/drawing/2014/main" id="{9DDC08F0-A89D-4BEA-9C1A-07E7E059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59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akeaway-cape-gradient-10">
            <a:extLst xmlns:a="http://schemas.openxmlformats.org/drawingml/2006/main">
              <a:ext uri="{FF2B5EF4-FFF2-40B4-BE49-F238E27FC236}">
                <a16:creationId xmlns:a16="http://schemas.microsoft.com/office/drawing/2014/main" id="{007EB57E-36B0-482E-8D75-30771997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973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akeaway-cape-gradient-11">
            <a:extLst xmlns:a="http://schemas.openxmlformats.org/drawingml/2006/main">
              <a:ext uri="{FF2B5EF4-FFF2-40B4-BE49-F238E27FC236}">
                <a16:creationId xmlns:a16="http://schemas.microsoft.com/office/drawing/2014/main" id="{D8FA4A07-A7F9-436C-ACEA-CDD53A54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686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takeaway-cape-gradient-12">
            <a:extLst xmlns:a="http://schemas.openxmlformats.org/drawingml/2006/main">
              <a:ext uri="{FF2B5EF4-FFF2-40B4-BE49-F238E27FC236}">
                <a16:creationId xmlns:a16="http://schemas.microsoft.com/office/drawing/2014/main" id="{DDB1C39F-DBF4-4F6F-AD80-EDAF5C04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00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akeaway-cape-gradient-13">
            <a:extLst xmlns:a="http://schemas.openxmlformats.org/drawingml/2006/main">
              <a:ext uri="{FF2B5EF4-FFF2-40B4-BE49-F238E27FC236}">
                <a16:creationId xmlns:a16="http://schemas.microsoft.com/office/drawing/2014/main" id="{41709CC0-8537-4B66-B8D6-37E38B2A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114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takeaway-cape-gradient-14">
            <a:extLst xmlns:a="http://schemas.openxmlformats.org/drawingml/2006/main">
              <a:ext uri="{FF2B5EF4-FFF2-40B4-BE49-F238E27FC236}">
                <a16:creationId xmlns:a16="http://schemas.microsoft.com/office/drawing/2014/main" id="{34087D80-349B-4538-94FC-87EB81EE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827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akeaway-cape-gradient-15">
            <a:extLst xmlns:a="http://schemas.openxmlformats.org/drawingml/2006/main">
              <a:ext uri="{FF2B5EF4-FFF2-40B4-BE49-F238E27FC236}">
                <a16:creationId xmlns:a16="http://schemas.microsoft.com/office/drawing/2014/main" id="{85184874-6395-445D-B2DC-9E2618D8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541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akeaway-cape-gradient-16">
            <a:extLst xmlns:a="http://schemas.openxmlformats.org/drawingml/2006/main">
              <a:ext uri="{FF2B5EF4-FFF2-40B4-BE49-F238E27FC236}">
                <a16:creationId xmlns:a16="http://schemas.microsoft.com/office/drawing/2014/main" id="{16944318-7C36-4CD7-8269-E2C63928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255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takeaway-cape-gradient-17">
            <a:extLst xmlns:a="http://schemas.openxmlformats.org/drawingml/2006/main">
              <a:ext uri="{FF2B5EF4-FFF2-40B4-BE49-F238E27FC236}">
                <a16:creationId xmlns:a16="http://schemas.microsoft.com/office/drawing/2014/main" id="{E8B648EF-FDDA-4460-903D-30490C28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968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akeaway-cape-gradient-18">
            <a:extLst xmlns:a="http://schemas.openxmlformats.org/drawingml/2006/main">
              <a:ext uri="{FF2B5EF4-FFF2-40B4-BE49-F238E27FC236}">
                <a16:creationId xmlns:a16="http://schemas.microsoft.com/office/drawing/2014/main" id="{9BF99F61-4FE8-4E19-9E6A-5CD1DB4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82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takeaway-cape-gradient-19">
            <a:extLst xmlns:a="http://schemas.openxmlformats.org/drawingml/2006/main">
              <a:ext uri="{FF2B5EF4-FFF2-40B4-BE49-F238E27FC236}">
                <a16:creationId xmlns:a16="http://schemas.microsoft.com/office/drawing/2014/main" id="{E391E4AF-1D7C-46D6-9A89-61BB9CA0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396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akeaway-cape-gradient-20">
            <a:extLst xmlns:a="http://schemas.openxmlformats.org/drawingml/2006/main">
              <a:ext uri="{FF2B5EF4-FFF2-40B4-BE49-F238E27FC236}">
                <a16:creationId xmlns:a16="http://schemas.microsoft.com/office/drawing/2014/main" id="{4B89618E-C71E-408A-B83D-C1A581FB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109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takeaway-cape-gradient-21">
            <a:extLst xmlns:a="http://schemas.openxmlformats.org/drawingml/2006/main">
              <a:ext uri="{FF2B5EF4-FFF2-40B4-BE49-F238E27FC236}">
                <a16:creationId xmlns:a16="http://schemas.microsoft.com/office/drawing/2014/main" id="{E8E718A3-2B4B-4410-9E31-ADABE29C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23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akeaway-cape-gradient-22">
            <a:extLst xmlns:a="http://schemas.openxmlformats.org/drawingml/2006/main">
              <a:ext uri="{FF2B5EF4-FFF2-40B4-BE49-F238E27FC236}">
                <a16:creationId xmlns:a16="http://schemas.microsoft.com/office/drawing/2014/main" id="{88F7640C-CC14-4591-A462-2FE5373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537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takeaway-cape-gradient-23">
            <a:extLst xmlns:a="http://schemas.openxmlformats.org/drawingml/2006/main">
              <a:ext uri="{FF2B5EF4-FFF2-40B4-BE49-F238E27FC236}">
                <a16:creationId xmlns:a16="http://schemas.microsoft.com/office/drawing/2014/main" id="{5DB88E36-3F3C-425A-BF62-208FD90A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250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akeaway-cape-gradient-24">
            <a:extLst xmlns:a="http://schemas.openxmlformats.org/drawingml/2006/main">
              <a:ext uri="{FF2B5EF4-FFF2-40B4-BE49-F238E27FC236}">
                <a16:creationId xmlns:a16="http://schemas.microsoft.com/office/drawing/2014/main" id="{01FEF628-9615-4263-A056-035EEE03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964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takeaway-cape-gradient-25">
            <a:extLst xmlns:a="http://schemas.openxmlformats.org/drawingml/2006/main">
              <a:ext uri="{FF2B5EF4-FFF2-40B4-BE49-F238E27FC236}">
                <a16:creationId xmlns:a16="http://schemas.microsoft.com/office/drawing/2014/main" id="{8297A057-9D2E-4EDC-AF09-6243FD40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678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takeaway-cape-gradient-26">
            <a:extLst xmlns:a="http://schemas.openxmlformats.org/drawingml/2006/main">
              <a:ext uri="{FF2B5EF4-FFF2-40B4-BE49-F238E27FC236}">
                <a16:creationId xmlns:a16="http://schemas.microsoft.com/office/drawing/2014/main" id="{EECD7D18-6111-45D1-83A0-DBE5FE62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391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takeaway-cape-gradient-27">
            <a:extLst xmlns:a="http://schemas.openxmlformats.org/drawingml/2006/main">
              <a:ext uri="{FF2B5EF4-FFF2-40B4-BE49-F238E27FC236}">
                <a16:creationId xmlns:a16="http://schemas.microsoft.com/office/drawing/2014/main" id="{13CAF4AB-45B0-4DC3-9855-6C9009B3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05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takeaway-cape-gradient-28">
            <a:extLst xmlns:a="http://schemas.openxmlformats.org/drawingml/2006/main">
              <a:ext uri="{FF2B5EF4-FFF2-40B4-BE49-F238E27FC236}">
                <a16:creationId xmlns:a16="http://schemas.microsoft.com/office/drawing/2014/main" id="{8D4B78F7-9A46-4F64-B97B-6351D0EE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19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akeaway-cape-gradient-29">
            <a:extLst xmlns:a="http://schemas.openxmlformats.org/drawingml/2006/main">
              <a:ext uri="{FF2B5EF4-FFF2-40B4-BE49-F238E27FC236}">
                <a16:creationId xmlns:a16="http://schemas.microsoft.com/office/drawing/2014/main" id="{774FCF36-B956-422B-BEB6-EB6D5A24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532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akeaway-cape-gradient-30">
            <a:extLst xmlns:a="http://schemas.openxmlformats.org/drawingml/2006/main">
              <a:ext uri="{FF2B5EF4-FFF2-40B4-BE49-F238E27FC236}">
                <a16:creationId xmlns:a16="http://schemas.microsoft.com/office/drawing/2014/main" id="{3F655A56-5432-405C-B48A-D09FFD5A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246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takeaway-cape-gradient-31">
            <a:extLst xmlns:a="http://schemas.openxmlformats.org/drawingml/2006/main">
              <a:ext uri="{FF2B5EF4-FFF2-40B4-BE49-F238E27FC236}">
                <a16:creationId xmlns:a16="http://schemas.microsoft.com/office/drawing/2014/main" id="{4025A157-21E9-49A6-BD4B-B4283F31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9602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takeaway-cape-gradient-32">
            <a:extLst xmlns:a="http://schemas.openxmlformats.org/drawingml/2006/main">
              <a:ext uri="{FF2B5EF4-FFF2-40B4-BE49-F238E27FC236}">
                <a16:creationId xmlns:a16="http://schemas.microsoft.com/office/drawing/2014/main" id="{91B906DE-23DD-410D-B1A3-E48B3CC8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673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E4ABCC41-D9F7-448F-A94C-9D9D0271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293F55"/>
                </a:solidFill>
              </a:defRPr>
            </a:pPr>
            <a:r>
              <a:rPr sz="4125" b="1">
                <a:solidFill>
                  <a:srgbClr val="293F55"/>
                </a:solidFill>
              </a:rPr>
              <a:t>2,400</a:t>
            </a:r>
          </a:p>
        </p:txBody>
      </p:sp>
      <p:sp>
        <p:nvSpPr>
          <p:cNvPr id="142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7C5B4C77-0FB9-4F8E-A1D6-4374B3D0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93F55"/>
                </a:solidFill>
              </a:defRPr>
            </a:pPr>
            <a:r>
              <a:rPr sz="2400" b="1">
                <a:solidFill>
                  <a:srgbClr val="293F55"/>
                </a:solidFill>
              </a:rPr>
              <a:t>Key facts remain bound to the source and study design</a:t>
            </a:r>
          </a:p>
        </p:txBody>
      </p:sp>
      <p:sp>
        <p:nvSpPr>
          <p:cNvPr id="143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36F1BFDF-7F55-466B-BDCB-D8242C71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 fixture: POSTEX-SYNTH-OBS-2026-001</a:t>
            </a:r>
          </a:p>
        </p:txBody>
      </p:sp>
      <p:sp>
        <p:nvSpPr>
          <p:cNvPr id="144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F7CC3A3B-1FC8-485E-8796-9566527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Primary evidence</a:t>
            </a:r>
          </a:p>
        </p:txBody>
      </p:sp>
      <p:sp>
        <p:nvSpPr>
          <p:cNvPr id="145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84D5AE21-3CBF-41DA-A299-C13FDC80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77062756-C9C1-457D-8DBC-274F45B9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47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5787D678-BF69-4456-8885-1A356C7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2EE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148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F4693679-52C3-4905-BABC-8DC70E2A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87AA1"/>
                </a:solidFill>
              </a:defRPr>
            </a:pPr>
            <a:r>
              <a:rPr sz="2700" b="1">
                <a:solidFill>
                  <a:srgbClr val="487AA1"/>
                </a:solidFill>
              </a:rPr>
              <a:t>SOURCE FIGURE SLOT</a:t>
            </a:r>
          </a:p>
        </p:txBody>
      </p:sp>
      <p:sp>
        <p:nvSpPr>
          <p:cNvPr id="149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150BB309-4659-45AD-8E79-BB34FD89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Source figure selected during full-paper generation</a:t>
            </a:r>
          </a:p>
        </p:txBody>
      </p:sp>
      <p:sp>
        <p:nvSpPr>
          <p:cNvPr id="150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A318B74D-9800-4B5B-B7CB-7E0EE555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Source: POSTEX-SYNTH-OBS-2026-001</a:t>
            </a:r>
          </a:p>
        </p:txBody>
      </p:sp>
      <p:sp>
        <p:nvSpPr>
          <p:cNvPr id="151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8A1A5BA9-4D41-46D8-BF64-FCF892F1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Required factual anchors</a:t>
            </a:r>
          </a:p>
        </p:txBody>
      </p:sp>
      <p:sp>
        <p:nvSpPr>
          <p:cNvPr id="152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2FC5E8FF-15B7-472A-AC18-07A0A750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88A29558-473A-49C5-B386-08C130A0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54" name="validation">
            <a:extLst xmlns:a="http://schemas.openxmlformats.org/drawingml/2006/main">
              <a:ext uri="{FF2B5EF4-FFF2-40B4-BE49-F238E27FC236}">
                <a16:creationId xmlns:a16="http://schemas.microsoft.com/office/drawing/2014/main" id="{0843946F-F87D-424B-B67C-00C5766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records: 2,400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centers: 3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adjusted effect: HR=1.18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uncertainty: 95% CI 1.05-1.32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negative control: HR=1.01</a:t>
            </a:r>
          </a:p>
        </p:txBody>
      </p:sp>
      <p:sp>
        <p:nvSpPr>
          <p:cNvPr id="155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85D30C92-785D-437B-9D23-1079C65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Ground-truth case: lumen-24-synthetic-observational</a:t>
            </a:r>
          </a:p>
        </p:txBody>
      </p:sp>
      <p:sp>
        <p:nvSpPr>
          <p:cNvPr id="156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F06B5782-C3E9-464A-8DA7-613EB199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5FF511B3-D2BE-42AD-A42E-8C84369B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unsupported numerical or causal expansion permitted</a:t>
            </a:r>
          </a:p>
        </p:txBody>
      </p:sp>
      <p:sp>
        <p:nvSpPr>
          <p:cNvPr id="158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D926F279-60CA-40EC-A0F7-73EE5DF4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Fact checks</a:t>
            </a:r>
          </a:p>
        </p:txBody>
      </p:sp>
      <p:sp>
        <p:nvSpPr>
          <p:cNvPr id="159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757336EB-BA74-4D35-855B-E26EC260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69D20D42-DD4E-4BE1-8CCC-C4775E3B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E5C78"/>
                </a:solidFill>
              </a:defRPr>
            </a:pPr>
            <a:r>
              <a:rPr sz="5100" b="1">
                <a:solidFill>
                  <a:srgbClr val="3E5C78"/>
                </a:solidFill>
              </a:rPr>
              <a:t>2,400</a:t>
            </a:r>
          </a:p>
        </p:txBody>
      </p:sp>
      <p:sp>
        <p:nvSpPr>
          <p:cNvPr id="161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55818179-65EC-4C8A-AB55-8C20D75A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records</a:t>
            </a:r>
          </a:p>
        </p:txBody>
      </p:sp>
      <p:sp>
        <p:nvSpPr>
          <p:cNvPr id="162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3623EB6C-824B-4C52-B0F9-CC07C4E6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87AA1"/>
                </a:solidFill>
              </a:defRPr>
            </a:pPr>
            <a:r>
              <a:rPr sz="5100" b="1">
                <a:solidFill>
                  <a:srgbClr val="487AA1"/>
                </a:solidFill>
              </a:rPr>
              <a:t>3</a:t>
            </a:r>
          </a:p>
        </p:txBody>
      </p:sp>
      <p:sp>
        <p:nvSpPr>
          <p:cNvPr id="163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98CD62B4-C9DE-4684-8EF2-02CAD1B7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centers</a:t>
            </a:r>
          </a:p>
        </p:txBody>
      </p:sp>
      <p:sp>
        <p:nvSpPr>
          <p:cNvPr id="164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76CD1925-177E-44F5-A530-7874512A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5BC6C"/>
                </a:solidFill>
              </a:defRPr>
            </a:pPr>
            <a:r>
              <a:rPr sz="5100" b="1">
                <a:solidFill>
                  <a:srgbClr val="E5BC6C"/>
                </a:solidFill>
              </a:rPr>
              <a:t>HR=1.18</a:t>
            </a:r>
          </a:p>
        </p:txBody>
      </p:sp>
      <p:sp>
        <p:nvSpPr>
          <p:cNvPr id="165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DDE506AC-B9BC-442B-9178-B91D9CEB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adjusted effect</a:t>
            </a:r>
          </a:p>
        </p:txBody>
      </p:sp>
      <p:sp>
        <p:nvSpPr>
          <p:cNvPr id="166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FDD1CAC8-7EC1-47A8-88A4-6274717B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Machine-checkable evaluation fixture</a:t>
            </a:r>
          </a:p>
        </p:txBody>
      </p:sp>
      <p:sp>
        <p:nvSpPr>
          <p:cNvPr id="167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9C601BC9-0878-4214-B50B-95D80BC6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68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7AD82196-309E-4643-ADEB-82C6A2FE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2EE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169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230B3EBF-7379-4558-AD31-729FCEC7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87AA1"/>
                </a:solidFill>
              </a:defRPr>
            </a:pPr>
            <a:r>
              <a:rPr sz="2700" b="1">
                <a:solidFill>
                  <a:srgbClr val="487AA1"/>
                </a:solidFill>
              </a:rPr>
              <a:t>SOURCE FIGURE SLOT</a:t>
            </a:r>
          </a:p>
        </p:txBody>
      </p:sp>
      <p:sp>
        <p:nvSpPr>
          <p:cNvPr id="170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72D48B4C-8D27-4A28-A433-D896E566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Source figure selected during full-paper generation</a:t>
            </a:r>
          </a:p>
        </p:txBody>
      </p:sp>
      <p:sp>
        <p:nvSpPr>
          <p:cNvPr id="171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B5E83412-B06B-4311-A7E9-94513DE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Source: POSTEX-SYNTH-OBS-2026-001</a:t>
            </a:r>
          </a:p>
        </p:txBody>
      </p:sp>
      <p:sp>
        <p:nvSpPr>
          <p:cNvPr id="172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957ACE2B-4BCF-4AF3-88E3-B0188928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Independent evidence slot</a:t>
            </a:r>
          </a:p>
        </p:txBody>
      </p:sp>
      <p:sp>
        <p:nvSpPr>
          <p:cNvPr id="173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4F1597E7-C5B4-428D-9654-C6A2318A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CADB1C03-1C4E-4D78-8AA1-260CA28F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75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CAD23FE4-2775-4E02-AE67-0FAD9213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2EE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176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75842CD6-342D-43E2-9089-7633D0FE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87AA1"/>
                </a:solidFill>
              </a:defRPr>
            </a:pPr>
            <a:r>
              <a:rPr sz="2700" b="1">
                <a:solidFill>
                  <a:srgbClr val="487AA1"/>
                </a:solidFill>
              </a:rPr>
              <a:t>SOURCE FIGURE SLOT</a:t>
            </a:r>
          </a:p>
        </p:txBody>
      </p:sp>
      <p:sp>
        <p:nvSpPr>
          <p:cNvPr id="177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2EE9219F-5980-4D8F-96A5-F8D230CF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Source figure selected during full-paper generation</a:t>
            </a:r>
          </a:p>
        </p:txBody>
      </p:sp>
      <p:sp>
        <p:nvSpPr>
          <p:cNvPr id="178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C6550D69-3009-4399-9B7B-14789D2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Source: POSTEX-SYNTH-OBS-2026-001</a:t>
            </a:r>
          </a:p>
        </p:txBody>
      </p:sp>
      <p:sp>
        <p:nvSpPr>
          <p:cNvPr id="179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90380E88-21F4-4C30-A531-C7AD5E1E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Interpretation boundary</a:t>
            </a:r>
          </a:p>
        </p:txBody>
      </p:sp>
      <p:sp>
        <p:nvSpPr>
          <p:cNvPr id="180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4D5BE17C-9B14-4135-991B-67BF157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2F2D4523-D38D-4664-AC8F-B1C6A7E2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82" name="conclusion">
            <a:extLst xmlns:a="http://schemas.openxmlformats.org/drawingml/2006/main">
              <a:ext uri="{FF2B5EF4-FFF2-40B4-BE49-F238E27FC236}">
                <a16:creationId xmlns:a16="http://schemas.microsoft.com/office/drawing/2014/main" id="{2FE0A546-C4CB-4CD0-9187-88D09378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Interpret findings only within the source study design, population, methods and reported uncertainty.</a:t>
            </a:r>
          </a:p>
        </p:txBody>
      </p:sp>
      <p:sp>
        <p:nvSpPr>
          <p:cNvPr id="183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5EF049ED-9B2E-4B6C-95F3-61BB895F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Source and license: POSTEX-SYNTH-OBS-2026-001 · CC0-1.0</a:t>
            </a:r>
          </a:p>
        </p:txBody>
      </p:sp>
      <p:sp>
        <p:nvSpPr>
          <p:cNvPr id="184" name="footer-band">
            <a:extLst xmlns:a="http://schemas.openxmlformats.org/drawingml/2006/main">
              <a:ext uri="{FF2B5EF4-FFF2-40B4-BE49-F238E27FC236}">
                <a16:creationId xmlns:a16="http://schemas.microsoft.com/office/drawing/2014/main" id="{A299D4A1-0D06-46A3-A717-6E48E854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35F3219-DF51-4F52-AA43-5CA09926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LUMEN-24: synthetic observational evidence audit · CC0-1.0</a:t>
            </a:r>
          </a:p>
        </p:txBody>
      </p:sp>
      <p:sp>
        <p:nvSpPr>
          <p:cNvPr id="186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8BC277C7-F194-4573-B9B9-7B4942C4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5BC6C"/>
                </a:solidFill>
              </a:defRPr>
            </a:pPr>
            <a:r>
              <a:rPr sz="1875" b="1">
                <a:solidFill>
                  <a:srgbClr val="E5BC6C"/>
                </a:solidFill>
              </a:rPr>
              <a:t>Evaluation preview · not a release poster</a:t>
            </a:r>
          </a:p>
        </p:txBody>
      </p:sp>
    </p:spTree>
    <p:extLst>
      <p:ext uri="{BB962C8B-B14F-4D97-AF65-F5344CB8AC3E}">
        <p14:creationId xmlns:p14="http://schemas.microsoft.com/office/powerpoint/2010/main" val="643399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2026-08-08T08:54:36.4620000Z</dcterms:created>
  <dcterms:modified xsi:type="dcterms:W3CDTF">2026-08-08T08:54:36.4620000Z</dcterms:modified>
</coreProperties>
</file>