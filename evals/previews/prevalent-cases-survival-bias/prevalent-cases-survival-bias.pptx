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a4a70f5ab67477b" /><Relationship Type="http://schemas.openxmlformats.org/officeDocument/2006/relationships/extended-properties" Target="/docProps/app.xml" Id="R0ca777c72a1a4429" /><Relationship Type="http://schemas.openxmlformats.org/officeDocument/2006/relationships/officeDocument" Target="/ppt/presentation.xml" Id="Re3ca80bb68c244c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1fb4f53b85d4efe"/>
  </p:sldMasterIdLst>
  <p:notesMasterIdLst>
    <p:notesMasterId xmlns:r="http://schemas.openxmlformats.org/officeDocument/2006/relationships" r:id="R9b0499842051482b"/>
  </p:notesMasterIdLst>
  <p:sldIdLst>
    <p:sldId xmlns:r="http://schemas.openxmlformats.org/officeDocument/2006/relationships" id="256" r:id="R39fd8fa20f3f4eae"/>
  </p:sldIdLst>
  <p:sldSz cx="42805350" cy="3027997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d4ee549e370465b" /><Relationship Type="http://schemas.openxmlformats.org/officeDocument/2006/relationships/slideMaster" Target="/ppt/slideMasters/slideMaster1.xml" Id="R41fb4f53b85d4efe" /><Relationship Type="http://schemas.openxmlformats.org/officeDocument/2006/relationships/notesMaster" Target="/ppt/notesMasters/notesMaster1.xml" Id="R9b0499842051482b" /><Relationship Type="http://schemas.openxmlformats.org/officeDocument/2006/relationships/presProps" Target="/ppt/presProps.xml" Id="Rccb6c4e928a54a6f" /><Relationship Type="http://schemas.openxmlformats.org/officeDocument/2006/relationships/tableStyles" Target="/ppt/tableStyles.xml" Id="R6d2f95237ce043a7" /><Relationship Type="http://schemas.openxmlformats.org/officeDocument/2006/relationships/slide" Target="/ppt/slides/slide1.xml" Id="R39fd8fa20f3f4ea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320b86d704749d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03d79a96e614a6f" /><Relationship Type="http://schemas.openxmlformats.org/officeDocument/2006/relationships/notesMaster" Target="/ppt/notesMasters/notesMaster1.xml" Id="R48baa3829f144ea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https://www.nature.com/articles/6605062</a:t>
            </a:r>
          </a:p>
          <a:p xmlns:a="http://schemas.openxmlformats.org/drawingml/2006/main">
            <a:r>
              <a:t>- License: CC BY-NC-SA 3.0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a325a32bfb433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600239ab1a149d7" /><Relationship Type="http://schemas.openxmlformats.org/officeDocument/2006/relationships/slideLayout" Target="/ppt/slideLayouts/slideLayout1.xml" Id="Rd9ceb476c980433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9ceb476c980433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b18fa8f4ec4535" /><Relationship Type="http://schemas.openxmlformats.org/officeDocument/2006/relationships/notesSlide" Target="/ppt/notesSlides/notesSlide1.xml" Id="R5dd5dbb0a6a94bd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2" name="header-band">
            <a:extLst xmlns:a="http://schemas.openxmlformats.org/drawingml/2006/main">
              <a:ext uri="{FF2B5EF4-FFF2-40B4-BE49-F238E27FC236}">
                <a16:creationId xmlns:a16="http://schemas.microsoft.com/office/drawing/2014/main" id="{639C7D80-64A7-49A1-8D1F-2F5CA7F0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2805350" cy="4953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F5F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EA7A78F7-8C63-4F63-AD99-8E699409D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2805350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oster-title">
            <a:extLst xmlns:a="http://schemas.openxmlformats.org/drawingml/2006/main">
              <a:ext uri="{FF2B5EF4-FFF2-40B4-BE49-F238E27FC236}">
                <a16:creationId xmlns:a16="http://schemas.microsoft.com/office/drawing/2014/main" id="{234EB6D1-626A-4B19-9677-11DA7A6A8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90550"/>
            <a:ext cx="29718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350" b="1">
                <a:solidFill>
                  <a:srgbClr val="FFFFFF"/>
                </a:solidFill>
              </a:defRPr>
            </a:pPr>
            <a:r>
              <a:rPr sz="7350" b="1">
                <a:solidFill>
                  <a:srgbClr val="FFFFFF"/>
                </a:solidFill>
              </a:rPr>
              <a:t>Prevalent cases in observational studies of cancer survival: do they bias hazard ratio estimates?</a:t>
            </a:r>
          </a:p>
        </p:txBody>
      </p:sp>
      <p:sp>
        <p:nvSpPr>
          <p:cNvPr id="4" name="authors">
            <a:extLst xmlns:a="http://schemas.openxmlformats.org/drawingml/2006/main">
              <a:ext uri="{FF2B5EF4-FFF2-40B4-BE49-F238E27FC236}">
                <a16:creationId xmlns:a16="http://schemas.microsoft.com/office/drawing/2014/main" id="{1AD1BF25-17D0-4F7E-B684-D2275B208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914650"/>
            <a:ext cx="2943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FFFFFF"/>
                </a:solidFill>
              </a:defRPr>
            </a:pPr>
            <a:r>
              <a:rPr sz="2775" b="1">
                <a:solidFill>
                  <a:srgbClr val="FFFFFF"/>
                </a:solidFill>
              </a:rPr>
              <a:t>Source-grounded PostEx evaluation fixture</a:t>
            </a:r>
          </a:p>
        </p:txBody>
      </p:sp>
      <p:sp>
        <p:nvSpPr>
          <p:cNvPr id="5" name="affiliations">
            <a:extLst xmlns:a="http://schemas.openxmlformats.org/drawingml/2006/main">
              <a:ext uri="{FF2B5EF4-FFF2-40B4-BE49-F238E27FC236}">
                <a16:creationId xmlns:a16="http://schemas.microsoft.com/office/drawing/2014/main" id="{D1366744-88C9-4974-B9C9-992AF6107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38550"/>
            <a:ext cx="2943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F6F8FA"/>
                </a:solidFill>
              </a:defRPr>
            </a:pPr>
            <a:r>
              <a:rPr sz="2175">
                <a:solidFill>
                  <a:srgbClr val="F6F8FA"/>
                </a:solidFill>
              </a:rPr>
              <a:t>Observational profile · CC BY-NC-SA 3.0</a:t>
            </a:r>
          </a:p>
        </p:txBody>
      </p:sp>
      <p:sp>
        <p:nvSpPr>
          <p:cNvPr id="6" name="citation">
            <a:extLst xmlns:a="http://schemas.openxmlformats.org/drawingml/2006/main">
              <a:ext uri="{FF2B5EF4-FFF2-40B4-BE49-F238E27FC236}">
                <a16:creationId xmlns:a16="http://schemas.microsoft.com/office/drawing/2014/main" id="{56CE8EBC-F149-4340-8FE6-E515F6D96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238625"/>
            <a:ext cx="2428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E8B44C"/>
                </a:solidFill>
              </a:defRPr>
            </a:pPr>
            <a:r>
              <a:rPr sz="1950" b="1">
                <a:solidFill>
                  <a:srgbClr val="E8B44C"/>
                </a:solidFill>
              </a:rPr>
              <a:t>DOI 10.1038/sj.bjc.6605062</a:t>
            </a:r>
          </a:p>
        </p:txBody>
      </p:sp>
      <p:sp>
        <p:nvSpPr>
          <p:cNvPr id="7" name="logo-slot-institution-logo">
            <a:extLst xmlns:a="http://schemas.openxmlformats.org/drawingml/2006/main">
              <a:ext uri="{FF2B5EF4-FFF2-40B4-BE49-F238E27FC236}">
                <a16:creationId xmlns:a16="http://schemas.microsoft.com/office/drawing/2014/main" id="{0D5A306E-F4DA-4E66-ACAA-09D67FCBB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0" y="552450"/>
            <a:ext cx="9334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8" name="logo-placeholder-institution-logo">
            <a:extLst xmlns:a="http://schemas.openxmlformats.org/drawingml/2006/main">
              <a:ext uri="{FF2B5EF4-FFF2-40B4-BE49-F238E27FC236}">
                <a16:creationId xmlns:a16="http://schemas.microsoft.com/office/drawing/2014/main" id="{D6D3A79B-DC7B-4AB2-85FE-351BF1B17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13550" y="914400"/>
            <a:ext cx="910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F5F73"/>
                </a:solidFill>
              </a:defRPr>
            </a:pPr>
            <a:r>
              <a:rPr sz="2025" b="1">
                <a:solidFill>
                  <a:srgbClr val="0F5F73"/>
                </a:solidFill>
              </a:rPr>
              <a:t>Institution logo</a:t>
            </a:r>
          </a:p>
        </p:txBody>
      </p:sp>
      <p:sp>
        <p:nvSpPr>
          <p:cNvPr id="9" name="header-summary">
            <a:extLst xmlns:a="http://schemas.openxmlformats.org/drawingml/2006/main">
              <a:ext uri="{FF2B5EF4-FFF2-40B4-BE49-F238E27FC236}">
                <a16:creationId xmlns:a16="http://schemas.microsoft.com/office/drawing/2014/main" id="{0B9ACC6B-6D68-4363-9DD8-FF15CA925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0" y="2000250"/>
            <a:ext cx="9334500" cy="2286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header-metric-1-value">
            <a:extLst xmlns:a="http://schemas.openxmlformats.org/drawingml/2006/main">
              <a:ext uri="{FF2B5EF4-FFF2-40B4-BE49-F238E27FC236}">
                <a16:creationId xmlns:a16="http://schemas.microsoft.com/office/drawing/2014/main" id="{16F1E234-1C44-425B-9D7E-F84AD06FD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0" y="22860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0F5F73"/>
                </a:solidFill>
              </a:defRPr>
            </a:pPr>
            <a:r>
              <a:rPr sz="5100" b="1">
                <a:solidFill>
                  <a:srgbClr val="0F5F73"/>
                </a:solidFill>
              </a:rPr>
              <a:t>4470</a:t>
            </a:r>
          </a:p>
        </p:txBody>
      </p:sp>
      <p:sp>
        <p:nvSpPr>
          <p:cNvPr id="11" name="header-metric-1-label">
            <a:extLst xmlns:a="http://schemas.openxmlformats.org/drawingml/2006/main">
              <a:ext uri="{FF2B5EF4-FFF2-40B4-BE49-F238E27FC236}">
                <a16:creationId xmlns:a16="http://schemas.microsoft.com/office/drawing/2014/main" id="{F797D585-D852-42B4-8940-099380A1A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0" y="30670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total sample</a:t>
            </a:r>
          </a:p>
        </p:txBody>
      </p:sp>
      <p:sp>
        <p:nvSpPr>
          <p:cNvPr id="12" name="header-metric-2-value">
            <a:extLst xmlns:a="http://schemas.openxmlformats.org/drawingml/2006/main">
              <a:ext uri="{FF2B5EF4-FFF2-40B4-BE49-F238E27FC236}">
                <a16:creationId xmlns:a16="http://schemas.microsoft.com/office/drawing/2014/main" id="{DBE6E7D1-8D6D-41F0-9106-9F5C7AC9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0" y="22860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2C8C99"/>
                </a:solidFill>
              </a:defRPr>
            </a:pPr>
            <a:r>
              <a:rPr sz="5100" b="1">
                <a:solidFill>
                  <a:srgbClr val="2C8C99"/>
                </a:solidFill>
              </a:rPr>
              <a:t>1231</a:t>
            </a:r>
          </a:p>
        </p:txBody>
      </p:sp>
      <p:sp>
        <p:nvSpPr>
          <p:cNvPr id="13" name="header-metric-2-label">
            <a:extLst xmlns:a="http://schemas.openxmlformats.org/drawingml/2006/main">
              <a:ext uri="{FF2B5EF4-FFF2-40B4-BE49-F238E27FC236}">
                <a16:creationId xmlns:a16="http://schemas.microsoft.com/office/drawing/2014/main" id="{E9BC5331-37EA-4812-BEFE-CA0D08026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0" y="30670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incident cases</a:t>
            </a:r>
          </a:p>
        </p:txBody>
      </p:sp>
      <p:sp>
        <p:nvSpPr>
          <p:cNvPr id="14" name="header-metric-3-value">
            <a:extLst xmlns:a="http://schemas.openxmlformats.org/drawingml/2006/main">
              <a:ext uri="{FF2B5EF4-FFF2-40B4-BE49-F238E27FC236}">
                <a16:creationId xmlns:a16="http://schemas.microsoft.com/office/drawing/2014/main" id="{A9AA6FE8-F63A-4DAF-BA3C-DC73A0896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0" y="22860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E8B44C"/>
                </a:solidFill>
              </a:defRPr>
            </a:pPr>
            <a:r>
              <a:rPr sz="5100" b="1">
                <a:solidFill>
                  <a:srgbClr val="E8B44C"/>
                </a:solidFill>
              </a:rPr>
              <a:t>3239</a:t>
            </a:r>
          </a:p>
        </p:txBody>
      </p:sp>
      <p:sp>
        <p:nvSpPr>
          <p:cNvPr id="15" name="header-metric-3-label">
            <a:extLst xmlns:a="http://schemas.openxmlformats.org/drawingml/2006/main">
              <a:ext uri="{FF2B5EF4-FFF2-40B4-BE49-F238E27FC236}">
                <a16:creationId xmlns:a16="http://schemas.microsoft.com/office/drawing/2014/main" id="{0FE06275-BBA2-4FDB-9346-EA43C907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0" y="30670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prevalent cases</a:t>
            </a:r>
          </a:p>
        </p:txBody>
      </p:sp>
      <p:sp>
        <p:nvSpPr>
          <p:cNvPr id="16" name="question-title">
            <a:extLst xmlns:a="http://schemas.openxmlformats.org/drawingml/2006/main">
              <a:ext uri="{FF2B5EF4-FFF2-40B4-BE49-F238E27FC236}">
                <a16:creationId xmlns:a16="http://schemas.microsoft.com/office/drawing/2014/main" id="{7E85EC81-C42F-48EC-8A7F-7376757B7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619750"/>
            <a:ext cx="1162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Communication objective</a:t>
            </a:r>
          </a:p>
        </p:txBody>
      </p:sp>
      <p:sp>
        <p:nvSpPr>
          <p:cNvPr id="17" name="question-rule">
            <a:extLst xmlns:a="http://schemas.openxmlformats.org/drawingml/2006/main">
              <a:ext uri="{FF2B5EF4-FFF2-40B4-BE49-F238E27FC236}">
                <a16:creationId xmlns:a16="http://schemas.microsoft.com/office/drawing/2014/main" id="{5C117EE4-D829-4C01-9F7F-1A8EF74ED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25792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research-question">
            <a:extLst xmlns:a="http://schemas.openxmlformats.org/drawingml/2006/main">
              <a:ext uri="{FF2B5EF4-FFF2-40B4-BE49-F238E27FC236}">
                <a16:creationId xmlns:a16="http://schemas.microsoft.com/office/drawing/2014/main" id="{132F6EBA-A0A7-467F-B9CC-BA720C0EC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496050"/>
            <a:ext cx="116205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Present the paper's design, central evidence and interpretation boundary in a traceable conference-poster format.</a:t>
            </a:r>
          </a:p>
        </p:txBody>
      </p:sp>
      <p:sp>
        <p:nvSpPr>
          <p:cNvPr id="19" name="question-evidence">
            <a:extLst xmlns:a="http://schemas.openxmlformats.org/drawingml/2006/main">
              <a:ext uri="{FF2B5EF4-FFF2-40B4-BE49-F238E27FC236}">
                <a16:creationId xmlns:a16="http://schemas.microsoft.com/office/drawing/2014/main" id="{0F6469FE-3787-4BBB-84ED-57635AB30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8686800"/>
            <a:ext cx="1162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Evidence fixture: 10.1038/sj.bjc.6605062</a:t>
            </a:r>
          </a:p>
        </p:txBody>
      </p:sp>
      <p:sp>
        <p:nvSpPr>
          <p:cNvPr id="20" name="pipeline-title">
            <a:extLst xmlns:a="http://schemas.openxmlformats.org/drawingml/2006/main">
              <a:ext uri="{FF2B5EF4-FFF2-40B4-BE49-F238E27FC236}">
                <a16:creationId xmlns:a16="http://schemas.microsoft.com/office/drawing/2014/main" id="{680A7456-1E39-4526-ACE2-BA096553F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9239250"/>
            <a:ext cx="1162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Required evidence structure</a:t>
            </a:r>
          </a:p>
        </p:txBody>
      </p:sp>
      <p:sp>
        <p:nvSpPr>
          <p:cNvPr id="21" name="pipeline-rule">
            <a:extLst xmlns:a="http://schemas.openxmlformats.org/drawingml/2006/main">
              <a:ext uri="{FF2B5EF4-FFF2-40B4-BE49-F238E27FC236}">
                <a16:creationId xmlns:a16="http://schemas.microsoft.com/office/drawing/2014/main" id="{A6E7E3C7-CA69-4FC9-8817-9457F051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987742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ipeline-1-number-bg">
            <a:extLst xmlns:a="http://schemas.openxmlformats.org/drawingml/2006/main">
              <a:ext uri="{FF2B5EF4-FFF2-40B4-BE49-F238E27FC236}">
                <a16:creationId xmlns:a16="http://schemas.microsoft.com/office/drawing/2014/main" id="{64D12FD8-6D68-4AD5-9570-E33915888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134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pipeline-1-number">
            <a:extLst xmlns:a="http://schemas.openxmlformats.org/drawingml/2006/main">
              <a:ext uri="{FF2B5EF4-FFF2-40B4-BE49-F238E27FC236}">
                <a16:creationId xmlns:a16="http://schemas.microsoft.com/office/drawing/2014/main" id="{1B66CAAF-BF5E-494D-94A1-46366094E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201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1</a:t>
            </a:r>
          </a:p>
        </p:txBody>
      </p:sp>
      <p:sp>
        <p:nvSpPr>
          <p:cNvPr id="24" name="pipeline-1-text">
            <a:extLst xmlns:a="http://schemas.openxmlformats.org/drawingml/2006/main">
              <a:ext uri="{FF2B5EF4-FFF2-40B4-BE49-F238E27FC236}">
                <a16:creationId xmlns:a16="http://schemas.microsoft.com/office/drawing/2014/main" id="{FD1360AE-3740-4EB0-A8C0-0F8AB4168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0172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Background</a:t>
            </a:r>
          </a:p>
        </p:txBody>
      </p:sp>
      <p:sp>
        <p:nvSpPr>
          <p:cNvPr id="25" name="pipeline-2-number-bg">
            <a:extLst xmlns:a="http://schemas.openxmlformats.org/drawingml/2006/main">
              <a:ext uri="{FF2B5EF4-FFF2-40B4-BE49-F238E27FC236}">
                <a16:creationId xmlns:a16="http://schemas.microsoft.com/office/drawing/2014/main" id="{65A9C5BF-911A-4E55-8594-B645E7DC3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896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pipeline-2-number">
            <a:extLst xmlns:a="http://schemas.openxmlformats.org/drawingml/2006/main">
              <a:ext uri="{FF2B5EF4-FFF2-40B4-BE49-F238E27FC236}">
                <a16:creationId xmlns:a16="http://schemas.microsoft.com/office/drawing/2014/main" id="{24A04B3C-AF4E-4535-95C0-EB2C61EA4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963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2</a:t>
            </a:r>
          </a:p>
        </p:txBody>
      </p:sp>
      <p:sp>
        <p:nvSpPr>
          <p:cNvPr id="27" name="pipeline-2-text">
            <a:extLst xmlns:a="http://schemas.openxmlformats.org/drawingml/2006/main">
              <a:ext uri="{FF2B5EF4-FFF2-40B4-BE49-F238E27FC236}">
                <a16:creationId xmlns:a16="http://schemas.microsoft.com/office/drawing/2014/main" id="{88443D5C-B473-4D35-AF11-B62764572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0934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Cohort Construction</a:t>
            </a:r>
          </a:p>
        </p:txBody>
      </p:sp>
      <p:sp>
        <p:nvSpPr>
          <p:cNvPr id="28" name="pipeline-3-number-bg">
            <a:extLst xmlns:a="http://schemas.openxmlformats.org/drawingml/2006/main">
              <a:ext uri="{FF2B5EF4-FFF2-40B4-BE49-F238E27FC236}">
                <a16:creationId xmlns:a16="http://schemas.microsoft.com/office/drawing/2014/main" id="{328529EA-A39B-4CB6-88B8-22AA0B450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658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pipeline-3-number">
            <a:extLst xmlns:a="http://schemas.openxmlformats.org/drawingml/2006/main">
              <a:ext uri="{FF2B5EF4-FFF2-40B4-BE49-F238E27FC236}">
                <a16:creationId xmlns:a16="http://schemas.microsoft.com/office/drawing/2014/main" id="{B9496805-17D6-4B9A-A8A5-C31420442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725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3</a:t>
            </a:r>
          </a:p>
        </p:txBody>
      </p:sp>
      <p:sp>
        <p:nvSpPr>
          <p:cNvPr id="30" name="pipeline-3-text">
            <a:extLst xmlns:a="http://schemas.openxmlformats.org/drawingml/2006/main">
              <a:ext uri="{FF2B5EF4-FFF2-40B4-BE49-F238E27FC236}">
                <a16:creationId xmlns:a16="http://schemas.microsoft.com/office/drawing/2014/main" id="{AB77668B-30E6-4A67-92E1-BB7C23B9B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1696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Baseline Characteristics</a:t>
            </a:r>
          </a:p>
        </p:txBody>
      </p:sp>
      <p:sp>
        <p:nvSpPr>
          <p:cNvPr id="31" name="pipeline-4-number-bg">
            <a:extLst xmlns:a="http://schemas.openxmlformats.org/drawingml/2006/main">
              <a:ext uri="{FF2B5EF4-FFF2-40B4-BE49-F238E27FC236}">
                <a16:creationId xmlns:a16="http://schemas.microsoft.com/office/drawing/2014/main" id="{E273226C-2E0B-4E90-92EE-A7FFF2672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2420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pipeline-4-number">
            <a:extLst xmlns:a="http://schemas.openxmlformats.org/drawingml/2006/main">
              <a:ext uri="{FF2B5EF4-FFF2-40B4-BE49-F238E27FC236}">
                <a16:creationId xmlns:a16="http://schemas.microsoft.com/office/drawing/2014/main" id="{F395A98D-827E-42C0-9D97-89F47F226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2487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4</a:t>
            </a:r>
          </a:p>
        </p:txBody>
      </p:sp>
      <p:sp>
        <p:nvSpPr>
          <p:cNvPr id="33" name="pipeline-4-text">
            <a:extLst xmlns:a="http://schemas.openxmlformats.org/drawingml/2006/main">
              <a:ext uri="{FF2B5EF4-FFF2-40B4-BE49-F238E27FC236}">
                <a16:creationId xmlns:a16="http://schemas.microsoft.com/office/drawing/2014/main" id="{67AEDBCE-A285-4613-930D-8663CB7C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2458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Statistical Model</a:t>
            </a:r>
          </a:p>
        </p:txBody>
      </p:sp>
      <p:sp>
        <p:nvSpPr>
          <p:cNvPr id="34" name="dataset-panel">
            <a:extLst xmlns:a="http://schemas.openxmlformats.org/drawingml/2006/main">
              <a:ext uri="{FF2B5EF4-FFF2-40B4-BE49-F238E27FC236}">
                <a16:creationId xmlns:a16="http://schemas.microsoft.com/office/drawing/2014/main" id="{6667F562-0918-43AF-8840-6B9F48F0F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3430250"/>
            <a:ext cx="1162050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35" name="dataset-kicker">
            <a:extLst xmlns:a="http://schemas.openxmlformats.org/drawingml/2006/main">
              <a:ext uri="{FF2B5EF4-FFF2-40B4-BE49-F238E27FC236}">
                <a16:creationId xmlns:a16="http://schemas.microsoft.com/office/drawing/2014/main" id="{257CCFD7-8BDF-4164-BC75-0D1E1B75C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3716000"/>
            <a:ext cx="438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0F5F73"/>
                </a:solidFill>
              </a:defRPr>
            </a:pPr>
            <a:r>
              <a:rPr sz="2175" b="1">
                <a:solidFill>
                  <a:srgbClr val="0F5F73"/>
                </a:solidFill>
              </a:rPr>
              <a:t>SOURCE CONTRACT</a:t>
            </a:r>
          </a:p>
        </p:txBody>
      </p:sp>
      <p:sp>
        <p:nvSpPr>
          <p:cNvPr id="36" name="datasets">
            <a:extLst xmlns:a="http://schemas.openxmlformats.org/drawingml/2006/main">
              <a:ext uri="{FF2B5EF4-FFF2-40B4-BE49-F238E27FC236}">
                <a16:creationId xmlns:a16="http://schemas.microsoft.com/office/drawing/2014/main" id="{C0D65D83-D44F-4FD6-9558-C68278751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4239875"/>
            <a:ext cx="110871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Input: full paper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License: CC BY-NC-SA 3.0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Profile: observational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Claims checked: 4</a:t>
            </a:r>
          </a:p>
        </p:txBody>
      </p:sp>
      <p:sp>
        <p:nvSpPr>
          <p:cNvPr id="37" name="dataset-evidence">
            <a:extLst xmlns:a="http://schemas.openxmlformats.org/drawingml/2006/main">
              <a:ext uri="{FF2B5EF4-FFF2-40B4-BE49-F238E27FC236}">
                <a16:creationId xmlns:a16="http://schemas.microsoft.com/office/drawing/2014/main" id="{BBFD09E8-D0E5-40D5-B00E-FE64FF716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6411575"/>
            <a:ext cx="11087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https://www.nature.com/articles/6605062</a:t>
            </a:r>
          </a:p>
        </p:txBody>
      </p:sp>
      <p:sp>
        <p:nvSpPr>
          <p:cNvPr id="38" name="figure-one-heading-title">
            <a:extLst xmlns:a="http://schemas.openxmlformats.org/drawingml/2006/main">
              <a:ext uri="{FF2B5EF4-FFF2-40B4-BE49-F238E27FC236}">
                <a16:creationId xmlns:a16="http://schemas.microsoft.com/office/drawing/2014/main" id="{F819C26B-98B4-4947-A8DA-3568190EC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383125"/>
            <a:ext cx="1162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Methods and source evidence</a:t>
            </a:r>
          </a:p>
        </p:txBody>
      </p:sp>
      <p:sp>
        <p:nvSpPr>
          <p:cNvPr id="39" name="figure-one-heading-rule">
            <a:extLst xmlns:a="http://schemas.openxmlformats.org/drawingml/2006/main">
              <a:ext uri="{FF2B5EF4-FFF2-40B4-BE49-F238E27FC236}">
                <a16:creationId xmlns:a16="http://schemas.microsoft.com/office/drawing/2014/main" id="{6DABC352-9A17-45DD-8D02-BC12E2169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02130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figure-one-frame">
            <a:extLst xmlns:a="http://schemas.openxmlformats.org/drawingml/2006/main">
              <a:ext uri="{FF2B5EF4-FFF2-40B4-BE49-F238E27FC236}">
                <a16:creationId xmlns:a16="http://schemas.microsoft.com/office/drawing/2014/main" id="{CF9BF574-7853-4EFB-ABF8-FE4E2FB2A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240375"/>
            <a:ext cx="11620500" cy="9906000"/>
          </a:xfrm>
          <a:prstGeom xmlns:a="http://schemas.openxmlformats.org/drawingml/2006/main" prst="roundRect">
            <a:avLst>
              <a:gd name="adj" fmla="val 1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41" name="figure-one-placeholder">
            <a:extLst xmlns:a="http://schemas.openxmlformats.org/drawingml/2006/main">
              <a:ext uri="{FF2B5EF4-FFF2-40B4-BE49-F238E27FC236}">
                <a16:creationId xmlns:a16="http://schemas.microsoft.com/office/drawing/2014/main" id="{8796C9D7-E786-49A1-AE1E-2970016C8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430875"/>
            <a:ext cx="11239500" cy="8972550"/>
          </a:xfrm>
          <a:prstGeom xmlns:a="http://schemas.openxmlformats.org/drawingml/2006/main" prst="roundRect">
            <a:avLst>
              <a:gd name="adj" fmla="val 849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42" name="figure-one-placeholder-label">
            <a:extLst xmlns:a="http://schemas.openxmlformats.org/drawingml/2006/main">
              <a:ext uri="{FF2B5EF4-FFF2-40B4-BE49-F238E27FC236}">
                <a16:creationId xmlns:a16="http://schemas.microsoft.com/office/drawing/2014/main" id="{10085113-4C9F-41BA-B44C-0EAFD8522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2621875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C8C99"/>
                </a:solidFill>
              </a:defRPr>
            </a:pPr>
            <a:r>
              <a:rPr sz="2700" b="1">
                <a:solidFill>
                  <a:srgbClr val="2C8C99"/>
                </a:solidFill>
              </a:rPr>
              <a:t>SOURCE FIGURE SLOT</a:t>
            </a:r>
          </a:p>
        </p:txBody>
      </p:sp>
      <p:sp>
        <p:nvSpPr>
          <p:cNvPr id="43" name="figure-one-caption">
            <a:extLst xmlns:a="http://schemas.openxmlformats.org/drawingml/2006/main">
              <a:ext uri="{FF2B5EF4-FFF2-40B4-BE49-F238E27FC236}">
                <a16:creationId xmlns:a16="http://schemas.microsoft.com/office/drawing/2014/main" id="{9967C814-FB13-4B8A-B132-41845CD4A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7460575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Source figure selected during full-paper generation</a:t>
            </a:r>
          </a:p>
        </p:txBody>
      </p:sp>
      <p:sp>
        <p:nvSpPr>
          <p:cNvPr id="44" name="figure-one-source">
            <a:extLst xmlns:a="http://schemas.openxmlformats.org/drawingml/2006/main">
              <a:ext uri="{FF2B5EF4-FFF2-40B4-BE49-F238E27FC236}">
                <a16:creationId xmlns:a16="http://schemas.microsoft.com/office/drawing/2014/main" id="{E410F08C-F1BA-4430-BCDE-F7DCECDB0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7774900"/>
            <a:ext cx="11163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Source: 10.1038/sj.bjc.6605062</a:t>
            </a:r>
          </a:p>
        </p:txBody>
      </p:sp>
      <p:sp>
        <p:nvSpPr>
          <p:cNvPr id="45" name="central-takeaway">
            <a:extLst xmlns:a="http://schemas.openxmlformats.org/drawingml/2006/main">
              <a:ext uri="{FF2B5EF4-FFF2-40B4-BE49-F238E27FC236}">
                <a16:creationId xmlns:a16="http://schemas.microsoft.com/office/drawing/2014/main" id="{93189574-CB1A-4B31-864C-34315CBDE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5619750"/>
            <a:ext cx="13668375" cy="2524125"/>
          </a:xfrm>
          <a:prstGeom xmlns:a="http://schemas.openxmlformats.org/drawingml/2006/main" prst="roundRect">
            <a:avLst>
              <a:gd name="adj" fmla="val 6038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central-takeaway-title">
            <a:extLst xmlns:a="http://schemas.openxmlformats.org/drawingml/2006/main">
              <a:ext uri="{FF2B5EF4-FFF2-40B4-BE49-F238E27FC236}">
                <a16:creationId xmlns:a16="http://schemas.microsoft.com/office/drawing/2014/main" id="{CCE9F13B-68F2-4BF5-9C6C-7787B1E6C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44600" y="5953125"/>
            <a:ext cx="128301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125" b="1">
                <a:solidFill>
                  <a:srgbClr val="102A43"/>
                </a:solidFill>
              </a:defRPr>
            </a:pPr>
            <a:r>
              <a:rPr sz="4125" b="1">
                <a:solidFill>
                  <a:srgbClr val="102A43"/>
                </a:solidFill>
              </a:rPr>
              <a:t>4470</a:t>
            </a:r>
          </a:p>
        </p:txBody>
      </p:sp>
      <p:sp>
        <p:nvSpPr>
          <p:cNvPr id="47" name="central-takeaway-subtitle">
            <a:extLst xmlns:a="http://schemas.openxmlformats.org/drawingml/2006/main">
              <a:ext uri="{FF2B5EF4-FFF2-40B4-BE49-F238E27FC236}">
                <a16:creationId xmlns:a16="http://schemas.microsoft.com/office/drawing/2014/main" id="{A2075B36-7558-4A09-92C0-8A98A734F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0" y="7181850"/>
            <a:ext cx="1233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43"/>
                </a:solidFill>
              </a:defRPr>
            </a:pPr>
            <a:r>
              <a:rPr sz="2400" b="1">
                <a:solidFill>
                  <a:srgbClr val="102A43"/>
                </a:solidFill>
              </a:rPr>
              <a:t>Key facts remain bound to the source and study design</a:t>
            </a:r>
          </a:p>
        </p:txBody>
      </p:sp>
      <p:sp>
        <p:nvSpPr>
          <p:cNvPr id="48" name="takeaway-evidence">
            <a:extLst xmlns:a="http://schemas.openxmlformats.org/drawingml/2006/main">
              <a:ext uri="{FF2B5EF4-FFF2-40B4-BE49-F238E27FC236}">
                <a16:creationId xmlns:a16="http://schemas.microsoft.com/office/drawing/2014/main" id="{710D2D4B-D6D7-42D5-A89B-F3F74DAD5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650" y="7715250"/>
            <a:ext cx="12792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Evidence fixture: 10.1038/sj.bjc.6605062</a:t>
            </a:r>
          </a:p>
        </p:txBody>
      </p:sp>
      <p:sp>
        <p:nvSpPr>
          <p:cNvPr id="49" name="figure-two-heading-title">
            <a:extLst xmlns:a="http://schemas.openxmlformats.org/drawingml/2006/main">
              <a:ext uri="{FF2B5EF4-FFF2-40B4-BE49-F238E27FC236}">
                <a16:creationId xmlns:a16="http://schemas.microsoft.com/office/drawing/2014/main" id="{87DAEC97-1A1E-4D0B-B807-B02883E76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8620125"/>
            <a:ext cx="13668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Primary evidence</a:t>
            </a:r>
          </a:p>
        </p:txBody>
      </p:sp>
      <p:sp>
        <p:nvSpPr>
          <p:cNvPr id="50" name="figure-two-heading-rule">
            <a:extLst xmlns:a="http://schemas.openxmlformats.org/drawingml/2006/main">
              <a:ext uri="{FF2B5EF4-FFF2-40B4-BE49-F238E27FC236}">
                <a16:creationId xmlns:a16="http://schemas.microsoft.com/office/drawing/2014/main" id="{E3DB81F6-DCBF-446B-8C01-BE09F6DF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925830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figure-two-frame">
            <a:extLst xmlns:a="http://schemas.openxmlformats.org/drawingml/2006/main">
              <a:ext uri="{FF2B5EF4-FFF2-40B4-BE49-F238E27FC236}">
                <a16:creationId xmlns:a16="http://schemas.microsoft.com/office/drawing/2014/main" id="{32353A23-4F4C-4564-AFB9-E9E88A67F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9477375"/>
            <a:ext cx="13668375" cy="12715875"/>
          </a:xfrm>
          <a:prstGeom xmlns:a="http://schemas.openxmlformats.org/drawingml/2006/main" prst="roundRect">
            <a:avLst>
              <a:gd name="adj" fmla="val 8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52" name="figure-two-placeholder">
            <a:extLst xmlns:a="http://schemas.openxmlformats.org/drawingml/2006/main">
              <a:ext uri="{FF2B5EF4-FFF2-40B4-BE49-F238E27FC236}">
                <a16:creationId xmlns:a16="http://schemas.microsoft.com/office/drawing/2014/main" id="{A2C102EE-B1FE-4666-9335-6A1BE8594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9667875"/>
            <a:ext cx="13287375" cy="11782425"/>
          </a:xfrm>
          <a:prstGeom xmlns:a="http://schemas.openxmlformats.org/drawingml/2006/main" prst="roundRect">
            <a:avLst>
              <a:gd name="adj" fmla="val 647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53" name="figure-two-placeholder-label">
            <a:extLst xmlns:a="http://schemas.openxmlformats.org/drawingml/2006/main">
              <a:ext uri="{FF2B5EF4-FFF2-40B4-BE49-F238E27FC236}">
                <a16:creationId xmlns:a16="http://schemas.microsoft.com/office/drawing/2014/main" id="{606733EF-2672-488B-B705-40C056EF9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15263813"/>
            <a:ext cx="12525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C8C99"/>
                </a:solidFill>
              </a:defRPr>
            </a:pPr>
            <a:r>
              <a:rPr sz="2700" b="1">
                <a:solidFill>
                  <a:srgbClr val="2C8C99"/>
                </a:solidFill>
              </a:rPr>
              <a:t>SOURCE FIGURE SLOT</a:t>
            </a:r>
          </a:p>
        </p:txBody>
      </p:sp>
      <p:sp>
        <p:nvSpPr>
          <p:cNvPr id="54" name="figure-two-caption">
            <a:extLst xmlns:a="http://schemas.openxmlformats.org/drawingml/2006/main">
              <a:ext uri="{FF2B5EF4-FFF2-40B4-BE49-F238E27FC236}">
                <a16:creationId xmlns:a16="http://schemas.microsoft.com/office/drawing/2014/main" id="{DC63ACB4-3E5A-4F91-84EA-C6AFD1759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21507450"/>
            <a:ext cx="132111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Source figure selected during full-paper generation</a:t>
            </a:r>
          </a:p>
        </p:txBody>
      </p:sp>
      <p:sp>
        <p:nvSpPr>
          <p:cNvPr id="55" name="figure-two-source">
            <a:extLst xmlns:a="http://schemas.openxmlformats.org/drawingml/2006/main">
              <a:ext uri="{FF2B5EF4-FFF2-40B4-BE49-F238E27FC236}">
                <a16:creationId xmlns:a16="http://schemas.microsoft.com/office/drawing/2014/main" id="{92A5D58D-5E2B-4FD7-9EB6-ACBC158BB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21821775"/>
            <a:ext cx="132111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Source: 10.1038/sj.bjc.6605062</a:t>
            </a:r>
          </a:p>
        </p:txBody>
      </p:sp>
      <p:sp>
        <p:nvSpPr>
          <p:cNvPr id="56" name="validation-heading-title">
            <a:extLst xmlns:a="http://schemas.openxmlformats.org/drawingml/2006/main">
              <a:ext uri="{FF2B5EF4-FFF2-40B4-BE49-F238E27FC236}">
                <a16:creationId xmlns:a16="http://schemas.microsoft.com/office/drawing/2014/main" id="{186C448E-3CDE-4801-9878-F9AE8CB37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2669500"/>
            <a:ext cx="13668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Required factual anchors</a:t>
            </a:r>
          </a:p>
        </p:txBody>
      </p:sp>
      <p:sp>
        <p:nvSpPr>
          <p:cNvPr id="57" name="validation-heading-rule">
            <a:extLst xmlns:a="http://schemas.openxmlformats.org/drawingml/2006/main">
              <a:ext uri="{FF2B5EF4-FFF2-40B4-BE49-F238E27FC236}">
                <a16:creationId xmlns:a16="http://schemas.microsoft.com/office/drawing/2014/main" id="{3EE2CF76-FCDE-4906-9D81-8F236E06E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330767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validation-panel">
            <a:extLst xmlns:a="http://schemas.openxmlformats.org/drawingml/2006/main">
              <a:ext uri="{FF2B5EF4-FFF2-40B4-BE49-F238E27FC236}">
                <a16:creationId xmlns:a16="http://schemas.microsoft.com/office/drawing/2014/main" id="{ADA04048-F634-409B-B200-5C6BC3FC3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3526750"/>
            <a:ext cx="13668375" cy="4048125"/>
          </a:xfrm>
          <a:prstGeom xmlns:a="http://schemas.openxmlformats.org/drawingml/2006/main" prst="roundRect">
            <a:avLst>
              <a:gd name="adj" fmla="val 2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59" name="validation">
            <a:extLst xmlns:a="http://schemas.openxmlformats.org/drawingml/2006/main">
              <a:ext uri="{FF2B5EF4-FFF2-40B4-BE49-F238E27FC236}">
                <a16:creationId xmlns:a16="http://schemas.microsoft.com/office/drawing/2014/main" id="{F874B855-D7B2-4ADF-B890-50AED743E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23841075"/>
            <a:ext cx="1298257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total sample: 4470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incident cases: 1231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prevalent cases: 3239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stage comparison p: P=0.90</a:t>
            </a:r>
          </a:p>
        </p:txBody>
      </p:sp>
      <p:sp>
        <p:nvSpPr>
          <p:cNvPr id="60" name="validation-evidence">
            <a:extLst xmlns:a="http://schemas.openxmlformats.org/drawingml/2006/main">
              <a:ext uri="{FF2B5EF4-FFF2-40B4-BE49-F238E27FC236}">
                <a16:creationId xmlns:a16="http://schemas.microsoft.com/office/drawing/2014/main" id="{627E6B18-5F86-407B-BA71-A378ABFA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27117675"/>
            <a:ext cx="129825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Ground-truth case: prevalent-cases-survival-bias</a:t>
            </a:r>
          </a:p>
        </p:txBody>
      </p:sp>
      <p:sp>
        <p:nvSpPr>
          <p:cNvPr id="61" name="performance-strip">
            <a:extLst xmlns:a="http://schemas.openxmlformats.org/drawingml/2006/main">
              <a:ext uri="{FF2B5EF4-FFF2-40B4-BE49-F238E27FC236}">
                <a16:creationId xmlns:a16="http://schemas.microsoft.com/office/drawing/2014/main" id="{FD86AB09-0ECE-4277-9474-61E7D6924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7908250"/>
            <a:ext cx="13668375" cy="1095375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0F5F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performance-strip-text">
            <a:extLst xmlns:a="http://schemas.openxmlformats.org/drawingml/2006/main">
              <a:ext uri="{FF2B5EF4-FFF2-40B4-BE49-F238E27FC236}">
                <a16:creationId xmlns:a16="http://schemas.microsoft.com/office/drawing/2014/main" id="{4822CEE2-4D46-4798-9F85-11A1D4D8D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9350" y="28194000"/>
            <a:ext cx="130206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No unsupported numerical or causal expansion permitted</a:t>
            </a:r>
          </a:p>
        </p:txBody>
      </p:sp>
      <p:sp>
        <p:nvSpPr>
          <p:cNvPr id="63" name="biology-heading-title">
            <a:extLst xmlns:a="http://schemas.openxmlformats.org/drawingml/2006/main">
              <a:ext uri="{FF2B5EF4-FFF2-40B4-BE49-F238E27FC236}">
                <a16:creationId xmlns:a16="http://schemas.microsoft.com/office/drawing/2014/main" id="{06D44C80-73C5-4E4C-9788-3DEBDA27D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5619750"/>
            <a:ext cx="13706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Fact checks</a:t>
            </a:r>
          </a:p>
        </p:txBody>
      </p:sp>
      <p:sp>
        <p:nvSpPr>
          <p:cNvPr id="64" name="biology-heading-rule">
            <a:extLst xmlns:a="http://schemas.openxmlformats.org/drawingml/2006/main">
              <a:ext uri="{FF2B5EF4-FFF2-40B4-BE49-F238E27FC236}">
                <a16:creationId xmlns:a16="http://schemas.microsoft.com/office/drawing/2014/main" id="{99A97413-B1B4-4010-A00A-7017FFFA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625792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biology-1-value">
            <a:extLst xmlns:a="http://schemas.openxmlformats.org/drawingml/2006/main">
              <a:ext uri="{FF2B5EF4-FFF2-40B4-BE49-F238E27FC236}">
                <a16:creationId xmlns:a16="http://schemas.microsoft.com/office/drawing/2014/main" id="{E763691F-DE7B-4AFB-994D-448B43240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65722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0F5F73"/>
                </a:solidFill>
              </a:defRPr>
            </a:pPr>
            <a:r>
              <a:rPr sz="5100" b="1">
                <a:solidFill>
                  <a:srgbClr val="0F5F73"/>
                </a:solidFill>
              </a:rPr>
              <a:t>4470</a:t>
            </a:r>
          </a:p>
        </p:txBody>
      </p:sp>
      <p:sp>
        <p:nvSpPr>
          <p:cNvPr id="66" name="biology-1-label">
            <a:extLst xmlns:a="http://schemas.openxmlformats.org/drawingml/2006/main">
              <a:ext uri="{FF2B5EF4-FFF2-40B4-BE49-F238E27FC236}">
                <a16:creationId xmlns:a16="http://schemas.microsoft.com/office/drawing/2014/main" id="{700B4E80-2877-48A6-9ED8-D7EFA5AD1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73533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total sample</a:t>
            </a:r>
          </a:p>
        </p:txBody>
      </p:sp>
      <p:sp>
        <p:nvSpPr>
          <p:cNvPr id="67" name="biology-2-value">
            <a:extLst xmlns:a="http://schemas.openxmlformats.org/drawingml/2006/main">
              <a:ext uri="{FF2B5EF4-FFF2-40B4-BE49-F238E27FC236}">
                <a16:creationId xmlns:a16="http://schemas.microsoft.com/office/drawing/2014/main" id="{476F4D4E-26AF-4297-BBD7-2ACB320AD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0" y="65722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2C8C99"/>
                </a:solidFill>
              </a:defRPr>
            </a:pPr>
            <a:r>
              <a:rPr sz="5100" b="1">
                <a:solidFill>
                  <a:srgbClr val="2C8C99"/>
                </a:solidFill>
              </a:rPr>
              <a:t>1231</a:t>
            </a:r>
          </a:p>
        </p:txBody>
      </p:sp>
      <p:sp>
        <p:nvSpPr>
          <p:cNvPr id="68" name="biology-2-label">
            <a:extLst xmlns:a="http://schemas.openxmlformats.org/drawingml/2006/main">
              <a:ext uri="{FF2B5EF4-FFF2-40B4-BE49-F238E27FC236}">
                <a16:creationId xmlns:a16="http://schemas.microsoft.com/office/drawing/2014/main" id="{849A51BA-114F-48BF-BF66-129BAA4D9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0" y="73533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incident cases</a:t>
            </a:r>
          </a:p>
        </p:txBody>
      </p:sp>
      <p:sp>
        <p:nvSpPr>
          <p:cNvPr id="69" name="biology-3-value">
            <a:extLst xmlns:a="http://schemas.openxmlformats.org/drawingml/2006/main">
              <a:ext uri="{FF2B5EF4-FFF2-40B4-BE49-F238E27FC236}">
                <a16:creationId xmlns:a16="http://schemas.microsoft.com/office/drawing/2014/main" id="{54371E5D-2FEC-4709-A8A8-8B30C8F59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14125" y="65722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E8B44C"/>
                </a:solidFill>
              </a:defRPr>
            </a:pPr>
            <a:r>
              <a:rPr sz="5100" b="1">
                <a:solidFill>
                  <a:srgbClr val="E8B44C"/>
                </a:solidFill>
              </a:rPr>
              <a:t>3239</a:t>
            </a:r>
          </a:p>
        </p:txBody>
      </p:sp>
      <p:sp>
        <p:nvSpPr>
          <p:cNvPr id="70" name="biology-3-label">
            <a:extLst xmlns:a="http://schemas.openxmlformats.org/drawingml/2006/main">
              <a:ext uri="{FF2B5EF4-FFF2-40B4-BE49-F238E27FC236}">
                <a16:creationId xmlns:a16="http://schemas.microsoft.com/office/drawing/2014/main" id="{39A3F55D-7DF7-4C14-8FF5-269EF86AF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14125" y="73533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prevalent cases</a:t>
            </a:r>
          </a:p>
        </p:txBody>
      </p:sp>
      <p:sp>
        <p:nvSpPr>
          <p:cNvPr id="71" name="biology-evidence">
            <a:extLst xmlns:a="http://schemas.openxmlformats.org/drawingml/2006/main">
              <a:ext uri="{FF2B5EF4-FFF2-40B4-BE49-F238E27FC236}">
                <a16:creationId xmlns:a16="http://schemas.microsoft.com/office/drawing/2014/main" id="{A8D3DA24-BF42-4FC3-B4D1-3276C660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8477250"/>
            <a:ext cx="137064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Machine-checkable evaluation fixture</a:t>
            </a:r>
          </a:p>
        </p:txBody>
      </p:sp>
      <p:sp>
        <p:nvSpPr>
          <p:cNvPr id="72" name="figure-three-frame">
            <a:extLst xmlns:a="http://schemas.openxmlformats.org/drawingml/2006/main">
              <a:ext uri="{FF2B5EF4-FFF2-40B4-BE49-F238E27FC236}">
                <a16:creationId xmlns:a16="http://schemas.microsoft.com/office/drawing/2014/main" id="{2D6B1386-B624-4092-A575-739F88025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9191625"/>
            <a:ext cx="13706475" cy="685800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73" name="figure-three-placeholder">
            <a:extLst xmlns:a="http://schemas.openxmlformats.org/drawingml/2006/main">
              <a:ext uri="{FF2B5EF4-FFF2-40B4-BE49-F238E27FC236}">
                <a16:creationId xmlns:a16="http://schemas.microsoft.com/office/drawing/2014/main" id="{A11AE31B-BC36-486F-8B2D-AE41056A6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55875" y="9382125"/>
            <a:ext cx="13325475" cy="5924550"/>
          </a:xfrm>
          <a:prstGeom xmlns:a="http://schemas.openxmlformats.org/drawingml/2006/main" prst="roundRect">
            <a:avLst>
              <a:gd name="adj" fmla="val 1286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74" name="figure-three-placeholder-label">
            <a:extLst xmlns:a="http://schemas.openxmlformats.org/drawingml/2006/main">
              <a:ext uri="{FF2B5EF4-FFF2-40B4-BE49-F238E27FC236}">
                <a16:creationId xmlns:a16="http://schemas.microsoft.com/office/drawing/2014/main" id="{D5B79B08-E314-4452-B5F9-A2CBB74C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36875" y="12049125"/>
            <a:ext cx="125634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C8C99"/>
                </a:solidFill>
              </a:defRPr>
            </a:pPr>
            <a:r>
              <a:rPr sz="2700" b="1">
                <a:solidFill>
                  <a:srgbClr val="2C8C99"/>
                </a:solidFill>
              </a:rPr>
              <a:t>SOURCE FIGURE SLOT</a:t>
            </a:r>
          </a:p>
        </p:txBody>
      </p:sp>
      <p:sp>
        <p:nvSpPr>
          <p:cNvPr id="75" name="figure-three-caption">
            <a:extLst xmlns:a="http://schemas.openxmlformats.org/drawingml/2006/main">
              <a:ext uri="{FF2B5EF4-FFF2-40B4-BE49-F238E27FC236}">
                <a16:creationId xmlns:a16="http://schemas.microsoft.com/office/drawing/2014/main" id="{1A82CB5A-23E8-48FF-9EDE-1CD071F4E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15363825"/>
            <a:ext cx="132492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Source figure selected during full-paper generation</a:t>
            </a:r>
          </a:p>
        </p:txBody>
      </p:sp>
      <p:sp>
        <p:nvSpPr>
          <p:cNvPr id="76" name="figure-three-source">
            <a:extLst xmlns:a="http://schemas.openxmlformats.org/drawingml/2006/main">
              <a:ext uri="{FF2B5EF4-FFF2-40B4-BE49-F238E27FC236}">
                <a16:creationId xmlns:a16="http://schemas.microsoft.com/office/drawing/2014/main" id="{56A99529-CE67-40DD-B127-FBBBFD606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15678150"/>
            <a:ext cx="132492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Source: 10.1038/sj.bjc.6605062</a:t>
            </a:r>
          </a:p>
        </p:txBody>
      </p:sp>
      <p:sp>
        <p:nvSpPr>
          <p:cNvPr id="77" name="validation-visual-heading-title">
            <a:extLst xmlns:a="http://schemas.openxmlformats.org/drawingml/2006/main">
              <a:ext uri="{FF2B5EF4-FFF2-40B4-BE49-F238E27FC236}">
                <a16:creationId xmlns:a16="http://schemas.microsoft.com/office/drawing/2014/main" id="{451D2757-08D2-4689-A283-2035F3EC0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16525875"/>
            <a:ext cx="13706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Independent evidence slot</a:t>
            </a:r>
          </a:p>
        </p:txBody>
      </p:sp>
      <p:sp>
        <p:nvSpPr>
          <p:cNvPr id="78" name="validation-visual-heading-rule">
            <a:extLst xmlns:a="http://schemas.openxmlformats.org/drawingml/2006/main">
              <a:ext uri="{FF2B5EF4-FFF2-40B4-BE49-F238E27FC236}">
                <a16:creationId xmlns:a16="http://schemas.microsoft.com/office/drawing/2014/main" id="{671E8B61-7D3E-4A73-8750-A486783A8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1716405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figure-four-frame">
            <a:extLst xmlns:a="http://schemas.openxmlformats.org/drawingml/2006/main">
              <a:ext uri="{FF2B5EF4-FFF2-40B4-BE49-F238E27FC236}">
                <a16:creationId xmlns:a16="http://schemas.microsoft.com/office/drawing/2014/main" id="{587EC641-ABD2-4CEF-AFDC-AAA277917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17383125"/>
            <a:ext cx="13706475" cy="7143750"/>
          </a:xfrm>
          <a:prstGeom xmlns:a="http://schemas.openxmlformats.org/drawingml/2006/main" prst="roundRect">
            <a:avLst>
              <a:gd name="adj" fmla="val 1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80" name="figure-four-placeholder">
            <a:extLst xmlns:a="http://schemas.openxmlformats.org/drawingml/2006/main">
              <a:ext uri="{FF2B5EF4-FFF2-40B4-BE49-F238E27FC236}">
                <a16:creationId xmlns:a16="http://schemas.microsoft.com/office/drawing/2014/main" id="{60183F81-E950-49A5-BF03-423673ED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55875" y="17573625"/>
            <a:ext cx="13325475" cy="6210300"/>
          </a:xfrm>
          <a:prstGeom xmlns:a="http://schemas.openxmlformats.org/drawingml/2006/main" prst="roundRect">
            <a:avLst>
              <a:gd name="adj" fmla="val 1227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81" name="figure-four-placeholder-label">
            <a:extLst xmlns:a="http://schemas.openxmlformats.org/drawingml/2006/main">
              <a:ext uri="{FF2B5EF4-FFF2-40B4-BE49-F238E27FC236}">
                <a16:creationId xmlns:a16="http://schemas.microsoft.com/office/drawing/2014/main" id="{E7EE4D22-E09D-4606-8E65-12817225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36875" y="20383500"/>
            <a:ext cx="125634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C8C99"/>
                </a:solidFill>
              </a:defRPr>
            </a:pPr>
            <a:r>
              <a:rPr sz="2700" b="1">
                <a:solidFill>
                  <a:srgbClr val="2C8C99"/>
                </a:solidFill>
              </a:rPr>
              <a:t>SOURCE FIGURE SLOT</a:t>
            </a:r>
          </a:p>
        </p:txBody>
      </p:sp>
      <p:sp>
        <p:nvSpPr>
          <p:cNvPr id="82" name="figure-four-caption">
            <a:extLst xmlns:a="http://schemas.openxmlformats.org/drawingml/2006/main">
              <a:ext uri="{FF2B5EF4-FFF2-40B4-BE49-F238E27FC236}">
                <a16:creationId xmlns:a16="http://schemas.microsoft.com/office/drawing/2014/main" id="{96F95185-DA5D-416F-8A21-2315F4A3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23841075"/>
            <a:ext cx="132492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Source figure selected during full-paper generation</a:t>
            </a:r>
          </a:p>
        </p:txBody>
      </p:sp>
      <p:sp>
        <p:nvSpPr>
          <p:cNvPr id="83" name="figure-four-source">
            <a:extLst xmlns:a="http://schemas.openxmlformats.org/drawingml/2006/main">
              <a:ext uri="{FF2B5EF4-FFF2-40B4-BE49-F238E27FC236}">
                <a16:creationId xmlns:a16="http://schemas.microsoft.com/office/drawing/2014/main" id="{A94F7C02-A038-4D9C-A264-B720004A3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24155400"/>
            <a:ext cx="132492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Source: 10.1038/sj.bjc.6605062</a:t>
            </a:r>
          </a:p>
        </p:txBody>
      </p:sp>
      <p:sp>
        <p:nvSpPr>
          <p:cNvPr id="84" name="conclusion-heading-title">
            <a:extLst xmlns:a="http://schemas.openxmlformats.org/drawingml/2006/main">
              <a:ext uri="{FF2B5EF4-FFF2-40B4-BE49-F238E27FC236}">
                <a16:creationId xmlns:a16="http://schemas.microsoft.com/office/drawing/2014/main" id="{AA8A0541-8034-4693-9855-1468BB8F3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25003125"/>
            <a:ext cx="13706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Interpretation boundary</a:t>
            </a:r>
          </a:p>
        </p:txBody>
      </p:sp>
      <p:sp>
        <p:nvSpPr>
          <p:cNvPr id="85" name="conclusion-heading-rule">
            <a:extLst xmlns:a="http://schemas.openxmlformats.org/drawingml/2006/main">
              <a:ext uri="{FF2B5EF4-FFF2-40B4-BE49-F238E27FC236}">
                <a16:creationId xmlns:a16="http://schemas.microsoft.com/office/drawing/2014/main" id="{5DFB5F45-1EB8-47E5-B899-D86AF7EDA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2564130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conclusion-panel">
            <a:extLst xmlns:a="http://schemas.openxmlformats.org/drawingml/2006/main">
              <a:ext uri="{FF2B5EF4-FFF2-40B4-BE49-F238E27FC236}">
                <a16:creationId xmlns:a16="http://schemas.microsoft.com/office/drawing/2014/main" id="{DE197782-EB32-439C-9BDA-F20FBEE8B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25860375"/>
            <a:ext cx="13706475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87" name="conclusion">
            <a:extLst xmlns:a="http://schemas.openxmlformats.org/drawingml/2006/main">
              <a:ext uri="{FF2B5EF4-FFF2-40B4-BE49-F238E27FC236}">
                <a16:creationId xmlns:a16="http://schemas.microsoft.com/office/drawing/2014/main" id="{65D08354-5CE6-4B25-B7FA-0150A3370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89225" y="26174700"/>
            <a:ext cx="13058775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Interpret findings only within the source study design, population, methods and reported uncertainty.</a:t>
            </a:r>
          </a:p>
        </p:txBody>
      </p:sp>
      <p:sp>
        <p:nvSpPr>
          <p:cNvPr id="88" name="conclusion-evidence">
            <a:extLst xmlns:a="http://schemas.openxmlformats.org/drawingml/2006/main">
              <a:ext uri="{FF2B5EF4-FFF2-40B4-BE49-F238E27FC236}">
                <a16:creationId xmlns:a16="http://schemas.microsoft.com/office/drawing/2014/main" id="{3D326D71-5EE8-4FD7-AE22-E771973A1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89225" y="28498800"/>
            <a:ext cx="130587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Source and license: 10.1038/sj.bjc.6605062 · CC BY-NC-SA 3.0</a:t>
            </a:r>
          </a:p>
        </p:txBody>
      </p:sp>
      <p:sp>
        <p:nvSpPr>
          <p:cNvPr id="89" name="footer-band">
            <a:extLst xmlns:a="http://schemas.openxmlformats.org/drawingml/2006/main">
              <a:ext uri="{FF2B5EF4-FFF2-40B4-BE49-F238E27FC236}">
                <a16:creationId xmlns:a16="http://schemas.microsoft.com/office/drawing/2014/main" id="{BF5D51FD-A24A-4C30-84A0-3EBEE5D2A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337000"/>
            <a:ext cx="42805350" cy="94297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footer-source">
            <a:extLst xmlns:a="http://schemas.openxmlformats.org/drawingml/2006/main">
              <a:ext uri="{FF2B5EF4-FFF2-40B4-BE49-F238E27FC236}">
                <a16:creationId xmlns:a16="http://schemas.microsoft.com/office/drawing/2014/main" id="{B12DD77E-F29C-4DD6-BE15-A27A0FA31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9594175"/>
            <a:ext cx="2857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FFFFFF"/>
                </a:solidFill>
              </a:defRPr>
            </a:pPr>
            <a:r>
              <a:rPr sz="1950">
                <a:solidFill>
                  <a:srgbClr val="FFFFFF"/>
                </a:solidFill>
              </a:rPr>
              <a:t>Prevalent cases in observational studies of cancer survival: do they bias hazard ratio estimates? · CC BY-NC-SA 3.0</a:t>
            </a:r>
          </a:p>
        </p:txBody>
      </p:sp>
      <p:sp>
        <p:nvSpPr>
          <p:cNvPr id="91" name="footer-status">
            <a:extLst xmlns:a="http://schemas.openxmlformats.org/drawingml/2006/main">
              <a:ext uri="{FF2B5EF4-FFF2-40B4-BE49-F238E27FC236}">
                <a16:creationId xmlns:a16="http://schemas.microsoft.com/office/drawing/2014/main" id="{47B52AB1-A8D7-4436-832C-E7B5B03F6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0" y="29594175"/>
            <a:ext cx="1171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875" b="1">
                <a:solidFill>
                  <a:srgbClr val="E8B44C"/>
                </a:solidFill>
              </a:defRPr>
            </a:pPr>
            <a:r>
              <a:rPr sz="1875" b="1">
                <a:solidFill>
                  <a:srgbClr val="E8B44C"/>
                </a:solidFill>
              </a:rPr>
              <a:t>Evaluation preview · not a release poster</a:t>
            </a:r>
          </a:p>
        </p:txBody>
      </p:sp>
    </p:spTree>
    <p:extLst>
      <p:ext uri="{BB962C8B-B14F-4D97-AF65-F5344CB8AC3E}">
        <p14:creationId xmlns:p14="http://schemas.microsoft.com/office/powerpoint/2010/main" val="43681049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2026-08-08T08:04:57.9790000Z</dcterms:created>
  <dcterms:modified xsi:type="dcterms:W3CDTF">2026-08-08T08:04:57.9790000Z</dcterms:modified>
</coreProperties>
</file>