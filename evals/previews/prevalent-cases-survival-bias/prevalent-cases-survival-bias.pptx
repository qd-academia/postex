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6c06e8dab240bc" /><Relationship Type="http://schemas.openxmlformats.org/officeDocument/2006/relationships/extended-properties" Target="/docProps/app.xml" Id="R55bc12f9ea904e5b" /><Relationship Type="http://schemas.openxmlformats.org/officeDocument/2006/relationships/officeDocument" Target="/ppt/presentation.xml" Id="Rf9c1f49df41048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d5a3983aa6466b"/>
  </p:sldMasterIdLst>
  <p:notesMasterIdLst>
    <p:notesMasterId xmlns:r="http://schemas.openxmlformats.org/officeDocument/2006/relationships" r:id="Rf455e3af5de8422a"/>
  </p:notesMasterIdLst>
  <p:sldIdLst>
    <p:sldId xmlns:r="http://schemas.openxmlformats.org/officeDocument/2006/relationships" id="256" r:id="R4b73ddf976bb4507"/>
  </p:sldIdLst>
  <p:sldSz cx="42805350" cy="30279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f1470cfe604a82" /><Relationship Type="http://schemas.openxmlformats.org/officeDocument/2006/relationships/slideMaster" Target="/ppt/slideMasters/slideMaster1.xml" Id="Rafd5a3983aa6466b" /><Relationship Type="http://schemas.openxmlformats.org/officeDocument/2006/relationships/notesMaster" Target="/ppt/notesMasters/notesMaster1.xml" Id="Rf455e3af5de8422a" /><Relationship Type="http://schemas.openxmlformats.org/officeDocument/2006/relationships/presProps" Target="/ppt/presProps.xml" Id="Rcc1f94eface34ccb" /><Relationship Type="http://schemas.openxmlformats.org/officeDocument/2006/relationships/tableStyles" Target="/ppt/tableStyles.xml" Id="R912f46237e0f47d2" /><Relationship Type="http://schemas.openxmlformats.org/officeDocument/2006/relationships/slide" Target="/ppt/slides/slide1.xml" Id="R4b73ddf976bb45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3feaa125074b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c26b5c01cc45b3" /><Relationship Type="http://schemas.openxmlformats.org/officeDocument/2006/relationships/notesMaster" Target="/ppt/notesMasters/notesMaster1.xml" Id="Ra9e36cb101d447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https://www.nature.com/articles/6605062</a:t>
            </a:r>
          </a:p>
          <a:p xmlns:a="http://schemas.openxmlformats.org/drawingml/2006/main">
            <a:r>
              <a:t>- License: CC BY-NC-SA 3.0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5f2739c80e4e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ccca29fa6b4f1c" /><Relationship Type="http://schemas.openxmlformats.org/officeDocument/2006/relationships/slideLayout" Target="/ppt/slideLayouts/slideLayout1.xml" Id="R1fb8588e2a3643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b8588e2a3643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c121426bf4b90" /><Relationship Type="http://schemas.openxmlformats.org/officeDocument/2006/relationships/notesSlide" Target="/ppt/notesSlides/notesSlide1.xml" Id="Re798ea5f5ecc46a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header-band">
            <a:extLst xmlns:a="http://schemas.openxmlformats.org/drawingml/2006/main">
              <a:ext uri="{FF2B5EF4-FFF2-40B4-BE49-F238E27FC236}">
                <a16:creationId xmlns:a16="http://schemas.microsoft.com/office/drawing/2014/main" id="{D963D768-E1A8-46D2-AD5E-BF135A2D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495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0CB74700-F726-47D8-94E9-69525BFF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C282AB1A-7AD2-4315-ABFA-82FF9E7F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"/>
            <a:ext cx="2971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0" b="1">
                <a:solidFill>
                  <a:srgbClr val="FFFFFF"/>
                </a:solidFill>
              </a:defRPr>
            </a:pPr>
            <a:r>
              <a:rPr sz="7350" b="1">
                <a:solidFill>
                  <a:srgbClr val="FFFFFF"/>
                </a:solidFill>
              </a:rPr>
              <a:t>Prevalent cases in observational studies of cancer survival: do they bias hazard ratio estimates?</a:t>
            </a:r>
          </a:p>
        </p:txBody>
      </p:sp>
      <p:sp>
        <p:nvSpPr>
          <p:cNvPr id="4" name="authors">
            <a:extLst xmlns:a="http://schemas.openxmlformats.org/drawingml/2006/main">
              <a:ext uri="{FF2B5EF4-FFF2-40B4-BE49-F238E27FC236}">
                <a16:creationId xmlns:a16="http://schemas.microsoft.com/office/drawing/2014/main" id="{18431E7C-EE17-4061-98C2-9342A5D4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14650"/>
            <a:ext cx="2943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Source-grounded PostEx evaluation fixture</a:t>
            </a:r>
          </a:p>
        </p:txBody>
      </p:sp>
      <p:sp>
        <p:nvSpPr>
          <p:cNvPr id="5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07292A28-944D-492E-A1C1-3519A0E8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38550"/>
            <a:ext cx="2943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8FA"/>
                </a:solidFill>
              </a:defRPr>
            </a:pPr>
            <a:r>
              <a:rPr sz="2175">
                <a:solidFill>
                  <a:srgbClr val="F6F8FA"/>
                </a:solidFill>
              </a:rPr>
              <a:t>Observational profile · CC BY-NC-SA 3.0</a:t>
            </a:r>
          </a:p>
        </p:txBody>
      </p:sp>
      <p:sp>
        <p:nvSpPr>
          <p:cNvPr id="6" name="citation">
            <a:extLst xmlns:a="http://schemas.openxmlformats.org/drawingml/2006/main">
              <a:ext uri="{FF2B5EF4-FFF2-40B4-BE49-F238E27FC236}">
                <a16:creationId xmlns:a16="http://schemas.microsoft.com/office/drawing/2014/main" id="{A8C83F46-9577-49CC-9056-4F4B17E9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2428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8B44C"/>
                </a:solidFill>
              </a:defRPr>
            </a:pPr>
            <a:r>
              <a:rPr sz="1950" b="1">
                <a:solidFill>
                  <a:srgbClr val="E8B44C"/>
                </a:solidFill>
              </a:rPr>
              <a:t>DOI 10.1038/sj.bjc.6605062</a:t>
            </a:r>
          </a:p>
        </p:txBody>
      </p:sp>
      <p:sp>
        <p:nvSpPr>
          <p:cNvPr id="7" name="logo-slot-institution-logo">
            <a:extLst xmlns:a="http://schemas.openxmlformats.org/drawingml/2006/main">
              <a:ext uri="{FF2B5EF4-FFF2-40B4-BE49-F238E27FC236}">
                <a16:creationId xmlns:a16="http://schemas.microsoft.com/office/drawing/2014/main" id="{1CBA8C96-A41F-451B-B199-6DB38355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552450"/>
            <a:ext cx="933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8" name="logo-placeholder-institution-logo">
            <a:extLst xmlns:a="http://schemas.openxmlformats.org/drawingml/2006/main">
              <a:ext uri="{FF2B5EF4-FFF2-40B4-BE49-F238E27FC236}">
                <a16:creationId xmlns:a16="http://schemas.microsoft.com/office/drawing/2014/main" id="{99F5CA6B-9999-4546-A140-A8F763B5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3550" y="914400"/>
            <a:ext cx="910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5F73"/>
                </a:solidFill>
              </a:defRPr>
            </a:pPr>
            <a:r>
              <a:rPr sz="2025" b="1">
                <a:solidFill>
                  <a:srgbClr val="0F5F73"/>
                </a:solidFill>
              </a:rPr>
              <a:t>Institution logo</a:t>
            </a:r>
          </a:p>
        </p:txBody>
      </p:sp>
      <p:sp>
        <p:nvSpPr>
          <p:cNvPr id="9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09A5717E-CA92-4D7C-9CCD-7A3CB10E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2000250"/>
            <a:ext cx="9334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6DE9B065-D649-4549-939A-FC8651C4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5F73"/>
                </a:solidFill>
              </a:defRPr>
            </a:pPr>
            <a:r>
              <a:rPr sz="5100" b="1">
                <a:solidFill>
                  <a:srgbClr val="0F5F73"/>
                </a:solidFill>
              </a:rPr>
              <a:t>4470</a:t>
            </a:r>
          </a:p>
        </p:txBody>
      </p:sp>
      <p:sp>
        <p:nvSpPr>
          <p:cNvPr id="11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E9AC1701-9815-4B32-B739-3470C2D8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total sample</a:t>
            </a:r>
          </a:p>
        </p:txBody>
      </p:sp>
      <p:sp>
        <p:nvSpPr>
          <p:cNvPr id="12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652DD6E0-E3E1-4F76-B60E-DE7517D1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C8C99"/>
                </a:solidFill>
              </a:defRPr>
            </a:pPr>
            <a:r>
              <a:rPr sz="5100" b="1">
                <a:solidFill>
                  <a:srgbClr val="2C8C99"/>
                </a:solidFill>
              </a:rPr>
              <a:t>1231</a:t>
            </a:r>
          </a:p>
        </p:txBody>
      </p:sp>
      <p:sp>
        <p:nvSpPr>
          <p:cNvPr id="13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9A9A55AC-D42E-4AA5-AF52-5BE9DC63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incident cases</a:t>
            </a:r>
          </a:p>
        </p:txBody>
      </p:sp>
      <p:sp>
        <p:nvSpPr>
          <p:cNvPr id="14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166D72C4-4B22-4980-8252-3036564E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8B44C"/>
                </a:solidFill>
              </a:defRPr>
            </a:pPr>
            <a:r>
              <a:rPr sz="5100" b="1">
                <a:solidFill>
                  <a:srgbClr val="E8B44C"/>
                </a:solidFill>
              </a:rPr>
              <a:t>3239</a:t>
            </a:r>
          </a:p>
        </p:txBody>
      </p:sp>
      <p:sp>
        <p:nvSpPr>
          <p:cNvPr id="15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4C17FDC9-9B84-4044-BB7C-FD6B0394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30670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prevalent cases</a:t>
            </a:r>
          </a:p>
        </p:txBody>
      </p:sp>
      <p:sp>
        <p:nvSpPr>
          <p:cNvPr id="16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C1BD13E6-1009-4D37-8D3C-EC0282F9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Communication objective</a:t>
            </a:r>
          </a:p>
        </p:txBody>
      </p:sp>
      <p:sp>
        <p:nvSpPr>
          <p:cNvPr id="17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E51EB85B-F5DC-4493-895D-818BF993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ED8BE95C-187D-4FF9-8668-B5B88E9E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96050"/>
            <a:ext cx="11620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Present the paper's design, central evidence and interpretation boundary in a traceable conference-poster format.</a:t>
            </a:r>
          </a:p>
        </p:txBody>
      </p:sp>
      <p:sp>
        <p:nvSpPr>
          <p:cNvPr id="19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FA73F8F3-400B-45E9-9C8E-4F89AC5F6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86800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Evidence fixture: 10.1038/sj.bjc.6605062</a:t>
            </a:r>
          </a:p>
        </p:txBody>
      </p:sp>
      <p:sp>
        <p:nvSpPr>
          <p:cNvPr id="20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73972FC0-CD31-41DC-B9B6-72277A01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2392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Required evidence structure</a:t>
            </a:r>
          </a:p>
        </p:txBody>
      </p:sp>
      <p:sp>
        <p:nvSpPr>
          <p:cNvPr id="21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7319F175-44B4-4CF5-884E-7C711306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8774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6146A8E0-3E28-4E66-A1B0-25607555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134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7D9858B9-47E8-457C-8BEF-41F93A25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201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24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2DC06280-76D6-4DEC-B504-9F3A8791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172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Background</a:t>
            </a:r>
          </a:p>
        </p:txBody>
      </p:sp>
      <p:sp>
        <p:nvSpPr>
          <p:cNvPr id="25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DEAF4666-4766-4507-B3D7-DF107AF7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896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3ADCB7B4-09F4-42B2-884E-12ECE9B0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963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27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6E3D9BF7-258B-498C-8C41-3D4B6D86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934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Cohort Construction</a:t>
            </a:r>
          </a:p>
        </p:txBody>
      </p:sp>
      <p:sp>
        <p:nvSpPr>
          <p:cNvPr id="28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968A9921-9B55-4935-9C5B-993D625C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658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F8B052C9-6349-4ACB-AD7D-B27214F6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725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30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55EBC4FD-D7F5-4BFC-8729-2A6E8773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1696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Baseline Characteristics</a:t>
            </a:r>
          </a:p>
        </p:txBody>
      </p:sp>
      <p:sp>
        <p:nvSpPr>
          <p:cNvPr id="31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526CBD9D-6DD3-4DBB-88FF-65DAE296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20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42C5B293-9DA3-419C-8EEA-F6C5ACD8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87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4</a:t>
            </a:r>
          </a:p>
        </p:txBody>
      </p:sp>
      <p:sp>
        <p:nvSpPr>
          <p:cNvPr id="33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4507977A-F0E7-41BD-A2B2-4E3101F1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2458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2A43"/>
                </a:solidFill>
              </a:defRPr>
            </a:pPr>
            <a:r>
              <a:rPr sz="2850" b="1">
                <a:solidFill>
                  <a:srgbClr val="102A43"/>
                </a:solidFill>
              </a:rPr>
              <a:t>Statistical Model</a:t>
            </a:r>
          </a:p>
        </p:txBody>
      </p:sp>
      <p:sp>
        <p:nvSpPr>
          <p:cNvPr id="34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A4053600-B833-4E87-A472-9CCC8621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430250"/>
            <a:ext cx="11620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35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FA3AC925-B9D5-439F-B53A-4D7EC90D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7160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5F73"/>
                </a:solidFill>
              </a:defRPr>
            </a:pPr>
            <a:r>
              <a:rPr sz="2175" b="1">
                <a:solidFill>
                  <a:srgbClr val="0F5F73"/>
                </a:solidFill>
              </a:rPr>
              <a:t>SOURCE CONTRACT</a:t>
            </a:r>
          </a:p>
        </p:txBody>
      </p:sp>
      <p:sp>
        <p:nvSpPr>
          <p:cNvPr id="36" name="datasets">
            <a:extLst xmlns:a="http://schemas.openxmlformats.org/drawingml/2006/main">
              <a:ext uri="{FF2B5EF4-FFF2-40B4-BE49-F238E27FC236}">
                <a16:creationId xmlns:a16="http://schemas.microsoft.com/office/drawing/2014/main" id="{FD7DDD79-8278-41B4-B225-78511B9E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4239875"/>
            <a:ext cx="110871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Input: full paper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License: CC BY-NC-SA 3.0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Profile: observational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Claims checked: 4</a:t>
            </a:r>
          </a:p>
        </p:txBody>
      </p:sp>
      <p:sp>
        <p:nvSpPr>
          <p:cNvPr id="37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581451E1-98D9-41A9-AFBA-2958909A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411575"/>
            <a:ext cx="1108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https://www.nature.com/articles/6605062</a:t>
            </a:r>
          </a:p>
        </p:txBody>
      </p:sp>
      <p:sp>
        <p:nvSpPr>
          <p:cNvPr id="38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7213FDC2-0540-4AB9-8F32-F31BC16D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83125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Methods and source evidence</a:t>
            </a:r>
          </a:p>
        </p:txBody>
      </p:sp>
      <p:sp>
        <p:nvSpPr>
          <p:cNvPr id="39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827FC90F-534C-41F7-ADD2-4DA05735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02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50D3B711-DE22-4B88-BD4D-76C520A4D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240375"/>
            <a:ext cx="11620500" cy="9906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41" name="figure-one-placeholder">
            <a:extLst xmlns:a="http://schemas.openxmlformats.org/drawingml/2006/main">
              <a:ext uri="{FF2B5EF4-FFF2-40B4-BE49-F238E27FC236}">
                <a16:creationId xmlns:a16="http://schemas.microsoft.com/office/drawing/2014/main" id="{158831CC-1E02-4C58-8A22-2D183EFA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430875"/>
            <a:ext cx="11239500" cy="8972550"/>
          </a:xfrm>
          <a:prstGeom xmlns:a="http://schemas.openxmlformats.org/drawingml/2006/main" prst="roundRect">
            <a:avLst>
              <a:gd name="adj" fmla="val 84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42" name="figure-one-placeholder-label">
            <a:extLst xmlns:a="http://schemas.openxmlformats.org/drawingml/2006/main">
              <a:ext uri="{FF2B5EF4-FFF2-40B4-BE49-F238E27FC236}">
                <a16:creationId xmlns:a16="http://schemas.microsoft.com/office/drawing/2014/main" id="{4B7A8134-396A-4329-9A7B-2A97FD9F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621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SOURCE FIGURE SLOT</a:t>
            </a:r>
          </a:p>
        </p:txBody>
      </p:sp>
      <p:sp>
        <p:nvSpPr>
          <p:cNvPr id="43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14C12F4D-4DD8-4B6C-B0DA-BF7A63E3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460575"/>
            <a:ext cx="11163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Source figure selected during full-paper generation</a:t>
            </a:r>
          </a:p>
        </p:txBody>
      </p:sp>
      <p:sp>
        <p:nvSpPr>
          <p:cNvPr id="44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0709A355-1A65-4054-88AC-7417A43F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774900"/>
            <a:ext cx="1116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Source: 10.1038/sj.bjc.6605062</a:t>
            </a:r>
          </a:p>
        </p:txBody>
      </p:sp>
      <p:sp>
        <p:nvSpPr>
          <p:cNvPr id="45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E752A84C-DCDE-4C72-9AA5-D2FE405C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619750"/>
            <a:ext cx="13668375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360D195F-0391-4BC5-A1A5-1BF8710F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5953125"/>
            <a:ext cx="12830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02A43"/>
                </a:solidFill>
              </a:defRPr>
            </a:pPr>
            <a:r>
              <a:rPr sz="4125" b="1">
                <a:solidFill>
                  <a:srgbClr val="102A43"/>
                </a:solidFill>
              </a:rPr>
              <a:t>4470</a:t>
            </a:r>
          </a:p>
        </p:txBody>
      </p:sp>
      <p:sp>
        <p:nvSpPr>
          <p:cNvPr id="47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A3A03D48-6992-45BF-A888-A75364809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181850"/>
            <a:ext cx="1233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Key facts remain bound to the source and study design</a:t>
            </a:r>
          </a:p>
        </p:txBody>
      </p:sp>
      <p:sp>
        <p:nvSpPr>
          <p:cNvPr id="48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143A5CA5-873C-4767-B174-1F20A7D9A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7715250"/>
            <a:ext cx="12792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Evidence fixture: 10.1038/sj.bjc.6605062</a:t>
            </a:r>
          </a:p>
        </p:txBody>
      </p:sp>
      <p:sp>
        <p:nvSpPr>
          <p:cNvPr id="49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E7A04C79-37B7-459F-BA06-33B8980B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8620125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Primary evidence</a:t>
            </a:r>
          </a:p>
        </p:txBody>
      </p:sp>
      <p:sp>
        <p:nvSpPr>
          <p:cNvPr id="50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E4AA87B8-82AB-4420-B9CD-1CF48A8B2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258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6598E268-A9C3-4D57-A858-91418B29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477375"/>
            <a:ext cx="13668375" cy="12715875"/>
          </a:xfrm>
          <a:prstGeom xmlns:a="http://schemas.openxmlformats.org/drawingml/2006/main" prst="roundRect">
            <a:avLst>
              <a:gd name="adj" fmla="val 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52" name="figure-two-placeholder">
            <a:extLst xmlns:a="http://schemas.openxmlformats.org/drawingml/2006/main">
              <a:ext uri="{FF2B5EF4-FFF2-40B4-BE49-F238E27FC236}">
                <a16:creationId xmlns:a16="http://schemas.microsoft.com/office/drawing/2014/main" id="{0E8CFA78-F6BF-455E-A9EE-41C99F1D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667875"/>
            <a:ext cx="13287375" cy="11782425"/>
          </a:xfrm>
          <a:prstGeom xmlns:a="http://schemas.openxmlformats.org/drawingml/2006/main" prst="roundRect">
            <a:avLst>
              <a:gd name="adj" fmla="val 64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53" name="figure-two-placeholder-label">
            <a:extLst xmlns:a="http://schemas.openxmlformats.org/drawingml/2006/main">
              <a:ext uri="{FF2B5EF4-FFF2-40B4-BE49-F238E27FC236}">
                <a16:creationId xmlns:a16="http://schemas.microsoft.com/office/drawing/2014/main" id="{15302C2F-49AC-46AC-9CB9-4595C64D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15263813"/>
            <a:ext cx="1252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SOURCE FIGURE SLOT</a:t>
            </a:r>
          </a:p>
        </p:txBody>
      </p:sp>
      <p:sp>
        <p:nvSpPr>
          <p:cNvPr id="54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78D9EA4F-3941-40FC-BEE7-FA364718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507450"/>
            <a:ext cx="13211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Source figure selected during full-paper generation</a:t>
            </a:r>
          </a:p>
        </p:txBody>
      </p:sp>
      <p:sp>
        <p:nvSpPr>
          <p:cNvPr id="55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26A6E478-2260-4DD1-89EC-7B216062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821775"/>
            <a:ext cx="13211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Source: 10.1038/sj.bjc.6605062</a:t>
            </a:r>
          </a:p>
        </p:txBody>
      </p:sp>
      <p:sp>
        <p:nvSpPr>
          <p:cNvPr id="56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3A2E5264-6D10-402C-B817-D9C7FC11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66950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Required factual anchors</a:t>
            </a:r>
          </a:p>
        </p:txBody>
      </p:sp>
      <p:sp>
        <p:nvSpPr>
          <p:cNvPr id="57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FDB365F7-26AE-49E0-B285-5B7414EA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30767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3E0E97E6-09A1-403C-B9D7-27C4D667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526750"/>
            <a:ext cx="13668375" cy="4048125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59" name="validation">
            <a:extLst xmlns:a="http://schemas.openxmlformats.org/drawingml/2006/main">
              <a:ext uri="{FF2B5EF4-FFF2-40B4-BE49-F238E27FC236}">
                <a16:creationId xmlns:a16="http://schemas.microsoft.com/office/drawing/2014/main" id="{6D8C784C-8118-40BD-9FED-31F337FE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3841075"/>
            <a:ext cx="129825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total sample: 4470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incident cases: 1231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prevalent cases: 3239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stage comparison p: P=0.90</a:t>
            </a:r>
          </a:p>
        </p:txBody>
      </p:sp>
      <p:sp>
        <p:nvSpPr>
          <p:cNvPr id="60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A2ECC448-1748-4FF4-972C-3F877FA0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7117675"/>
            <a:ext cx="12982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Ground-truth case: prevalent-cases-survival-bias</a:t>
            </a:r>
          </a:p>
        </p:txBody>
      </p:sp>
      <p:sp>
        <p:nvSpPr>
          <p:cNvPr id="61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49CC6950-2425-434D-90B8-26E830E35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7908250"/>
            <a:ext cx="136683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0921A86F-54B3-4E91-AC82-50EBC540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28194000"/>
            <a:ext cx="13020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No unsupported numerical or causal expansion permitted</a:t>
            </a:r>
          </a:p>
        </p:txBody>
      </p:sp>
      <p:sp>
        <p:nvSpPr>
          <p:cNvPr id="63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88EB9E14-3445-40EB-B5D6-529AB6D3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5619750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Fact checks</a:t>
            </a:r>
          </a:p>
        </p:txBody>
      </p:sp>
      <p:sp>
        <p:nvSpPr>
          <p:cNvPr id="64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9824FF06-4FA7-46C7-8722-C015F7F8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867F3AE8-E044-43F6-A345-B5B6CF02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5F73"/>
                </a:solidFill>
              </a:defRPr>
            </a:pPr>
            <a:r>
              <a:rPr sz="5100" b="1">
                <a:solidFill>
                  <a:srgbClr val="0F5F73"/>
                </a:solidFill>
              </a:rPr>
              <a:t>4470</a:t>
            </a:r>
          </a:p>
        </p:txBody>
      </p:sp>
      <p:sp>
        <p:nvSpPr>
          <p:cNvPr id="66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15231BD3-5CBF-4AB0-8D3D-50A41680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total sample</a:t>
            </a:r>
          </a:p>
        </p:txBody>
      </p:sp>
      <p:sp>
        <p:nvSpPr>
          <p:cNvPr id="67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7085705D-C916-417C-9D48-1C6E4A3C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C8C99"/>
                </a:solidFill>
              </a:defRPr>
            </a:pPr>
            <a:r>
              <a:rPr sz="5100" b="1">
                <a:solidFill>
                  <a:srgbClr val="2C8C99"/>
                </a:solidFill>
              </a:rPr>
              <a:t>1231</a:t>
            </a:r>
          </a:p>
        </p:txBody>
      </p:sp>
      <p:sp>
        <p:nvSpPr>
          <p:cNvPr id="68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1123B198-D985-4D07-8DB2-7CA9BE34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incident cases</a:t>
            </a:r>
          </a:p>
        </p:txBody>
      </p:sp>
      <p:sp>
        <p:nvSpPr>
          <p:cNvPr id="69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35C2A292-E3F8-477A-8791-688C1802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8B44C"/>
                </a:solidFill>
              </a:defRPr>
            </a:pPr>
            <a:r>
              <a:rPr sz="5100" b="1">
                <a:solidFill>
                  <a:srgbClr val="E8B44C"/>
                </a:solidFill>
              </a:rPr>
              <a:t>3239</a:t>
            </a:r>
          </a:p>
        </p:txBody>
      </p:sp>
      <p:sp>
        <p:nvSpPr>
          <p:cNvPr id="70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D8C0C00D-1EE0-462E-AADC-5249F8E2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73533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prevalent cases</a:t>
            </a:r>
          </a:p>
        </p:txBody>
      </p:sp>
      <p:sp>
        <p:nvSpPr>
          <p:cNvPr id="71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C8E74D2B-0C0D-4B17-9648-5E9BABD1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8477250"/>
            <a:ext cx="13706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Machine-checkable evaluation fixture</a:t>
            </a:r>
          </a:p>
        </p:txBody>
      </p:sp>
      <p:sp>
        <p:nvSpPr>
          <p:cNvPr id="72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A65B4CD3-0066-42B6-8D82-E11B4F87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9191625"/>
            <a:ext cx="13706475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73" name="figure-three-placeholder">
            <a:extLst xmlns:a="http://schemas.openxmlformats.org/drawingml/2006/main">
              <a:ext uri="{FF2B5EF4-FFF2-40B4-BE49-F238E27FC236}">
                <a16:creationId xmlns:a16="http://schemas.microsoft.com/office/drawing/2014/main" id="{8DBE9BCF-C697-4BF7-9657-87C29772C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75" y="9382125"/>
            <a:ext cx="13325475" cy="5924550"/>
          </a:xfrm>
          <a:prstGeom xmlns:a="http://schemas.openxmlformats.org/drawingml/2006/main" prst="roundRect">
            <a:avLst>
              <a:gd name="adj" fmla="val 128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74" name="figure-three-placeholder-label">
            <a:extLst xmlns:a="http://schemas.openxmlformats.org/drawingml/2006/main">
              <a:ext uri="{FF2B5EF4-FFF2-40B4-BE49-F238E27FC236}">
                <a16:creationId xmlns:a16="http://schemas.microsoft.com/office/drawing/2014/main" id="{18C35503-17BB-48A0-A62D-2FE38E7F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75" y="12049125"/>
            <a:ext cx="12563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SOURCE FIGURE SLOT</a:t>
            </a:r>
          </a:p>
        </p:txBody>
      </p:sp>
      <p:sp>
        <p:nvSpPr>
          <p:cNvPr id="75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18A0C4DA-3604-431C-844E-B400A15BE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363825"/>
            <a:ext cx="13249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Source figure selected during full-paper generation</a:t>
            </a:r>
          </a:p>
        </p:txBody>
      </p:sp>
      <p:sp>
        <p:nvSpPr>
          <p:cNvPr id="76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4C92EA32-3E04-4653-9DBE-CD007AAE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678150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Source: 10.1038/sj.bjc.6605062</a:t>
            </a:r>
          </a:p>
        </p:txBody>
      </p:sp>
      <p:sp>
        <p:nvSpPr>
          <p:cNvPr id="77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147D0588-2F59-4686-919B-D28D4939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652587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Independent evidence slot</a:t>
            </a:r>
          </a:p>
        </p:txBody>
      </p:sp>
      <p:sp>
        <p:nvSpPr>
          <p:cNvPr id="78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7B67D96D-B917-4299-B764-A5457006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16405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7BE7719C-0F92-46E2-A50D-E63E130B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383125"/>
            <a:ext cx="13706475" cy="71437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80" name="figure-four-placeholder">
            <a:extLst xmlns:a="http://schemas.openxmlformats.org/drawingml/2006/main">
              <a:ext uri="{FF2B5EF4-FFF2-40B4-BE49-F238E27FC236}">
                <a16:creationId xmlns:a16="http://schemas.microsoft.com/office/drawing/2014/main" id="{F65CBD41-2708-4EA2-BFCE-317ABACA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75" y="17573625"/>
            <a:ext cx="13325475" cy="6210300"/>
          </a:xfrm>
          <a:prstGeom xmlns:a="http://schemas.openxmlformats.org/drawingml/2006/main" prst="roundRect">
            <a:avLst>
              <a:gd name="adj" fmla="val 122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81" name="figure-four-placeholder-label">
            <a:extLst xmlns:a="http://schemas.openxmlformats.org/drawingml/2006/main">
              <a:ext uri="{FF2B5EF4-FFF2-40B4-BE49-F238E27FC236}">
                <a16:creationId xmlns:a16="http://schemas.microsoft.com/office/drawing/2014/main" id="{C541F0E7-9ED8-4B11-87BC-E65EEB9E3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75" y="20383500"/>
            <a:ext cx="12563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SOURCE FIGURE SLOT</a:t>
            </a:r>
          </a:p>
        </p:txBody>
      </p:sp>
      <p:sp>
        <p:nvSpPr>
          <p:cNvPr id="82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965F1C6C-9BA3-4104-A51E-C5BE5113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3841075"/>
            <a:ext cx="13249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Source figure selected during full-paper generation</a:t>
            </a:r>
          </a:p>
        </p:txBody>
      </p:sp>
      <p:sp>
        <p:nvSpPr>
          <p:cNvPr id="83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D9FB48A5-3331-42C7-8FC7-14C9C196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4155400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Source: 10.1038/sj.bjc.6605062</a:t>
            </a:r>
          </a:p>
        </p:txBody>
      </p:sp>
      <p:sp>
        <p:nvSpPr>
          <p:cNvPr id="84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A2E0CFAB-0573-409A-84B6-ADDD1284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00312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Interpretation boundary</a:t>
            </a:r>
          </a:p>
        </p:txBody>
      </p:sp>
      <p:sp>
        <p:nvSpPr>
          <p:cNvPr id="85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35E403A6-80FD-4EF0-9913-3EB8A4F0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64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0617EAC5-55E5-4578-B5FC-ED01EC1A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860375"/>
            <a:ext cx="137064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87" name="conclusion">
            <a:extLst xmlns:a="http://schemas.openxmlformats.org/drawingml/2006/main">
              <a:ext uri="{FF2B5EF4-FFF2-40B4-BE49-F238E27FC236}">
                <a16:creationId xmlns:a16="http://schemas.microsoft.com/office/drawing/2014/main" id="{790D558D-6192-4AFE-9E24-19872DBF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6174700"/>
            <a:ext cx="130587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Interpret findings only within the source study design, population, methods and reported uncertainty.</a:t>
            </a:r>
          </a:p>
        </p:txBody>
      </p:sp>
      <p:sp>
        <p:nvSpPr>
          <p:cNvPr id="88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0D5E0955-3F73-475E-9C65-733F4749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8498800"/>
            <a:ext cx="13058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i="1">
                <a:solidFill>
                  <a:srgbClr val="2C8C99"/>
                </a:solidFill>
              </a:defRPr>
            </a:pPr>
            <a:r>
              <a:rPr sz="1875" i="1">
                <a:solidFill>
                  <a:srgbClr val="2C8C99"/>
                </a:solidFill>
              </a:rPr>
              <a:t>Source and license: 10.1038/sj.bjc.6605062 · CC BY-NC-SA 3.0</a:t>
            </a:r>
          </a:p>
        </p:txBody>
      </p:sp>
      <p:sp>
        <p:nvSpPr>
          <p:cNvPr id="89" name="footer-band">
            <a:extLst xmlns:a="http://schemas.openxmlformats.org/drawingml/2006/main">
              <a:ext uri="{FF2B5EF4-FFF2-40B4-BE49-F238E27FC236}">
                <a16:creationId xmlns:a16="http://schemas.microsoft.com/office/drawing/2014/main" id="{641FF3F1-573F-49BE-BF4C-2013EEBE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0"/>
            <a:ext cx="42805350" cy="9429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2396B612-8982-4B7A-9E15-3D0F293D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94175"/>
            <a:ext cx="2857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Prevalent cases in observational studies of cancer survival: do they bias hazard ratio estimates? · CC BY-NC-SA 3.0</a:t>
            </a:r>
          </a:p>
        </p:txBody>
      </p:sp>
      <p:sp>
        <p:nvSpPr>
          <p:cNvPr id="91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42D8AC6B-FB0E-4093-A8FF-5E60CCE0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0" y="29594175"/>
            <a:ext cx="1171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E8B44C"/>
                </a:solidFill>
              </a:defRPr>
            </a:pPr>
            <a:r>
              <a:rPr sz="1875" b="1">
                <a:solidFill>
                  <a:srgbClr val="E8B44C"/>
                </a:solidFill>
              </a:rPr>
              <a:t>Evaluation preview · not a release poster</a:t>
            </a:r>
          </a:p>
        </p:txBody>
      </p:sp>
    </p:spTree>
    <p:extLst>
      <p:ext uri="{BB962C8B-B14F-4D97-AF65-F5344CB8AC3E}">
        <p14:creationId xmlns:p14="http://schemas.microsoft.com/office/powerpoint/2010/main" val="15630035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2026-08-07T04:16:53.3450000Z</dcterms:created>
  <dcterms:modified xsi:type="dcterms:W3CDTF">2026-08-07T04:16:53.3450000Z</dcterms:modified>
</coreProperties>
</file>