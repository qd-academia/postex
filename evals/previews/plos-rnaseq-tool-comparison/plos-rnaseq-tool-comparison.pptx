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a903ec58004990" /><Relationship Type="http://schemas.openxmlformats.org/officeDocument/2006/relationships/extended-properties" Target="/docProps/app.xml" Id="R284cb4a3294c4fce" /><Relationship Type="http://schemas.openxmlformats.org/officeDocument/2006/relationships/officeDocument" Target="/ppt/presentation.xml" Id="R80a604c5f11f42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208d8f58b74a05"/>
  </p:sldMasterIdLst>
  <p:notesMasterIdLst>
    <p:notesMasterId xmlns:r="http://schemas.openxmlformats.org/officeDocument/2006/relationships" r:id="R644b179d411c450d"/>
  </p:notesMasterIdLst>
  <p:sldIdLst>
    <p:sldId xmlns:r="http://schemas.openxmlformats.org/officeDocument/2006/relationships" id="256" r:id="R2f399f1ca5a144c6"/>
  </p:sldIdLst>
  <p:sldSz cx="42805350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f927dea75c423f" /><Relationship Type="http://schemas.openxmlformats.org/officeDocument/2006/relationships/slideMaster" Target="/ppt/slideMasters/slideMaster1.xml" Id="R06208d8f58b74a05" /><Relationship Type="http://schemas.openxmlformats.org/officeDocument/2006/relationships/notesMaster" Target="/ppt/notesMasters/notesMaster1.xml" Id="R644b179d411c450d" /><Relationship Type="http://schemas.openxmlformats.org/officeDocument/2006/relationships/presProps" Target="/ppt/presProps.xml" Id="Rc2fb2ee93a1b4ec1" /><Relationship Type="http://schemas.openxmlformats.org/officeDocument/2006/relationships/tableStyles" Target="/ppt/tableStyles.xml" Id="Ref1e3a4d2fce4d7f" /><Relationship Type="http://schemas.openxmlformats.org/officeDocument/2006/relationships/slide" Target="/ppt/slides/slide1.xml" Id="R2f399f1ca5a144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86813e124c41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49ed9ba2d046db" /><Relationship Type="http://schemas.openxmlformats.org/officeDocument/2006/relationships/notesMaster" Target="/ppt/notesMasters/notesMaster1.xml" Id="R94c43ddb46324a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https://doi.org/10.1371/journal.pone.0103207</a:t>
            </a:r>
          </a:p>
          <a:p xmlns:a="http://schemas.openxmlformats.org/drawingml/2006/main">
            <a:r>
              <a:t>- License: CC BY 4.0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e34196bb1543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2e7831d258428f" /><Relationship Type="http://schemas.openxmlformats.org/officeDocument/2006/relationships/slideLayout" Target="/ppt/slideLayouts/slideLayout1.xml" Id="Rb41395a9717f49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1395a9717f49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73c02cc8e4027" /><Relationship Type="http://schemas.openxmlformats.org/officeDocument/2006/relationships/notesSlide" Target="/ppt/notesSlides/notesSlide1.xml" Id="R0d5e4de6562346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header-band">
            <a:extLst xmlns:a="http://schemas.openxmlformats.org/drawingml/2006/main">
              <a:ext uri="{FF2B5EF4-FFF2-40B4-BE49-F238E27FC236}">
                <a16:creationId xmlns:a16="http://schemas.microsoft.com/office/drawing/2014/main" id="{D9497E17-EE43-4204-8972-24BC4CA9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95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4176968C-5B31-4434-AB60-99DA6945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7E86E2F4-5D12-42C1-9B1C-A3029FE6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"/>
            <a:ext cx="2971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A Comparative Study of Techniques for Differential Expression Analysis on RNA-Seq Data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CFD014EF-CC3F-424E-BDC4-C55C88D0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2943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Source-grounded PostEx evaluation fixture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A4DCA6E1-486A-4DAB-80E1-8E2192E7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943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8FA"/>
                </a:solidFill>
              </a:defRPr>
            </a:pPr>
            <a:r>
              <a:rPr sz="2175">
                <a:solidFill>
                  <a:srgbClr val="F6F8FA"/>
                </a:solidFill>
              </a:rPr>
              <a:t>Bioinformatics profile · CC BY 4.0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DFE7410A-BFF1-40A0-9DD6-AFF003A7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28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8B44C"/>
                </a:solidFill>
              </a:defRPr>
            </a:pPr>
            <a:r>
              <a:rPr sz="1950" b="1">
                <a:solidFill>
                  <a:srgbClr val="E8B44C"/>
                </a:solidFill>
              </a:rPr>
              <a:t>DOI 10.1371/journal.pone.0103207</a:t>
            </a:r>
          </a:p>
        </p:txBody>
      </p:sp>
      <p:sp>
        <p:nvSpPr>
          <p:cNvPr id="7" name="logo-slot-institution-logo">
            <a:extLst xmlns:a="http://schemas.openxmlformats.org/drawingml/2006/main">
              <a:ext uri="{FF2B5EF4-FFF2-40B4-BE49-F238E27FC236}">
                <a16:creationId xmlns:a16="http://schemas.microsoft.com/office/drawing/2014/main" id="{0B882BCB-D7A0-4F7D-B1B2-EEC36D6A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552450"/>
            <a:ext cx="933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" name="logo-placeholder-institution-logo">
            <a:extLst xmlns:a="http://schemas.openxmlformats.org/drawingml/2006/main">
              <a:ext uri="{FF2B5EF4-FFF2-40B4-BE49-F238E27FC236}">
                <a16:creationId xmlns:a16="http://schemas.microsoft.com/office/drawing/2014/main" id="{5E4FAD85-8721-457F-8B37-765278C0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550" y="914400"/>
            <a:ext cx="910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5F73"/>
                </a:solidFill>
              </a:defRPr>
            </a:pPr>
            <a:r>
              <a:rPr sz="2025" b="1">
                <a:solidFill>
                  <a:srgbClr val="0F5F73"/>
                </a:solidFill>
              </a:rPr>
              <a:t>Institution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D28760D9-268C-4C0E-945F-B82AB32D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2000250"/>
            <a:ext cx="9334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43064A28-4C70-420A-A289-E595D5BC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Cuffdiff2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2AB68CCF-562D-4ADF-B7CA-77F9CC38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tools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DE67EBE0-AB38-4C76-903B-29162E4D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edgeR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B7BBFBC7-190B-4726-8C55-96BFD469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true positive resu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0A34B51A-9B63-47D4-ABD4-53B38E62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DESeq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9C2160B4-CF35-4E2E-9AEC-E03CC7E0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false positive cau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85300E9-F6B8-48C5-9E9D-80FE53BC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Communication objective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E5EE1973-A842-40B1-B5BE-4332AA3F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1C9D0D8E-500D-4078-AB6D-9F65A109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96050"/>
            <a:ext cx="11620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Present the paper's design, central evidence and interpretation boundary in a traceable conference-poster format.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D46439E3-3AA2-4803-A681-6D29A869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868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 fixture: 10.1371/journal.pone.0103207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6F81832B-5796-4D00-9801-791030A5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2392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Required evidence structure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2A0F4111-E59C-4A1F-AFEB-5ACB2A96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8774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CE664DE0-0ABC-4EBD-BFEF-BC238E63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134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F817A45C-8A8C-42CA-90E0-54160D01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01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F644E310-4603-42BB-8A84-E2EA2594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172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Research Question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FFB98121-07C1-4F0C-995A-77D14F92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896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B5C97378-2A18-4983-B989-4F60C164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963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A8DFCF32-8450-46F8-ABB7-44433CBE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934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Datasets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2662DFA3-F709-4C2E-B366-104B735B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658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A3F97E75-E027-4C89-8F2F-DA9DD8B7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725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E59A27CF-10C6-4B23-9A00-419175F7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696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Analysis Pipeline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4CC60E17-E39E-4CBA-B9E2-58435E23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20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95D975D5-787E-4DCB-958D-3DD18B43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87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D0069A0B-474B-49A1-A2A9-5016DC05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458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Key Results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40673D52-9416-4DCD-B21C-42CB2A66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430250"/>
            <a:ext cx="11620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0D508A5A-62BD-4B5C-B196-B1C95A34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5F73"/>
                </a:solidFill>
              </a:defRPr>
            </a:pPr>
            <a:r>
              <a:rPr sz="2175" b="1">
                <a:solidFill>
                  <a:srgbClr val="0F5F73"/>
                </a:solidFill>
              </a:rPr>
              <a:t>SOURCE CONTRACT</a:t>
            </a:r>
          </a:p>
        </p:txBody>
      </p:sp>
      <p:sp>
        <p:nvSpPr>
          <p:cNvPr id="36" name="datasets">
            <a:extLst xmlns:a="http://schemas.openxmlformats.org/drawingml/2006/main">
              <a:ext uri="{FF2B5EF4-FFF2-40B4-BE49-F238E27FC236}">
                <a16:creationId xmlns:a16="http://schemas.microsoft.com/office/drawing/2014/main" id="{241F3AC2-5048-4BAA-8BED-A1B30DB2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39875"/>
            <a:ext cx="11087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Input: full paper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License: CC BY 4.0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Profile: bioinformatics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Claims checked: 3</a:t>
            </a:r>
          </a:p>
        </p:txBody>
      </p:sp>
      <p:sp>
        <p:nvSpPr>
          <p:cNvPr id="37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025F5A7A-8D1F-4DA7-A7C2-DA0E6895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4115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https://doi.org/10.1371/journal.pone.0103207</a:t>
            </a:r>
          </a:p>
        </p:txBody>
      </p:sp>
      <p:sp>
        <p:nvSpPr>
          <p:cNvPr id="38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4AFAC763-8922-4DAC-A464-390C64A6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83125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Methods and source evidence</a:t>
            </a:r>
          </a:p>
        </p:txBody>
      </p:sp>
      <p:sp>
        <p:nvSpPr>
          <p:cNvPr id="39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C05ECCFC-D242-40DF-8DD9-145CAB48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2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E798B3F7-3444-4BA4-97FA-511FD458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40375"/>
            <a:ext cx="11620500" cy="9906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41" name="figure-one-placeholder">
            <a:extLst xmlns:a="http://schemas.openxmlformats.org/drawingml/2006/main">
              <a:ext uri="{FF2B5EF4-FFF2-40B4-BE49-F238E27FC236}">
                <a16:creationId xmlns:a16="http://schemas.microsoft.com/office/drawing/2014/main" id="{753079BA-32BA-4B36-8573-D6E6C0F8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430875"/>
            <a:ext cx="11239500" cy="8972550"/>
          </a:xfrm>
          <a:prstGeom xmlns:a="http://schemas.openxmlformats.org/drawingml/2006/main" prst="roundRect">
            <a:avLst>
              <a:gd name="adj" fmla="val 84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42" name="figure-one-placeholder-label">
            <a:extLst xmlns:a="http://schemas.openxmlformats.org/drawingml/2006/main">
              <a:ext uri="{FF2B5EF4-FFF2-40B4-BE49-F238E27FC236}">
                <a16:creationId xmlns:a16="http://schemas.microsoft.com/office/drawing/2014/main" id="{868FDE4A-A9C7-43B1-BB21-77706D9C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621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A435A310-4D6B-42A0-859E-A5EF43F3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60575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D52AEB2B-94E6-4DB0-BF18-04B1E268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774900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10.1371/journal.pone.0103207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B186492A-FD57-4DDF-854C-1D8C887E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1366837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BE50EB31-8D4D-467E-B747-84027D2B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953125"/>
            <a:ext cx="12830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02A43"/>
                </a:solidFill>
              </a:defRPr>
            </a:pPr>
            <a:r>
              <a:rPr sz="4125" b="1">
                <a:solidFill>
                  <a:srgbClr val="102A43"/>
                </a:solidFill>
              </a:rPr>
              <a:t>Cuffdiff2, DESeq and edgeR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E00818C0-9230-4C81-859D-BB7430E6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181850"/>
            <a:ext cx="1233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Key facts remain bound to the source and study design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16CA19DB-0E1E-47BB-8B22-58561D66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715250"/>
            <a:ext cx="1279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 fixture: 10.1371/journal.pone.0103207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77138817-371D-4E3F-AD59-127C6BB3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620125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Primary evidence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D48B1CA3-FE02-409F-BDB1-C1F53896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258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A4534782-B2B3-4AA8-9095-C4229038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477375"/>
            <a:ext cx="13668375" cy="12715875"/>
          </a:xfrm>
          <a:prstGeom xmlns:a="http://schemas.openxmlformats.org/drawingml/2006/main" prst="roundRect">
            <a:avLst>
              <a:gd name="adj" fmla="val 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2" name="figure-two-placeholder">
            <a:extLst xmlns:a="http://schemas.openxmlformats.org/drawingml/2006/main">
              <a:ext uri="{FF2B5EF4-FFF2-40B4-BE49-F238E27FC236}">
                <a16:creationId xmlns:a16="http://schemas.microsoft.com/office/drawing/2014/main" id="{40966731-09B5-4D90-A367-696BC336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667875"/>
            <a:ext cx="13287375" cy="11782425"/>
          </a:xfrm>
          <a:prstGeom xmlns:a="http://schemas.openxmlformats.org/drawingml/2006/main" prst="roundRect">
            <a:avLst>
              <a:gd name="adj" fmla="val 64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53" name="figure-two-placeholder-label">
            <a:extLst xmlns:a="http://schemas.openxmlformats.org/drawingml/2006/main">
              <a:ext uri="{FF2B5EF4-FFF2-40B4-BE49-F238E27FC236}">
                <a16:creationId xmlns:a16="http://schemas.microsoft.com/office/drawing/2014/main" id="{F719EB1D-DB88-4D1F-A213-C8C228A4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5263813"/>
            <a:ext cx="1252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54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FDD9F43F-17D6-4E1E-8D0B-EF25D8AF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507450"/>
            <a:ext cx="13211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55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BA785F11-41D5-4BB5-9353-2669841B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821775"/>
            <a:ext cx="1321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10.1371/journal.pone.0103207</a:t>
            </a:r>
          </a:p>
        </p:txBody>
      </p:sp>
      <p:sp>
        <p:nvSpPr>
          <p:cNvPr id="56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9AF7C265-6908-4B1C-AB53-5A8B4673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669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Required factual anchors</a:t>
            </a:r>
          </a:p>
        </p:txBody>
      </p:sp>
      <p:sp>
        <p:nvSpPr>
          <p:cNvPr id="57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278A4396-0B08-42EE-A880-C801B2C3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0767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5230FE68-EE64-43BF-96E7-7E56E4FD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526750"/>
            <a:ext cx="1366837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9" name="validation">
            <a:extLst xmlns:a="http://schemas.openxmlformats.org/drawingml/2006/main">
              <a:ext uri="{FF2B5EF4-FFF2-40B4-BE49-F238E27FC236}">
                <a16:creationId xmlns:a16="http://schemas.microsoft.com/office/drawing/2014/main" id="{161358A4-05FC-481A-AA4D-1EBBD829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3841075"/>
            <a:ext cx="129825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tools: Cuffdiff2, DESeq and edgeR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true positive result: edgeR performs slightly better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false positive caution: DESeq or taking the intersection</a:t>
            </a:r>
          </a:p>
        </p:txBody>
      </p:sp>
      <p:sp>
        <p:nvSpPr>
          <p:cNvPr id="60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AA037403-395F-42A1-8980-411322AE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7117675"/>
            <a:ext cx="1298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Ground-truth case: plos-rnaseq-tool-comparison</a:t>
            </a:r>
          </a:p>
        </p:txBody>
      </p:sp>
      <p:sp>
        <p:nvSpPr>
          <p:cNvPr id="61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20F5D06D-F796-4AB7-BF0F-B2BECE3C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908250"/>
            <a:ext cx="1366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9368F963-BBB7-4479-98D9-04EA4EE1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8194000"/>
            <a:ext cx="1302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No unsupported numerical or causal expansion permitted</a:t>
            </a:r>
          </a:p>
        </p:txBody>
      </p:sp>
      <p:sp>
        <p:nvSpPr>
          <p:cNvPr id="63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4AA42F1D-DC24-4C0A-84F0-B13FCE51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5619750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Fact checks</a:t>
            </a:r>
          </a:p>
        </p:txBody>
      </p:sp>
      <p:sp>
        <p:nvSpPr>
          <p:cNvPr id="64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95B03679-DD8F-4FF9-9FF3-86F9834A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E886F2EE-168B-419F-BC1A-EFEFC4BE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Cuffdiff2</a:t>
            </a:r>
          </a:p>
        </p:txBody>
      </p:sp>
      <p:sp>
        <p:nvSpPr>
          <p:cNvPr id="66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67AF3683-8FA5-42A7-B033-053A1399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tools</a:t>
            </a:r>
          </a:p>
        </p:txBody>
      </p:sp>
      <p:sp>
        <p:nvSpPr>
          <p:cNvPr id="67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69D20308-546A-4D5B-8CAC-7FD7B641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edgeR</a:t>
            </a:r>
          </a:p>
        </p:txBody>
      </p:sp>
      <p:sp>
        <p:nvSpPr>
          <p:cNvPr id="68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82266E11-3841-4AB3-9A89-06248DAE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true positive resu</a:t>
            </a:r>
          </a:p>
        </p:txBody>
      </p:sp>
      <p:sp>
        <p:nvSpPr>
          <p:cNvPr id="69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25470DC5-F603-44AE-BB08-0FAA4207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DESeq</a:t>
            </a:r>
          </a:p>
        </p:txBody>
      </p:sp>
      <p:sp>
        <p:nvSpPr>
          <p:cNvPr id="70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CD197926-9C28-439B-8B8F-6F0F7EC9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false positive cau</a:t>
            </a:r>
          </a:p>
        </p:txBody>
      </p:sp>
      <p:sp>
        <p:nvSpPr>
          <p:cNvPr id="71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0F8D0C3B-ECFC-40FC-ADE7-8AD15676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8477250"/>
            <a:ext cx="1370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Machine-checkable evaluation fixture</a:t>
            </a:r>
          </a:p>
        </p:txBody>
      </p:sp>
      <p:sp>
        <p:nvSpPr>
          <p:cNvPr id="72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2E9E538A-7719-40FE-A36E-4531D054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9191625"/>
            <a:ext cx="13706475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73" name="figure-three-placeholder">
            <a:extLst xmlns:a="http://schemas.openxmlformats.org/drawingml/2006/main">
              <a:ext uri="{FF2B5EF4-FFF2-40B4-BE49-F238E27FC236}">
                <a16:creationId xmlns:a16="http://schemas.microsoft.com/office/drawing/2014/main" id="{920BEFC8-8AF4-4B84-9C69-AEDBAD70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9382125"/>
            <a:ext cx="13325475" cy="5924550"/>
          </a:xfrm>
          <a:prstGeom xmlns:a="http://schemas.openxmlformats.org/drawingml/2006/main" prst="roundRect">
            <a:avLst>
              <a:gd name="adj" fmla="val 128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74" name="figure-three-placeholder-label">
            <a:extLst xmlns:a="http://schemas.openxmlformats.org/drawingml/2006/main">
              <a:ext uri="{FF2B5EF4-FFF2-40B4-BE49-F238E27FC236}">
                <a16:creationId xmlns:a16="http://schemas.microsoft.com/office/drawing/2014/main" id="{BBCC9C6E-ACD3-47F0-9723-8EA939AF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12049125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75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B402CA0E-7CDA-4F27-AB5E-91B1FE64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36382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76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475E76EB-0EA8-458D-B0C4-1CCD72D4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67815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10.1371/journal.pone.0103207</a:t>
            </a:r>
          </a:p>
        </p:txBody>
      </p:sp>
      <p:sp>
        <p:nvSpPr>
          <p:cNvPr id="77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054159F5-665E-4895-80B1-BF491472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652587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Independent evidence slot</a:t>
            </a:r>
          </a:p>
        </p:txBody>
      </p:sp>
      <p:sp>
        <p:nvSpPr>
          <p:cNvPr id="78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5D8EFD96-D5C3-4FEB-A702-9F560CBB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16405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331BFBD7-1AC0-4386-9232-30642E8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383125"/>
            <a:ext cx="13706475" cy="7143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0" name="figure-four-placeholder">
            <a:extLst xmlns:a="http://schemas.openxmlformats.org/drawingml/2006/main">
              <a:ext uri="{FF2B5EF4-FFF2-40B4-BE49-F238E27FC236}">
                <a16:creationId xmlns:a16="http://schemas.microsoft.com/office/drawing/2014/main" id="{DE3B40D5-FA3F-42D5-9104-12BDB649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17573625"/>
            <a:ext cx="13325475" cy="6210300"/>
          </a:xfrm>
          <a:prstGeom xmlns:a="http://schemas.openxmlformats.org/drawingml/2006/main" prst="roundRect">
            <a:avLst>
              <a:gd name="adj" fmla="val 12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1" name="figure-four-placeholder-label">
            <a:extLst xmlns:a="http://schemas.openxmlformats.org/drawingml/2006/main">
              <a:ext uri="{FF2B5EF4-FFF2-40B4-BE49-F238E27FC236}">
                <a16:creationId xmlns:a16="http://schemas.microsoft.com/office/drawing/2014/main" id="{0817079E-073D-414F-A94F-E5E625FF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20383500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82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78E5A1BA-025B-4AAB-BAE9-3771925B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384107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83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60B41803-F18E-4E80-B6C5-24CCF6CD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415540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10.1371/journal.pone.0103207</a:t>
            </a:r>
          </a:p>
        </p:txBody>
      </p:sp>
      <p:sp>
        <p:nvSpPr>
          <p:cNvPr id="84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8BE07A80-A8C6-4EDE-9053-2F0DB881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00312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Interpretation boundary</a:t>
            </a:r>
          </a:p>
        </p:txBody>
      </p:sp>
      <p:sp>
        <p:nvSpPr>
          <p:cNvPr id="85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2810B753-0E09-4190-BC42-A858EA8A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64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D604FA5C-9219-4E23-BC5F-BEE05599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860375"/>
            <a:ext cx="137064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7" name="conclusion">
            <a:extLst xmlns:a="http://schemas.openxmlformats.org/drawingml/2006/main">
              <a:ext uri="{FF2B5EF4-FFF2-40B4-BE49-F238E27FC236}">
                <a16:creationId xmlns:a16="http://schemas.microsoft.com/office/drawing/2014/main" id="{8D443FD8-D095-4019-BF74-545292EF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174700"/>
            <a:ext cx="13058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Interpret findings only within the source study design, population, methods and reported uncertainty.</a:t>
            </a:r>
          </a:p>
        </p:txBody>
      </p:sp>
      <p:sp>
        <p:nvSpPr>
          <p:cNvPr id="88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2FAA40DF-364B-4893-A2F8-3022EFE6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8498800"/>
            <a:ext cx="1305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 and license: 10.1371/journal.pone.0103207 · CC BY 4.0</a:t>
            </a:r>
          </a:p>
        </p:txBody>
      </p:sp>
      <p:sp>
        <p:nvSpPr>
          <p:cNvPr id="89" name="footer-band">
            <a:extLst xmlns:a="http://schemas.openxmlformats.org/drawingml/2006/main">
              <a:ext uri="{FF2B5EF4-FFF2-40B4-BE49-F238E27FC236}">
                <a16:creationId xmlns:a16="http://schemas.microsoft.com/office/drawing/2014/main" id="{9B99837B-CF09-42F5-8230-DC3198F0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0"/>
            <a:ext cx="42805350" cy="9429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F38A968-95B8-4F39-B984-B296EB4C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94175"/>
            <a:ext cx="2857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A Comparative Study of Techniques for Differential Expression Analysis on RNA-Seq Data · CC BY 4.0</a:t>
            </a:r>
          </a:p>
        </p:txBody>
      </p:sp>
      <p:sp>
        <p:nvSpPr>
          <p:cNvPr id="91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34BC6ABE-8C6B-47AE-8ED5-81D7F381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0" y="29594175"/>
            <a:ext cx="1171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E8B44C"/>
                </a:solidFill>
              </a:defRPr>
            </a:pPr>
            <a:r>
              <a:rPr sz="1875" b="1">
                <a:solidFill>
                  <a:srgbClr val="E8B44C"/>
                </a:solidFill>
              </a:rPr>
              <a:t>Evaluation preview · not a release poster</a:t>
            </a:r>
          </a:p>
        </p:txBody>
      </p:sp>
    </p:spTree>
    <p:extLst>
      <p:ext uri="{BB962C8B-B14F-4D97-AF65-F5344CB8AC3E}">
        <p14:creationId xmlns:p14="http://schemas.microsoft.com/office/powerpoint/2010/main" val="2006883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2026-08-08T08:04:45.0270000Z</dcterms:created>
  <dcterms:modified xsi:type="dcterms:W3CDTF">2026-08-08T08:04:45.0270000Z</dcterms:modified>
</coreProperties>
</file>