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a0953d3875b4535" /><Relationship Type="http://schemas.openxmlformats.org/officeDocument/2006/relationships/extended-properties" Target="/docProps/app.xml" Id="Ra3c19ce645db4c9e" /><Relationship Type="http://schemas.openxmlformats.org/officeDocument/2006/relationships/officeDocument" Target="/ppt/presentation.xml" Id="R4fcc51ddc98f4a0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71e4b9a6baf4032"/>
  </p:sldMasterIdLst>
  <p:notesMasterIdLst>
    <p:notesMasterId xmlns:r="http://schemas.openxmlformats.org/officeDocument/2006/relationships" r:id="R3aa943bce2524482"/>
  </p:notesMasterIdLst>
  <p:sldIdLst>
    <p:sldId xmlns:r="http://schemas.openxmlformats.org/officeDocument/2006/relationships" id="256" r:id="R13e22555fc244c77"/>
  </p:sldIdLst>
  <p:sldSz cx="42805350" cy="30279975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7e4aff66c94419d" /><Relationship Type="http://schemas.openxmlformats.org/officeDocument/2006/relationships/slideMaster" Target="/ppt/slideMasters/slideMaster1.xml" Id="Rf71e4b9a6baf4032" /><Relationship Type="http://schemas.openxmlformats.org/officeDocument/2006/relationships/notesMaster" Target="/ppt/notesMasters/notesMaster1.xml" Id="R3aa943bce2524482" /><Relationship Type="http://schemas.openxmlformats.org/officeDocument/2006/relationships/presProps" Target="/ppt/presProps.xml" Id="Rec6d4338db8744e8" /><Relationship Type="http://schemas.openxmlformats.org/officeDocument/2006/relationships/tableStyles" Target="/ppt/tableStyles.xml" Id="R02b53c1d43854fc3" /><Relationship Type="http://schemas.openxmlformats.org/officeDocument/2006/relationships/slide" Target="/ppt/slides/slide1.xml" Id="R13e22555fc244c7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90f9f6fb6754d7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e4b5f4a124d4908" /><Relationship Type="http://schemas.openxmlformats.org/officeDocument/2006/relationships/notesMaster" Target="/ppt/notesMasters/notesMaster1.xml" Id="R795baeb4d18d4bc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https://doi.org/10.1371/journal.pone.0103207</a:t>
            </a:r>
          </a:p>
          <a:p xmlns:a="http://schemas.openxmlformats.org/drawingml/2006/main">
            <a:r>
              <a:t>- License: CC BY 4.0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d4ab32fa8d4f8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f1070cd60fa428a" /><Relationship Type="http://schemas.openxmlformats.org/officeDocument/2006/relationships/slideLayout" Target="/ppt/slideLayouts/slideLayout1.xml" Id="Ra71e6887050c4c5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71e6887050c4c5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e9125e4f714953" /><Relationship Type="http://schemas.openxmlformats.org/officeDocument/2006/relationships/notesSlide" Target="/ppt/notesSlides/notesSlide1.xml" Id="Rbde5fc18f1e94d4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2" name="header-band">
            <a:extLst xmlns:a="http://schemas.openxmlformats.org/drawingml/2006/main">
              <a:ext uri="{FF2B5EF4-FFF2-40B4-BE49-F238E27FC236}">
                <a16:creationId xmlns:a16="http://schemas.microsoft.com/office/drawing/2014/main" id="{8CD0C2B7-9761-4D6A-8D20-7375F74C8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2805350" cy="4953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0F5F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">
            <a:extLst xmlns:a="http://schemas.openxmlformats.org/drawingml/2006/main">
              <a:ext uri="{FF2B5EF4-FFF2-40B4-BE49-F238E27FC236}">
                <a16:creationId xmlns:a16="http://schemas.microsoft.com/office/drawing/2014/main" id="{57E76DE0-E1BF-4C3E-84E4-A2511325F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2805350" cy="2857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oster-title">
            <a:extLst xmlns:a="http://schemas.openxmlformats.org/drawingml/2006/main">
              <a:ext uri="{FF2B5EF4-FFF2-40B4-BE49-F238E27FC236}">
                <a16:creationId xmlns:a16="http://schemas.microsoft.com/office/drawing/2014/main" id="{3758DE9A-8086-4507-9900-9E38F4F9D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90550"/>
            <a:ext cx="297180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350" b="1">
                <a:solidFill>
                  <a:srgbClr val="FFFFFF"/>
                </a:solidFill>
              </a:defRPr>
            </a:pPr>
            <a:r>
              <a:rPr sz="7350" b="1">
                <a:solidFill>
                  <a:srgbClr val="FFFFFF"/>
                </a:solidFill>
              </a:rPr>
              <a:t>A Comparative Study of Techniques for Differential Expression Analysis on RNA-Seq Data</a:t>
            </a:r>
          </a:p>
        </p:txBody>
      </p:sp>
      <p:sp>
        <p:nvSpPr>
          <p:cNvPr id="4" name="authors">
            <a:extLst xmlns:a="http://schemas.openxmlformats.org/drawingml/2006/main">
              <a:ext uri="{FF2B5EF4-FFF2-40B4-BE49-F238E27FC236}">
                <a16:creationId xmlns:a16="http://schemas.microsoft.com/office/drawing/2014/main" id="{89366F37-3961-4C6F-B6DB-FF8CC720F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914650"/>
            <a:ext cx="29432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FFFFFF"/>
                </a:solidFill>
              </a:defRPr>
            </a:pPr>
            <a:r>
              <a:rPr sz="2775" b="1">
                <a:solidFill>
                  <a:srgbClr val="FFFFFF"/>
                </a:solidFill>
              </a:rPr>
              <a:t>Source-grounded PostEx evaluation fixture</a:t>
            </a:r>
          </a:p>
        </p:txBody>
      </p:sp>
      <p:sp>
        <p:nvSpPr>
          <p:cNvPr id="5" name="affiliations">
            <a:extLst xmlns:a="http://schemas.openxmlformats.org/drawingml/2006/main">
              <a:ext uri="{FF2B5EF4-FFF2-40B4-BE49-F238E27FC236}">
                <a16:creationId xmlns:a16="http://schemas.microsoft.com/office/drawing/2014/main" id="{77656E68-C387-432E-9160-0D8A620D8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638550"/>
            <a:ext cx="2943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F6F8FA"/>
                </a:solidFill>
              </a:defRPr>
            </a:pPr>
            <a:r>
              <a:rPr sz="2175">
                <a:solidFill>
                  <a:srgbClr val="F6F8FA"/>
                </a:solidFill>
              </a:rPr>
              <a:t>Bioinformatics profile · CC BY 4.0</a:t>
            </a:r>
          </a:p>
        </p:txBody>
      </p:sp>
      <p:sp>
        <p:nvSpPr>
          <p:cNvPr id="6" name="citation">
            <a:extLst xmlns:a="http://schemas.openxmlformats.org/drawingml/2006/main">
              <a:ext uri="{FF2B5EF4-FFF2-40B4-BE49-F238E27FC236}">
                <a16:creationId xmlns:a16="http://schemas.microsoft.com/office/drawing/2014/main" id="{11EE8D5E-CA42-46EA-8302-81F55E2D8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238625"/>
            <a:ext cx="2428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E8B44C"/>
                </a:solidFill>
              </a:defRPr>
            </a:pPr>
            <a:r>
              <a:rPr sz="1950" b="1">
                <a:solidFill>
                  <a:srgbClr val="E8B44C"/>
                </a:solidFill>
              </a:rPr>
              <a:t>DOI 10.1371/journal.pone.0103207</a:t>
            </a:r>
          </a:p>
        </p:txBody>
      </p:sp>
      <p:sp>
        <p:nvSpPr>
          <p:cNvPr id="7" name="logo-slot-institution-logo">
            <a:extLst xmlns:a="http://schemas.openxmlformats.org/drawingml/2006/main">
              <a:ext uri="{FF2B5EF4-FFF2-40B4-BE49-F238E27FC236}">
                <a16:creationId xmlns:a16="http://schemas.microsoft.com/office/drawing/2014/main" id="{21DDD92A-8405-4FF0-A633-4A97A7663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0" y="552450"/>
            <a:ext cx="93345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8" name="logo-placeholder-institution-logo">
            <a:extLst xmlns:a="http://schemas.openxmlformats.org/drawingml/2006/main">
              <a:ext uri="{FF2B5EF4-FFF2-40B4-BE49-F238E27FC236}">
                <a16:creationId xmlns:a16="http://schemas.microsoft.com/office/drawing/2014/main" id="{64B54719-09C5-4C12-8143-3047B1422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13550" y="914400"/>
            <a:ext cx="910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F5F73"/>
                </a:solidFill>
              </a:defRPr>
            </a:pPr>
            <a:r>
              <a:rPr sz="2025" b="1">
                <a:solidFill>
                  <a:srgbClr val="0F5F73"/>
                </a:solidFill>
              </a:rPr>
              <a:t>Institution logo</a:t>
            </a:r>
          </a:p>
        </p:txBody>
      </p:sp>
      <p:sp>
        <p:nvSpPr>
          <p:cNvPr id="9" name="header-summary">
            <a:extLst xmlns:a="http://schemas.openxmlformats.org/drawingml/2006/main">
              <a:ext uri="{FF2B5EF4-FFF2-40B4-BE49-F238E27FC236}">
                <a16:creationId xmlns:a16="http://schemas.microsoft.com/office/drawing/2014/main" id="{C5FA9A69-E6F1-40F9-81B9-CA7C00904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0" y="2000250"/>
            <a:ext cx="9334500" cy="2286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header-metric-1-value">
            <a:extLst xmlns:a="http://schemas.openxmlformats.org/drawingml/2006/main">
              <a:ext uri="{FF2B5EF4-FFF2-40B4-BE49-F238E27FC236}">
                <a16:creationId xmlns:a16="http://schemas.microsoft.com/office/drawing/2014/main" id="{A8C80F99-941C-404D-AF23-CF328F794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0" y="2286000"/>
            <a:ext cx="247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0F5F73"/>
                </a:solidFill>
              </a:defRPr>
            </a:pPr>
            <a:r>
              <a:rPr sz="5100" b="1">
                <a:solidFill>
                  <a:srgbClr val="0F5F73"/>
                </a:solidFill>
              </a:rPr>
              <a:t>Cuffdiff2</a:t>
            </a:r>
          </a:p>
        </p:txBody>
      </p:sp>
      <p:sp>
        <p:nvSpPr>
          <p:cNvPr id="11" name="header-metric-1-label">
            <a:extLst xmlns:a="http://schemas.openxmlformats.org/drawingml/2006/main">
              <a:ext uri="{FF2B5EF4-FFF2-40B4-BE49-F238E27FC236}">
                <a16:creationId xmlns:a16="http://schemas.microsoft.com/office/drawing/2014/main" id="{BE73CF84-302E-4BDF-8024-6F8B03C2B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0" y="30670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tools</a:t>
            </a:r>
          </a:p>
        </p:txBody>
      </p:sp>
      <p:sp>
        <p:nvSpPr>
          <p:cNvPr id="12" name="header-metric-2-value">
            <a:extLst xmlns:a="http://schemas.openxmlformats.org/drawingml/2006/main">
              <a:ext uri="{FF2B5EF4-FFF2-40B4-BE49-F238E27FC236}">
                <a16:creationId xmlns:a16="http://schemas.microsoft.com/office/drawing/2014/main" id="{C5AAA608-B473-4E35-B13E-8055A8EA6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0" y="2286000"/>
            <a:ext cx="247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2C8C99"/>
                </a:solidFill>
              </a:defRPr>
            </a:pPr>
            <a:r>
              <a:rPr sz="5100" b="1">
                <a:solidFill>
                  <a:srgbClr val="2C8C99"/>
                </a:solidFill>
              </a:rPr>
              <a:t>edgeR</a:t>
            </a:r>
          </a:p>
        </p:txBody>
      </p:sp>
      <p:sp>
        <p:nvSpPr>
          <p:cNvPr id="13" name="header-metric-2-label">
            <a:extLst xmlns:a="http://schemas.openxmlformats.org/drawingml/2006/main">
              <a:ext uri="{FF2B5EF4-FFF2-40B4-BE49-F238E27FC236}">
                <a16:creationId xmlns:a16="http://schemas.microsoft.com/office/drawing/2014/main" id="{188B73F3-3269-4AB3-90E0-0CD1D8A54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0" y="30670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true positive resu</a:t>
            </a:r>
          </a:p>
        </p:txBody>
      </p:sp>
      <p:sp>
        <p:nvSpPr>
          <p:cNvPr id="14" name="header-metric-3-value">
            <a:extLst xmlns:a="http://schemas.openxmlformats.org/drawingml/2006/main">
              <a:ext uri="{FF2B5EF4-FFF2-40B4-BE49-F238E27FC236}">
                <a16:creationId xmlns:a16="http://schemas.microsoft.com/office/drawing/2014/main" id="{6D5EBDED-E0EE-4BF6-B058-C17AC1C8B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0" y="2286000"/>
            <a:ext cx="247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E8B44C"/>
                </a:solidFill>
              </a:defRPr>
            </a:pPr>
            <a:r>
              <a:rPr sz="5100" b="1">
                <a:solidFill>
                  <a:srgbClr val="E8B44C"/>
                </a:solidFill>
              </a:rPr>
              <a:t>DESeq</a:t>
            </a:r>
          </a:p>
        </p:txBody>
      </p:sp>
      <p:sp>
        <p:nvSpPr>
          <p:cNvPr id="15" name="header-metric-3-label">
            <a:extLst xmlns:a="http://schemas.openxmlformats.org/drawingml/2006/main">
              <a:ext uri="{FF2B5EF4-FFF2-40B4-BE49-F238E27FC236}">
                <a16:creationId xmlns:a16="http://schemas.microsoft.com/office/drawing/2014/main" id="{EE8B38B4-8DD5-41D5-B9FC-6E4A9DEE6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0" y="30670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false positive cau</a:t>
            </a:r>
          </a:p>
        </p:txBody>
      </p:sp>
      <p:sp>
        <p:nvSpPr>
          <p:cNvPr id="16" name="question-title">
            <a:extLst xmlns:a="http://schemas.openxmlformats.org/drawingml/2006/main">
              <a:ext uri="{FF2B5EF4-FFF2-40B4-BE49-F238E27FC236}">
                <a16:creationId xmlns:a16="http://schemas.microsoft.com/office/drawing/2014/main" id="{3ED15834-37E1-4A3C-95D2-F1A31C564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619750"/>
            <a:ext cx="1162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Communication objective</a:t>
            </a:r>
          </a:p>
        </p:txBody>
      </p:sp>
      <p:sp>
        <p:nvSpPr>
          <p:cNvPr id="17" name="question-rule">
            <a:extLst xmlns:a="http://schemas.openxmlformats.org/drawingml/2006/main">
              <a:ext uri="{FF2B5EF4-FFF2-40B4-BE49-F238E27FC236}">
                <a16:creationId xmlns:a16="http://schemas.microsoft.com/office/drawing/2014/main" id="{27CD1B64-0487-4027-AB93-581FF737E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257925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research-question">
            <a:extLst xmlns:a="http://schemas.openxmlformats.org/drawingml/2006/main">
              <a:ext uri="{FF2B5EF4-FFF2-40B4-BE49-F238E27FC236}">
                <a16:creationId xmlns:a16="http://schemas.microsoft.com/office/drawing/2014/main" id="{813E20F0-9A94-4AFD-AD54-7FC0931DA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6496050"/>
            <a:ext cx="116205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Present the paper's design, central evidence and interpretation boundary in a traceable conference-poster format.</a:t>
            </a:r>
          </a:p>
        </p:txBody>
      </p:sp>
      <p:sp>
        <p:nvSpPr>
          <p:cNvPr id="19" name="question-evidence">
            <a:extLst xmlns:a="http://schemas.openxmlformats.org/drawingml/2006/main">
              <a:ext uri="{FF2B5EF4-FFF2-40B4-BE49-F238E27FC236}">
                <a16:creationId xmlns:a16="http://schemas.microsoft.com/office/drawing/2014/main" id="{B57F6211-AA56-4E51-BC70-93355B77D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8686800"/>
            <a:ext cx="1162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Evidence fixture: 10.1371/journal.pone.0103207</a:t>
            </a:r>
          </a:p>
        </p:txBody>
      </p:sp>
      <p:sp>
        <p:nvSpPr>
          <p:cNvPr id="20" name="pipeline-title">
            <a:extLst xmlns:a="http://schemas.openxmlformats.org/drawingml/2006/main">
              <a:ext uri="{FF2B5EF4-FFF2-40B4-BE49-F238E27FC236}">
                <a16:creationId xmlns:a16="http://schemas.microsoft.com/office/drawing/2014/main" id="{E53A6315-FCD2-467E-A5E7-C5FA174A4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9239250"/>
            <a:ext cx="1162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Required evidence structure</a:t>
            </a:r>
          </a:p>
        </p:txBody>
      </p:sp>
      <p:sp>
        <p:nvSpPr>
          <p:cNvPr id="21" name="pipeline-rule">
            <a:extLst xmlns:a="http://schemas.openxmlformats.org/drawingml/2006/main">
              <a:ext uri="{FF2B5EF4-FFF2-40B4-BE49-F238E27FC236}">
                <a16:creationId xmlns:a16="http://schemas.microsoft.com/office/drawing/2014/main" id="{6557CA42-765C-4354-923C-486D24330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9877425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pipeline-1-number-bg">
            <a:extLst xmlns:a="http://schemas.openxmlformats.org/drawingml/2006/main">
              <a:ext uri="{FF2B5EF4-FFF2-40B4-BE49-F238E27FC236}">
                <a16:creationId xmlns:a16="http://schemas.microsoft.com/office/drawing/2014/main" id="{C2731E43-86A2-470B-B35F-446A5E98D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0134600"/>
            <a:ext cx="590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pipeline-1-number">
            <a:extLst xmlns:a="http://schemas.openxmlformats.org/drawingml/2006/main">
              <a:ext uri="{FF2B5EF4-FFF2-40B4-BE49-F238E27FC236}">
                <a16:creationId xmlns:a16="http://schemas.microsoft.com/office/drawing/2014/main" id="{84B8D00A-C3A2-4FE7-A442-E99E1AE41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0201275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1</a:t>
            </a:r>
          </a:p>
        </p:txBody>
      </p:sp>
      <p:sp>
        <p:nvSpPr>
          <p:cNvPr id="24" name="pipeline-1-text">
            <a:extLst xmlns:a="http://schemas.openxmlformats.org/drawingml/2006/main">
              <a:ext uri="{FF2B5EF4-FFF2-40B4-BE49-F238E27FC236}">
                <a16:creationId xmlns:a16="http://schemas.microsoft.com/office/drawing/2014/main" id="{6801C22C-749A-487C-BB09-FC7024171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0172700"/>
            <a:ext cx="10839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Research Question</a:t>
            </a:r>
          </a:p>
        </p:txBody>
      </p:sp>
      <p:sp>
        <p:nvSpPr>
          <p:cNvPr id="25" name="pipeline-2-number-bg">
            <a:extLst xmlns:a="http://schemas.openxmlformats.org/drawingml/2006/main">
              <a:ext uri="{FF2B5EF4-FFF2-40B4-BE49-F238E27FC236}">
                <a16:creationId xmlns:a16="http://schemas.microsoft.com/office/drawing/2014/main" id="{70442CA8-B99C-4DBF-B389-D59A370C7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0896600"/>
            <a:ext cx="590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pipeline-2-number">
            <a:extLst xmlns:a="http://schemas.openxmlformats.org/drawingml/2006/main">
              <a:ext uri="{FF2B5EF4-FFF2-40B4-BE49-F238E27FC236}">
                <a16:creationId xmlns:a16="http://schemas.microsoft.com/office/drawing/2014/main" id="{1A1526CB-F71C-4E1E-82C6-037E3D5BE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0963275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2</a:t>
            </a:r>
          </a:p>
        </p:txBody>
      </p:sp>
      <p:sp>
        <p:nvSpPr>
          <p:cNvPr id="27" name="pipeline-2-text">
            <a:extLst xmlns:a="http://schemas.openxmlformats.org/drawingml/2006/main">
              <a:ext uri="{FF2B5EF4-FFF2-40B4-BE49-F238E27FC236}">
                <a16:creationId xmlns:a16="http://schemas.microsoft.com/office/drawing/2014/main" id="{7882F17C-A84B-4934-AEFE-A5C773B1F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0934700"/>
            <a:ext cx="10839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Datasets</a:t>
            </a:r>
          </a:p>
        </p:txBody>
      </p:sp>
      <p:sp>
        <p:nvSpPr>
          <p:cNvPr id="28" name="pipeline-3-number-bg">
            <a:extLst xmlns:a="http://schemas.openxmlformats.org/drawingml/2006/main">
              <a:ext uri="{FF2B5EF4-FFF2-40B4-BE49-F238E27FC236}">
                <a16:creationId xmlns:a16="http://schemas.microsoft.com/office/drawing/2014/main" id="{63F8E527-9EA9-472E-AC2F-61B2DCE8C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1658600"/>
            <a:ext cx="590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pipeline-3-number">
            <a:extLst xmlns:a="http://schemas.openxmlformats.org/drawingml/2006/main">
              <a:ext uri="{FF2B5EF4-FFF2-40B4-BE49-F238E27FC236}">
                <a16:creationId xmlns:a16="http://schemas.microsoft.com/office/drawing/2014/main" id="{01F059E7-2FC6-45AE-B9DF-8D5AEF62B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1725275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3</a:t>
            </a:r>
          </a:p>
        </p:txBody>
      </p:sp>
      <p:sp>
        <p:nvSpPr>
          <p:cNvPr id="30" name="pipeline-3-text">
            <a:extLst xmlns:a="http://schemas.openxmlformats.org/drawingml/2006/main">
              <a:ext uri="{FF2B5EF4-FFF2-40B4-BE49-F238E27FC236}">
                <a16:creationId xmlns:a16="http://schemas.microsoft.com/office/drawing/2014/main" id="{84934512-7EA2-41DF-95D0-3D6FC4733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1696700"/>
            <a:ext cx="10839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Analysis Pipeline</a:t>
            </a:r>
          </a:p>
        </p:txBody>
      </p:sp>
      <p:sp>
        <p:nvSpPr>
          <p:cNvPr id="31" name="pipeline-4-number-bg">
            <a:extLst xmlns:a="http://schemas.openxmlformats.org/drawingml/2006/main">
              <a:ext uri="{FF2B5EF4-FFF2-40B4-BE49-F238E27FC236}">
                <a16:creationId xmlns:a16="http://schemas.microsoft.com/office/drawing/2014/main" id="{204ABF3E-EBAD-45B9-900F-19FB7B6DF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2420600"/>
            <a:ext cx="5905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pipeline-4-number">
            <a:extLst xmlns:a="http://schemas.openxmlformats.org/drawingml/2006/main">
              <a:ext uri="{FF2B5EF4-FFF2-40B4-BE49-F238E27FC236}">
                <a16:creationId xmlns:a16="http://schemas.microsoft.com/office/drawing/2014/main" id="{7A1754F2-B68B-4D8C-8AC4-F10BF0253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2487275"/>
            <a:ext cx="590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4</a:t>
            </a:r>
          </a:p>
        </p:txBody>
      </p:sp>
      <p:sp>
        <p:nvSpPr>
          <p:cNvPr id="33" name="pipeline-4-text">
            <a:extLst xmlns:a="http://schemas.openxmlformats.org/drawingml/2006/main">
              <a:ext uri="{FF2B5EF4-FFF2-40B4-BE49-F238E27FC236}">
                <a16:creationId xmlns:a16="http://schemas.microsoft.com/office/drawing/2014/main" id="{AA992532-5509-4420-B023-89370868E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2458700"/>
            <a:ext cx="10839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02A43"/>
                </a:solidFill>
              </a:defRPr>
            </a:pPr>
            <a:r>
              <a:rPr sz="2850" b="1">
                <a:solidFill>
                  <a:srgbClr val="102A43"/>
                </a:solidFill>
              </a:rPr>
              <a:t>Key Results</a:t>
            </a:r>
          </a:p>
        </p:txBody>
      </p:sp>
      <p:sp>
        <p:nvSpPr>
          <p:cNvPr id="34" name="dataset-panel">
            <a:extLst xmlns:a="http://schemas.openxmlformats.org/drawingml/2006/main">
              <a:ext uri="{FF2B5EF4-FFF2-40B4-BE49-F238E27FC236}">
                <a16:creationId xmlns:a16="http://schemas.microsoft.com/office/drawing/2014/main" id="{2C812601-2AAD-4FF8-B931-FE73EC091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3430250"/>
            <a:ext cx="11620500" cy="3429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sp>
        <p:nvSpPr>
          <p:cNvPr id="35" name="dataset-kicker">
            <a:extLst xmlns:a="http://schemas.openxmlformats.org/drawingml/2006/main">
              <a:ext uri="{FF2B5EF4-FFF2-40B4-BE49-F238E27FC236}">
                <a16:creationId xmlns:a16="http://schemas.microsoft.com/office/drawing/2014/main" id="{D3FD3F81-B3C7-40A8-9D06-C5BF86FF5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3716000"/>
            <a:ext cx="438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0F5F73"/>
                </a:solidFill>
              </a:defRPr>
            </a:pPr>
            <a:r>
              <a:rPr sz="2175" b="1">
                <a:solidFill>
                  <a:srgbClr val="0F5F73"/>
                </a:solidFill>
              </a:rPr>
              <a:t>SOURCE CONTRACT</a:t>
            </a:r>
          </a:p>
        </p:txBody>
      </p:sp>
      <p:sp>
        <p:nvSpPr>
          <p:cNvPr id="36" name="datasets">
            <a:extLst xmlns:a="http://schemas.openxmlformats.org/drawingml/2006/main">
              <a:ext uri="{FF2B5EF4-FFF2-40B4-BE49-F238E27FC236}">
                <a16:creationId xmlns:a16="http://schemas.microsoft.com/office/drawing/2014/main" id="{3A5EA5A3-00DF-4540-AE47-E5ED288F6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4239875"/>
            <a:ext cx="110871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Input: full paper</a:t>
            </a:r>
          </a:p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License: CC BY 4.0</a:t>
            </a:r>
          </a:p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Profile: bioinformatics</a:t>
            </a:r>
          </a:p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Claims checked: 3</a:t>
            </a:r>
          </a:p>
        </p:txBody>
      </p:sp>
      <p:sp>
        <p:nvSpPr>
          <p:cNvPr id="37" name="dataset-evidence">
            <a:extLst xmlns:a="http://schemas.openxmlformats.org/drawingml/2006/main">
              <a:ext uri="{FF2B5EF4-FFF2-40B4-BE49-F238E27FC236}">
                <a16:creationId xmlns:a16="http://schemas.microsoft.com/office/drawing/2014/main" id="{FABD482D-386F-402C-A3CE-223526963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6411575"/>
            <a:ext cx="11087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https://doi.org/10.1371/journal.pone.0103207</a:t>
            </a:r>
          </a:p>
        </p:txBody>
      </p:sp>
      <p:sp>
        <p:nvSpPr>
          <p:cNvPr id="38" name="figure-one-heading-title">
            <a:extLst xmlns:a="http://schemas.openxmlformats.org/drawingml/2006/main">
              <a:ext uri="{FF2B5EF4-FFF2-40B4-BE49-F238E27FC236}">
                <a16:creationId xmlns:a16="http://schemas.microsoft.com/office/drawing/2014/main" id="{D58BBE13-8332-4B19-B047-04C90805D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383125"/>
            <a:ext cx="1162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Methods and source evidence</a:t>
            </a:r>
          </a:p>
        </p:txBody>
      </p:sp>
      <p:sp>
        <p:nvSpPr>
          <p:cNvPr id="39" name="figure-one-heading-rule">
            <a:extLst xmlns:a="http://schemas.openxmlformats.org/drawingml/2006/main">
              <a:ext uri="{FF2B5EF4-FFF2-40B4-BE49-F238E27FC236}">
                <a16:creationId xmlns:a16="http://schemas.microsoft.com/office/drawing/2014/main" id="{B15829E7-398B-4C65-AC4B-DDE0B9950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8021300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figure-one-frame">
            <a:extLst xmlns:a="http://schemas.openxmlformats.org/drawingml/2006/main">
              <a:ext uri="{FF2B5EF4-FFF2-40B4-BE49-F238E27FC236}">
                <a16:creationId xmlns:a16="http://schemas.microsoft.com/office/drawing/2014/main" id="{FFB472AF-CAD1-4DC7-B44B-056852125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8240375"/>
            <a:ext cx="11620500" cy="9906000"/>
          </a:xfrm>
          <a:prstGeom xmlns:a="http://schemas.openxmlformats.org/drawingml/2006/main" prst="roundRect">
            <a:avLst>
              <a:gd name="adj" fmla="val 1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sp>
        <p:nvSpPr>
          <p:cNvPr id="41" name="figure-one-placeholder">
            <a:extLst xmlns:a="http://schemas.openxmlformats.org/drawingml/2006/main">
              <a:ext uri="{FF2B5EF4-FFF2-40B4-BE49-F238E27FC236}">
                <a16:creationId xmlns:a16="http://schemas.microsoft.com/office/drawing/2014/main" id="{62BBBD1E-B845-479A-9A4B-92701A0B1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8430875"/>
            <a:ext cx="11239500" cy="8972550"/>
          </a:xfrm>
          <a:prstGeom xmlns:a="http://schemas.openxmlformats.org/drawingml/2006/main" prst="roundRect">
            <a:avLst>
              <a:gd name="adj" fmla="val 849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42" name="figure-one-placeholder-label">
            <a:extLst xmlns:a="http://schemas.openxmlformats.org/drawingml/2006/main">
              <a:ext uri="{FF2B5EF4-FFF2-40B4-BE49-F238E27FC236}">
                <a16:creationId xmlns:a16="http://schemas.microsoft.com/office/drawing/2014/main" id="{90BABAF8-11E9-4E71-A121-9F4BBB8C2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2621875"/>
            <a:ext cx="1047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2C8C99"/>
                </a:solidFill>
              </a:defRPr>
            </a:pPr>
            <a:r>
              <a:rPr sz="2700" b="1">
                <a:solidFill>
                  <a:srgbClr val="2C8C99"/>
                </a:solidFill>
              </a:rPr>
              <a:t>SOURCE FIGURE SLOT</a:t>
            </a:r>
          </a:p>
        </p:txBody>
      </p:sp>
      <p:sp>
        <p:nvSpPr>
          <p:cNvPr id="43" name="figure-one-caption">
            <a:extLst xmlns:a="http://schemas.openxmlformats.org/drawingml/2006/main">
              <a:ext uri="{FF2B5EF4-FFF2-40B4-BE49-F238E27FC236}">
                <a16:creationId xmlns:a16="http://schemas.microsoft.com/office/drawing/2014/main" id="{E726C27C-B660-4D7A-B3F5-23E716733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7460575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Source figure selected during full-paper generation</a:t>
            </a:r>
          </a:p>
        </p:txBody>
      </p:sp>
      <p:sp>
        <p:nvSpPr>
          <p:cNvPr id="44" name="figure-one-source">
            <a:extLst xmlns:a="http://schemas.openxmlformats.org/drawingml/2006/main">
              <a:ext uri="{FF2B5EF4-FFF2-40B4-BE49-F238E27FC236}">
                <a16:creationId xmlns:a16="http://schemas.microsoft.com/office/drawing/2014/main" id="{15468BED-7F9D-41BC-A11A-278A91A99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7774900"/>
            <a:ext cx="11163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Source: 10.1371/journal.pone.0103207</a:t>
            </a:r>
          </a:p>
        </p:txBody>
      </p:sp>
      <p:sp>
        <p:nvSpPr>
          <p:cNvPr id="45" name="central-takeaway">
            <a:extLst xmlns:a="http://schemas.openxmlformats.org/drawingml/2006/main">
              <a:ext uri="{FF2B5EF4-FFF2-40B4-BE49-F238E27FC236}">
                <a16:creationId xmlns:a16="http://schemas.microsoft.com/office/drawing/2014/main" id="{DA4199C3-D957-4E84-B66A-04AC13203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5619750"/>
            <a:ext cx="13668375" cy="2524125"/>
          </a:xfrm>
          <a:prstGeom xmlns:a="http://schemas.openxmlformats.org/drawingml/2006/main" prst="roundRect">
            <a:avLst>
              <a:gd name="adj" fmla="val 6038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central-takeaway-title">
            <a:extLst xmlns:a="http://schemas.openxmlformats.org/drawingml/2006/main">
              <a:ext uri="{FF2B5EF4-FFF2-40B4-BE49-F238E27FC236}">
                <a16:creationId xmlns:a16="http://schemas.microsoft.com/office/drawing/2014/main" id="{6A8EBCE6-5E63-4370-9EC4-36D2B9B43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44600" y="5953125"/>
            <a:ext cx="128301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125" b="1">
                <a:solidFill>
                  <a:srgbClr val="102A43"/>
                </a:solidFill>
              </a:defRPr>
            </a:pPr>
            <a:r>
              <a:rPr sz="4125" b="1">
                <a:solidFill>
                  <a:srgbClr val="102A43"/>
                </a:solidFill>
              </a:rPr>
              <a:t>Cuffdiff2, DESeq and edgeR</a:t>
            </a:r>
          </a:p>
        </p:txBody>
      </p:sp>
      <p:sp>
        <p:nvSpPr>
          <p:cNvPr id="47" name="central-takeaway-subtitle">
            <a:extLst xmlns:a="http://schemas.openxmlformats.org/drawingml/2006/main">
              <a:ext uri="{FF2B5EF4-FFF2-40B4-BE49-F238E27FC236}">
                <a16:creationId xmlns:a16="http://schemas.microsoft.com/office/drawing/2014/main" id="{575662FF-6DD7-4045-B1DB-2FF579E76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0" y="7181850"/>
            <a:ext cx="12334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02A43"/>
                </a:solidFill>
              </a:defRPr>
            </a:pPr>
            <a:r>
              <a:rPr sz="2400" b="1">
                <a:solidFill>
                  <a:srgbClr val="102A43"/>
                </a:solidFill>
              </a:rPr>
              <a:t>Key facts remain bound to the source and study design</a:t>
            </a:r>
          </a:p>
        </p:txBody>
      </p:sp>
      <p:sp>
        <p:nvSpPr>
          <p:cNvPr id="48" name="takeaway-evidence">
            <a:extLst xmlns:a="http://schemas.openxmlformats.org/drawingml/2006/main">
              <a:ext uri="{FF2B5EF4-FFF2-40B4-BE49-F238E27FC236}">
                <a16:creationId xmlns:a16="http://schemas.microsoft.com/office/drawing/2014/main" id="{7A78AA28-DFBC-4796-98AC-A844616A4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3650" y="7715250"/>
            <a:ext cx="127920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Evidence fixture: 10.1371/journal.pone.0103207</a:t>
            </a:r>
          </a:p>
        </p:txBody>
      </p:sp>
      <p:sp>
        <p:nvSpPr>
          <p:cNvPr id="49" name="figure-two-heading-title">
            <a:extLst xmlns:a="http://schemas.openxmlformats.org/drawingml/2006/main">
              <a:ext uri="{FF2B5EF4-FFF2-40B4-BE49-F238E27FC236}">
                <a16:creationId xmlns:a16="http://schemas.microsoft.com/office/drawing/2014/main" id="{3025610D-5D92-4F91-9ABC-6485F5281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8620125"/>
            <a:ext cx="13668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Primary evidence</a:t>
            </a:r>
          </a:p>
        </p:txBody>
      </p:sp>
      <p:sp>
        <p:nvSpPr>
          <p:cNvPr id="50" name="figure-two-heading-rule">
            <a:extLst xmlns:a="http://schemas.openxmlformats.org/drawingml/2006/main">
              <a:ext uri="{FF2B5EF4-FFF2-40B4-BE49-F238E27FC236}">
                <a16:creationId xmlns:a16="http://schemas.microsoft.com/office/drawing/2014/main" id="{1AD576D6-5858-4870-A11C-030C77FF9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9258300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figure-two-frame">
            <a:extLst xmlns:a="http://schemas.openxmlformats.org/drawingml/2006/main">
              <a:ext uri="{FF2B5EF4-FFF2-40B4-BE49-F238E27FC236}">
                <a16:creationId xmlns:a16="http://schemas.microsoft.com/office/drawing/2014/main" id="{72802015-71F5-4587-8C8B-620E4D7F7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9477375"/>
            <a:ext cx="13668375" cy="12715875"/>
          </a:xfrm>
          <a:prstGeom xmlns:a="http://schemas.openxmlformats.org/drawingml/2006/main" prst="roundRect">
            <a:avLst>
              <a:gd name="adj" fmla="val 89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sp>
        <p:nvSpPr>
          <p:cNvPr id="52" name="figure-two-placeholder">
            <a:extLst xmlns:a="http://schemas.openxmlformats.org/drawingml/2006/main">
              <a:ext uri="{FF2B5EF4-FFF2-40B4-BE49-F238E27FC236}">
                <a16:creationId xmlns:a16="http://schemas.microsoft.com/office/drawing/2014/main" id="{AA15DE1F-05A2-4F16-AE04-7832E0157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9667875"/>
            <a:ext cx="13287375" cy="11782425"/>
          </a:xfrm>
          <a:prstGeom xmlns:a="http://schemas.openxmlformats.org/drawingml/2006/main" prst="roundRect">
            <a:avLst>
              <a:gd name="adj" fmla="val 647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53" name="figure-two-placeholder-label">
            <a:extLst xmlns:a="http://schemas.openxmlformats.org/drawingml/2006/main">
              <a:ext uri="{FF2B5EF4-FFF2-40B4-BE49-F238E27FC236}">
                <a16:creationId xmlns:a16="http://schemas.microsoft.com/office/drawing/2014/main" id="{A242A8E9-309E-4B99-BDDC-318BBA45A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15263813"/>
            <a:ext cx="12525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2C8C99"/>
                </a:solidFill>
              </a:defRPr>
            </a:pPr>
            <a:r>
              <a:rPr sz="2700" b="1">
                <a:solidFill>
                  <a:srgbClr val="2C8C99"/>
                </a:solidFill>
              </a:rPr>
              <a:t>SOURCE FIGURE SLOT</a:t>
            </a:r>
          </a:p>
        </p:txBody>
      </p:sp>
      <p:sp>
        <p:nvSpPr>
          <p:cNvPr id="54" name="figure-two-caption">
            <a:extLst xmlns:a="http://schemas.openxmlformats.org/drawingml/2006/main">
              <a:ext uri="{FF2B5EF4-FFF2-40B4-BE49-F238E27FC236}">
                <a16:creationId xmlns:a16="http://schemas.microsoft.com/office/drawing/2014/main" id="{E16E7FB3-64FE-4113-B1AD-EF32F0336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4100" y="21507450"/>
            <a:ext cx="132111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Source figure selected during full-paper generation</a:t>
            </a:r>
          </a:p>
        </p:txBody>
      </p:sp>
      <p:sp>
        <p:nvSpPr>
          <p:cNvPr id="55" name="figure-two-source">
            <a:extLst xmlns:a="http://schemas.openxmlformats.org/drawingml/2006/main">
              <a:ext uri="{FF2B5EF4-FFF2-40B4-BE49-F238E27FC236}">
                <a16:creationId xmlns:a16="http://schemas.microsoft.com/office/drawing/2014/main" id="{9E8F4269-6710-44C5-AAE2-D22295D11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4100" y="21821775"/>
            <a:ext cx="132111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Source: 10.1371/journal.pone.0103207</a:t>
            </a:r>
          </a:p>
        </p:txBody>
      </p:sp>
      <p:sp>
        <p:nvSpPr>
          <p:cNvPr id="56" name="validation-heading-title">
            <a:extLst xmlns:a="http://schemas.openxmlformats.org/drawingml/2006/main">
              <a:ext uri="{FF2B5EF4-FFF2-40B4-BE49-F238E27FC236}">
                <a16:creationId xmlns:a16="http://schemas.microsoft.com/office/drawing/2014/main" id="{A64730E5-588D-47DA-B7CA-524956B28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22669500"/>
            <a:ext cx="13668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Required factual anchors</a:t>
            </a:r>
          </a:p>
        </p:txBody>
      </p:sp>
      <p:sp>
        <p:nvSpPr>
          <p:cNvPr id="57" name="validation-heading-rule">
            <a:extLst xmlns:a="http://schemas.openxmlformats.org/drawingml/2006/main">
              <a:ext uri="{FF2B5EF4-FFF2-40B4-BE49-F238E27FC236}">
                <a16:creationId xmlns:a16="http://schemas.microsoft.com/office/drawing/2014/main" id="{2462AA63-BFB2-4337-AE6F-CD4F462A1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23307675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validation-panel">
            <a:extLst xmlns:a="http://schemas.openxmlformats.org/drawingml/2006/main">
              <a:ext uri="{FF2B5EF4-FFF2-40B4-BE49-F238E27FC236}">
                <a16:creationId xmlns:a16="http://schemas.microsoft.com/office/drawing/2014/main" id="{CA8A07FE-99F2-4806-9A17-64028D12B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23526750"/>
            <a:ext cx="13668375" cy="4048125"/>
          </a:xfrm>
          <a:prstGeom xmlns:a="http://schemas.openxmlformats.org/drawingml/2006/main" prst="roundRect">
            <a:avLst>
              <a:gd name="adj" fmla="val 2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sp>
        <p:nvSpPr>
          <p:cNvPr id="59" name="validation">
            <a:extLst xmlns:a="http://schemas.openxmlformats.org/drawingml/2006/main">
              <a:ext uri="{FF2B5EF4-FFF2-40B4-BE49-F238E27FC236}">
                <a16:creationId xmlns:a16="http://schemas.microsoft.com/office/drawing/2014/main" id="{95794275-6809-4C89-910D-C87EF5C7C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23841075"/>
            <a:ext cx="1298257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• tools: Cuffdiff2, DESeq and edgeR</a:t>
            </a:r>
          </a:p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• true positive result: edgeR performs slightly better</a:t>
            </a:r>
          </a:p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• false positive caution: DESeq or taking the intersection</a:t>
            </a:r>
          </a:p>
        </p:txBody>
      </p:sp>
      <p:sp>
        <p:nvSpPr>
          <p:cNvPr id="60" name="validation-evidence">
            <a:extLst xmlns:a="http://schemas.openxmlformats.org/drawingml/2006/main">
              <a:ext uri="{FF2B5EF4-FFF2-40B4-BE49-F238E27FC236}">
                <a16:creationId xmlns:a16="http://schemas.microsoft.com/office/drawing/2014/main" id="{E01CB8EB-39FA-4B62-889B-4D76302BC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27117675"/>
            <a:ext cx="129825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Ground-truth case: plos-rnaseq-tool-comparison</a:t>
            </a:r>
          </a:p>
        </p:txBody>
      </p:sp>
      <p:sp>
        <p:nvSpPr>
          <p:cNvPr id="61" name="performance-strip">
            <a:extLst xmlns:a="http://schemas.openxmlformats.org/drawingml/2006/main">
              <a:ext uri="{FF2B5EF4-FFF2-40B4-BE49-F238E27FC236}">
                <a16:creationId xmlns:a16="http://schemas.microsoft.com/office/drawing/2014/main" id="{CC8D3281-A93D-425C-9987-4FF37D471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27908250"/>
            <a:ext cx="13668375" cy="1095375"/>
          </a:xfrm>
          <a:prstGeom xmlns:a="http://schemas.openxmlformats.org/drawingml/2006/main" prst="roundRect">
            <a:avLst>
              <a:gd name="adj" fmla="val 10435"/>
            </a:avLst>
          </a:prstGeom>
          <a:solidFill xmlns:a="http://schemas.openxmlformats.org/drawingml/2006/main">
            <a:srgbClr val="0F5F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performance-strip-text">
            <a:extLst xmlns:a="http://schemas.openxmlformats.org/drawingml/2006/main">
              <a:ext uri="{FF2B5EF4-FFF2-40B4-BE49-F238E27FC236}">
                <a16:creationId xmlns:a16="http://schemas.microsoft.com/office/drawing/2014/main" id="{A6C6C52B-77AD-4FD7-A04A-AD813D67D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49350" y="28194000"/>
            <a:ext cx="130206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No unsupported numerical or causal expansion permitted</a:t>
            </a:r>
          </a:p>
        </p:txBody>
      </p:sp>
      <p:sp>
        <p:nvSpPr>
          <p:cNvPr id="63" name="biology-heading-title">
            <a:extLst xmlns:a="http://schemas.openxmlformats.org/drawingml/2006/main">
              <a:ext uri="{FF2B5EF4-FFF2-40B4-BE49-F238E27FC236}">
                <a16:creationId xmlns:a16="http://schemas.microsoft.com/office/drawing/2014/main" id="{A067DF44-D54E-4E82-A97A-DFEEE1F4E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5619750"/>
            <a:ext cx="137064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Fact checks</a:t>
            </a:r>
          </a:p>
        </p:txBody>
      </p:sp>
      <p:sp>
        <p:nvSpPr>
          <p:cNvPr id="64" name="biology-heading-rule">
            <a:extLst xmlns:a="http://schemas.openxmlformats.org/drawingml/2006/main">
              <a:ext uri="{FF2B5EF4-FFF2-40B4-BE49-F238E27FC236}">
                <a16:creationId xmlns:a16="http://schemas.microsoft.com/office/drawing/2014/main" id="{D055AEC1-A274-4F8C-9A51-42E3D669C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6257925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biology-1-value">
            <a:extLst xmlns:a="http://schemas.openxmlformats.org/drawingml/2006/main">
              <a:ext uri="{FF2B5EF4-FFF2-40B4-BE49-F238E27FC236}">
                <a16:creationId xmlns:a16="http://schemas.microsoft.com/office/drawing/2014/main" id="{251D5F24-2DFE-4804-BF61-6DABB96A4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6572250"/>
            <a:ext cx="4000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0F5F73"/>
                </a:solidFill>
              </a:defRPr>
            </a:pPr>
            <a:r>
              <a:rPr sz="5100" b="1">
                <a:solidFill>
                  <a:srgbClr val="0F5F73"/>
                </a:solidFill>
              </a:rPr>
              <a:t>Cuffdiff2</a:t>
            </a:r>
          </a:p>
        </p:txBody>
      </p:sp>
      <p:sp>
        <p:nvSpPr>
          <p:cNvPr id="66" name="biology-1-label">
            <a:extLst xmlns:a="http://schemas.openxmlformats.org/drawingml/2006/main">
              <a:ext uri="{FF2B5EF4-FFF2-40B4-BE49-F238E27FC236}">
                <a16:creationId xmlns:a16="http://schemas.microsoft.com/office/drawing/2014/main" id="{8503B3F9-80D0-476C-B152-4FFE82467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7353300"/>
            <a:ext cx="4000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tools</a:t>
            </a:r>
          </a:p>
        </p:txBody>
      </p:sp>
      <p:sp>
        <p:nvSpPr>
          <p:cNvPr id="67" name="biology-2-value">
            <a:extLst xmlns:a="http://schemas.openxmlformats.org/drawingml/2006/main">
              <a:ext uri="{FF2B5EF4-FFF2-40B4-BE49-F238E27FC236}">
                <a16:creationId xmlns:a16="http://schemas.microsoft.com/office/drawing/2014/main" id="{F8C33D01-6447-414E-98A3-3DDE7EA56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0" y="6572250"/>
            <a:ext cx="4000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2C8C99"/>
                </a:solidFill>
              </a:defRPr>
            </a:pPr>
            <a:r>
              <a:rPr sz="5100" b="1">
                <a:solidFill>
                  <a:srgbClr val="2C8C99"/>
                </a:solidFill>
              </a:rPr>
              <a:t>edgeR</a:t>
            </a:r>
          </a:p>
        </p:txBody>
      </p:sp>
      <p:sp>
        <p:nvSpPr>
          <p:cNvPr id="68" name="biology-2-label">
            <a:extLst xmlns:a="http://schemas.openxmlformats.org/drawingml/2006/main">
              <a:ext uri="{FF2B5EF4-FFF2-40B4-BE49-F238E27FC236}">
                <a16:creationId xmlns:a16="http://schemas.microsoft.com/office/drawing/2014/main" id="{9DFE34E7-469F-44D7-B83E-DE66F6FDB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0" y="7353300"/>
            <a:ext cx="4000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true positive resu</a:t>
            </a:r>
          </a:p>
        </p:txBody>
      </p:sp>
      <p:sp>
        <p:nvSpPr>
          <p:cNvPr id="69" name="biology-3-value">
            <a:extLst xmlns:a="http://schemas.openxmlformats.org/drawingml/2006/main">
              <a:ext uri="{FF2B5EF4-FFF2-40B4-BE49-F238E27FC236}">
                <a16:creationId xmlns:a16="http://schemas.microsoft.com/office/drawing/2014/main" id="{6FE5C627-8FA1-40ED-8FC7-C9C7BBA7E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14125" y="6572250"/>
            <a:ext cx="4000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E8B44C"/>
                </a:solidFill>
              </a:defRPr>
            </a:pPr>
            <a:r>
              <a:rPr sz="5100" b="1">
                <a:solidFill>
                  <a:srgbClr val="E8B44C"/>
                </a:solidFill>
              </a:rPr>
              <a:t>DESeq</a:t>
            </a:r>
          </a:p>
        </p:txBody>
      </p:sp>
      <p:sp>
        <p:nvSpPr>
          <p:cNvPr id="70" name="biology-3-label">
            <a:extLst xmlns:a="http://schemas.openxmlformats.org/drawingml/2006/main">
              <a:ext uri="{FF2B5EF4-FFF2-40B4-BE49-F238E27FC236}">
                <a16:creationId xmlns:a16="http://schemas.microsoft.com/office/drawing/2014/main" id="{77FD8D22-2E00-4BE9-9501-82561130D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14125" y="7353300"/>
            <a:ext cx="4000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43"/>
                </a:solidFill>
              </a:defRPr>
            </a:pPr>
            <a:r>
              <a:rPr sz="2325" b="1">
                <a:solidFill>
                  <a:srgbClr val="102A43"/>
                </a:solidFill>
              </a:rPr>
              <a:t>false positive cau</a:t>
            </a:r>
          </a:p>
        </p:txBody>
      </p:sp>
      <p:sp>
        <p:nvSpPr>
          <p:cNvPr id="71" name="biology-evidence">
            <a:extLst xmlns:a="http://schemas.openxmlformats.org/drawingml/2006/main">
              <a:ext uri="{FF2B5EF4-FFF2-40B4-BE49-F238E27FC236}">
                <a16:creationId xmlns:a16="http://schemas.microsoft.com/office/drawing/2014/main" id="{16BC3587-D6BC-4DE9-96EC-0D73CC514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8477250"/>
            <a:ext cx="137064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Machine-checkable evaluation fixture</a:t>
            </a:r>
          </a:p>
        </p:txBody>
      </p:sp>
      <p:sp>
        <p:nvSpPr>
          <p:cNvPr id="72" name="figure-three-frame">
            <a:extLst xmlns:a="http://schemas.openxmlformats.org/drawingml/2006/main">
              <a:ext uri="{FF2B5EF4-FFF2-40B4-BE49-F238E27FC236}">
                <a16:creationId xmlns:a16="http://schemas.microsoft.com/office/drawing/2014/main" id="{87D983B2-1343-4EB6-8E8E-5D8E7D378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9191625"/>
            <a:ext cx="13706475" cy="685800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sp>
        <p:nvSpPr>
          <p:cNvPr id="73" name="figure-three-placeholder">
            <a:extLst xmlns:a="http://schemas.openxmlformats.org/drawingml/2006/main">
              <a:ext uri="{FF2B5EF4-FFF2-40B4-BE49-F238E27FC236}">
                <a16:creationId xmlns:a16="http://schemas.microsoft.com/office/drawing/2014/main" id="{C5BF1BE9-8550-4607-A022-28348C359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55875" y="9382125"/>
            <a:ext cx="13325475" cy="5924550"/>
          </a:xfrm>
          <a:prstGeom xmlns:a="http://schemas.openxmlformats.org/drawingml/2006/main" prst="roundRect">
            <a:avLst>
              <a:gd name="adj" fmla="val 1286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74" name="figure-three-placeholder-label">
            <a:extLst xmlns:a="http://schemas.openxmlformats.org/drawingml/2006/main">
              <a:ext uri="{FF2B5EF4-FFF2-40B4-BE49-F238E27FC236}">
                <a16:creationId xmlns:a16="http://schemas.microsoft.com/office/drawing/2014/main" id="{8AB01FC3-16A0-41AA-BEF7-2B500414C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36875" y="12049125"/>
            <a:ext cx="125634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2C8C99"/>
                </a:solidFill>
              </a:defRPr>
            </a:pPr>
            <a:r>
              <a:rPr sz="2700" b="1">
                <a:solidFill>
                  <a:srgbClr val="2C8C99"/>
                </a:solidFill>
              </a:rPr>
              <a:t>SOURCE FIGURE SLOT</a:t>
            </a:r>
          </a:p>
        </p:txBody>
      </p:sp>
      <p:sp>
        <p:nvSpPr>
          <p:cNvPr id="75" name="figure-three-caption">
            <a:extLst xmlns:a="http://schemas.openxmlformats.org/drawingml/2006/main">
              <a:ext uri="{FF2B5EF4-FFF2-40B4-BE49-F238E27FC236}">
                <a16:creationId xmlns:a16="http://schemas.microsoft.com/office/drawing/2014/main" id="{0842B4B5-BEF4-4D7E-A13C-2DAB014D1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93975" y="15363825"/>
            <a:ext cx="132492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Source figure selected during full-paper generation</a:t>
            </a:r>
          </a:p>
        </p:txBody>
      </p:sp>
      <p:sp>
        <p:nvSpPr>
          <p:cNvPr id="76" name="figure-three-source">
            <a:extLst xmlns:a="http://schemas.openxmlformats.org/drawingml/2006/main">
              <a:ext uri="{FF2B5EF4-FFF2-40B4-BE49-F238E27FC236}">
                <a16:creationId xmlns:a16="http://schemas.microsoft.com/office/drawing/2014/main" id="{5F33CEB1-0714-41EB-9D68-5E8E1E2A8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93975" y="15678150"/>
            <a:ext cx="132492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Source: 10.1371/journal.pone.0103207</a:t>
            </a:r>
          </a:p>
        </p:txBody>
      </p:sp>
      <p:sp>
        <p:nvSpPr>
          <p:cNvPr id="77" name="validation-visual-heading-title">
            <a:extLst xmlns:a="http://schemas.openxmlformats.org/drawingml/2006/main">
              <a:ext uri="{FF2B5EF4-FFF2-40B4-BE49-F238E27FC236}">
                <a16:creationId xmlns:a16="http://schemas.microsoft.com/office/drawing/2014/main" id="{D8D70E3A-5898-4619-88B0-9678E59FA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16525875"/>
            <a:ext cx="137064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Independent evidence slot</a:t>
            </a:r>
          </a:p>
        </p:txBody>
      </p:sp>
      <p:sp>
        <p:nvSpPr>
          <p:cNvPr id="78" name="validation-visual-heading-rule">
            <a:extLst xmlns:a="http://schemas.openxmlformats.org/drawingml/2006/main">
              <a:ext uri="{FF2B5EF4-FFF2-40B4-BE49-F238E27FC236}">
                <a16:creationId xmlns:a16="http://schemas.microsoft.com/office/drawing/2014/main" id="{C78C070E-B3B4-4506-8119-E39CEE214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17164050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figure-four-frame">
            <a:extLst xmlns:a="http://schemas.openxmlformats.org/drawingml/2006/main">
              <a:ext uri="{FF2B5EF4-FFF2-40B4-BE49-F238E27FC236}">
                <a16:creationId xmlns:a16="http://schemas.microsoft.com/office/drawing/2014/main" id="{C7B9C5FB-F775-46CD-98C9-D4A8F9382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17383125"/>
            <a:ext cx="13706475" cy="7143750"/>
          </a:xfrm>
          <a:prstGeom xmlns:a="http://schemas.openxmlformats.org/drawingml/2006/main" prst="roundRect">
            <a:avLst>
              <a:gd name="adj" fmla="val 16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sp>
        <p:nvSpPr>
          <p:cNvPr id="80" name="figure-four-placeholder">
            <a:extLst xmlns:a="http://schemas.openxmlformats.org/drawingml/2006/main">
              <a:ext uri="{FF2B5EF4-FFF2-40B4-BE49-F238E27FC236}">
                <a16:creationId xmlns:a16="http://schemas.microsoft.com/office/drawing/2014/main" id="{E62DEB0F-73B3-4C79-AA59-022BD2E20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55875" y="17573625"/>
            <a:ext cx="13325475" cy="6210300"/>
          </a:xfrm>
          <a:prstGeom xmlns:a="http://schemas.openxmlformats.org/drawingml/2006/main" prst="roundRect">
            <a:avLst>
              <a:gd name="adj" fmla="val 1227"/>
            </a:avLst>
          </a:prstGeom>
          <a:solidFill xmlns:a="http://schemas.openxmlformats.org/drawingml/2006/main">
            <a:srgbClr val="F6F8FA"/>
          </a:solidFill>
          <a:ln xmlns:a="http://schemas.openxmlformats.org/drawingml/2006/main" w="19050">
            <a:solidFill>
              <a:srgbClr val="D9E2EC"/>
            </a:solidFill>
            <a:prstDash val="solid"/>
          </a:ln>
        </p:spPr>
      </p:sp>
      <p:sp>
        <p:nvSpPr>
          <p:cNvPr id="81" name="figure-four-placeholder-label">
            <a:extLst xmlns:a="http://schemas.openxmlformats.org/drawingml/2006/main">
              <a:ext uri="{FF2B5EF4-FFF2-40B4-BE49-F238E27FC236}">
                <a16:creationId xmlns:a16="http://schemas.microsoft.com/office/drawing/2014/main" id="{DB3AAC41-25BD-4E22-99DC-FA2269E36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36875" y="20383500"/>
            <a:ext cx="125634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2C8C99"/>
                </a:solidFill>
              </a:defRPr>
            </a:pPr>
            <a:r>
              <a:rPr sz="2700" b="1">
                <a:solidFill>
                  <a:srgbClr val="2C8C99"/>
                </a:solidFill>
              </a:rPr>
              <a:t>SOURCE FIGURE SLOT</a:t>
            </a:r>
          </a:p>
        </p:txBody>
      </p:sp>
      <p:sp>
        <p:nvSpPr>
          <p:cNvPr id="82" name="figure-four-caption">
            <a:extLst xmlns:a="http://schemas.openxmlformats.org/drawingml/2006/main">
              <a:ext uri="{FF2B5EF4-FFF2-40B4-BE49-F238E27FC236}">
                <a16:creationId xmlns:a16="http://schemas.microsoft.com/office/drawing/2014/main" id="{CF14A3FC-ECFE-4092-B4AE-8701BAF25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93975" y="23841075"/>
            <a:ext cx="132492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Source figure selected during full-paper generation</a:t>
            </a:r>
          </a:p>
        </p:txBody>
      </p:sp>
      <p:sp>
        <p:nvSpPr>
          <p:cNvPr id="83" name="figure-four-source">
            <a:extLst xmlns:a="http://schemas.openxmlformats.org/drawingml/2006/main">
              <a:ext uri="{FF2B5EF4-FFF2-40B4-BE49-F238E27FC236}">
                <a16:creationId xmlns:a16="http://schemas.microsoft.com/office/drawing/2014/main" id="{AF23F82F-2D27-4BA4-A184-D9BB8FB63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93975" y="24155400"/>
            <a:ext cx="132492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Source: 10.1371/journal.pone.0103207</a:t>
            </a:r>
          </a:p>
        </p:txBody>
      </p:sp>
      <p:sp>
        <p:nvSpPr>
          <p:cNvPr id="84" name="conclusion-heading-title">
            <a:extLst xmlns:a="http://schemas.openxmlformats.org/drawingml/2006/main">
              <a:ext uri="{FF2B5EF4-FFF2-40B4-BE49-F238E27FC236}">
                <a16:creationId xmlns:a16="http://schemas.microsoft.com/office/drawing/2014/main" id="{950314F1-8190-4238-9C06-77FACEBCC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25003125"/>
            <a:ext cx="137064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F5F73"/>
                </a:solidFill>
              </a:defRPr>
            </a:pPr>
            <a:r>
              <a:rPr sz="3600" b="1">
                <a:solidFill>
                  <a:srgbClr val="0F5F73"/>
                </a:solidFill>
              </a:rPr>
              <a:t>Interpretation boundary</a:t>
            </a:r>
          </a:p>
        </p:txBody>
      </p:sp>
      <p:sp>
        <p:nvSpPr>
          <p:cNvPr id="85" name="conclusion-heading-rule">
            <a:extLst xmlns:a="http://schemas.openxmlformats.org/drawingml/2006/main">
              <a:ext uri="{FF2B5EF4-FFF2-40B4-BE49-F238E27FC236}">
                <a16:creationId xmlns:a16="http://schemas.microsoft.com/office/drawing/2014/main" id="{FA5B5DAC-D53F-45C5-8076-18C8B5F66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25641300"/>
            <a:ext cx="3143250" cy="95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conclusion-panel">
            <a:extLst xmlns:a="http://schemas.openxmlformats.org/drawingml/2006/main">
              <a:ext uri="{FF2B5EF4-FFF2-40B4-BE49-F238E27FC236}">
                <a16:creationId xmlns:a16="http://schemas.microsoft.com/office/drawing/2014/main" id="{D9A2641D-035C-4178-9662-A365407E2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5375" y="25860375"/>
            <a:ext cx="13706475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D9E2EC"/>
            </a:solidFill>
            <a:prstDash val="solid"/>
          </a:ln>
        </p:spPr>
      </p:sp>
      <p:sp>
        <p:nvSpPr>
          <p:cNvPr id="87" name="conclusion">
            <a:extLst xmlns:a="http://schemas.openxmlformats.org/drawingml/2006/main">
              <a:ext uri="{FF2B5EF4-FFF2-40B4-BE49-F238E27FC236}">
                <a16:creationId xmlns:a16="http://schemas.microsoft.com/office/drawing/2014/main" id="{0C2914EC-137A-4402-A46E-C44EB06D5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89225" y="26174700"/>
            <a:ext cx="13058775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102A43"/>
                </a:solidFill>
              </a:defRPr>
            </a:pPr>
            <a:r>
              <a:rPr sz="2850">
                <a:solidFill>
                  <a:srgbClr val="102A43"/>
                </a:solidFill>
              </a:rPr>
              <a:t>Interpret findings only within the source study design, population, methods and reported uncertainty.</a:t>
            </a:r>
          </a:p>
        </p:txBody>
      </p:sp>
      <p:sp>
        <p:nvSpPr>
          <p:cNvPr id="88" name="conclusion-evidence">
            <a:extLst xmlns:a="http://schemas.openxmlformats.org/drawingml/2006/main">
              <a:ext uri="{FF2B5EF4-FFF2-40B4-BE49-F238E27FC236}">
                <a16:creationId xmlns:a16="http://schemas.microsoft.com/office/drawing/2014/main" id="{0D6D63F7-D852-4C16-A407-5D001C25F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89225" y="28498800"/>
            <a:ext cx="130587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i="1">
                <a:solidFill>
                  <a:srgbClr val="2C8C99"/>
                </a:solidFill>
              </a:defRPr>
            </a:pPr>
            <a:r>
              <a:rPr sz="1875" i="1">
                <a:solidFill>
                  <a:srgbClr val="2C8C99"/>
                </a:solidFill>
              </a:rPr>
              <a:t>Source and license: 10.1371/journal.pone.0103207 · CC BY 4.0</a:t>
            </a:r>
          </a:p>
        </p:txBody>
      </p:sp>
      <p:sp>
        <p:nvSpPr>
          <p:cNvPr id="89" name="footer-band">
            <a:extLst xmlns:a="http://schemas.openxmlformats.org/drawingml/2006/main">
              <a:ext uri="{FF2B5EF4-FFF2-40B4-BE49-F238E27FC236}">
                <a16:creationId xmlns:a16="http://schemas.microsoft.com/office/drawing/2014/main" id="{B5DE944C-3C93-4C4C-A6E2-615FC11CB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337000"/>
            <a:ext cx="42805350" cy="942975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footer-source">
            <a:extLst xmlns:a="http://schemas.openxmlformats.org/drawingml/2006/main">
              <a:ext uri="{FF2B5EF4-FFF2-40B4-BE49-F238E27FC236}">
                <a16:creationId xmlns:a16="http://schemas.microsoft.com/office/drawing/2014/main" id="{AFC33F09-8AB6-44E0-9903-C835568A0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9594175"/>
            <a:ext cx="2857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FFFFFF"/>
                </a:solidFill>
              </a:defRPr>
            </a:pPr>
            <a:r>
              <a:rPr sz="1950">
                <a:solidFill>
                  <a:srgbClr val="FFFFFF"/>
                </a:solidFill>
              </a:rPr>
              <a:t>A Comparative Study of Techniques for Differential Expression Analysis on RNA-Seq Data · CC BY 4.0</a:t>
            </a:r>
          </a:p>
        </p:txBody>
      </p:sp>
      <p:sp>
        <p:nvSpPr>
          <p:cNvPr id="91" name="footer-status">
            <a:extLst xmlns:a="http://schemas.openxmlformats.org/drawingml/2006/main">
              <a:ext uri="{FF2B5EF4-FFF2-40B4-BE49-F238E27FC236}">
                <a16:creationId xmlns:a16="http://schemas.microsoft.com/office/drawing/2014/main" id="{6191BD76-4B39-4AE4-ACDB-A5187315A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0" y="29594175"/>
            <a:ext cx="1171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875" b="1">
                <a:solidFill>
                  <a:srgbClr val="E8B44C"/>
                </a:solidFill>
              </a:defRPr>
            </a:pPr>
            <a:r>
              <a:rPr sz="1875" b="1">
                <a:solidFill>
                  <a:srgbClr val="E8B44C"/>
                </a:solidFill>
              </a:rPr>
              <a:t>Evaluation preview · not a release poster</a:t>
            </a:r>
          </a:p>
        </p:txBody>
      </p:sp>
    </p:spTree>
    <p:extLst>
      <p:ext uri="{BB962C8B-B14F-4D97-AF65-F5344CB8AC3E}">
        <p14:creationId xmlns:p14="http://schemas.microsoft.com/office/powerpoint/2010/main" val="8551342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2026-08-07T04:16:40.3230000Z</dcterms:created>
  <dcterms:modified xsi:type="dcterms:W3CDTF">2026-08-07T04:16:40.3240000Z</dcterms:modified>
</coreProperties>
</file>